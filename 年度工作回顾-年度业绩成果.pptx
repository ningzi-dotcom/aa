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handoutMasters/handoutMaster1.xml" ContentType="application/vnd.openxmlformats-officedocument.presentationml.handoutMaster+xml"/>
  <Override PartName="/ppt/media/image11.svg" ContentType="image/svg+xml"/>
  <Override PartName="/ppt/media/image13.svg" ContentType="image/svg+xml"/>
  <Override PartName="/ppt/media/image15.svg" ContentType="image/svg+xml"/>
  <Override PartName="/ppt/media/image19.svg" ContentType="image/svg+xml"/>
  <Override PartName="/ppt/media/image3.svg" ContentType="image/svg+xml"/>
  <Override PartName="/ppt/media/image5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14"/>
  </p:notesMasterIdLst>
  <p:handoutMasterIdLst>
    <p:handoutMasterId r:id="rId15"/>
  </p:handoutMasterIdLst>
  <p:sldIdLst>
    <p:sldId id="256" r:id="rId4"/>
    <p:sldId id="258" r:id="rId5"/>
    <p:sldId id="259" r:id="rId6"/>
    <p:sldId id="260" r:id="rId7"/>
    <p:sldId id="261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handoutMaster" Target="handoutMasters/handoutMaster1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3" Type="http://schemas.microsoft.com/office/2011/relationships/chartColorStyle" Target="colors3.xml"/><Relationship Id="rId2" Type="http://schemas.microsoft.com/office/2011/relationships/chartStyle" Target="style3.xml"/><Relationship Id="rId1" Type="http://schemas.openxmlformats.org/officeDocument/2006/relationships/package" Target="../embeddings/Workbook3.xlsx"/></Relationships>
</file>

<file path=ppt/charts/_rels/chart4.xml.rels><?xml version="1.0" encoding="UTF-8" standalone="yes"?>
<Relationships xmlns="http://schemas.openxmlformats.org/package/2006/relationships"><Relationship Id="rId3" Type="http://schemas.microsoft.com/office/2011/relationships/chartColorStyle" Target="colors4.xml"/><Relationship Id="rId2" Type="http://schemas.microsoft.com/office/2011/relationships/chartStyle" Target="style4.xml"/><Relationship Id="rId1" Type="http://schemas.openxmlformats.org/officeDocument/2006/relationships/package" Target="../embeddings/Workbook4.xlsx"/></Relationships>
</file>

<file path=ppt/charts/_rels/chart5.xml.rels><?xml version="1.0" encoding="UTF-8" standalone="yes"?>
<Relationships xmlns="http://schemas.openxmlformats.org/package/2006/relationships"><Relationship Id="rId3" Type="http://schemas.microsoft.com/office/2011/relationships/chartColorStyle" Target="colors5.xml"/><Relationship Id="rId2" Type="http://schemas.microsoft.com/office/2011/relationships/chartStyle" Target="style5.xml"/><Relationship Id="rId1" Type="http://schemas.openxmlformats.org/officeDocument/2006/relationships/package" Target="../embeddings/Workbook5.xlsx"/></Relationships>
</file>

<file path=ppt/charts/_rels/chart6.xml.rels><?xml version="1.0" encoding="UTF-8" standalone="yes"?>
<Relationships xmlns="http://schemas.openxmlformats.org/package/2006/relationships"><Relationship Id="rId3" Type="http://schemas.microsoft.com/office/2011/relationships/chartColorStyle" Target="colors6.xml"/><Relationship Id="rId2" Type="http://schemas.microsoft.com/office/2011/relationships/chartStyle" Target="style6.xml"/><Relationship Id="rId1" Type="http://schemas.openxmlformats.org/officeDocument/2006/relationships/package" Target="../embeddings/Workbook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本季度</c:v>
                </c:pt>
              </c:strCache>
            </c:strRef>
          </c:tx>
          <c:spPr>
            <a:gradFill>
              <a:gsLst>
                <a:gs pos="100000">
                  <a:schemeClr val="accent1">
                    <a:lumMod val="60000"/>
                    <a:lumOff val="40000"/>
                  </a:schemeClr>
                </a:gs>
                <a:gs pos="23000">
                  <a:schemeClr val="accent1"/>
                </a:gs>
              </a:gsLst>
              <a:lin ang="16200000" scaled="1"/>
            </a:gra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任务完成率</c:v>
                </c:pt>
                <c:pt idx="1">
                  <c:v>资源利用率</c:v>
                </c:pt>
                <c:pt idx="2">
                  <c:v>客户正面反馈</c:v>
                </c:pt>
                <c:pt idx="3">
                  <c:v>创新落地率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0.92</c:v>
                </c:pt>
                <c:pt idx="1">
                  <c:v>0.88</c:v>
                </c:pt>
                <c:pt idx="2">
                  <c:v>0.82</c:v>
                </c:pt>
                <c:pt idx="3">
                  <c:v>0.65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上季度</c:v>
                </c:pt>
              </c:strCache>
            </c:strRef>
          </c:tx>
          <c:spPr>
            <a:gradFill>
              <a:gsLst>
                <a:gs pos="100000">
                  <a:schemeClr val="accent3">
                    <a:lumMod val="60000"/>
                    <a:lumOff val="40000"/>
                  </a:schemeClr>
                </a:gs>
                <a:gs pos="23000">
                  <a:schemeClr val="accent3"/>
                </a:gs>
              </a:gsLst>
              <a:lin ang="16200000" scaled="1"/>
            </a:gra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任务完成率</c:v>
                </c:pt>
                <c:pt idx="1">
                  <c:v>资源利用率</c:v>
                </c:pt>
                <c:pt idx="2">
                  <c:v>客户正面反馈</c:v>
                </c:pt>
                <c:pt idx="3">
                  <c:v>创新落地率</c:v>
                </c:pt>
              </c:strCache>
            </c:strRef>
          </c:cat>
          <c:val>
            <c:numRef>
              <c:f>Sheet1!$C$2:$C$5</c:f>
              <c:numCache>
                <c:formatCode>0%</c:formatCode>
                <c:ptCount val="4"/>
                <c:pt idx="0">
                  <c:v>0.85</c:v>
                </c:pt>
                <c:pt idx="1">
                  <c:v>0.8</c:v>
                </c:pt>
                <c:pt idx="2">
                  <c:v>0.72</c:v>
                </c:pt>
                <c:pt idx="3">
                  <c:v>0.5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7"/>
        <c:axId val="273808144"/>
        <c:axId val="273812464"/>
      </c:barChart>
      <c:catAx>
        <c:axId val="27380814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</a:defRPr>
            </a:pPr>
          </a:p>
        </c:txPr>
        <c:crossAx val="273812464"/>
        <c:crosses val="autoZero"/>
        <c:auto val="1"/>
        <c:lblAlgn val="ctr"/>
        <c:lblOffset val="100"/>
        <c:noMultiLvlLbl val="0"/>
      </c:catAx>
      <c:valAx>
        <c:axId val="2738124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</a:defRPr>
            </a:pPr>
          </a:p>
        </c:txPr>
        <c:crossAx val="273808144"/>
        <c:crosses val="autoZero"/>
        <c:crossBetween val="between"/>
        <c:majorUnit val="0.2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</a:defRPr>
            </a:pPr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8c8b211a-39b9-41f2-9ab5-999db0380fbe}"/>
      </c:ext>
    </c:extLst>
  </c:chart>
  <c:spPr>
    <a:noFill/>
    <a:ln>
      <a:noFill/>
    </a:ln>
    <a:effectLst/>
  </c:spPr>
  <c:txPr>
    <a:bodyPr/>
    <a:lstStyle/>
    <a:p>
      <a:pPr>
        <a:defRPr lang="zh-CN" sz="900">
          <a:latin typeface="OPPOSans R" panose="00020600040101010101" pitchFamily="18" charset="-122"/>
          <a:ea typeface="OPPOSans R" panose="00020600040101010101" pitchFamily="18" charset="-122"/>
          <a:cs typeface="OPPOSans R" panose="00020600040101010101" pitchFamily="18" charset="-122"/>
        </a:defRPr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gradFill>
              <a:gsLst>
                <a:gs pos="100000">
                  <a:schemeClr val="accent3">
                    <a:lumMod val="60000"/>
                    <a:lumOff val="40000"/>
                  </a:schemeClr>
                </a:gs>
                <a:gs pos="23000">
                  <a:schemeClr val="accent3"/>
                </a:gs>
              </a:gsLst>
              <a:lin ang="16200000" scaled="1"/>
            </a:gradFill>
          </c:spPr>
          <c:explosion val="0"/>
          <c:dPt>
            <c:idx val="0"/>
            <c:bubble3D val="0"/>
            <c:spPr>
              <a:gradFill>
                <a:gsLst>
                  <a:gs pos="100000">
                    <a:schemeClr val="accent3">
                      <a:lumMod val="60000"/>
                      <a:lumOff val="40000"/>
                    </a:schemeClr>
                  </a:gs>
                  <a:gs pos="23000">
                    <a:schemeClr val="accent3"/>
                  </a:gs>
                </a:gsLst>
                <a:lin ang="16200000" scaled="1"/>
              </a:gradFill>
              <a:ln w="19050">
                <a:noFill/>
              </a:ln>
              <a:effectLst/>
            </c:spPr>
          </c:dPt>
          <c:dPt>
            <c:idx val="1"/>
            <c:bubble3D val="0"/>
            <c:spPr>
              <a:gradFill>
                <a:gsLst>
                  <a:gs pos="100000">
                    <a:schemeClr val="accent3">
                      <a:lumMod val="60000"/>
                      <a:lumOff val="40000"/>
                    </a:schemeClr>
                  </a:gs>
                  <a:gs pos="23000">
                    <a:schemeClr val="accent3"/>
                  </a:gs>
                </a:gsLst>
                <a:lin ang="16200000" scaled="1"/>
              </a:gradFill>
              <a:ln w="19050">
                <a:noFill/>
              </a:ln>
              <a:effectLst/>
            </c:spPr>
          </c:dPt>
          <c:dLbls>
            <c:delete val="1"/>
          </c:dLbls>
          <c:cat>
            <c:strRef>
              <c:f>Sheet1!$A$2:$A$3</c:f>
              <c:strCache>
                <c:ptCount val="2"/>
                <c:pt idx="0">
                  <c:v>第一季度</c:v>
                </c:pt>
                <c:pt idx="1">
                  <c:v>第二季度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0.95</c:v>
                </c:pt>
                <c:pt idx="1">
                  <c:v>0.05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92ad0ee1-2cff-479e-a7aa-8d948ede1556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103289974218172"/>
          <c:w val="1"/>
          <c:h val="0.67119407498541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gradFill>
                <a:gsLst>
                  <a:gs pos="100000">
                    <a:schemeClr val="accent3">
                      <a:lumMod val="60000"/>
                      <a:lumOff val="40000"/>
                    </a:schemeClr>
                  </a:gs>
                  <a:gs pos="23000">
                    <a:schemeClr val="accent3"/>
                  </a:gs>
                </a:gsLst>
                <a:lin ang="16200000" scaled="1"/>
              </a:gradFill>
              <a:ln>
                <a:noFill/>
              </a:ln>
              <a:effectLst/>
            </c:spPr>
          </c:dPt>
          <c:dPt>
            <c:idx val="1"/>
            <c:invertIfNegative val="0"/>
            <c:bubble3D val="0"/>
            <c:spPr>
              <a:gradFill>
                <a:gsLst>
                  <a:gs pos="100000">
                    <a:schemeClr val="accent1">
                      <a:lumMod val="60000"/>
                      <a:lumOff val="40000"/>
                    </a:schemeClr>
                  </a:gs>
                  <a:gs pos="23000">
                    <a:schemeClr val="accent1"/>
                  </a:gs>
                </a:gsLst>
                <a:lin ang="16200000" scaled="1"/>
              </a:gradFill>
              <a:ln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chemeClr val="bg2"/>
                    </a:solidFill>
                    <a:latin typeface="OPPOSans R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</a:defRPr>
                </a:pPr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开展前</c:v>
                </c:pt>
                <c:pt idx="1">
                  <c:v>开展后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0.58</c:v>
                </c:pt>
                <c:pt idx="1">
                  <c:v>0.95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0"/>
        <c:axId val="1079042031"/>
        <c:axId val="1079039631"/>
      </c:barChart>
      <c:catAx>
        <c:axId val="107904203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6350" cap="flat" cmpd="sng" algn="ctr">
            <a:solidFill>
              <a:schemeClr val="tx1">
                <a:lumMod val="15000"/>
                <a:lumOff val="85000"/>
                <a:alpha val="6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</a:defRPr>
            </a:pPr>
          </a:p>
        </c:txPr>
        <c:crossAx val="1079039631"/>
        <c:crosses val="autoZero"/>
        <c:auto val="1"/>
        <c:lblAlgn val="ctr"/>
        <c:lblOffset val="100"/>
        <c:noMultiLvlLbl val="0"/>
      </c:catAx>
      <c:valAx>
        <c:axId val="1079039631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</a:defRPr>
            </a:pPr>
          </a:p>
        </c:txPr>
        <c:crossAx val="107904203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06754bee-3a98-490d-b16e-417bd4bf7f32}"/>
      </c:ext>
    </c:extLst>
  </c:chart>
  <c:spPr>
    <a:noFill/>
    <a:ln w="9525">
      <a:noFill/>
    </a:ln>
    <a:effectLst/>
  </c:spPr>
  <c:txPr>
    <a:bodyPr/>
    <a:lstStyle/>
    <a:p>
      <a:pPr>
        <a:defRPr lang="zh-CN" sz="800">
          <a:latin typeface="OPPOSans R" panose="00020600040101010101" pitchFamily="18" charset="-122"/>
          <a:ea typeface="OPPOSans R" panose="00020600040101010101" pitchFamily="18" charset="-122"/>
          <a:cs typeface="OPPOSans R" panose="00020600040101010101" pitchFamily="18" charset="-122"/>
        </a:defRPr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103289974218172"/>
          <c:w val="1"/>
          <c:h val="0.67119407498541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gradFill>
                <a:gsLst>
                  <a:gs pos="100000">
                    <a:schemeClr val="accent3">
                      <a:lumMod val="60000"/>
                      <a:lumOff val="40000"/>
                    </a:schemeClr>
                  </a:gs>
                  <a:gs pos="23000">
                    <a:schemeClr val="accent3"/>
                  </a:gs>
                </a:gsLst>
                <a:lin ang="16200000" scaled="1"/>
              </a:gradFill>
              <a:ln>
                <a:noFill/>
              </a:ln>
              <a:effectLst/>
            </c:spPr>
          </c:dPt>
          <c:dPt>
            <c:idx val="1"/>
            <c:invertIfNegative val="0"/>
            <c:bubble3D val="0"/>
            <c:spPr>
              <a:gradFill>
                <a:gsLst>
                  <a:gs pos="100000">
                    <a:schemeClr val="accent1">
                      <a:lumMod val="60000"/>
                      <a:lumOff val="40000"/>
                    </a:schemeClr>
                  </a:gs>
                  <a:gs pos="23000">
                    <a:schemeClr val="accent1"/>
                  </a:gs>
                </a:gsLst>
                <a:lin ang="16200000" scaled="1"/>
              </a:gradFill>
              <a:ln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chemeClr val="bg2"/>
                    </a:solidFill>
                    <a:latin typeface="OPPOSans R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</a:defRPr>
                </a:pPr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开展前</c:v>
                </c:pt>
                <c:pt idx="1">
                  <c:v>开展后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0.58</c:v>
                </c:pt>
                <c:pt idx="1">
                  <c:v>0.83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0"/>
        <c:axId val="1079042031"/>
        <c:axId val="1079039631"/>
      </c:barChart>
      <c:catAx>
        <c:axId val="107904203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6350" cap="flat" cmpd="sng" algn="ctr">
            <a:solidFill>
              <a:schemeClr val="tx1">
                <a:lumMod val="15000"/>
                <a:lumOff val="85000"/>
                <a:alpha val="6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</a:defRPr>
            </a:pPr>
          </a:p>
        </c:txPr>
        <c:crossAx val="1079039631"/>
        <c:crosses val="autoZero"/>
        <c:auto val="1"/>
        <c:lblAlgn val="ctr"/>
        <c:lblOffset val="100"/>
        <c:noMultiLvlLbl val="0"/>
      </c:catAx>
      <c:valAx>
        <c:axId val="1079039631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</a:defRPr>
            </a:pPr>
          </a:p>
        </c:txPr>
        <c:crossAx val="107904203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a591fec9-2a70-4025-8ec6-8dda62fff712}"/>
      </c:ext>
    </c:extLst>
  </c:chart>
  <c:spPr>
    <a:noFill/>
    <a:ln w="9525">
      <a:noFill/>
    </a:ln>
    <a:effectLst/>
  </c:spPr>
  <c:txPr>
    <a:bodyPr/>
    <a:lstStyle/>
    <a:p>
      <a:pPr>
        <a:defRPr lang="zh-CN" sz="800">
          <a:latin typeface="OPPOSans R" panose="00020600040101010101" pitchFamily="18" charset="-122"/>
          <a:ea typeface="OPPOSans R" panose="00020600040101010101" pitchFamily="18" charset="-122"/>
          <a:cs typeface="OPPOSans R" panose="00020600040101010101" pitchFamily="18" charset="-122"/>
        </a:defRPr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103289974218172"/>
          <c:w val="1"/>
          <c:h val="0.67119407498541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gradFill>
                <a:gsLst>
                  <a:gs pos="100000">
                    <a:schemeClr val="accent3">
                      <a:lumMod val="60000"/>
                      <a:lumOff val="40000"/>
                    </a:schemeClr>
                  </a:gs>
                  <a:gs pos="23000">
                    <a:schemeClr val="accent3"/>
                  </a:gs>
                </a:gsLst>
                <a:lin ang="16200000" scaled="1"/>
              </a:gradFill>
              <a:ln>
                <a:noFill/>
              </a:ln>
              <a:effectLst/>
            </c:spPr>
          </c:dPt>
          <c:dPt>
            <c:idx val="1"/>
            <c:invertIfNegative val="0"/>
            <c:bubble3D val="0"/>
            <c:spPr>
              <a:gradFill>
                <a:gsLst>
                  <a:gs pos="100000">
                    <a:schemeClr val="accent1">
                      <a:lumMod val="60000"/>
                      <a:lumOff val="40000"/>
                    </a:schemeClr>
                  </a:gs>
                  <a:gs pos="23000">
                    <a:schemeClr val="accent1"/>
                  </a:gs>
                </a:gsLst>
                <a:lin ang="16200000" scaled="1"/>
              </a:gradFill>
              <a:ln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chemeClr val="bg2"/>
                    </a:solidFill>
                    <a:latin typeface="OPPOSans R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</a:defRPr>
                </a:pPr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开展前</c:v>
                </c:pt>
                <c:pt idx="1">
                  <c:v>开展后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0.3</c:v>
                </c:pt>
                <c:pt idx="1">
                  <c:v>0.75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0"/>
        <c:axId val="1079042031"/>
        <c:axId val="1079039631"/>
      </c:barChart>
      <c:catAx>
        <c:axId val="107904203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6350" cap="flat" cmpd="sng" algn="ctr">
            <a:solidFill>
              <a:schemeClr val="tx1">
                <a:lumMod val="15000"/>
                <a:lumOff val="85000"/>
                <a:alpha val="6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</a:defRPr>
            </a:pPr>
          </a:p>
        </c:txPr>
        <c:crossAx val="1079039631"/>
        <c:crosses val="autoZero"/>
        <c:auto val="1"/>
        <c:lblAlgn val="ctr"/>
        <c:lblOffset val="100"/>
        <c:noMultiLvlLbl val="0"/>
      </c:catAx>
      <c:valAx>
        <c:axId val="1079039631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</a:defRPr>
            </a:pPr>
          </a:p>
        </c:txPr>
        <c:crossAx val="107904203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399be75d-0cc3-4b12-8f63-bdc28cf23ef8}"/>
      </c:ext>
    </c:extLst>
  </c:chart>
  <c:spPr>
    <a:noFill/>
    <a:ln w="9525">
      <a:noFill/>
    </a:ln>
    <a:effectLst/>
  </c:spPr>
  <c:txPr>
    <a:bodyPr/>
    <a:lstStyle/>
    <a:p>
      <a:pPr>
        <a:defRPr lang="zh-CN" sz="800">
          <a:latin typeface="OPPOSans R" panose="00020600040101010101" pitchFamily="18" charset="-122"/>
          <a:ea typeface="OPPOSans R" panose="00020600040101010101" pitchFamily="18" charset="-122"/>
          <a:cs typeface="OPPOSans R" panose="00020600040101010101" pitchFamily="18" charset="-122"/>
        </a:defRPr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103289974218172"/>
          <c:w val="1"/>
          <c:h val="0.67119407498541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gradFill>
                <a:gsLst>
                  <a:gs pos="100000">
                    <a:schemeClr val="accent3">
                      <a:lumMod val="60000"/>
                      <a:lumOff val="40000"/>
                    </a:schemeClr>
                  </a:gs>
                  <a:gs pos="23000">
                    <a:schemeClr val="accent3"/>
                  </a:gs>
                </a:gsLst>
                <a:lin ang="16200000" scaled="1"/>
              </a:gradFill>
              <a:ln>
                <a:noFill/>
              </a:ln>
              <a:effectLst/>
            </c:spPr>
          </c:dPt>
          <c:dPt>
            <c:idx val="1"/>
            <c:invertIfNegative val="0"/>
            <c:bubble3D val="0"/>
            <c:spPr>
              <a:gradFill>
                <a:gsLst>
                  <a:gs pos="100000">
                    <a:schemeClr val="accent1">
                      <a:lumMod val="60000"/>
                      <a:lumOff val="40000"/>
                    </a:schemeClr>
                  </a:gs>
                  <a:gs pos="23000">
                    <a:schemeClr val="accent1"/>
                  </a:gs>
                </a:gsLst>
                <a:lin ang="16200000" scaled="1"/>
              </a:gradFill>
              <a:ln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chemeClr val="bg2"/>
                    </a:solidFill>
                    <a:latin typeface="OPPOSans R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</a:defRPr>
                </a:pPr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开展前</c:v>
                </c:pt>
                <c:pt idx="1">
                  <c:v>开展后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0.58</c:v>
                </c:pt>
                <c:pt idx="1">
                  <c:v>0.33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0"/>
        <c:axId val="1079042031"/>
        <c:axId val="1079039631"/>
      </c:barChart>
      <c:catAx>
        <c:axId val="107904203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6350" cap="flat" cmpd="sng" algn="ctr">
            <a:solidFill>
              <a:schemeClr val="tx1">
                <a:lumMod val="15000"/>
                <a:lumOff val="85000"/>
                <a:alpha val="6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</a:defRPr>
            </a:pPr>
          </a:p>
        </c:txPr>
        <c:crossAx val="1079039631"/>
        <c:crosses val="autoZero"/>
        <c:auto val="1"/>
        <c:lblAlgn val="ctr"/>
        <c:lblOffset val="100"/>
        <c:noMultiLvlLbl val="0"/>
      </c:catAx>
      <c:valAx>
        <c:axId val="1079039631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</a:defRPr>
            </a:pPr>
          </a:p>
        </c:txPr>
        <c:crossAx val="107904203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12cff822-5d54-4892-9fe7-16364888254c}"/>
      </c:ext>
    </c:extLst>
  </c:chart>
  <c:spPr>
    <a:noFill/>
    <a:ln w="9525">
      <a:noFill/>
    </a:ln>
    <a:effectLst/>
  </c:spPr>
  <c:txPr>
    <a:bodyPr/>
    <a:lstStyle/>
    <a:p>
      <a:pPr>
        <a:defRPr lang="zh-CN" sz="800">
          <a:latin typeface="OPPOSans R" panose="00020600040101010101" pitchFamily="18" charset="-122"/>
          <a:ea typeface="OPPOSans R" panose="00020600040101010101" pitchFamily="18" charset="-122"/>
          <a:cs typeface="OPPOSans R" panose="00020600040101010101" pitchFamily="18" charset="-122"/>
        </a:defRPr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4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5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6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123213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1" y="0"/>
            <a:ext cx="12192000" cy="6862546"/>
          </a:xfrm>
          <a:prstGeom prst="rect">
            <a:avLst/>
          </a:prstGeom>
          <a:gradFill>
            <a:gsLst>
              <a:gs pos="0">
                <a:schemeClr val="accent1">
                  <a:lumMod val="3000"/>
                  <a:lumOff val="97000"/>
                </a:schemeClr>
              </a:gs>
              <a:gs pos="11000">
                <a:schemeClr val="bg2"/>
              </a:gs>
              <a:gs pos="89000">
                <a:schemeClr val="bg2"/>
              </a:gs>
              <a:gs pos="100000">
                <a:schemeClr val="accent1">
                  <a:lumMod val="3000"/>
                  <a:lumOff val="97000"/>
                </a:schemeClr>
              </a:gs>
              <a:gs pos="50000">
                <a:schemeClr val="accent1">
                  <a:lumMod val="6000"/>
                  <a:lumOff val="94000"/>
                </a:schemeClr>
              </a:gs>
            </a:gsLst>
            <a:lin ang="2700000" scaled="1"/>
          </a:gradFill>
          <a:ln w="12700" cap="flat" cmpd="sng" algn="ctr">
            <a:noFill/>
            <a:prstDash val="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Sans M" panose="00020600040101010101" pitchFamily="18" charset="-122"/>
              <a:ea typeface="OPPOSans M" panose="00020600040101010101" pitchFamily="18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931110" y="331705"/>
            <a:ext cx="6510815" cy="395045"/>
          </a:xfrm>
          <a:noFill/>
        </p:spPr>
        <p:txBody>
          <a:bodyPr vert="horz" wrap="square" lIns="0" tIns="0" rIns="0" bIns="0" rtlCol="0" anchor="ctr">
            <a:spAutoFit/>
          </a:bodyPr>
          <a:lstStyle>
            <a:lvl1pPr>
              <a:defRPr lang="zh-CN" altLang="en-US" sz="2800" dirty="0">
                <a:solidFill>
                  <a:schemeClr val="bg1">
                    <a:lumMod val="90000"/>
                    <a:lumOff val="10000"/>
                  </a:schemeClr>
                </a:solidFill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defRPr>
            </a:lvl1pPr>
          </a:lstStyle>
          <a:p>
            <a:pPr marL="0" lvl="0"/>
            <a:r>
              <a:rPr kumimoji="1" lang="zh-CN" altLang="en-US" dirty="0"/>
              <a:t>单击此处编辑标题样式</a:t>
            </a:r>
            <a:endParaRPr kumimoji="1" lang="zh-CN" altLang="en-US" dirty="0"/>
          </a:p>
        </p:txBody>
      </p:sp>
      <p:cxnSp>
        <p:nvCxnSpPr>
          <p:cNvPr id="8" name="直线连接符 7"/>
          <p:cNvCxnSpPr/>
          <p:nvPr/>
        </p:nvCxnSpPr>
        <p:spPr>
          <a:xfrm>
            <a:off x="372392" y="827841"/>
            <a:ext cx="11448133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线连接符 7"/>
          <p:cNvCxnSpPr/>
          <p:nvPr userDrawn="1"/>
        </p:nvCxnSpPr>
        <p:spPr>
          <a:xfrm>
            <a:off x="372392" y="827841"/>
            <a:ext cx="11448133" cy="0"/>
          </a:xfrm>
          <a:prstGeom prst="line">
            <a:avLst/>
          </a:prstGeom>
          <a:ln w="28575"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74000">
                  <a:schemeClr val="accent1">
                    <a:lumMod val="60000"/>
                    <a:lumOff val="40000"/>
                    <a:alpha val="45000"/>
                  </a:schemeClr>
                </a:gs>
                <a:gs pos="83000">
                  <a:schemeClr val="accent1">
                    <a:lumMod val="60000"/>
                    <a:lumOff val="40000"/>
                    <a:alpha val="4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任意多边形: 形状 17"/>
          <p:cNvSpPr/>
          <p:nvPr userDrawn="1"/>
        </p:nvSpPr>
        <p:spPr>
          <a:xfrm>
            <a:off x="372391" y="331704"/>
            <a:ext cx="489620" cy="395046"/>
          </a:xfrm>
          <a:custGeom>
            <a:avLst/>
            <a:gdLst>
              <a:gd name="connsiteX0" fmla="*/ 120527 w 489620"/>
              <a:gd name="connsiteY0" fmla="*/ 0 h 395046"/>
              <a:gd name="connsiteX1" fmla="*/ 397605 w 489620"/>
              <a:gd name="connsiteY1" fmla="*/ 0 h 395046"/>
              <a:gd name="connsiteX2" fmla="*/ 489620 w 489620"/>
              <a:gd name="connsiteY2" fmla="*/ 197523 h 395046"/>
              <a:gd name="connsiteX3" fmla="*/ 397605 w 489620"/>
              <a:gd name="connsiteY3" fmla="*/ 395046 h 395046"/>
              <a:gd name="connsiteX4" fmla="*/ 120527 w 489620"/>
              <a:gd name="connsiteY4" fmla="*/ 395046 h 395046"/>
              <a:gd name="connsiteX5" fmla="*/ 0 w 489620"/>
              <a:gd name="connsiteY5" fmla="*/ 0 h 395046"/>
              <a:gd name="connsiteX6" fmla="*/ 85957 w 489620"/>
              <a:gd name="connsiteY6" fmla="*/ 0 h 395046"/>
              <a:gd name="connsiteX7" fmla="*/ 85957 w 489620"/>
              <a:gd name="connsiteY7" fmla="*/ 395046 h 395046"/>
              <a:gd name="connsiteX8" fmla="*/ 0 w 489620"/>
              <a:gd name="connsiteY8" fmla="*/ 395046 h 395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9620" h="395046">
                <a:moveTo>
                  <a:pt x="120527" y="0"/>
                </a:moveTo>
                <a:lnTo>
                  <a:pt x="397605" y="0"/>
                </a:lnTo>
                <a:lnTo>
                  <a:pt x="489620" y="197523"/>
                </a:lnTo>
                <a:lnTo>
                  <a:pt x="397605" y="395046"/>
                </a:lnTo>
                <a:lnTo>
                  <a:pt x="120527" y="395046"/>
                </a:lnTo>
                <a:close/>
                <a:moveTo>
                  <a:pt x="0" y="0"/>
                </a:moveTo>
                <a:lnTo>
                  <a:pt x="85957" y="0"/>
                </a:lnTo>
                <a:lnTo>
                  <a:pt x="85957" y="395046"/>
                </a:lnTo>
                <a:lnTo>
                  <a:pt x="0" y="395046"/>
                </a:lnTo>
                <a:close/>
              </a:path>
            </a:pathLst>
          </a:custGeom>
          <a:gradFill>
            <a:gsLst>
              <a:gs pos="100000">
                <a:schemeClr val="accent1">
                  <a:lumMod val="60000"/>
                  <a:lumOff val="40000"/>
                </a:schemeClr>
              </a:gs>
              <a:gs pos="7000">
                <a:schemeClr val="accent1"/>
              </a:gs>
            </a:gsLst>
            <a:lin ang="0" scaled="0"/>
          </a:gradFill>
          <a:ln w="12700">
            <a:gradFill>
              <a:gsLst>
                <a:gs pos="48000">
                  <a:srgbClr val="FFB590">
                    <a:alpha val="0"/>
                  </a:srgbClr>
                </a:gs>
                <a:gs pos="0">
                  <a:schemeClr val="accent1">
                    <a:lumMod val="60000"/>
                    <a:lumOff val="40000"/>
                    <a:alpha val="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0" scaled="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b="0" i="0" u="none" strike="noStrike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Sans M" panose="00020600040101010101" pitchFamily="18" charset="-122"/>
              <a:ea typeface="OPPOSans M" panose="00020600040101010101" pitchFamily="18" charset="-122"/>
            </a:endParaRPr>
          </a:p>
        </p:txBody>
      </p:sp>
      <p:grpSp>
        <p:nvGrpSpPr>
          <p:cNvPr id="14" name="组合 13"/>
          <p:cNvGrpSpPr/>
          <p:nvPr userDrawn="1"/>
        </p:nvGrpSpPr>
        <p:grpSpPr>
          <a:xfrm>
            <a:off x="9241607" y="317912"/>
            <a:ext cx="2578002" cy="466280"/>
            <a:chOff x="8882065" y="317912"/>
            <a:chExt cx="2578002" cy="466280"/>
          </a:xfrm>
        </p:grpSpPr>
        <p:sp>
          <p:nvSpPr>
            <p:cNvPr id="15" name="文本框 14"/>
            <p:cNvSpPr txBox="1"/>
            <p:nvPr userDrawn="1"/>
          </p:nvSpPr>
          <p:spPr>
            <a:xfrm>
              <a:off x="8882065" y="455092"/>
              <a:ext cx="2179184" cy="329100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defPPr>
                <a:defRPr lang="zh-CN"/>
              </a:defPPr>
              <a:lvl1pPr lvl="0" indent="0" algn="r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4000">
                  <a:solidFill>
                    <a:schemeClr val="bg1"/>
                  </a:solidFill>
                  <a:latin typeface="OPPOSans H" panose="00020600040101010101" pitchFamily="18" charset="-122"/>
                  <a:ea typeface="OPPOSans H" panose="00020600040101010101" pitchFamily="18" charset="-122"/>
                  <a:cs typeface="OPPOSans H" panose="00020600040101010101" pitchFamily="18" charset="-122"/>
                </a:defRPr>
              </a:lvl1pPr>
              <a:lvl2pPr marL="6858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bg1"/>
                  </a:solidFill>
                  <a:latin typeface="OPPOSans R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bg1"/>
                  </a:solidFill>
                  <a:latin typeface="OPPOSans R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bg1"/>
                  </a:solidFill>
                  <a:latin typeface="OPPOSans R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000">
                  <a:solidFill>
                    <a:schemeClr val="bg1"/>
                  </a:solidFill>
                  <a:latin typeface="OPPOSans R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</a:defRPr>
              </a:lvl5pPr>
              <a:lvl6pPr marL="25146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6pPr>
              <a:lvl7pPr marL="29718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7pPr>
              <a:lvl8pPr marL="3429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8pPr>
              <a:lvl9pPr marL="3886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9pPr>
            </a:lstStyle>
            <a:p>
              <a:pPr lvl="0" algn="r"/>
              <a:r>
                <a:rPr lang="en-US" altLang="zh-CN" sz="1600" dirty="0"/>
                <a:t>@</a:t>
              </a:r>
              <a:r>
                <a:rPr lang="zh-CN" altLang="en-US" sz="1600" dirty="0"/>
                <a:t>职场</a:t>
              </a:r>
              <a:r>
                <a:rPr lang="zh-CN" altLang="zh-CN" sz="1600" dirty="0"/>
                <a:t>小蓝云</a:t>
              </a:r>
              <a:endParaRPr lang="en-US" altLang="zh-CN" sz="1600" dirty="0"/>
            </a:p>
          </p:txBody>
        </p:sp>
        <p:pic>
          <p:nvPicPr>
            <p:cNvPr id="16" name="图片 15" descr="图标&#10;&#10;AI 生成的内容可能不正确。"/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453" t="18038" r="7453" b="42712"/>
            <a:stretch>
              <a:fillRect/>
            </a:stretch>
          </p:blipFill>
          <p:spPr>
            <a:xfrm>
              <a:off x="11037435" y="317912"/>
              <a:ext cx="422632" cy="422630"/>
            </a:xfrm>
            <a:prstGeom prst="ellipse">
              <a:avLst/>
            </a:prstGeom>
            <a:noFill/>
            <a:ln w="12700">
              <a:solidFill>
                <a:schemeClr val="accent1"/>
              </a:solidFill>
            </a:ln>
            <a:effectLst/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123213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942920" y="312291"/>
            <a:ext cx="6510815" cy="282193"/>
          </a:xfrm>
          <a:noFill/>
        </p:spPr>
        <p:txBody>
          <a:bodyPr vert="horz" wrap="square" lIns="0" tIns="0" rIns="0" bIns="0" rtlCol="0" anchor="ctr">
            <a:spAutoFit/>
          </a:bodyPr>
          <a:lstStyle>
            <a:lvl1pPr>
              <a:defRPr lang="zh-CN" altLang="en-US" sz="2000" dirty="0">
                <a:cs typeface="OPPOSans M" panose="00020600040101010101" pitchFamily="18" charset="-122"/>
              </a:defRPr>
            </a:lvl1pPr>
          </a:lstStyle>
          <a:p>
            <a:pPr marL="0" lvl="0"/>
            <a:r>
              <a:rPr kumimoji="1" lang="zh-CN" altLang="en-US" dirty="0"/>
              <a:t>单击此处编辑标题样式</a:t>
            </a:r>
            <a:endParaRPr kumimoji="1" lang="zh-CN" altLang="en-US" dirty="0"/>
          </a:p>
        </p:txBody>
      </p:sp>
      <p:sp>
        <p:nvSpPr>
          <p:cNvPr id="30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942003" y="587654"/>
            <a:ext cx="2786955" cy="155235"/>
          </a:xfrm>
          <a:noFill/>
        </p:spPr>
        <p:txBody>
          <a:bodyPr vert="horz" wrap="square" lIns="0" tIns="0" rIns="0" bIns="0" rtlCol="0" anchor="ctr">
            <a:spAutoFit/>
          </a:bodyPr>
          <a:lstStyle>
            <a:lvl1pPr marL="0" indent="0">
              <a:buNone/>
              <a:defRPr kumimoji="1" lang="en-US" altLang="zh-CN" sz="1100" dirty="0"/>
            </a:lvl1pPr>
          </a:lstStyle>
          <a:p>
            <a:pPr marL="0" lvl="0">
              <a:spcBef>
                <a:spcPct val="0"/>
              </a:spcBef>
            </a:pPr>
            <a:r>
              <a:rPr lang="zh-CN" altLang="en-US" dirty="0"/>
              <a:t>在此输入内容</a:t>
            </a:r>
            <a:endParaRPr lang="en-US" altLang="zh-CN" dirty="0"/>
          </a:p>
        </p:txBody>
      </p:sp>
      <p:grpSp>
        <p:nvGrpSpPr>
          <p:cNvPr id="4" name="组合 3"/>
          <p:cNvGrpSpPr/>
          <p:nvPr/>
        </p:nvGrpSpPr>
        <p:grpSpPr>
          <a:xfrm>
            <a:off x="479038" y="331020"/>
            <a:ext cx="385832" cy="351332"/>
            <a:chOff x="457484" y="311393"/>
            <a:chExt cx="428940" cy="390586"/>
          </a:xfrm>
        </p:grpSpPr>
        <p:sp>
          <p:nvSpPr>
            <p:cNvPr id="6" name="等腰三角形 3"/>
            <p:cNvSpPr/>
            <p:nvPr/>
          </p:nvSpPr>
          <p:spPr>
            <a:xfrm>
              <a:off x="457484" y="374420"/>
              <a:ext cx="355299" cy="327559"/>
            </a:xfrm>
            <a:custGeom>
              <a:avLst/>
              <a:gdLst>
                <a:gd name="connsiteX0" fmla="*/ 22532 w 2614367"/>
                <a:gd name="connsiteY0" fmla="*/ 2143553 h 2410252"/>
                <a:gd name="connsiteX1" fmla="*/ 1149441 w 2614367"/>
                <a:gd name="connsiteY1" fmla="*/ 93206 h 2410252"/>
                <a:gd name="connsiteX2" fmla="*/ 1464929 w 2614367"/>
                <a:gd name="connsiteY2" fmla="*/ 93206 h 2410252"/>
                <a:gd name="connsiteX3" fmla="*/ 2591836 w 2614367"/>
                <a:gd name="connsiteY3" fmla="*/ 2143553 h 2410252"/>
                <a:gd name="connsiteX4" fmla="*/ 2434092 w 2614367"/>
                <a:gd name="connsiteY4" fmla="*/ 2410252 h 2410252"/>
                <a:gd name="connsiteX5" fmla="*/ 180277 w 2614367"/>
                <a:gd name="connsiteY5" fmla="*/ 2410252 h 2410252"/>
                <a:gd name="connsiteX6" fmla="*/ 22532 w 2614367"/>
                <a:gd name="connsiteY6" fmla="*/ 2143553 h 2410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14367" h="2410252">
                  <a:moveTo>
                    <a:pt x="22532" y="2143553"/>
                  </a:moveTo>
                  <a:lnTo>
                    <a:pt x="1149441" y="93206"/>
                  </a:lnTo>
                  <a:cubicBezTo>
                    <a:pt x="1217744" y="-31068"/>
                    <a:pt x="1396626" y="-31068"/>
                    <a:pt x="1464929" y="93206"/>
                  </a:cubicBezTo>
                  <a:lnTo>
                    <a:pt x="2591836" y="2143553"/>
                  </a:lnTo>
                  <a:cubicBezTo>
                    <a:pt x="2657798" y="2263568"/>
                    <a:pt x="2571039" y="2410252"/>
                    <a:pt x="2434092" y="2410252"/>
                  </a:cubicBezTo>
                  <a:lnTo>
                    <a:pt x="180277" y="2410252"/>
                  </a:lnTo>
                  <a:cubicBezTo>
                    <a:pt x="43330" y="2410252"/>
                    <a:pt x="-43430" y="2263568"/>
                    <a:pt x="22532" y="2143553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lt1"/>
                </a:solidFill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R" panose="00020600040101010101" pitchFamily="18" charset="-122"/>
              </a:endParaRPr>
            </a:p>
          </p:txBody>
        </p:sp>
        <p:sp>
          <p:nvSpPr>
            <p:cNvPr id="7" name="等腰三角形 3"/>
            <p:cNvSpPr/>
            <p:nvPr/>
          </p:nvSpPr>
          <p:spPr>
            <a:xfrm flipV="1">
              <a:off x="531125" y="311393"/>
              <a:ext cx="355299" cy="327559"/>
            </a:xfrm>
            <a:custGeom>
              <a:avLst/>
              <a:gdLst>
                <a:gd name="connsiteX0" fmla="*/ 22532 w 2614367"/>
                <a:gd name="connsiteY0" fmla="*/ 2143553 h 2410252"/>
                <a:gd name="connsiteX1" fmla="*/ 1149441 w 2614367"/>
                <a:gd name="connsiteY1" fmla="*/ 93206 h 2410252"/>
                <a:gd name="connsiteX2" fmla="*/ 1464929 w 2614367"/>
                <a:gd name="connsiteY2" fmla="*/ 93206 h 2410252"/>
                <a:gd name="connsiteX3" fmla="*/ 2591836 w 2614367"/>
                <a:gd name="connsiteY3" fmla="*/ 2143553 h 2410252"/>
                <a:gd name="connsiteX4" fmla="*/ 2434092 w 2614367"/>
                <a:gd name="connsiteY4" fmla="*/ 2410252 h 2410252"/>
                <a:gd name="connsiteX5" fmla="*/ 180277 w 2614367"/>
                <a:gd name="connsiteY5" fmla="*/ 2410252 h 2410252"/>
                <a:gd name="connsiteX6" fmla="*/ 22532 w 2614367"/>
                <a:gd name="connsiteY6" fmla="*/ 2143553 h 2410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14367" h="2410252">
                  <a:moveTo>
                    <a:pt x="22532" y="2143553"/>
                  </a:moveTo>
                  <a:lnTo>
                    <a:pt x="1149441" y="93206"/>
                  </a:lnTo>
                  <a:cubicBezTo>
                    <a:pt x="1217744" y="-31068"/>
                    <a:pt x="1396626" y="-31068"/>
                    <a:pt x="1464929" y="93206"/>
                  </a:cubicBezTo>
                  <a:lnTo>
                    <a:pt x="2591836" y="2143553"/>
                  </a:lnTo>
                  <a:cubicBezTo>
                    <a:pt x="2657798" y="2263568"/>
                    <a:pt x="2571039" y="2410252"/>
                    <a:pt x="2434092" y="2410252"/>
                  </a:cubicBezTo>
                  <a:lnTo>
                    <a:pt x="180277" y="2410252"/>
                  </a:lnTo>
                  <a:cubicBezTo>
                    <a:pt x="43330" y="2410252"/>
                    <a:pt x="-43430" y="2263568"/>
                    <a:pt x="22532" y="2143553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kumimoji="1" lang="zh-CN" altLang="en-US"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R" panose="00020600040101010101" pitchFamily="18" charset="-122"/>
              </a:endParaRPr>
            </a:p>
          </p:txBody>
        </p:sp>
      </p:grpSp>
      <p:cxnSp>
        <p:nvCxnSpPr>
          <p:cNvPr id="8" name="直线连接符 7"/>
          <p:cNvCxnSpPr/>
          <p:nvPr/>
        </p:nvCxnSpPr>
        <p:spPr>
          <a:xfrm>
            <a:off x="372392" y="827841"/>
            <a:ext cx="11448133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占位符 20"/>
          <p:cNvSpPr>
            <a:spLocks noGrp="1"/>
          </p:cNvSpPr>
          <p:nvPr>
            <p:ph type="body" sz="quarter" idx="14" hasCustomPrompt="1"/>
          </p:nvPr>
        </p:nvSpPr>
        <p:spPr>
          <a:xfrm>
            <a:off x="10376719" y="270628"/>
            <a:ext cx="1442889" cy="557213"/>
          </a:xfrm>
        </p:spPr>
        <p:txBody>
          <a:bodyPr>
            <a:noAutofit/>
          </a:bodyPr>
          <a:lstStyle>
            <a:lvl1pPr marL="0" indent="0" algn="r">
              <a:buNone/>
              <a:defRPr sz="4000">
                <a:latin typeface="OPPOSans M" panose="00020600040101010101" pitchFamily="18" charset="-122"/>
                <a:ea typeface="OPPOSans M" panose="00020600040101010101" pitchFamily="18" charset="-122"/>
                <a:cs typeface="OPPOSans M" panose="00020600040101010101" pitchFamily="18" charset="-122"/>
              </a:defRPr>
            </a:lvl1pPr>
          </a:lstStyle>
          <a:p>
            <a:pPr lvl="0"/>
            <a:r>
              <a:rPr lang="en-US" altLang="zh-CN" dirty="0"/>
              <a:t>001</a:t>
            </a:r>
            <a:endParaRPr lang="zh-CN" altLang="en-US" dirty="0"/>
          </a:p>
        </p:txBody>
      </p:sp>
      <p:grpSp>
        <p:nvGrpSpPr>
          <p:cNvPr id="3" name="组合 2"/>
          <p:cNvGrpSpPr/>
          <p:nvPr userDrawn="1"/>
        </p:nvGrpSpPr>
        <p:grpSpPr>
          <a:xfrm>
            <a:off x="479038" y="331020"/>
            <a:ext cx="385832" cy="351332"/>
            <a:chOff x="457484" y="311393"/>
            <a:chExt cx="428940" cy="390586"/>
          </a:xfrm>
        </p:grpSpPr>
        <p:sp>
          <p:nvSpPr>
            <p:cNvPr id="5" name="等腰三角形 3"/>
            <p:cNvSpPr/>
            <p:nvPr/>
          </p:nvSpPr>
          <p:spPr>
            <a:xfrm>
              <a:off x="457484" y="374420"/>
              <a:ext cx="355299" cy="327559"/>
            </a:xfrm>
            <a:custGeom>
              <a:avLst/>
              <a:gdLst>
                <a:gd name="connsiteX0" fmla="*/ 22532 w 2614367"/>
                <a:gd name="connsiteY0" fmla="*/ 2143553 h 2410252"/>
                <a:gd name="connsiteX1" fmla="*/ 1149441 w 2614367"/>
                <a:gd name="connsiteY1" fmla="*/ 93206 h 2410252"/>
                <a:gd name="connsiteX2" fmla="*/ 1464929 w 2614367"/>
                <a:gd name="connsiteY2" fmla="*/ 93206 h 2410252"/>
                <a:gd name="connsiteX3" fmla="*/ 2591836 w 2614367"/>
                <a:gd name="connsiteY3" fmla="*/ 2143553 h 2410252"/>
                <a:gd name="connsiteX4" fmla="*/ 2434092 w 2614367"/>
                <a:gd name="connsiteY4" fmla="*/ 2410252 h 2410252"/>
                <a:gd name="connsiteX5" fmla="*/ 180277 w 2614367"/>
                <a:gd name="connsiteY5" fmla="*/ 2410252 h 2410252"/>
                <a:gd name="connsiteX6" fmla="*/ 22532 w 2614367"/>
                <a:gd name="connsiteY6" fmla="*/ 2143553 h 2410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14367" h="2410252">
                  <a:moveTo>
                    <a:pt x="22532" y="2143553"/>
                  </a:moveTo>
                  <a:lnTo>
                    <a:pt x="1149441" y="93206"/>
                  </a:lnTo>
                  <a:cubicBezTo>
                    <a:pt x="1217744" y="-31068"/>
                    <a:pt x="1396626" y="-31068"/>
                    <a:pt x="1464929" y="93206"/>
                  </a:cubicBezTo>
                  <a:lnTo>
                    <a:pt x="2591836" y="2143553"/>
                  </a:lnTo>
                  <a:cubicBezTo>
                    <a:pt x="2657798" y="2263568"/>
                    <a:pt x="2571039" y="2410252"/>
                    <a:pt x="2434092" y="2410252"/>
                  </a:cubicBezTo>
                  <a:lnTo>
                    <a:pt x="180277" y="2410252"/>
                  </a:lnTo>
                  <a:cubicBezTo>
                    <a:pt x="43330" y="2410252"/>
                    <a:pt x="-43430" y="2263568"/>
                    <a:pt x="22532" y="2143553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lt1"/>
                </a:solidFill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R" panose="00020600040101010101" pitchFamily="18" charset="-122"/>
              </a:endParaRPr>
            </a:p>
          </p:txBody>
        </p:sp>
        <p:sp>
          <p:nvSpPr>
            <p:cNvPr id="9" name="等腰三角形 3"/>
            <p:cNvSpPr/>
            <p:nvPr/>
          </p:nvSpPr>
          <p:spPr>
            <a:xfrm flipV="1">
              <a:off x="531125" y="311393"/>
              <a:ext cx="355299" cy="327559"/>
            </a:xfrm>
            <a:custGeom>
              <a:avLst/>
              <a:gdLst>
                <a:gd name="connsiteX0" fmla="*/ 22532 w 2614367"/>
                <a:gd name="connsiteY0" fmla="*/ 2143553 h 2410252"/>
                <a:gd name="connsiteX1" fmla="*/ 1149441 w 2614367"/>
                <a:gd name="connsiteY1" fmla="*/ 93206 h 2410252"/>
                <a:gd name="connsiteX2" fmla="*/ 1464929 w 2614367"/>
                <a:gd name="connsiteY2" fmla="*/ 93206 h 2410252"/>
                <a:gd name="connsiteX3" fmla="*/ 2591836 w 2614367"/>
                <a:gd name="connsiteY3" fmla="*/ 2143553 h 2410252"/>
                <a:gd name="connsiteX4" fmla="*/ 2434092 w 2614367"/>
                <a:gd name="connsiteY4" fmla="*/ 2410252 h 2410252"/>
                <a:gd name="connsiteX5" fmla="*/ 180277 w 2614367"/>
                <a:gd name="connsiteY5" fmla="*/ 2410252 h 2410252"/>
                <a:gd name="connsiteX6" fmla="*/ 22532 w 2614367"/>
                <a:gd name="connsiteY6" fmla="*/ 2143553 h 2410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14367" h="2410252">
                  <a:moveTo>
                    <a:pt x="22532" y="2143553"/>
                  </a:moveTo>
                  <a:lnTo>
                    <a:pt x="1149441" y="93206"/>
                  </a:lnTo>
                  <a:cubicBezTo>
                    <a:pt x="1217744" y="-31068"/>
                    <a:pt x="1396626" y="-31068"/>
                    <a:pt x="1464929" y="93206"/>
                  </a:cubicBezTo>
                  <a:lnTo>
                    <a:pt x="2591836" y="2143553"/>
                  </a:lnTo>
                  <a:cubicBezTo>
                    <a:pt x="2657798" y="2263568"/>
                    <a:pt x="2571039" y="2410252"/>
                    <a:pt x="2434092" y="2410252"/>
                  </a:cubicBezTo>
                  <a:lnTo>
                    <a:pt x="180277" y="2410252"/>
                  </a:lnTo>
                  <a:cubicBezTo>
                    <a:pt x="43330" y="2410252"/>
                    <a:pt x="-43430" y="2263568"/>
                    <a:pt x="22532" y="2143553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kumimoji="1" lang="zh-CN" altLang="en-US"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R" panose="00020600040101010101" pitchFamily="18" charset="-122"/>
              </a:endParaRPr>
            </a:p>
          </p:txBody>
        </p:sp>
      </p:grpSp>
      <p:cxnSp>
        <p:nvCxnSpPr>
          <p:cNvPr id="10" name="直线连接符 7"/>
          <p:cNvCxnSpPr/>
          <p:nvPr userDrawn="1"/>
        </p:nvCxnSpPr>
        <p:spPr>
          <a:xfrm>
            <a:off x="372392" y="827841"/>
            <a:ext cx="11448133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457580" y="1327101"/>
            <a:ext cx="9896220" cy="25398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marL="0" lvl="0"/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dirty="0"/>
              <a:t>单击此处编辑母版文本样式</a:t>
            </a:r>
            <a:endParaRPr kumimoji="1" lang="zh-CN" altLang="en-US" dirty="0"/>
          </a:p>
          <a:p>
            <a:pPr lvl="1"/>
            <a:r>
              <a:rPr kumimoji="1" lang="zh-CN" altLang="en-US" dirty="0"/>
              <a:t>二级</a:t>
            </a:r>
            <a:endParaRPr kumimoji="1" lang="zh-CN" altLang="en-US" dirty="0"/>
          </a:p>
          <a:p>
            <a:pPr lvl="2"/>
            <a:r>
              <a:rPr kumimoji="1" lang="zh-CN" altLang="en-US" dirty="0"/>
              <a:t>三级</a:t>
            </a:r>
            <a:endParaRPr kumimoji="1" lang="zh-CN" altLang="en-US" dirty="0"/>
          </a:p>
          <a:p>
            <a:pPr lvl="3"/>
            <a:r>
              <a:rPr kumimoji="1" lang="zh-CN" altLang="en-US" dirty="0"/>
              <a:t>四级</a:t>
            </a:r>
            <a:endParaRPr kumimoji="1" lang="zh-CN" altLang="en-US" dirty="0"/>
          </a:p>
          <a:p>
            <a:pPr lvl="4"/>
            <a:r>
              <a:rPr kumimoji="1" lang="zh-CN" altLang="en-US" dirty="0"/>
              <a:t>五级</a:t>
            </a:r>
            <a:endParaRPr kumimoji="1"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lang="zh-CN" altLang="en-US" sz="1800" kern="1200" smtClean="0">
          <a:solidFill>
            <a:schemeClr val="bg1"/>
          </a:solidFill>
          <a:latin typeface="OPPOSans R" panose="00020600040101010101" pitchFamily="18" charset="-122"/>
          <a:ea typeface="OPPOSans R" panose="00020600040101010101" pitchFamily="18" charset="-122"/>
          <a:cs typeface="OPPOSans R" panose="00020600040101010101" pitchFamily="18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bg1"/>
          </a:solidFill>
          <a:latin typeface="OPPOSans R" panose="00020600040101010101" pitchFamily="18" charset="-122"/>
          <a:ea typeface="OPPOSans R" panose="00020600040101010101" pitchFamily="18" charset="-122"/>
          <a:cs typeface="OPPOSans R" panose="00020600040101010101" pitchFamily="18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OPPOSans R" panose="00020600040101010101" pitchFamily="18" charset="-122"/>
          <a:ea typeface="OPPOSans R" panose="00020600040101010101" pitchFamily="18" charset="-122"/>
          <a:cs typeface="OPPOSans R" panose="00020600040101010101" pitchFamily="18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OPPOSans R" panose="00020600040101010101" pitchFamily="18" charset="-122"/>
          <a:ea typeface="OPPOSans R" panose="00020600040101010101" pitchFamily="18" charset="-122"/>
          <a:cs typeface="OPPOSans R" panose="00020600040101010101" pitchFamily="18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OPPOSans R" panose="00020600040101010101" pitchFamily="18" charset="-122"/>
          <a:ea typeface="OPPOSans R" panose="00020600040101010101" pitchFamily="18" charset="-122"/>
          <a:cs typeface="OPPOSans R" panose="00020600040101010101" pitchFamily="18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000" kern="1200">
          <a:solidFill>
            <a:schemeClr val="bg1"/>
          </a:solidFill>
          <a:latin typeface="OPPOSans R" panose="00020600040101010101" pitchFamily="18" charset="-122"/>
          <a:ea typeface="OPPOSans R" panose="00020600040101010101" pitchFamily="18" charset="-122"/>
          <a:cs typeface="OPPOSans R" panose="00020600040101010101" pitchFamily="18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chart" Target="../charts/chart2.xml"/><Relationship Id="rId1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2.xml"/><Relationship Id="rId4" Type="http://schemas.openxmlformats.org/officeDocument/2006/relationships/chart" Target="../charts/chart6.xml"/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chart" Target="../charts/chart3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svg"/><Relationship Id="rId8" Type="http://schemas.openxmlformats.org/officeDocument/2006/relationships/image" Target="../media/image2.png"/><Relationship Id="rId7" Type="http://schemas.openxmlformats.org/officeDocument/2006/relationships/image" Target="../media/image11.svg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0" Type="http://schemas.openxmlformats.org/officeDocument/2006/relationships/slideLayout" Target="../slideLayouts/slideLayout12.xml"/><Relationship Id="rId1" Type="http://schemas.openxmlformats.org/officeDocument/2006/relationships/tags" Target="../tags/tag66.xml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2.xml"/><Relationship Id="rId6" Type="http://schemas.microsoft.com/office/2007/relationships/hdphoto" Target="../media/image17.wdp"/><Relationship Id="rId5" Type="http://schemas.openxmlformats.org/officeDocument/2006/relationships/image" Target="../media/image16.png"/><Relationship Id="rId4" Type="http://schemas.openxmlformats.org/officeDocument/2006/relationships/image" Target="../media/image15.svg"/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9.svg"/><Relationship Id="rId1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矩形 79"/>
          <p:cNvSpPr/>
          <p:nvPr/>
        </p:nvSpPr>
        <p:spPr>
          <a:xfrm>
            <a:off x="1" y="0"/>
            <a:ext cx="12192000" cy="6862546"/>
          </a:xfrm>
          <a:prstGeom prst="rect">
            <a:avLst/>
          </a:prstGeom>
          <a:gradFill>
            <a:gsLst>
              <a:gs pos="0">
                <a:schemeClr val="accent1">
                  <a:lumMod val="3000"/>
                  <a:lumOff val="97000"/>
                </a:schemeClr>
              </a:gs>
              <a:gs pos="11000">
                <a:schemeClr val="bg2"/>
              </a:gs>
              <a:gs pos="89000">
                <a:schemeClr val="bg2"/>
              </a:gs>
              <a:gs pos="100000">
                <a:schemeClr val="accent1">
                  <a:lumMod val="3000"/>
                  <a:lumOff val="97000"/>
                </a:schemeClr>
              </a:gs>
              <a:gs pos="50000">
                <a:schemeClr val="accent1">
                  <a:lumMod val="6000"/>
                  <a:lumOff val="94000"/>
                </a:schemeClr>
              </a:gs>
            </a:gsLst>
            <a:lin ang="2700000" scaled="1"/>
          </a:gradFill>
          <a:ln w="12700" cap="flat" cmpd="sng" algn="ctr">
            <a:noFill/>
            <a:prstDash val="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Sans M" panose="00020600040101010101" pitchFamily="18" charset="-122"/>
              <a:ea typeface="OPPOSans M" panose="00020600040101010101" pitchFamily="18" charset="-122"/>
              <a:cs typeface="+mn-cs"/>
            </a:endParaRPr>
          </a:p>
        </p:txBody>
      </p:sp>
      <p:grpSp>
        <p:nvGrpSpPr>
          <p:cNvPr id="79" name="组合 78"/>
          <p:cNvGrpSpPr/>
          <p:nvPr/>
        </p:nvGrpSpPr>
        <p:grpSpPr>
          <a:xfrm>
            <a:off x="755370" y="1786427"/>
            <a:ext cx="10681255" cy="4439829"/>
            <a:chOff x="755370" y="1425690"/>
            <a:chExt cx="10681255" cy="4439829"/>
          </a:xfrm>
        </p:grpSpPr>
        <p:grpSp>
          <p:nvGrpSpPr>
            <p:cNvPr id="40" name="组合 39"/>
            <p:cNvGrpSpPr/>
            <p:nvPr/>
          </p:nvGrpSpPr>
          <p:grpSpPr>
            <a:xfrm>
              <a:off x="755370" y="1425690"/>
              <a:ext cx="10681255" cy="2032781"/>
              <a:chOff x="645850" y="1329396"/>
              <a:chExt cx="10681255" cy="2032781"/>
            </a:xfrm>
          </p:grpSpPr>
          <p:grpSp>
            <p:nvGrpSpPr>
              <p:cNvPr id="13" name="组合 12"/>
              <p:cNvGrpSpPr/>
              <p:nvPr/>
            </p:nvGrpSpPr>
            <p:grpSpPr>
              <a:xfrm>
                <a:off x="645850" y="1329396"/>
                <a:ext cx="3257935" cy="2032781"/>
                <a:chOff x="645850" y="1329397"/>
                <a:chExt cx="3257935" cy="2032781"/>
              </a:xfrm>
            </p:grpSpPr>
            <p:sp>
              <p:nvSpPr>
                <p:cNvPr id="3" name="矩形: 圆角 2"/>
                <p:cNvSpPr/>
                <p:nvPr/>
              </p:nvSpPr>
              <p:spPr>
                <a:xfrm>
                  <a:off x="645850" y="1329397"/>
                  <a:ext cx="3257935" cy="2032781"/>
                </a:xfrm>
                <a:prstGeom prst="roundRect">
                  <a:avLst>
                    <a:gd name="adj" fmla="val 6688"/>
                  </a:avLst>
                </a:prstGeom>
                <a:gradFill>
                  <a:gsLst>
                    <a:gs pos="21000">
                      <a:schemeClr val="accent1"/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189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313131"/>
                    </a:solidFill>
                    <a:effectLst/>
                    <a:uLnTx/>
                    <a:uFillTx/>
                    <a:latin typeface="OPPOSans R" panose="00020600040101010101" pitchFamily="18" charset="-122"/>
                    <a:ea typeface="OPPOSans R" panose="00020600040101010101" pitchFamily="18" charset="-122"/>
                    <a:cs typeface="+mn-cs"/>
                  </a:endParaRPr>
                </a:p>
              </p:txBody>
            </p:sp>
            <p:grpSp>
              <p:nvGrpSpPr>
                <p:cNvPr id="12" name="组合 11"/>
                <p:cNvGrpSpPr/>
                <p:nvPr/>
              </p:nvGrpSpPr>
              <p:grpSpPr>
                <a:xfrm>
                  <a:off x="857172" y="1488994"/>
                  <a:ext cx="2824407" cy="1598214"/>
                  <a:chOff x="857172" y="1538231"/>
                  <a:chExt cx="2824407" cy="1598214"/>
                </a:xfrm>
              </p:grpSpPr>
              <p:sp>
                <p:nvSpPr>
                  <p:cNvPr id="7" name="文本框 6"/>
                  <p:cNvSpPr txBox="1"/>
                  <p:nvPr/>
                </p:nvSpPr>
                <p:spPr>
                  <a:xfrm>
                    <a:off x="968993" y="2480982"/>
                    <a:ext cx="2600764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zh-CN" altLang="en-US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OPPOSans H" panose="00020600040101010101" pitchFamily="18" charset="-122"/>
                        <a:ea typeface="OPPOSans H" panose="00020600040101010101" pitchFamily="18" charset="-122"/>
                        <a:cs typeface="OPPOSans H" panose="00020600040101010101" pitchFamily="18" charset="-122"/>
                      </a:rPr>
                      <a:t>年度工作回顾</a:t>
                    </a:r>
                    <a:endParaRPr kumimoji="0" lang="zh-CN" alt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OPPOSans H" panose="00020600040101010101" pitchFamily="18" charset="-122"/>
                      <a:ea typeface="OPPOSans H" panose="00020600040101010101" pitchFamily="18" charset="-122"/>
                      <a:cs typeface="OPPOSans H" panose="00020600040101010101" pitchFamily="18" charset="-122"/>
                    </a:endParaRPr>
                  </a:p>
                </p:txBody>
              </p:sp>
              <p:sp>
                <p:nvSpPr>
                  <p:cNvPr id="8" name="TextBox 2"/>
                  <p:cNvSpPr txBox="1"/>
                  <p:nvPr/>
                </p:nvSpPr>
                <p:spPr>
                  <a:xfrm>
                    <a:off x="857172" y="1538231"/>
                    <a:ext cx="2824407" cy="1107996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b">
                    <a:spAutoFit/>
                  </a:bodyPr>
                  <a:lstStyle/>
                  <a:p>
                    <a:pPr marL="0" marR="0" lvl="0" indent="0" algn="ctr" defTabSz="456565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1" lang="en-US" altLang="zh-CN" sz="6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OPPOSans H" panose="00020600040101010101" pitchFamily="18" charset="-122"/>
                        <a:ea typeface="OPPOSans H" panose="00020600040101010101" pitchFamily="18" charset="-122"/>
                        <a:cs typeface="OPPOSans H" panose="00020600040101010101" pitchFamily="18" charset="-122"/>
                        <a:sym typeface="OPPOSans R" panose="00020600040101010101" pitchFamily="18" charset="-122"/>
                      </a:rPr>
                      <a:t>01</a:t>
                    </a:r>
                    <a:endParaRPr kumimoji="1" lang="zh-CN" altLang="en-US" sz="66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OPPOSans H" panose="00020600040101010101" pitchFamily="18" charset="-122"/>
                      <a:ea typeface="OPPOSans H" panose="00020600040101010101" pitchFamily="18" charset="-122"/>
                      <a:cs typeface="OPPOSans H" panose="00020600040101010101" pitchFamily="18" charset="-122"/>
                      <a:sym typeface="OPPOSans R" panose="00020600040101010101" pitchFamily="18" charset="-122"/>
                    </a:endParaRPr>
                  </a:p>
                </p:txBody>
              </p:sp>
              <p:sp>
                <p:nvSpPr>
                  <p:cNvPr id="11" name="文本框 10"/>
                  <p:cNvSpPr txBox="1"/>
                  <p:nvPr/>
                </p:nvSpPr>
                <p:spPr>
                  <a:xfrm>
                    <a:off x="1250045" y="2943122"/>
                    <a:ext cx="2038660" cy="19332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>
                    <a:spAutoFit/>
                  </a:bodyPr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2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en-US" altLang="zh-CN" sz="1100" b="0" i="0" u="none" strike="noStrike" kern="1200" cap="none" spc="3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OPPOSans R" panose="00020600040101010101" pitchFamily="18" charset="-122"/>
                        <a:ea typeface="OPPOSans R" panose="00020600040101010101" pitchFamily="18" charset="-122"/>
                        <a:cs typeface="OPPOSans R" panose="00020600040101010101" pitchFamily="18" charset="-122"/>
                      </a:rPr>
                      <a:t>ANNUAL WORK REVIEW</a:t>
                    </a:r>
                    <a:endParaRPr kumimoji="0" lang="zh-CN" altLang="en-US" sz="1100" b="0" i="0" u="none" strike="noStrike" kern="1200" cap="none" spc="3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OPPOSans R" panose="00020600040101010101" pitchFamily="18" charset="-122"/>
                      <a:ea typeface="OPPOSans R" panose="00020600040101010101" pitchFamily="18" charset="-122"/>
                      <a:cs typeface="OPPOSans R" panose="00020600040101010101" pitchFamily="18" charset="-122"/>
                    </a:endParaRPr>
                  </a:p>
                </p:txBody>
              </p:sp>
            </p:grpSp>
          </p:grpSp>
          <p:grpSp>
            <p:nvGrpSpPr>
              <p:cNvPr id="20" name="组合 19"/>
              <p:cNvGrpSpPr/>
              <p:nvPr/>
            </p:nvGrpSpPr>
            <p:grpSpPr>
              <a:xfrm>
                <a:off x="4357510" y="1329396"/>
                <a:ext cx="3257935" cy="2032781"/>
                <a:chOff x="645850" y="1329397"/>
                <a:chExt cx="3257935" cy="2032781"/>
              </a:xfrm>
            </p:grpSpPr>
            <p:sp>
              <p:nvSpPr>
                <p:cNvPr id="21" name="矩形: 圆角 20"/>
                <p:cNvSpPr/>
                <p:nvPr/>
              </p:nvSpPr>
              <p:spPr>
                <a:xfrm>
                  <a:off x="645850" y="1329397"/>
                  <a:ext cx="3257935" cy="2032781"/>
                </a:xfrm>
                <a:prstGeom prst="roundRect">
                  <a:avLst>
                    <a:gd name="adj" fmla="val 6688"/>
                  </a:avLst>
                </a:prstGeom>
                <a:gradFill>
                  <a:gsLst>
                    <a:gs pos="21000">
                      <a:schemeClr val="accent3"/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189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313131"/>
                    </a:solidFill>
                    <a:effectLst/>
                    <a:uLnTx/>
                    <a:uFillTx/>
                    <a:latin typeface="OPPOSans R" panose="00020600040101010101" pitchFamily="18" charset="-122"/>
                    <a:ea typeface="OPPOSans R" panose="00020600040101010101" pitchFamily="18" charset="-122"/>
                    <a:cs typeface="+mn-cs"/>
                  </a:endParaRPr>
                </a:p>
              </p:txBody>
            </p:sp>
            <p:grpSp>
              <p:nvGrpSpPr>
                <p:cNvPr id="22" name="组合 21"/>
                <p:cNvGrpSpPr/>
                <p:nvPr/>
              </p:nvGrpSpPr>
              <p:grpSpPr>
                <a:xfrm>
                  <a:off x="857172" y="1488994"/>
                  <a:ext cx="2824407" cy="1598214"/>
                  <a:chOff x="857172" y="1538231"/>
                  <a:chExt cx="2824407" cy="1598214"/>
                </a:xfrm>
              </p:grpSpPr>
              <p:sp>
                <p:nvSpPr>
                  <p:cNvPr id="23" name="文本框 22"/>
                  <p:cNvSpPr txBox="1"/>
                  <p:nvPr/>
                </p:nvSpPr>
                <p:spPr>
                  <a:xfrm>
                    <a:off x="968993" y="2480982"/>
                    <a:ext cx="2600764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zh-CN" altLang="en-US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OPPOSans H" panose="00020600040101010101" pitchFamily="18" charset="-122"/>
                        <a:ea typeface="OPPOSans H" panose="00020600040101010101" pitchFamily="18" charset="-122"/>
                        <a:cs typeface="OPPOSans H" panose="00020600040101010101" pitchFamily="18" charset="-122"/>
                      </a:rPr>
                      <a:t>年度业绩成果</a:t>
                    </a:r>
                    <a:endParaRPr kumimoji="0" lang="zh-CN" alt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OPPOSans H" panose="00020600040101010101" pitchFamily="18" charset="-122"/>
                      <a:ea typeface="OPPOSans H" panose="00020600040101010101" pitchFamily="18" charset="-122"/>
                      <a:cs typeface="OPPOSans H" panose="00020600040101010101" pitchFamily="18" charset="-122"/>
                    </a:endParaRPr>
                  </a:p>
                </p:txBody>
              </p:sp>
              <p:sp>
                <p:nvSpPr>
                  <p:cNvPr id="24" name="TextBox 2"/>
                  <p:cNvSpPr txBox="1"/>
                  <p:nvPr/>
                </p:nvSpPr>
                <p:spPr>
                  <a:xfrm>
                    <a:off x="857172" y="1538231"/>
                    <a:ext cx="2824407" cy="1107996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b">
                    <a:spAutoFit/>
                  </a:bodyPr>
                  <a:lstStyle/>
                  <a:p>
                    <a:pPr marL="0" marR="0" lvl="0" indent="0" algn="ctr" defTabSz="456565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1" lang="en-US" altLang="zh-CN" sz="6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OPPOSans H" panose="00020600040101010101" pitchFamily="18" charset="-122"/>
                        <a:ea typeface="OPPOSans H" panose="00020600040101010101" pitchFamily="18" charset="-122"/>
                        <a:cs typeface="OPPOSans H" panose="00020600040101010101" pitchFamily="18" charset="-122"/>
                        <a:sym typeface="OPPOSans R" panose="00020600040101010101" pitchFamily="18" charset="-122"/>
                      </a:rPr>
                      <a:t>02</a:t>
                    </a:r>
                    <a:endParaRPr kumimoji="1" lang="zh-CN" altLang="en-US" sz="66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OPPOSans H" panose="00020600040101010101" pitchFamily="18" charset="-122"/>
                      <a:ea typeface="OPPOSans H" panose="00020600040101010101" pitchFamily="18" charset="-122"/>
                      <a:cs typeface="OPPOSans H" panose="00020600040101010101" pitchFamily="18" charset="-122"/>
                      <a:sym typeface="OPPOSans R" panose="00020600040101010101" pitchFamily="18" charset="-122"/>
                    </a:endParaRPr>
                  </a:p>
                </p:txBody>
              </p:sp>
              <p:sp>
                <p:nvSpPr>
                  <p:cNvPr id="25" name="文本框 24"/>
                  <p:cNvSpPr txBox="1"/>
                  <p:nvPr/>
                </p:nvSpPr>
                <p:spPr>
                  <a:xfrm>
                    <a:off x="1250045" y="2943122"/>
                    <a:ext cx="2038660" cy="19332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>
                    <a:spAutoFit/>
                  </a:bodyPr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2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en-US" altLang="zh-CN" sz="1100" b="0" i="0" u="none" strike="noStrike" kern="1200" cap="none" spc="3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OPPOSans R" panose="00020600040101010101" pitchFamily="18" charset="-122"/>
                        <a:ea typeface="OPPOSans R" panose="00020600040101010101" pitchFamily="18" charset="-122"/>
                        <a:cs typeface="OPPOSans R" panose="00020600040101010101" pitchFamily="18" charset="-122"/>
                      </a:rPr>
                      <a:t>PERFORMANCE RESULTS</a:t>
                    </a:r>
                    <a:endParaRPr kumimoji="0" lang="zh-CN" altLang="en-US" sz="1100" b="0" i="0" u="none" strike="noStrike" kern="1200" cap="none" spc="3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OPPOSans R" panose="00020600040101010101" pitchFamily="18" charset="-122"/>
                      <a:ea typeface="OPPOSans R" panose="00020600040101010101" pitchFamily="18" charset="-122"/>
                      <a:cs typeface="OPPOSans R" panose="00020600040101010101" pitchFamily="18" charset="-122"/>
                    </a:endParaRPr>
                  </a:p>
                </p:txBody>
              </p:sp>
            </p:grpSp>
          </p:grpSp>
          <p:grpSp>
            <p:nvGrpSpPr>
              <p:cNvPr id="34" name="组合 33"/>
              <p:cNvGrpSpPr/>
              <p:nvPr/>
            </p:nvGrpSpPr>
            <p:grpSpPr>
              <a:xfrm>
                <a:off x="8069170" y="1329396"/>
                <a:ext cx="3257935" cy="2032781"/>
                <a:chOff x="645850" y="1329397"/>
                <a:chExt cx="3257935" cy="2032781"/>
              </a:xfrm>
            </p:grpSpPr>
            <p:sp>
              <p:nvSpPr>
                <p:cNvPr id="35" name="矩形: 圆角 34"/>
                <p:cNvSpPr/>
                <p:nvPr/>
              </p:nvSpPr>
              <p:spPr>
                <a:xfrm>
                  <a:off x="645850" y="1329397"/>
                  <a:ext cx="3257935" cy="2032781"/>
                </a:xfrm>
                <a:prstGeom prst="roundRect">
                  <a:avLst>
                    <a:gd name="adj" fmla="val 6688"/>
                  </a:avLst>
                </a:prstGeom>
                <a:gradFill>
                  <a:gsLst>
                    <a:gs pos="21000">
                      <a:schemeClr val="accent1"/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189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313131"/>
                    </a:solidFill>
                    <a:effectLst/>
                    <a:uLnTx/>
                    <a:uFillTx/>
                    <a:latin typeface="OPPOSans R" panose="00020600040101010101" pitchFamily="18" charset="-122"/>
                    <a:ea typeface="OPPOSans R" panose="00020600040101010101" pitchFamily="18" charset="-122"/>
                    <a:cs typeface="+mn-cs"/>
                  </a:endParaRPr>
                </a:p>
              </p:txBody>
            </p:sp>
            <p:grpSp>
              <p:nvGrpSpPr>
                <p:cNvPr id="36" name="组合 35"/>
                <p:cNvGrpSpPr/>
                <p:nvPr/>
              </p:nvGrpSpPr>
              <p:grpSpPr>
                <a:xfrm>
                  <a:off x="857172" y="1488994"/>
                  <a:ext cx="2824407" cy="1598214"/>
                  <a:chOff x="857172" y="1538231"/>
                  <a:chExt cx="2824407" cy="1598214"/>
                </a:xfrm>
              </p:grpSpPr>
              <p:sp>
                <p:nvSpPr>
                  <p:cNvPr id="37" name="文本框 36"/>
                  <p:cNvSpPr txBox="1"/>
                  <p:nvPr/>
                </p:nvSpPr>
                <p:spPr>
                  <a:xfrm>
                    <a:off x="968993" y="2480982"/>
                    <a:ext cx="2600764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zh-CN" altLang="en-US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OPPOSans H" panose="00020600040101010101" pitchFamily="18" charset="-122"/>
                        <a:ea typeface="OPPOSans H" panose="00020600040101010101" pitchFamily="18" charset="-122"/>
                        <a:cs typeface="OPPOSans H" panose="00020600040101010101" pitchFamily="18" charset="-122"/>
                      </a:rPr>
                      <a:t>年度项目进展</a:t>
                    </a:r>
                    <a:endParaRPr kumimoji="0" lang="zh-CN" alt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OPPOSans H" panose="00020600040101010101" pitchFamily="18" charset="-122"/>
                      <a:ea typeface="OPPOSans H" panose="00020600040101010101" pitchFamily="18" charset="-122"/>
                      <a:cs typeface="OPPOSans H" panose="00020600040101010101" pitchFamily="18" charset="-122"/>
                    </a:endParaRPr>
                  </a:p>
                </p:txBody>
              </p:sp>
              <p:sp>
                <p:nvSpPr>
                  <p:cNvPr id="38" name="TextBox 2"/>
                  <p:cNvSpPr txBox="1"/>
                  <p:nvPr/>
                </p:nvSpPr>
                <p:spPr>
                  <a:xfrm>
                    <a:off x="857172" y="1538231"/>
                    <a:ext cx="2824407" cy="1107996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b">
                    <a:spAutoFit/>
                  </a:bodyPr>
                  <a:lstStyle/>
                  <a:p>
                    <a:pPr marL="0" marR="0" lvl="0" indent="0" algn="ctr" defTabSz="456565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1" lang="en-US" altLang="zh-CN" sz="6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OPPOSans H" panose="00020600040101010101" pitchFamily="18" charset="-122"/>
                        <a:ea typeface="OPPOSans H" panose="00020600040101010101" pitchFamily="18" charset="-122"/>
                        <a:cs typeface="OPPOSans H" panose="00020600040101010101" pitchFamily="18" charset="-122"/>
                        <a:sym typeface="OPPOSans R" panose="00020600040101010101" pitchFamily="18" charset="-122"/>
                      </a:rPr>
                      <a:t>04</a:t>
                    </a:r>
                    <a:endParaRPr kumimoji="1" lang="zh-CN" altLang="en-US" sz="66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OPPOSans H" panose="00020600040101010101" pitchFamily="18" charset="-122"/>
                      <a:ea typeface="OPPOSans H" panose="00020600040101010101" pitchFamily="18" charset="-122"/>
                      <a:cs typeface="OPPOSans H" panose="00020600040101010101" pitchFamily="18" charset="-122"/>
                      <a:sym typeface="OPPOSans R" panose="00020600040101010101" pitchFamily="18" charset="-122"/>
                    </a:endParaRPr>
                  </a:p>
                </p:txBody>
              </p:sp>
              <p:sp>
                <p:nvSpPr>
                  <p:cNvPr id="39" name="文本框 38"/>
                  <p:cNvSpPr txBox="1"/>
                  <p:nvPr/>
                </p:nvSpPr>
                <p:spPr>
                  <a:xfrm>
                    <a:off x="1250045" y="2943122"/>
                    <a:ext cx="2038660" cy="19332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>
                    <a:spAutoFit/>
                  </a:bodyPr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2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en-US" altLang="zh-CN" sz="1100" b="0" i="0" u="none" strike="noStrike" kern="1200" cap="none" spc="3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OPPOSans R" panose="00020600040101010101" pitchFamily="18" charset="-122"/>
                        <a:ea typeface="OPPOSans R" panose="00020600040101010101" pitchFamily="18" charset="-122"/>
                        <a:cs typeface="OPPOSans R" panose="00020600040101010101" pitchFamily="18" charset="-122"/>
                      </a:rPr>
                      <a:t>PROJECT PROGRESS</a:t>
                    </a:r>
                    <a:endParaRPr kumimoji="0" lang="zh-CN" altLang="en-US" sz="1100" b="0" i="0" u="none" strike="noStrike" kern="1200" cap="none" spc="3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OPPOSans R" panose="00020600040101010101" pitchFamily="18" charset="-122"/>
                      <a:ea typeface="OPPOSans R" panose="00020600040101010101" pitchFamily="18" charset="-122"/>
                      <a:cs typeface="OPPOSans R" panose="00020600040101010101" pitchFamily="18" charset="-122"/>
                    </a:endParaRPr>
                  </a:p>
                </p:txBody>
              </p:sp>
            </p:grpSp>
          </p:grpSp>
        </p:grpSp>
        <p:grpSp>
          <p:nvGrpSpPr>
            <p:cNvPr id="41" name="组合 40"/>
            <p:cNvGrpSpPr/>
            <p:nvPr/>
          </p:nvGrpSpPr>
          <p:grpSpPr>
            <a:xfrm>
              <a:off x="755370" y="3832738"/>
              <a:ext cx="10681255" cy="2032781"/>
              <a:chOff x="645850" y="1329396"/>
              <a:chExt cx="10681255" cy="2032781"/>
            </a:xfrm>
          </p:grpSpPr>
          <p:grpSp>
            <p:nvGrpSpPr>
              <p:cNvPr id="42" name="组合 41"/>
              <p:cNvGrpSpPr/>
              <p:nvPr/>
            </p:nvGrpSpPr>
            <p:grpSpPr>
              <a:xfrm>
                <a:off x="645850" y="1329396"/>
                <a:ext cx="3257935" cy="2032781"/>
                <a:chOff x="645850" y="1329397"/>
                <a:chExt cx="3257935" cy="2032781"/>
              </a:xfrm>
            </p:grpSpPr>
            <p:sp>
              <p:nvSpPr>
                <p:cNvPr id="55" name="矩形: 圆角 54"/>
                <p:cNvSpPr/>
                <p:nvPr/>
              </p:nvSpPr>
              <p:spPr>
                <a:xfrm>
                  <a:off x="645850" y="1329397"/>
                  <a:ext cx="3257935" cy="2032781"/>
                </a:xfrm>
                <a:prstGeom prst="roundRect">
                  <a:avLst>
                    <a:gd name="adj" fmla="val 6688"/>
                  </a:avLst>
                </a:prstGeom>
                <a:gradFill>
                  <a:gsLst>
                    <a:gs pos="21000">
                      <a:schemeClr val="accent3"/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189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313131"/>
                    </a:solidFill>
                    <a:effectLst/>
                    <a:uLnTx/>
                    <a:uFillTx/>
                    <a:latin typeface="OPPOSans R" panose="00020600040101010101" pitchFamily="18" charset="-122"/>
                    <a:ea typeface="OPPOSans R" panose="00020600040101010101" pitchFamily="18" charset="-122"/>
                    <a:cs typeface="+mn-cs"/>
                  </a:endParaRPr>
                </a:p>
              </p:txBody>
            </p:sp>
            <p:grpSp>
              <p:nvGrpSpPr>
                <p:cNvPr id="56" name="组合 55"/>
                <p:cNvGrpSpPr/>
                <p:nvPr/>
              </p:nvGrpSpPr>
              <p:grpSpPr>
                <a:xfrm>
                  <a:off x="857172" y="1488994"/>
                  <a:ext cx="2824407" cy="1598214"/>
                  <a:chOff x="857172" y="1538231"/>
                  <a:chExt cx="2824407" cy="1598214"/>
                </a:xfrm>
              </p:grpSpPr>
              <p:sp>
                <p:nvSpPr>
                  <p:cNvPr id="57" name="文本框 56"/>
                  <p:cNvSpPr txBox="1"/>
                  <p:nvPr/>
                </p:nvSpPr>
                <p:spPr>
                  <a:xfrm>
                    <a:off x="857172" y="2480982"/>
                    <a:ext cx="2773437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zh-CN" altLang="en-US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OPPOSans H" panose="00020600040101010101" pitchFamily="18" charset="-122"/>
                        <a:ea typeface="OPPOSans H" panose="00020600040101010101" pitchFamily="18" charset="-122"/>
                        <a:cs typeface="OPPOSans H" panose="00020600040101010101" pitchFamily="18" charset="-122"/>
                      </a:rPr>
                      <a:t>问题分析与改进</a:t>
                    </a:r>
                    <a:endParaRPr kumimoji="0" lang="zh-CN" alt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OPPOSans H" panose="00020600040101010101" pitchFamily="18" charset="-122"/>
                      <a:ea typeface="OPPOSans H" panose="00020600040101010101" pitchFamily="18" charset="-122"/>
                      <a:cs typeface="OPPOSans H" panose="00020600040101010101" pitchFamily="18" charset="-122"/>
                    </a:endParaRPr>
                  </a:p>
                </p:txBody>
              </p:sp>
              <p:sp>
                <p:nvSpPr>
                  <p:cNvPr id="58" name="TextBox 2"/>
                  <p:cNvSpPr txBox="1"/>
                  <p:nvPr/>
                </p:nvSpPr>
                <p:spPr>
                  <a:xfrm>
                    <a:off x="857172" y="1538231"/>
                    <a:ext cx="2824407" cy="1107996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b">
                    <a:spAutoFit/>
                  </a:bodyPr>
                  <a:lstStyle/>
                  <a:p>
                    <a:pPr marL="0" marR="0" lvl="0" indent="0" algn="ctr" defTabSz="456565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1" lang="en-US" altLang="zh-CN" sz="6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OPPOSans H" panose="00020600040101010101" pitchFamily="18" charset="-122"/>
                        <a:ea typeface="OPPOSans H" panose="00020600040101010101" pitchFamily="18" charset="-122"/>
                        <a:cs typeface="OPPOSans H" panose="00020600040101010101" pitchFamily="18" charset="-122"/>
                        <a:sym typeface="OPPOSans R" panose="00020600040101010101" pitchFamily="18" charset="-122"/>
                      </a:rPr>
                      <a:t>04</a:t>
                    </a:r>
                    <a:endParaRPr kumimoji="1" lang="zh-CN" altLang="en-US" sz="66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OPPOSans H" panose="00020600040101010101" pitchFamily="18" charset="-122"/>
                      <a:ea typeface="OPPOSans H" panose="00020600040101010101" pitchFamily="18" charset="-122"/>
                      <a:cs typeface="OPPOSans H" panose="00020600040101010101" pitchFamily="18" charset="-122"/>
                      <a:sym typeface="OPPOSans R" panose="00020600040101010101" pitchFamily="18" charset="-122"/>
                    </a:endParaRPr>
                  </a:p>
                </p:txBody>
              </p:sp>
              <p:sp>
                <p:nvSpPr>
                  <p:cNvPr id="59" name="文本框 58"/>
                  <p:cNvSpPr txBox="1"/>
                  <p:nvPr/>
                </p:nvSpPr>
                <p:spPr>
                  <a:xfrm>
                    <a:off x="1023182" y="2943122"/>
                    <a:ext cx="2492385" cy="19332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>
                    <a:spAutoFit/>
                  </a:bodyPr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2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en-US" altLang="zh-CN" sz="1100" b="0" i="0" u="none" strike="noStrike" kern="1200" cap="none" spc="3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OPPOSans R" panose="00020600040101010101" pitchFamily="18" charset="-122"/>
                        <a:ea typeface="OPPOSans R" panose="00020600040101010101" pitchFamily="18" charset="-122"/>
                        <a:cs typeface="OPPOSans R" panose="00020600040101010101" pitchFamily="18" charset="-122"/>
                      </a:rPr>
                      <a:t>IMPROVEMENT OF THE PROBLEM</a:t>
                    </a:r>
                    <a:endParaRPr kumimoji="0" lang="zh-CN" altLang="en-US" sz="1100" b="0" i="0" u="none" strike="noStrike" kern="1200" cap="none" spc="3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OPPOSans R" panose="00020600040101010101" pitchFamily="18" charset="-122"/>
                      <a:ea typeface="OPPOSans R" panose="00020600040101010101" pitchFamily="18" charset="-122"/>
                      <a:cs typeface="OPPOSans R" panose="00020600040101010101" pitchFamily="18" charset="-122"/>
                    </a:endParaRPr>
                  </a:p>
                </p:txBody>
              </p:sp>
            </p:grpSp>
          </p:grpSp>
          <p:grpSp>
            <p:nvGrpSpPr>
              <p:cNvPr id="43" name="组合 42"/>
              <p:cNvGrpSpPr/>
              <p:nvPr/>
            </p:nvGrpSpPr>
            <p:grpSpPr>
              <a:xfrm>
                <a:off x="4357510" y="1329396"/>
                <a:ext cx="3257935" cy="2032781"/>
                <a:chOff x="645850" y="1329397"/>
                <a:chExt cx="3257935" cy="2032781"/>
              </a:xfrm>
            </p:grpSpPr>
            <p:sp>
              <p:nvSpPr>
                <p:cNvPr id="50" name="矩形: 圆角 49"/>
                <p:cNvSpPr/>
                <p:nvPr/>
              </p:nvSpPr>
              <p:spPr>
                <a:xfrm>
                  <a:off x="645850" y="1329397"/>
                  <a:ext cx="3257935" cy="2032781"/>
                </a:xfrm>
                <a:prstGeom prst="roundRect">
                  <a:avLst>
                    <a:gd name="adj" fmla="val 6688"/>
                  </a:avLst>
                </a:prstGeom>
                <a:gradFill>
                  <a:gsLst>
                    <a:gs pos="21000">
                      <a:schemeClr val="accent1"/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189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313131"/>
                    </a:solidFill>
                    <a:effectLst/>
                    <a:uLnTx/>
                    <a:uFillTx/>
                    <a:latin typeface="OPPOSans R" panose="00020600040101010101" pitchFamily="18" charset="-122"/>
                    <a:ea typeface="OPPOSans R" panose="00020600040101010101" pitchFamily="18" charset="-122"/>
                    <a:cs typeface="+mn-cs"/>
                  </a:endParaRPr>
                </a:p>
              </p:txBody>
            </p:sp>
            <p:grpSp>
              <p:nvGrpSpPr>
                <p:cNvPr id="51" name="组合 50"/>
                <p:cNvGrpSpPr/>
                <p:nvPr/>
              </p:nvGrpSpPr>
              <p:grpSpPr>
                <a:xfrm>
                  <a:off x="857172" y="1488994"/>
                  <a:ext cx="2824407" cy="1598214"/>
                  <a:chOff x="857172" y="1538231"/>
                  <a:chExt cx="2824407" cy="1598214"/>
                </a:xfrm>
              </p:grpSpPr>
              <p:sp>
                <p:nvSpPr>
                  <p:cNvPr id="52" name="文本框 51"/>
                  <p:cNvSpPr txBox="1"/>
                  <p:nvPr/>
                </p:nvSpPr>
                <p:spPr>
                  <a:xfrm>
                    <a:off x="968993" y="2480982"/>
                    <a:ext cx="2600764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zh-CN" altLang="en-US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OPPOSans H" panose="00020600040101010101" pitchFamily="18" charset="-122"/>
                        <a:ea typeface="OPPOSans H" panose="00020600040101010101" pitchFamily="18" charset="-122"/>
                        <a:cs typeface="OPPOSans H" panose="00020600040101010101" pitchFamily="18" charset="-122"/>
                      </a:rPr>
                      <a:t>个人成长反思</a:t>
                    </a:r>
                    <a:endParaRPr kumimoji="0" lang="zh-CN" alt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OPPOSans H" panose="00020600040101010101" pitchFamily="18" charset="-122"/>
                      <a:ea typeface="OPPOSans H" panose="00020600040101010101" pitchFamily="18" charset="-122"/>
                      <a:cs typeface="OPPOSans H" panose="00020600040101010101" pitchFamily="18" charset="-122"/>
                    </a:endParaRPr>
                  </a:p>
                </p:txBody>
              </p:sp>
              <p:sp>
                <p:nvSpPr>
                  <p:cNvPr id="53" name="TextBox 2"/>
                  <p:cNvSpPr txBox="1"/>
                  <p:nvPr/>
                </p:nvSpPr>
                <p:spPr>
                  <a:xfrm>
                    <a:off x="857172" y="1538231"/>
                    <a:ext cx="2824407" cy="1107996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b">
                    <a:spAutoFit/>
                  </a:bodyPr>
                  <a:lstStyle/>
                  <a:p>
                    <a:pPr marL="0" marR="0" lvl="0" indent="0" algn="ctr" defTabSz="456565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1" lang="en-US" altLang="zh-CN" sz="6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OPPOSans H" panose="00020600040101010101" pitchFamily="18" charset="-122"/>
                        <a:ea typeface="OPPOSans H" panose="00020600040101010101" pitchFamily="18" charset="-122"/>
                        <a:cs typeface="OPPOSans H" panose="00020600040101010101" pitchFamily="18" charset="-122"/>
                        <a:sym typeface="OPPOSans R" panose="00020600040101010101" pitchFamily="18" charset="-122"/>
                      </a:rPr>
                      <a:t>05</a:t>
                    </a:r>
                    <a:endParaRPr kumimoji="1" lang="zh-CN" altLang="en-US" sz="66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OPPOSans H" panose="00020600040101010101" pitchFamily="18" charset="-122"/>
                      <a:ea typeface="OPPOSans H" panose="00020600040101010101" pitchFamily="18" charset="-122"/>
                      <a:cs typeface="OPPOSans H" panose="00020600040101010101" pitchFamily="18" charset="-122"/>
                      <a:sym typeface="OPPOSans R" panose="00020600040101010101" pitchFamily="18" charset="-122"/>
                    </a:endParaRPr>
                  </a:p>
                </p:txBody>
              </p:sp>
              <p:sp>
                <p:nvSpPr>
                  <p:cNvPr id="54" name="文本框 53"/>
                  <p:cNvSpPr txBox="1"/>
                  <p:nvPr/>
                </p:nvSpPr>
                <p:spPr>
                  <a:xfrm>
                    <a:off x="1250045" y="2943122"/>
                    <a:ext cx="2038660" cy="19332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>
                    <a:spAutoFit/>
                  </a:bodyPr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2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en-US" altLang="zh-CN" sz="1100" b="0" i="0" u="none" strike="noStrike" kern="1200" cap="none" spc="3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OPPOSans R" panose="00020600040101010101" pitchFamily="18" charset="-122"/>
                        <a:ea typeface="OPPOSans R" panose="00020600040101010101" pitchFamily="18" charset="-122"/>
                        <a:cs typeface="OPPOSans R" panose="00020600040101010101" pitchFamily="18" charset="-122"/>
                      </a:rPr>
                      <a:t>REFLECTION ON GROWTH</a:t>
                    </a:r>
                    <a:endParaRPr kumimoji="0" lang="zh-CN" altLang="en-US" sz="1100" b="0" i="0" u="none" strike="noStrike" kern="1200" cap="none" spc="3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OPPOSans R" panose="00020600040101010101" pitchFamily="18" charset="-122"/>
                      <a:ea typeface="OPPOSans R" panose="00020600040101010101" pitchFamily="18" charset="-122"/>
                      <a:cs typeface="OPPOSans R" panose="00020600040101010101" pitchFamily="18" charset="-122"/>
                    </a:endParaRPr>
                  </a:p>
                </p:txBody>
              </p:sp>
            </p:grpSp>
          </p:grpSp>
          <p:grpSp>
            <p:nvGrpSpPr>
              <p:cNvPr id="44" name="组合 43"/>
              <p:cNvGrpSpPr/>
              <p:nvPr/>
            </p:nvGrpSpPr>
            <p:grpSpPr>
              <a:xfrm>
                <a:off x="8069170" y="1329396"/>
                <a:ext cx="3257935" cy="2032781"/>
                <a:chOff x="645850" y="1329397"/>
                <a:chExt cx="3257935" cy="2032781"/>
              </a:xfrm>
            </p:grpSpPr>
            <p:sp>
              <p:nvSpPr>
                <p:cNvPr id="45" name="矩形: 圆角 44"/>
                <p:cNvSpPr/>
                <p:nvPr/>
              </p:nvSpPr>
              <p:spPr>
                <a:xfrm>
                  <a:off x="645850" y="1329397"/>
                  <a:ext cx="3257935" cy="2032781"/>
                </a:xfrm>
                <a:prstGeom prst="roundRect">
                  <a:avLst>
                    <a:gd name="adj" fmla="val 6688"/>
                  </a:avLst>
                </a:prstGeom>
                <a:gradFill>
                  <a:gsLst>
                    <a:gs pos="21000">
                      <a:schemeClr val="accent3"/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189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313131"/>
                    </a:solidFill>
                    <a:effectLst/>
                    <a:uLnTx/>
                    <a:uFillTx/>
                    <a:latin typeface="OPPOSans R" panose="00020600040101010101" pitchFamily="18" charset="-122"/>
                    <a:ea typeface="OPPOSans R" panose="00020600040101010101" pitchFamily="18" charset="-122"/>
                    <a:cs typeface="+mn-cs"/>
                  </a:endParaRPr>
                </a:p>
              </p:txBody>
            </p:sp>
            <p:grpSp>
              <p:nvGrpSpPr>
                <p:cNvPr id="46" name="组合 45"/>
                <p:cNvGrpSpPr/>
                <p:nvPr/>
              </p:nvGrpSpPr>
              <p:grpSpPr>
                <a:xfrm>
                  <a:off x="857172" y="1488994"/>
                  <a:ext cx="2824407" cy="1598214"/>
                  <a:chOff x="857172" y="1538231"/>
                  <a:chExt cx="2824407" cy="1598214"/>
                </a:xfrm>
              </p:grpSpPr>
              <p:sp>
                <p:nvSpPr>
                  <p:cNvPr id="47" name="文本框 46"/>
                  <p:cNvSpPr txBox="1"/>
                  <p:nvPr/>
                </p:nvSpPr>
                <p:spPr>
                  <a:xfrm>
                    <a:off x="968993" y="2480982"/>
                    <a:ext cx="2600764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zh-CN" altLang="en-US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OPPOSans H" panose="00020600040101010101" pitchFamily="18" charset="-122"/>
                        <a:ea typeface="OPPOSans H" panose="00020600040101010101" pitchFamily="18" charset="-122"/>
                        <a:cs typeface="OPPOSans H" panose="00020600040101010101" pitchFamily="18" charset="-122"/>
                      </a:rPr>
                      <a:t>明年工作计划</a:t>
                    </a:r>
                    <a:endParaRPr kumimoji="0" lang="zh-CN" alt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OPPOSans H" panose="00020600040101010101" pitchFamily="18" charset="-122"/>
                      <a:ea typeface="OPPOSans H" panose="00020600040101010101" pitchFamily="18" charset="-122"/>
                      <a:cs typeface="OPPOSans H" panose="00020600040101010101" pitchFamily="18" charset="-122"/>
                    </a:endParaRPr>
                  </a:p>
                </p:txBody>
              </p:sp>
              <p:sp>
                <p:nvSpPr>
                  <p:cNvPr id="48" name="TextBox 2"/>
                  <p:cNvSpPr txBox="1"/>
                  <p:nvPr/>
                </p:nvSpPr>
                <p:spPr>
                  <a:xfrm>
                    <a:off x="857172" y="1538231"/>
                    <a:ext cx="2824407" cy="1107996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b">
                    <a:spAutoFit/>
                  </a:bodyPr>
                  <a:lstStyle/>
                  <a:p>
                    <a:pPr marL="0" marR="0" lvl="0" indent="0" algn="ctr" defTabSz="456565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1" lang="en-US" altLang="zh-CN" sz="6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OPPOSans H" panose="00020600040101010101" pitchFamily="18" charset="-122"/>
                        <a:ea typeface="OPPOSans H" panose="00020600040101010101" pitchFamily="18" charset="-122"/>
                        <a:cs typeface="OPPOSans H" panose="00020600040101010101" pitchFamily="18" charset="-122"/>
                        <a:sym typeface="OPPOSans R" panose="00020600040101010101" pitchFamily="18" charset="-122"/>
                      </a:rPr>
                      <a:t>06</a:t>
                    </a:r>
                    <a:endParaRPr kumimoji="1" lang="zh-CN" altLang="en-US" sz="66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OPPOSans H" panose="00020600040101010101" pitchFamily="18" charset="-122"/>
                      <a:ea typeface="OPPOSans H" panose="00020600040101010101" pitchFamily="18" charset="-122"/>
                      <a:cs typeface="OPPOSans H" panose="00020600040101010101" pitchFamily="18" charset="-122"/>
                      <a:sym typeface="OPPOSans R" panose="00020600040101010101" pitchFamily="18" charset="-122"/>
                    </a:endParaRPr>
                  </a:p>
                </p:txBody>
              </p:sp>
              <p:sp>
                <p:nvSpPr>
                  <p:cNvPr id="49" name="文本框 48"/>
                  <p:cNvSpPr txBox="1"/>
                  <p:nvPr/>
                </p:nvSpPr>
                <p:spPr>
                  <a:xfrm>
                    <a:off x="1250045" y="2943122"/>
                    <a:ext cx="2038660" cy="19332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>
                    <a:spAutoFit/>
                  </a:bodyPr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2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en-US" altLang="zh-CN" sz="1100" b="0" i="0" u="none" strike="noStrike" kern="1200" cap="none" spc="3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OPPOSans R" panose="00020600040101010101" pitchFamily="18" charset="-122"/>
                        <a:ea typeface="OPPOSans R" panose="00020600040101010101" pitchFamily="18" charset="-122"/>
                        <a:cs typeface="OPPOSans R" panose="00020600040101010101" pitchFamily="18" charset="-122"/>
                      </a:rPr>
                      <a:t>NEXT YEAR'S WORK PLAN</a:t>
                    </a:r>
                    <a:endParaRPr kumimoji="0" lang="zh-CN" altLang="en-US" sz="1100" b="0" i="0" u="none" strike="noStrike" kern="1200" cap="none" spc="3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OPPOSans R" panose="00020600040101010101" pitchFamily="18" charset="-122"/>
                      <a:ea typeface="OPPOSans R" panose="00020600040101010101" pitchFamily="18" charset="-122"/>
                      <a:cs typeface="OPPOSans R" panose="00020600040101010101" pitchFamily="18" charset="-122"/>
                    </a:endParaRPr>
                  </a:p>
                </p:txBody>
              </p:sp>
            </p:grpSp>
          </p:grpSp>
        </p:grpSp>
      </p:grpSp>
      <p:grpSp>
        <p:nvGrpSpPr>
          <p:cNvPr id="82" name="组合 81"/>
          <p:cNvGrpSpPr/>
          <p:nvPr/>
        </p:nvGrpSpPr>
        <p:grpSpPr>
          <a:xfrm>
            <a:off x="2269376" y="233272"/>
            <a:ext cx="7653245" cy="1408041"/>
            <a:chOff x="2269376" y="233272"/>
            <a:chExt cx="7653245" cy="1408041"/>
          </a:xfrm>
        </p:grpSpPr>
        <p:sp>
          <p:nvSpPr>
            <p:cNvPr id="5" name="TextBox 2"/>
            <p:cNvSpPr txBox="1"/>
            <p:nvPr/>
          </p:nvSpPr>
          <p:spPr>
            <a:xfrm>
              <a:off x="2269376" y="440984"/>
              <a:ext cx="7653245" cy="1200329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marL="0" marR="0" lvl="0" indent="0" algn="ctr" defTabSz="4565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72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100000">
                        <a:schemeClr val="accent1">
                          <a:lumMod val="60000"/>
                          <a:lumOff val="40000"/>
                        </a:schemeClr>
                      </a:gs>
                      <a:gs pos="35000">
                        <a:schemeClr val="accent1"/>
                      </a:gs>
                    </a:gsLst>
                    <a:lin ang="13500000" scaled="1"/>
                  </a:gradFill>
                  <a:effectLst/>
                  <a:uLnTx/>
                  <a:uFillTx/>
                  <a:latin typeface="OPPOSans H" panose="00020600040101010101" pitchFamily="18" charset="-122"/>
                  <a:ea typeface="OPPOSans H" panose="00020600040101010101" pitchFamily="18" charset="-122"/>
                  <a:cs typeface="OPPOSans H" panose="00020600040101010101" pitchFamily="18" charset="-122"/>
                  <a:sym typeface="OPPOSans R" panose="00020600040101010101" pitchFamily="18" charset="-122"/>
                </a:rPr>
                <a:t>目录</a:t>
              </a:r>
              <a:endParaRPr kumimoji="1" lang="zh-CN" altLang="en-US" sz="72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100000">
                      <a:schemeClr val="accent1">
                        <a:lumMod val="60000"/>
                        <a:lumOff val="40000"/>
                      </a:schemeClr>
                    </a:gs>
                    <a:gs pos="35000">
                      <a:schemeClr val="accent1"/>
                    </a:gs>
                  </a:gsLst>
                  <a:lin ang="13500000" scaled="1"/>
                </a:gradFill>
                <a:effectLst/>
                <a:uLnTx/>
                <a:uFillTx/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  <a:sym typeface="OPPOSans R" panose="00020600040101010101" pitchFamily="18" charset="-122"/>
              </a:endParaRPr>
            </a:p>
          </p:txBody>
        </p:sp>
        <p:sp>
          <p:nvSpPr>
            <p:cNvPr id="81" name="文本框 80"/>
            <p:cNvSpPr txBox="1"/>
            <p:nvPr/>
          </p:nvSpPr>
          <p:spPr>
            <a:xfrm>
              <a:off x="4519651" y="233272"/>
              <a:ext cx="3141807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200" b="1" i="0" u="none" strike="noStrike" kern="1200" cap="none" spc="0" normalizeH="0" baseline="0" noProof="0" dirty="0">
                  <a:ln>
                    <a:noFill/>
                  </a:ln>
                  <a:gradFill flip="none" rotWithShape="1">
                    <a:gsLst>
                      <a:gs pos="0">
                        <a:schemeClr val="accent1"/>
                      </a:gs>
                      <a:gs pos="82000">
                        <a:schemeClr val="accent1">
                          <a:alpha val="0"/>
                        </a:schemeClr>
                      </a:gs>
                    </a:gsLst>
                    <a:lin ang="5400000" scaled="1"/>
                    <a:tileRect/>
                  </a:gradFill>
                  <a:effectLst/>
                  <a:uLnTx/>
                  <a:uFillTx/>
                  <a:latin typeface="OPPOSans H" panose="00020600040101010101" pitchFamily="18" charset="-122"/>
                  <a:ea typeface="OPPOSans H" panose="00020600040101010101" pitchFamily="18" charset="-122"/>
                  <a:cs typeface="OPPOSans H" panose="00020600040101010101" pitchFamily="18" charset="-122"/>
                </a:rPr>
                <a:t>CONTENTS</a:t>
              </a:r>
              <a:endParaRPr kumimoji="0" lang="zh-CN" altLang="en-US" sz="32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chemeClr val="accent1"/>
                    </a:gs>
                    <a:gs pos="82000">
                      <a:schemeClr val="accent1">
                        <a:alpha val="0"/>
                      </a:schemeClr>
                    </a:gs>
                  </a:gsLst>
                  <a:lin ang="5400000" scaled="1"/>
                  <a:tileRect/>
                </a:gradFill>
                <a:effectLst/>
                <a:uLnTx/>
                <a:uFillTx/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endParaRPr>
            </a:p>
          </p:txBody>
        </p:sp>
      </p:grp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工作成果总结与规划</a:t>
            </a:r>
            <a:endParaRPr lang="zh-CN" altLang="en-US" dirty="0"/>
          </a:p>
        </p:txBody>
      </p:sp>
      <p:grpSp>
        <p:nvGrpSpPr>
          <p:cNvPr id="5" name="组合 4"/>
          <p:cNvGrpSpPr/>
          <p:nvPr/>
        </p:nvGrpSpPr>
        <p:grpSpPr>
          <a:xfrm>
            <a:off x="393495" y="1192694"/>
            <a:ext cx="11405007" cy="5220830"/>
            <a:chOff x="393495" y="1192694"/>
            <a:chExt cx="11405007" cy="5220830"/>
          </a:xfrm>
        </p:grpSpPr>
        <p:sp>
          <p:nvSpPr>
            <p:cNvPr id="87" name="任意多边形: 形状 86"/>
            <p:cNvSpPr/>
            <p:nvPr/>
          </p:nvSpPr>
          <p:spPr>
            <a:xfrm>
              <a:off x="5109655" y="1192695"/>
              <a:ext cx="6688845" cy="5220829"/>
            </a:xfrm>
            <a:custGeom>
              <a:avLst/>
              <a:gdLst>
                <a:gd name="connsiteX0" fmla="*/ 2334675 w 6688845"/>
                <a:gd name="connsiteY0" fmla="*/ 0 h 5220829"/>
                <a:gd name="connsiteX1" fmla="*/ 5739176 w 6688845"/>
                <a:gd name="connsiteY1" fmla="*/ 0 h 5220829"/>
                <a:gd name="connsiteX2" fmla="*/ 6688845 w 6688845"/>
                <a:gd name="connsiteY2" fmla="*/ 949669 h 5220829"/>
                <a:gd name="connsiteX3" fmla="*/ 6688845 w 6688845"/>
                <a:gd name="connsiteY3" fmla="*/ 4271160 h 5220829"/>
                <a:gd name="connsiteX4" fmla="*/ 5739176 w 6688845"/>
                <a:gd name="connsiteY4" fmla="*/ 5220829 h 5220829"/>
                <a:gd name="connsiteX5" fmla="*/ 0 w 6688845"/>
                <a:gd name="connsiteY5" fmla="*/ 5220829 h 5220829"/>
                <a:gd name="connsiteX6" fmla="*/ 2334675 w 6688845"/>
                <a:gd name="connsiteY6" fmla="*/ 0 h 5220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88845" h="5220829">
                  <a:moveTo>
                    <a:pt x="2334675" y="0"/>
                  </a:moveTo>
                  <a:lnTo>
                    <a:pt x="5739176" y="0"/>
                  </a:lnTo>
                  <a:cubicBezTo>
                    <a:pt x="6263664" y="0"/>
                    <a:pt x="6688845" y="425181"/>
                    <a:pt x="6688845" y="949669"/>
                  </a:cubicBezTo>
                  <a:lnTo>
                    <a:pt x="6688845" y="4271160"/>
                  </a:lnTo>
                  <a:cubicBezTo>
                    <a:pt x="6688845" y="4795648"/>
                    <a:pt x="6263664" y="5220829"/>
                    <a:pt x="5739176" y="5220829"/>
                  </a:cubicBezTo>
                  <a:lnTo>
                    <a:pt x="0" y="5220829"/>
                  </a:lnTo>
                  <a:lnTo>
                    <a:pt x="2334675" y="0"/>
                  </a:lnTo>
                  <a:close/>
                </a:path>
              </a:pathLst>
            </a:custGeom>
            <a:solidFill>
              <a:schemeClr val="bg2"/>
            </a:solidFill>
            <a:ln>
              <a:gradFill>
                <a:gsLst>
                  <a:gs pos="36000">
                    <a:schemeClr val="tx2"/>
                  </a:gs>
                  <a:gs pos="100000">
                    <a:schemeClr val="tx2"/>
                  </a:gs>
                </a:gsLst>
                <a:lin ang="5400000" scaled="1"/>
              </a:gradFill>
            </a:ln>
            <a:effectLst>
              <a:outerShdw blurRad="317500" sx="101000" sy="101000" algn="ctr" rotWithShape="0">
                <a:schemeClr val="accent3">
                  <a:alpha val="6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/>
            </a:p>
          </p:txBody>
        </p:sp>
        <p:sp>
          <p:nvSpPr>
            <p:cNvPr id="88" name="任意多边形: 形状 87"/>
            <p:cNvSpPr/>
            <p:nvPr/>
          </p:nvSpPr>
          <p:spPr>
            <a:xfrm>
              <a:off x="393495" y="1192695"/>
              <a:ext cx="6688846" cy="5220829"/>
            </a:xfrm>
            <a:custGeom>
              <a:avLst/>
              <a:gdLst>
                <a:gd name="connsiteX0" fmla="*/ 949669 w 6688846"/>
                <a:gd name="connsiteY0" fmla="*/ 0 h 5220829"/>
                <a:gd name="connsiteX1" fmla="*/ 6688846 w 6688846"/>
                <a:gd name="connsiteY1" fmla="*/ 0 h 5220829"/>
                <a:gd name="connsiteX2" fmla="*/ 4354170 w 6688846"/>
                <a:gd name="connsiteY2" fmla="*/ 5220829 h 5220829"/>
                <a:gd name="connsiteX3" fmla="*/ 949669 w 6688846"/>
                <a:gd name="connsiteY3" fmla="*/ 5220829 h 5220829"/>
                <a:gd name="connsiteX4" fmla="*/ 0 w 6688846"/>
                <a:gd name="connsiteY4" fmla="*/ 4271160 h 5220829"/>
                <a:gd name="connsiteX5" fmla="*/ 0 w 6688846"/>
                <a:gd name="connsiteY5" fmla="*/ 949669 h 5220829"/>
                <a:gd name="connsiteX6" fmla="*/ 949669 w 6688846"/>
                <a:gd name="connsiteY6" fmla="*/ 0 h 5220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88846" h="5220829">
                  <a:moveTo>
                    <a:pt x="949669" y="0"/>
                  </a:moveTo>
                  <a:lnTo>
                    <a:pt x="6688846" y="0"/>
                  </a:lnTo>
                  <a:lnTo>
                    <a:pt x="4354170" y="5220829"/>
                  </a:lnTo>
                  <a:lnTo>
                    <a:pt x="949669" y="5220829"/>
                  </a:lnTo>
                  <a:cubicBezTo>
                    <a:pt x="425181" y="5220829"/>
                    <a:pt x="0" y="4795648"/>
                    <a:pt x="0" y="4271160"/>
                  </a:cubicBezTo>
                  <a:lnTo>
                    <a:pt x="0" y="949669"/>
                  </a:lnTo>
                  <a:cubicBezTo>
                    <a:pt x="0" y="425181"/>
                    <a:pt x="425181" y="0"/>
                    <a:pt x="949669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gradFill>
                <a:gsLst>
                  <a:gs pos="36000">
                    <a:schemeClr val="tx2"/>
                  </a:gs>
                  <a:gs pos="100000">
                    <a:schemeClr val="tx2"/>
                  </a:gs>
                </a:gsLst>
                <a:lin ang="5400000" scaled="1"/>
              </a:gradFill>
            </a:ln>
            <a:effectLst>
              <a:outerShdw blurRad="317500" sx="101000" sy="101000" algn="ctr" rotWithShape="0">
                <a:schemeClr val="accent1">
                  <a:alpha val="6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 dirty="0"/>
            </a:p>
          </p:txBody>
        </p:sp>
        <p:grpSp>
          <p:nvGrpSpPr>
            <p:cNvPr id="89" name="!!组合 3"/>
            <p:cNvGrpSpPr/>
            <p:nvPr/>
          </p:nvGrpSpPr>
          <p:grpSpPr>
            <a:xfrm>
              <a:off x="393497" y="1192694"/>
              <a:ext cx="11405005" cy="5220830"/>
              <a:chOff x="393497" y="1192694"/>
              <a:chExt cx="11405005" cy="5220830"/>
            </a:xfrm>
          </p:grpSpPr>
          <p:sp>
            <p:nvSpPr>
              <p:cNvPr id="90" name="任意多边形: 形状 89"/>
              <p:cNvSpPr/>
              <p:nvPr/>
            </p:nvSpPr>
            <p:spPr>
              <a:xfrm>
                <a:off x="393497" y="1192694"/>
                <a:ext cx="6688844" cy="1226774"/>
              </a:xfrm>
              <a:custGeom>
                <a:avLst/>
                <a:gdLst>
                  <a:gd name="connsiteX0" fmla="*/ 613387 w 6688844"/>
                  <a:gd name="connsiteY0" fmla="*/ 0 h 1226774"/>
                  <a:gd name="connsiteX1" fmla="*/ 6688844 w 6688844"/>
                  <a:gd name="connsiteY1" fmla="*/ 0 h 1226774"/>
                  <a:gd name="connsiteX2" fmla="*/ 6140250 w 6688844"/>
                  <a:gd name="connsiteY2" fmla="*/ 1226774 h 1226774"/>
                  <a:gd name="connsiteX3" fmla="*/ 613387 w 6688844"/>
                  <a:gd name="connsiteY3" fmla="*/ 1226773 h 1226774"/>
                  <a:gd name="connsiteX4" fmla="*/ 12462 w 6688844"/>
                  <a:gd name="connsiteY4" fmla="*/ 737005 h 1226774"/>
                  <a:gd name="connsiteX5" fmla="*/ 0 w 6688844"/>
                  <a:gd name="connsiteY5" fmla="*/ 613387 h 1226774"/>
                  <a:gd name="connsiteX6" fmla="*/ 12462 w 6688844"/>
                  <a:gd name="connsiteY6" fmla="*/ 489768 h 1226774"/>
                  <a:gd name="connsiteX7" fmla="*/ 613387 w 6688844"/>
                  <a:gd name="connsiteY7" fmla="*/ 0 h 12267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688844" h="1226774">
                    <a:moveTo>
                      <a:pt x="613387" y="0"/>
                    </a:moveTo>
                    <a:lnTo>
                      <a:pt x="6688844" y="0"/>
                    </a:lnTo>
                    <a:lnTo>
                      <a:pt x="6140250" y="1226774"/>
                    </a:lnTo>
                    <a:lnTo>
                      <a:pt x="613387" y="1226773"/>
                    </a:lnTo>
                    <a:cubicBezTo>
                      <a:pt x="316969" y="1226773"/>
                      <a:pt x="69658" y="1016515"/>
                      <a:pt x="12462" y="737005"/>
                    </a:cubicBezTo>
                    <a:lnTo>
                      <a:pt x="0" y="613387"/>
                    </a:lnTo>
                    <a:lnTo>
                      <a:pt x="12462" y="489768"/>
                    </a:lnTo>
                    <a:cubicBezTo>
                      <a:pt x="69658" y="210258"/>
                      <a:pt x="316969" y="0"/>
                      <a:pt x="613387" y="0"/>
                    </a:cubicBezTo>
                    <a:close/>
                  </a:path>
                </a:pathLst>
              </a:custGeom>
              <a:gradFill flip="none" rotWithShape="1">
                <a:gsLst>
                  <a:gs pos="100000">
                    <a:schemeClr val="accent1"/>
                  </a:gs>
                  <a:gs pos="5000">
                    <a:schemeClr val="accent1">
                      <a:lumMod val="60000"/>
                      <a:lumOff val="40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91" name="任意多边形: 形状 90"/>
              <p:cNvSpPr/>
              <p:nvPr/>
            </p:nvSpPr>
            <p:spPr>
              <a:xfrm>
                <a:off x="5109655" y="5186750"/>
                <a:ext cx="6688847" cy="1226774"/>
              </a:xfrm>
              <a:custGeom>
                <a:avLst/>
                <a:gdLst>
                  <a:gd name="connsiteX0" fmla="*/ 548594 w 6688847"/>
                  <a:gd name="connsiteY0" fmla="*/ 0 h 1226774"/>
                  <a:gd name="connsiteX1" fmla="*/ 6075460 w 6688847"/>
                  <a:gd name="connsiteY1" fmla="*/ 0 h 1226774"/>
                  <a:gd name="connsiteX2" fmla="*/ 6688847 w 6688847"/>
                  <a:gd name="connsiteY2" fmla="*/ 613387 h 1226774"/>
                  <a:gd name="connsiteX3" fmla="*/ 6688846 w 6688847"/>
                  <a:gd name="connsiteY3" fmla="*/ 613387 h 1226774"/>
                  <a:gd name="connsiteX4" fmla="*/ 6075459 w 6688847"/>
                  <a:gd name="connsiteY4" fmla="*/ 1226774 h 1226774"/>
                  <a:gd name="connsiteX5" fmla="*/ 0 w 6688847"/>
                  <a:gd name="connsiteY5" fmla="*/ 1226774 h 1226774"/>
                  <a:gd name="connsiteX6" fmla="*/ 548594 w 6688847"/>
                  <a:gd name="connsiteY6" fmla="*/ 0 h 12267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688847" h="1226774">
                    <a:moveTo>
                      <a:pt x="548594" y="0"/>
                    </a:moveTo>
                    <a:lnTo>
                      <a:pt x="6075460" y="0"/>
                    </a:lnTo>
                    <a:cubicBezTo>
                      <a:pt x="6414224" y="0"/>
                      <a:pt x="6688847" y="274623"/>
                      <a:pt x="6688847" y="613387"/>
                    </a:cubicBezTo>
                    <a:lnTo>
                      <a:pt x="6688846" y="613387"/>
                    </a:lnTo>
                    <a:cubicBezTo>
                      <a:pt x="6688846" y="952151"/>
                      <a:pt x="6414223" y="1226774"/>
                      <a:pt x="6075459" y="1226774"/>
                    </a:cubicBezTo>
                    <a:lnTo>
                      <a:pt x="0" y="1226774"/>
                    </a:lnTo>
                    <a:lnTo>
                      <a:pt x="548594" y="0"/>
                    </a:lnTo>
                    <a:close/>
                  </a:path>
                </a:pathLst>
              </a:custGeom>
              <a:gradFill flip="none" rotWithShape="1">
                <a:gsLst>
                  <a:gs pos="100000">
                    <a:schemeClr val="accent3"/>
                  </a:gs>
                  <a:gs pos="5000">
                    <a:schemeClr val="accent3">
                      <a:lumMod val="60000"/>
                      <a:lumOff val="40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92" name="直接连接符 91"/>
              <p:cNvCxnSpPr/>
              <p:nvPr/>
            </p:nvCxnSpPr>
            <p:spPr>
              <a:xfrm flipH="1">
                <a:off x="5128992" y="1226554"/>
                <a:ext cx="2304393" cy="5153111"/>
              </a:xfrm>
              <a:prstGeom prst="line">
                <a:avLst/>
              </a:prstGeom>
              <a:ln w="57150" cap="rnd">
                <a:gradFill flip="none" rotWithShape="1">
                  <a:gsLst>
                    <a:gs pos="0">
                      <a:schemeClr val="accent3"/>
                    </a:gs>
                    <a:gs pos="99000">
                      <a:schemeClr val="accent3">
                        <a:alpha val="0"/>
                      </a:schemeClr>
                    </a:gs>
                  </a:gsLst>
                  <a:lin ang="1620000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3" name="组合 92"/>
            <p:cNvGrpSpPr/>
            <p:nvPr/>
          </p:nvGrpSpPr>
          <p:grpSpPr>
            <a:xfrm>
              <a:off x="827314" y="1333151"/>
              <a:ext cx="5408781" cy="919874"/>
              <a:chOff x="827314" y="1319621"/>
              <a:chExt cx="5408781" cy="919874"/>
            </a:xfrm>
          </p:grpSpPr>
          <p:pic>
            <p:nvPicPr>
              <p:cNvPr id="94" name="图形 93"/>
              <p:cNvPicPr>
                <a:picLocks noChangeAspect="1"/>
              </p:cNvPicPr>
              <p:nvPr/>
            </p:nvPicPr>
            <p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827314" y="1433127"/>
                <a:ext cx="745908" cy="745908"/>
              </a:xfrm>
              <a:prstGeom prst="rect">
                <a:avLst/>
              </a:prstGeom>
            </p:spPr>
          </p:pic>
          <p:grpSp>
            <p:nvGrpSpPr>
              <p:cNvPr id="95" name="组合 94"/>
              <p:cNvGrpSpPr/>
              <p:nvPr/>
            </p:nvGrpSpPr>
            <p:grpSpPr>
              <a:xfrm>
                <a:off x="1880069" y="1319621"/>
                <a:ext cx="4356026" cy="919874"/>
                <a:chOff x="1880069" y="1319621"/>
                <a:chExt cx="4356026" cy="919874"/>
              </a:xfrm>
            </p:grpSpPr>
            <p:sp>
              <p:nvSpPr>
                <p:cNvPr id="96" name="文本框 95"/>
                <p:cNvSpPr txBox="1"/>
                <p:nvPr/>
              </p:nvSpPr>
              <p:spPr>
                <a:xfrm>
                  <a:off x="1880069" y="1319621"/>
                  <a:ext cx="4356026" cy="70788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dist"/>
                  <a:r>
                    <a:rPr lang="zh-CN" altLang="en-US" sz="4000" dirty="0">
                      <a:solidFill>
                        <a:schemeClr val="bg2"/>
                      </a:solidFill>
                      <a:latin typeface="OPPOSans H" panose="00020600040101010101" pitchFamily="18" charset="-122"/>
                      <a:ea typeface="OPPOSans H" panose="00020600040101010101" pitchFamily="18" charset="-122"/>
                      <a:cs typeface="OPPOSans H" panose="00020600040101010101" pitchFamily="18" charset="-122"/>
                    </a:rPr>
                    <a:t>上半年工作总结</a:t>
                  </a:r>
                  <a:endParaRPr lang="zh-CN" altLang="en-US" sz="4000" dirty="0">
                    <a:solidFill>
                      <a:schemeClr val="bg2"/>
                    </a:solidFill>
                    <a:latin typeface="OPPOSans H" panose="00020600040101010101" pitchFamily="18" charset="-122"/>
                    <a:ea typeface="OPPOSans H" panose="00020600040101010101" pitchFamily="18" charset="-122"/>
                    <a:cs typeface="OPPOSans H" panose="00020600040101010101" pitchFamily="18" charset="-122"/>
                  </a:endParaRPr>
                </a:p>
              </p:txBody>
            </p:sp>
            <p:grpSp>
              <p:nvGrpSpPr>
                <p:cNvPr id="97" name="组合 96"/>
                <p:cNvGrpSpPr/>
                <p:nvPr/>
              </p:nvGrpSpPr>
              <p:grpSpPr>
                <a:xfrm>
                  <a:off x="1943554" y="2013564"/>
                  <a:ext cx="4229056" cy="225931"/>
                  <a:chOff x="2007039" y="2038221"/>
                  <a:chExt cx="3794900" cy="225931"/>
                </a:xfrm>
              </p:grpSpPr>
              <p:grpSp>
                <p:nvGrpSpPr>
                  <p:cNvPr id="98" name="组合 97"/>
                  <p:cNvGrpSpPr/>
                  <p:nvPr/>
                </p:nvGrpSpPr>
                <p:grpSpPr>
                  <a:xfrm>
                    <a:off x="2007039" y="2038221"/>
                    <a:ext cx="1187405" cy="225931"/>
                    <a:chOff x="679495" y="1424003"/>
                    <a:chExt cx="1683246" cy="225931"/>
                  </a:xfrm>
                </p:grpSpPr>
                <p:sp>
                  <p:nvSpPr>
                    <p:cNvPr id="105" name="矩形 104"/>
                    <p:cNvSpPr/>
                    <p:nvPr/>
                  </p:nvSpPr>
                  <p:spPr>
                    <a:xfrm>
                      <a:off x="679495" y="1424003"/>
                      <a:ext cx="1683246" cy="225931"/>
                    </a:xfrm>
                    <a:prstGeom prst="rect">
                      <a:avLst/>
                    </a:prstGeom>
                    <a:solidFill>
                      <a:schemeClr val="bg2">
                        <a:alpha val="2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CN" altLang="en-US" sz="1600">
                        <a:cs typeface="OPPOSans R" panose="00020600040101010101" pitchFamily="18" charset="-122"/>
                      </a:endParaRPr>
                    </a:p>
                  </p:txBody>
                </p:sp>
                <p:sp>
                  <p:nvSpPr>
                    <p:cNvPr id="106" name="标题 1"/>
                    <p:cNvSpPr txBox="1"/>
                    <p:nvPr/>
                  </p:nvSpPr>
                  <p:spPr>
                    <a:xfrm>
                      <a:off x="934072" y="1464544"/>
                      <a:ext cx="1241114" cy="169342"/>
                    </a:xfrm>
                    <a:prstGeom prst="rect">
                      <a:avLst/>
                    </a:prstGeom>
                    <a:noFill/>
                  </p:spPr>
                  <p:txBody>
                    <a:bodyPr vert="horz" wrap="square" lIns="0" tIns="0" rIns="0" bIns="0" rtlCol="0" anchor="ctr">
                      <a:spAutoFit/>
                    </a:bodyPr>
                    <a:lstStyle>
                      <a:defPPr>
                        <a:defRPr lang="zh-CN"/>
                      </a:defPPr>
                      <a:lvl1pPr>
                        <a:lnSpc>
                          <a:spcPct val="90000"/>
                        </a:lnSpc>
                        <a:spcBef>
                          <a:spcPct val="0"/>
                        </a:spcBef>
                        <a:buNone/>
                        <a:defRPr kumimoji="1" sz="2000">
                          <a:solidFill>
                            <a:schemeClr val="bg1"/>
                          </a:solidFill>
                          <a:latin typeface="OPPOSans R" panose="00020600040101010101" pitchFamily="18" charset="-122"/>
                          <a:ea typeface="OPPOSans R" panose="00020600040101010101" pitchFamily="18" charset="-122"/>
                          <a:cs typeface="OPPOSans M" panose="00020600040101010101" pitchFamily="18" charset="-122"/>
                        </a:defRPr>
                      </a:lvl1pPr>
                    </a:lstStyle>
                    <a:p>
                      <a:pPr algn="ctr"/>
                      <a:r>
                        <a:rPr lang="zh-CN" altLang="en-US" sz="1200" dirty="0">
                          <a:solidFill>
                            <a:schemeClr val="bg2"/>
                          </a:solidFill>
                          <a:sym typeface="OPPOSans R" panose="00020600040101010101" pitchFamily="18" charset="-122"/>
                        </a:rPr>
                        <a:t>输入关键词</a:t>
                      </a:r>
                      <a:endParaRPr lang="zh-CN" altLang="en-US" sz="1200" dirty="0">
                        <a:solidFill>
                          <a:schemeClr val="bg2"/>
                        </a:solidFill>
                        <a:sym typeface="OPPOSans R" panose="00020600040101010101" pitchFamily="18" charset="-122"/>
                      </a:endParaRPr>
                    </a:p>
                  </p:txBody>
                </p:sp>
              </p:grpSp>
              <p:grpSp>
                <p:nvGrpSpPr>
                  <p:cNvPr id="99" name="组合 98"/>
                  <p:cNvGrpSpPr/>
                  <p:nvPr/>
                </p:nvGrpSpPr>
                <p:grpSpPr>
                  <a:xfrm>
                    <a:off x="3310786" y="2038221"/>
                    <a:ext cx="1187405" cy="225931"/>
                    <a:chOff x="679495" y="1424003"/>
                    <a:chExt cx="1683246" cy="225931"/>
                  </a:xfrm>
                </p:grpSpPr>
                <p:sp>
                  <p:nvSpPr>
                    <p:cNvPr id="103" name="矩形 102"/>
                    <p:cNvSpPr/>
                    <p:nvPr/>
                  </p:nvSpPr>
                  <p:spPr>
                    <a:xfrm>
                      <a:off x="679495" y="1424003"/>
                      <a:ext cx="1683246" cy="225931"/>
                    </a:xfrm>
                    <a:prstGeom prst="rect">
                      <a:avLst/>
                    </a:prstGeom>
                    <a:solidFill>
                      <a:schemeClr val="bg2">
                        <a:alpha val="2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CN" altLang="en-US" sz="1600">
                        <a:cs typeface="OPPOSans R" panose="00020600040101010101" pitchFamily="18" charset="-122"/>
                      </a:endParaRPr>
                    </a:p>
                  </p:txBody>
                </p:sp>
                <p:sp>
                  <p:nvSpPr>
                    <p:cNvPr id="104" name="标题 1"/>
                    <p:cNvSpPr txBox="1"/>
                    <p:nvPr/>
                  </p:nvSpPr>
                  <p:spPr>
                    <a:xfrm>
                      <a:off x="934072" y="1464544"/>
                      <a:ext cx="1241114" cy="169342"/>
                    </a:xfrm>
                    <a:prstGeom prst="rect">
                      <a:avLst/>
                    </a:prstGeom>
                    <a:noFill/>
                  </p:spPr>
                  <p:txBody>
                    <a:bodyPr vert="horz" wrap="square" lIns="0" tIns="0" rIns="0" bIns="0" rtlCol="0" anchor="ctr">
                      <a:spAutoFit/>
                    </a:bodyPr>
                    <a:lstStyle>
                      <a:defPPr>
                        <a:defRPr lang="zh-CN"/>
                      </a:defPPr>
                      <a:lvl1pPr>
                        <a:lnSpc>
                          <a:spcPct val="90000"/>
                        </a:lnSpc>
                        <a:spcBef>
                          <a:spcPct val="0"/>
                        </a:spcBef>
                        <a:buNone/>
                        <a:defRPr kumimoji="1" sz="2000">
                          <a:solidFill>
                            <a:schemeClr val="bg1"/>
                          </a:solidFill>
                          <a:latin typeface="OPPOSans R" panose="00020600040101010101" pitchFamily="18" charset="-122"/>
                          <a:ea typeface="OPPOSans R" panose="00020600040101010101" pitchFamily="18" charset="-122"/>
                          <a:cs typeface="OPPOSans M" panose="00020600040101010101" pitchFamily="18" charset="-122"/>
                        </a:defRPr>
                      </a:lvl1pPr>
                    </a:lstStyle>
                    <a:p>
                      <a:pPr algn="ctr"/>
                      <a:r>
                        <a:rPr lang="zh-CN" altLang="en-US" sz="1200" dirty="0">
                          <a:solidFill>
                            <a:schemeClr val="bg2"/>
                          </a:solidFill>
                          <a:sym typeface="OPPOSans R" panose="00020600040101010101" pitchFamily="18" charset="-122"/>
                        </a:rPr>
                        <a:t>输入关键词</a:t>
                      </a:r>
                      <a:endParaRPr lang="zh-CN" altLang="en-US" sz="1200" dirty="0">
                        <a:solidFill>
                          <a:schemeClr val="bg2"/>
                        </a:solidFill>
                        <a:sym typeface="OPPOSans R" panose="00020600040101010101" pitchFamily="18" charset="-122"/>
                      </a:endParaRPr>
                    </a:p>
                  </p:txBody>
                </p:sp>
              </p:grpSp>
              <p:grpSp>
                <p:nvGrpSpPr>
                  <p:cNvPr id="100" name="组合 99"/>
                  <p:cNvGrpSpPr/>
                  <p:nvPr/>
                </p:nvGrpSpPr>
                <p:grpSpPr>
                  <a:xfrm>
                    <a:off x="4614534" y="2038221"/>
                    <a:ext cx="1187405" cy="225931"/>
                    <a:chOff x="679495" y="1424003"/>
                    <a:chExt cx="1683246" cy="225931"/>
                  </a:xfrm>
                </p:grpSpPr>
                <p:sp>
                  <p:nvSpPr>
                    <p:cNvPr id="101" name="矩形 100"/>
                    <p:cNvSpPr/>
                    <p:nvPr/>
                  </p:nvSpPr>
                  <p:spPr>
                    <a:xfrm>
                      <a:off x="679495" y="1424003"/>
                      <a:ext cx="1683246" cy="225931"/>
                    </a:xfrm>
                    <a:prstGeom prst="rect">
                      <a:avLst/>
                    </a:prstGeom>
                    <a:solidFill>
                      <a:schemeClr val="bg2">
                        <a:alpha val="2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CN" altLang="en-US" sz="1600">
                        <a:cs typeface="OPPOSans R" panose="00020600040101010101" pitchFamily="18" charset="-122"/>
                      </a:endParaRPr>
                    </a:p>
                  </p:txBody>
                </p:sp>
                <p:sp>
                  <p:nvSpPr>
                    <p:cNvPr id="102" name="标题 1"/>
                    <p:cNvSpPr txBox="1"/>
                    <p:nvPr/>
                  </p:nvSpPr>
                  <p:spPr>
                    <a:xfrm>
                      <a:off x="934072" y="1464544"/>
                      <a:ext cx="1241114" cy="169342"/>
                    </a:xfrm>
                    <a:prstGeom prst="rect">
                      <a:avLst/>
                    </a:prstGeom>
                    <a:noFill/>
                  </p:spPr>
                  <p:txBody>
                    <a:bodyPr vert="horz" wrap="square" lIns="0" tIns="0" rIns="0" bIns="0" rtlCol="0" anchor="ctr">
                      <a:spAutoFit/>
                    </a:bodyPr>
                    <a:lstStyle>
                      <a:defPPr>
                        <a:defRPr lang="zh-CN"/>
                      </a:defPPr>
                      <a:lvl1pPr>
                        <a:lnSpc>
                          <a:spcPct val="90000"/>
                        </a:lnSpc>
                        <a:spcBef>
                          <a:spcPct val="0"/>
                        </a:spcBef>
                        <a:buNone/>
                        <a:defRPr kumimoji="1" sz="2000">
                          <a:solidFill>
                            <a:schemeClr val="bg1"/>
                          </a:solidFill>
                          <a:latin typeface="OPPOSans R" panose="00020600040101010101" pitchFamily="18" charset="-122"/>
                          <a:ea typeface="OPPOSans R" panose="00020600040101010101" pitchFamily="18" charset="-122"/>
                          <a:cs typeface="OPPOSans M" panose="00020600040101010101" pitchFamily="18" charset="-122"/>
                        </a:defRPr>
                      </a:lvl1pPr>
                    </a:lstStyle>
                    <a:p>
                      <a:pPr algn="ctr"/>
                      <a:r>
                        <a:rPr lang="zh-CN" altLang="en-US" sz="1200" dirty="0">
                          <a:solidFill>
                            <a:schemeClr val="bg2"/>
                          </a:solidFill>
                          <a:sym typeface="OPPOSans R" panose="00020600040101010101" pitchFamily="18" charset="-122"/>
                        </a:rPr>
                        <a:t>输入关键词</a:t>
                      </a:r>
                      <a:endParaRPr lang="zh-CN" altLang="en-US" sz="1200" dirty="0">
                        <a:solidFill>
                          <a:schemeClr val="bg2"/>
                        </a:solidFill>
                        <a:sym typeface="OPPOSans R" panose="00020600040101010101" pitchFamily="18" charset="-122"/>
                      </a:endParaRPr>
                    </a:p>
                  </p:txBody>
                </p:sp>
              </p:grpSp>
            </p:grpSp>
          </p:grpSp>
        </p:grpSp>
        <p:grpSp>
          <p:nvGrpSpPr>
            <p:cNvPr id="107" name="组合 106"/>
            <p:cNvGrpSpPr/>
            <p:nvPr/>
          </p:nvGrpSpPr>
          <p:grpSpPr>
            <a:xfrm>
              <a:off x="5768426" y="5313676"/>
              <a:ext cx="5491883" cy="919874"/>
              <a:chOff x="6328244" y="5340104"/>
              <a:chExt cx="5491883" cy="919874"/>
            </a:xfrm>
          </p:grpSpPr>
          <p:grpSp>
            <p:nvGrpSpPr>
              <p:cNvPr id="108" name="组合 107"/>
              <p:cNvGrpSpPr/>
              <p:nvPr/>
            </p:nvGrpSpPr>
            <p:grpSpPr>
              <a:xfrm>
                <a:off x="6328244" y="5340104"/>
                <a:ext cx="4356026" cy="919874"/>
                <a:chOff x="1880069" y="1319621"/>
                <a:chExt cx="4356026" cy="919874"/>
              </a:xfrm>
            </p:grpSpPr>
            <p:sp>
              <p:nvSpPr>
                <p:cNvPr id="110" name="文本框 109"/>
                <p:cNvSpPr txBox="1"/>
                <p:nvPr/>
              </p:nvSpPr>
              <p:spPr>
                <a:xfrm>
                  <a:off x="1880069" y="1319621"/>
                  <a:ext cx="4356026" cy="70788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dist"/>
                  <a:r>
                    <a:rPr lang="zh-CN" altLang="en-US" sz="4000" dirty="0">
                      <a:solidFill>
                        <a:schemeClr val="bg2"/>
                      </a:solidFill>
                      <a:latin typeface="OPPOSans H" panose="00020600040101010101" pitchFamily="18" charset="-122"/>
                      <a:ea typeface="OPPOSans H" panose="00020600040101010101" pitchFamily="18" charset="-122"/>
                      <a:cs typeface="OPPOSans H" panose="00020600040101010101" pitchFamily="18" charset="-122"/>
                    </a:rPr>
                    <a:t>下半年工作规划</a:t>
                  </a:r>
                  <a:endParaRPr lang="zh-CN" altLang="en-US" sz="4000" dirty="0">
                    <a:solidFill>
                      <a:schemeClr val="bg2"/>
                    </a:solidFill>
                    <a:latin typeface="OPPOSans H" panose="00020600040101010101" pitchFamily="18" charset="-122"/>
                    <a:ea typeface="OPPOSans H" panose="00020600040101010101" pitchFamily="18" charset="-122"/>
                    <a:cs typeface="OPPOSans H" panose="00020600040101010101" pitchFamily="18" charset="-122"/>
                  </a:endParaRPr>
                </a:p>
              </p:txBody>
            </p:sp>
            <p:grpSp>
              <p:nvGrpSpPr>
                <p:cNvPr id="111" name="组合 110"/>
                <p:cNvGrpSpPr/>
                <p:nvPr/>
              </p:nvGrpSpPr>
              <p:grpSpPr>
                <a:xfrm>
                  <a:off x="1943554" y="2013564"/>
                  <a:ext cx="4229056" cy="225931"/>
                  <a:chOff x="2007039" y="2038221"/>
                  <a:chExt cx="3794900" cy="225931"/>
                </a:xfrm>
              </p:grpSpPr>
              <p:grpSp>
                <p:nvGrpSpPr>
                  <p:cNvPr id="112" name="组合 111"/>
                  <p:cNvGrpSpPr/>
                  <p:nvPr/>
                </p:nvGrpSpPr>
                <p:grpSpPr>
                  <a:xfrm>
                    <a:off x="2007039" y="2038221"/>
                    <a:ext cx="1187405" cy="225931"/>
                    <a:chOff x="679495" y="1424003"/>
                    <a:chExt cx="1683246" cy="225931"/>
                  </a:xfrm>
                </p:grpSpPr>
                <p:sp>
                  <p:nvSpPr>
                    <p:cNvPr id="119" name="矩形 118"/>
                    <p:cNvSpPr/>
                    <p:nvPr/>
                  </p:nvSpPr>
                  <p:spPr>
                    <a:xfrm>
                      <a:off x="679495" y="1424003"/>
                      <a:ext cx="1683246" cy="225931"/>
                    </a:xfrm>
                    <a:prstGeom prst="rect">
                      <a:avLst/>
                    </a:prstGeom>
                    <a:solidFill>
                      <a:schemeClr val="bg2">
                        <a:alpha val="2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CN" altLang="en-US" sz="1600">
                        <a:cs typeface="OPPOSans R" panose="00020600040101010101" pitchFamily="18" charset="-122"/>
                      </a:endParaRPr>
                    </a:p>
                  </p:txBody>
                </p:sp>
                <p:sp>
                  <p:nvSpPr>
                    <p:cNvPr id="120" name="标题 1"/>
                    <p:cNvSpPr txBox="1"/>
                    <p:nvPr/>
                  </p:nvSpPr>
                  <p:spPr>
                    <a:xfrm>
                      <a:off x="934072" y="1464544"/>
                      <a:ext cx="1241114" cy="169342"/>
                    </a:xfrm>
                    <a:prstGeom prst="rect">
                      <a:avLst/>
                    </a:prstGeom>
                    <a:noFill/>
                  </p:spPr>
                  <p:txBody>
                    <a:bodyPr vert="horz" wrap="square" lIns="0" tIns="0" rIns="0" bIns="0" rtlCol="0" anchor="ctr">
                      <a:spAutoFit/>
                    </a:bodyPr>
                    <a:lstStyle>
                      <a:defPPr>
                        <a:defRPr lang="zh-CN"/>
                      </a:defPPr>
                      <a:lvl1pPr>
                        <a:lnSpc>
                          <a:spcPct val="90000"/>
                        </a:lnSpc>
                        <a:spcBef>
                          <a:spcPct val="0"/>
                        </a:spcBef>
                        <a:buNone/>
                        <a:defRPr kumimoji="1" sz="2000">
                          <a:solidFill>
                            <a:schemeClr val="bg1"/>
                          </a:solidFill>
                          <a:latin typeface="OPPOSans R" panose="00020600040101010101" pitchFamily="18" charset="-122"/>
                          <a:ea typeface="OPPOSans R" panose="00020600040101010101" pitchFamily="18" charset="-122"/>
                          <a:cs typeface="OPPOSans M" panose="00020600040101010101" pitchFamily="18" charset="-122"/>
                        </a:defRPr>
                      </a:lvl1pPr>
                    </a:lstStyle>
                    <a:p>
                      <a:pPr algn="ctr"/>
                      <a:r>
                        <a:rPr lang="zh-CN" altLang="en-US" sz="1200" dirty="0">
                          <a:solidFill>
                            <a:schemeClr val="bg2"/>
                          </a:solidFill>
                          <a:sym typeface="OPPOSans R" panose="00020600040101010101" pitchFamily="18" charset="-122"/>
                        </a:rPr>
                        <a:t>输入关键词</a:t>
                      </a:r>
                      <a:endParaRPr lang="zh-CN" altLang="en-US" sz="1200" dirty="0">
                        <a:solidFill>
                          <a:schemeClr val="bg2"/>
                        </a:solidFill>
                        <a:sym typeface="OPPOSans R" panose="00020600040101010101" pitchFamily="18" charset="-122"/>
                      </a:endParaRPr>
                    </a:p>
                  </p:txBody>
                </p:sp>
              </p:grpSp>
              <p:grpSp>
                <p:nvGrpSpPr>
                  <p:cNvPr id="113" name="组合 112"/>
                  <p:cNvGrpSpPr/>
                  <p:nvPr/>
                </p:nvGrpSpPr>
                <p:grpSpPr>
                  <a:xfrm>
                    <a:off x="3310786" y="2038221"/>
                    <a:ext cx="1187405" cy="225931"/>
                    <a:chOff x="679495" y="1424003"/>
                    <a:chExt cx="1683246" cy="225931"/>
                  </a:xfrm>
                </p:grpSpPr>
                <p:sp>
                  <p:nvSpPr>
                    <p:cNvPr id="117" name="矩形 116"/>
                    <p:cNvSpPr/>
                    <p:nvPr/>
                  </p:nvSpPr>
                  <p:spPr>
                    <a:xfrm>
                      <a:off x="679495" y="1424003"/>
                      <a:ext cx="1683246" cy="225931"/>
                    </a:xfrm>
                    <a:prstGeom prst="rect">
                      <a:avLst/>
                    </a:prstGeom>
                    <a:solidFill>
                      <a:schemeClr val="bg2">
                        <a:alpha val="2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CN" altLang="en-US" sz="1600">
                        <a:cs typeface="OPPOSans R" panose="00020600040101010101" pitchFamily="18" charset="-122"/>
                      </a:endParaRPr>
                    </a:p>
                  </p:txBody>
                </p:sp>
                <p:sp>
                  <p:nvSpPr>
                    <p:cNvPr id="118" name="标题 1"/>
                    <p:cNvSpPr txBox="1"/>
                    <p:nvPr/>
                  </p:nvSpPr>
                  <p:spPr>
                    <a:xfrm>
                      <a:off x="934072" y="1464544"/>
                      <a:ext cx="1241114" cy="169342"/>
                    </a:xfrm>
                    <a:prstGeom prst="rect">
                      <a:avLst/>
                    </a:prstGeom>
                    <a:noFill/>
                  </p:spPr>
                  <p:txBody>
                    <a:bodyPr vert="horz" wrap="square" lIns="0" tIns="0" rIns="0" bIns="0" rtlCol="0" anchor="ctr">
                      <a:spAutoFit/>
                    </a:bodyPr>
                    <a:lstStyle>
                      <a:defPPr>
                        <a:defRPr lang="zh-CN"/>
                      </a:defPPr>
                      <a:lvl1pPr>
                        <a:lnSpc>
                          <a:spcPct val="90000"/>
                        </a:lnSpc>
                        <a:spcBef>
                          <a:spcPct val="0"/>
                        </a:spcBef>
                        <a:buNone/>
                        <a:defRPr kumimoji="1" sz="2000">
                          <a:solidFill>
                            <a:schemeClr val="bg1"/>
                          </a:solidFill>
                          <a:latin typeface="OPPOSans R" panose="00020600040101010101" pitchFamily="18" charset="-122"/>
                          <a:ea typeface="OPPOSans R" panose="00020600040101010101" pitchFamily="18" charset="-122"/>
                          <a:cs typeface="OPPOSans M" panose="00020600040101010101" pitchFamily="18" charset="-122"/>
                        </a:defRPr>
                      </a:lvl1pPr>
                    </a:lstStyle>
                    <a:p>
                      <a:pPr algn="ctr"/>
                      <a:r>
                        <a:rPr lang="zh-CN" altLang="en-US" sz="1200" dirty="0">
                          <a:solidFill>
                            <a:schemeClr val="bg2"/>
                          </a:solidFill>
                          <a:sym typeface="OPPOSans R" panose="00020600040101010101" pitchFamily="18" charset="-122"/>
                        </a:rPr>
                        <a:t>输入关键词</a:t>
                      </a:r>
                      <a:endParaRPr lang="zh-CN" altLang="en-US" sz="1200" dirty="0">
                        <a:solidFill>
                          <a:schemeClr val="bg2"/>
                        </a:solidFill>
                        <a:sym typeface="OPPOSans R" panose="00020600040101010101" pitchFamily="18" charset="-122"/>
                      </a:endParaRPr>
                    </a:p>
                  </p:txBody>
                </p:sp>
              </p:grpSp>
              <p:grpSp>
                <p:nvGrpSpPr>
                  <p:cNvPr id="114" name="组合 113"/>
                  <p:cNvGrpSpPr/>
                  <p:nvPr/>
                </p:nvGrpSpPr>
                <p:grpSpPr>
                  <a:xfrm>
                    <a:off x="4614534" y="2038221"/>
                    <a:ext cx="1187405" cy="225931"/>
                    <a:chOff x="679495" y="1424003"/>
                    <a:chExt cx="1683246" cy="225931"/>
                  </a:xfrm>
                </p:grpSpPr>
                <p:sp>
                  <p:nvSpPr>
                    <p:cNvPr id="115" name="矩形 114"/>
                    <p:cNvSpPr/>
                    <p:nvPr/>
                  </p:nvSpPr>
                  <p:spPr>
                    <a:xfrm>
                      <a:off x="679495" y="1424003"/>
                      <a:ext cx="1683246" cy="225931"/>
                    </a:xfrm>
                    <a:prstGeom prst="rect">
                      <a:avLst/>
                    </a:prstGeom>
                    <a:solidFill>
                      <a:schemeClr val="bg2">
                        <a:alpha val="2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CN" altLang="en-US" sz="1600">
                        <a:cs typeface="OPPOSans R" panose="00020600040101010101" pitchFamily="18" charset="-122"/>
                      </a:endParaRPr>
                    </a:p>
                  </p:txBody>
                </p:sp>
                <p:sp>
                  <p:nvSpPr>
                    <p:cNvPr id="116" name="标题 1"/>
                    <p:cNvSpPr txBox="1"/>
                    <p:nvPr/>
                  </p:nvSpPr>
                  <p:spPr>
                    <a:xfrm>
                      <a:off x="934072" y="1464544"/>
                      <a:ext cx="1241114" cy="169342"/>
                    </a:xfrm>
                    <a:prstGeom prst="rect">
                      <a:avLst/>
                    </a:prstGeom>
                    <a:noFill/>
                  </p:spPr>
                  <p:txBody>
                    <a:bodyPr vert="horz" wrap="square" lIns="0" tIns="0" rIns="0" bIns="0" rtlCol="0" anchor="ctr">
                      <a:spAutoFit/>
                    </a:bodyPr>
                    <a:lstStyle>
                      <a:defPPr>
                        <a:defRPr lang="zh-CN"/>
                      </a:defPPr>
                      <a:lvl1pPr>
                        <a:lnSpc>
                          <a:spcPct val="90000"/>
                        </a:lnSpc>
                        <a:spcBef>
                          <a:spcPct val="0"/>
                        </a:spcBef>
                        <a:buNone/>
                        <a:defRPr kumimoji="1" sz="2000">
                          <a:solidFill>
                            <a:schemeClr val="bg1"/>
                          </a:solidFill>
                          <a:latin typeface="OPPOSans R" panose="00020600040101010101" pitchFamily="18" charset="-122"/>
                          <a:ea typeface="OPPOSans R" panose="00020600040101010101" pitchFamily="18" charset="-122"/>
                          <a:cs typeface="OPPOSans M" panose="00020600040101010101" pitchFamily="18" charset="-122"/>
                        </a:defRPr>
                      </a:lvl1pPr>
                    </a:lstStyle>
                    <a:p>
                      <a:pPr algn="ctr"/>
                      <a:r>
                        <a:rPr lang="zh-CN" altLang="en-US" sz="1200" dirty="0">
                          <a:solidFill>
                            <a:schemeClr val="bg2"/>
                          </a:solidFill>
                          <a:sym typeface="OPPOSans R" panose="00020600040101010101" pitchFamily="18" charset="-122"/>
                        </a:rPr>
                        <a:t>输入关键词</a:t>
                      </a:r>
                      <a:endParaRPr lang="zh-CN" altLang="en-US" sz="1200" dirty="0">
                        <a:solidFill>
                          <a:schemeClr val="bg2"/>
                        </a:solidFill>
                        <a:sym typeface="OPPOSans R" panose="00020600040101010101" pitchFamily="18" charset="-122"/>
                      </a:endParaRPr>
                    </a:p>
                  </p:txBody>
                </p:sp>
              </p:grpSp>
            </p:grpSp>
          </p:grpSp>
          <p:pic>
            <p:nvPicPr>
              <p:cNvPr id="109" name="图形 108"/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11074219" y="5453610"/>
                <a:ext cx="745908" cy="745908"/>
              </a:xfrm>
              <a:prstGeom prst="rect">
                <a:avLst/>
              </a:prstGeom>
            </p:spPr>
          </p:pic>
        </p:grpSp>
        <p:cxnSp>
          <p:nvCxnSpPr>
            <p:cNvPr id="121" name="直接连接符 120"/>
            <p:cNvCxnSpPr/>
            <p:nvPr/>
          </p:nvCxnSpPr>
          <p:spPr>
            <a:xfrm flipH="1">
              <a:off x="4779962" y="1226554"/>
              <a:ext cx="2304393" cy="5153111"/>
            </a:xfrm>
            <a:prstGeom prst="line">
              <a:avLst/>
            </a:prstGeom>
            <a:ln w="57150" cap="rnd">
              <a:gradFill>
                <a:gsLst>
                  <a:gs pos="0">
                    <a:schemeClr val="accent1"/>
                  </a:gs>
                  <a:gs pos="99000">
                    <a:schemeClr val="accent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4" name="组合 123"/>
            <p:cNvGrpSpPr/>
            <p:nvPr/>
          </p:nvGrpSpPr>
          <p:grpSpPr>
            <a:xfrm>
              <a:off x="609095" y="3830628"/>
              <a:ext cx="4200180" cy="2190934"/>
              <a:chOff x="516297" y="3838073"/>
              <a:chExt cx="4666683" cy="2190934"/>
            </a:xfrm>
          </p:grpSpPr>
          <p:grpSp>
            <p:nvGrpSpPr>
              <p:cNvPr id="125" name="组合 124"/>
              <p:cNvGrpSpPr/>
              <p:nvPr/>
            </p:nvGrpSpPr>
            <p:grpSpPr>
              <a:xfrm>
                <a:off x="516297" y="3838073"/>
                <a:ext cx="4654991" cy="1075614"/>
                <a:chOff x="553928" y="1248650"/>
                <a:chExt cx="4654991" cy="1075614"/>
              </a:xfrm>
            </p:grpSpPr>
            <p:sp>
              <p:nvSpPr>
                <p:cNvPr id="129" name="7 CuadroTexto"/>
                <p:cNvSpPr txBox="1"/>
                <p:nvPr/>
              </p:nvSpPr>
              <p:spPr>
                <a:xfrm>
                  <a:off x="553928" y="1577841"/>
                  <a:ext cx="4654991" cy="74642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>
                  <a:defPPr>
                    <a:defRPr lang="zh-CN"/>
                  </a:defPPr>
                  <a:lvl1pPr>
                    <a:lnSpc>
                      <a:spcPct val="120000"/>
                    </a:lnSpc>
                    <a:defRPr sz="1000">
                      <a:solidFill>
                        <a:schemeClr val="bg2"/>
                      </a:solidFill>
                      <a:latin typeface="OPPOSans R" panose="00020600040101010101" pitchFamily="18" charset="-122"/>
                      <a:ea typeface="OPPOSans R" panose="00020600040101010101" pitchFamily="18" charset="-122"/>
                      <a:cs typeface="OPPOSans R" panose="00020600040101010101" pitchFamily="18" charset="-122"/>
                    </a:defRPr>
                  </a:lvl1pPr>
                </a:lstStyle>
                <a:p>
                  <a:r>
                    <a:rPr lang="zh-CN" altLang="en-US" sz="1200" dirty="0">
                      <a:solidFill>
                        <a:schemeClr val="tx1">
                          <a:alpha val="80000"/>
                        </a:schemeClr>
                      </a:solidFill>
                      <a:latin typeface="OPPOSans R" panose="00020600040101010101" pitchFamily="18" charset="-122"/>
                      <a:ea typeface="OPPOSans R" panose="00020600040101010101" pitchFamily="18" charset="-122"/>
                      <a:cs typeface="OPPOSans R" panose="00020600040101010101" pitchFamily="18" charset="-122"/>
                    </a:rPr>
                    <a:t>实现全域销售额</a:t>
                  </a:r>
                  <a:r>
                    <a:rPr lang="en-US" altLang="zh-CN" sz="1200" dirty="0">
                      <a:solidFill>
                        <a:schemeClr val="tx1">
                          <a:alpha val="80000"/>
                        </a:schemeClr>
                      </a:solidFill>
                      <a:latin typeface="OPPOSans R" panose="00020600040101010101" pitchFamily="18" charset="-122"/>
                      <a:ea typeface="OPPOSans R" panose="00020600040101010101" pitchFamily="18" charset="-122"/>
                      <a:cs typeface="OPPOSans R" panose="00020600040101010101" pitchFamily="18" charset="-122"/>
                    </a:rPr>
                    <a:t>725.7</a:t>
                  </a:r>
                  <a:r>
                    <a:rPr lang="zh-CN" altLang="en-US" sz="1200" dirty="0">
                      <a:solidFill>
                        <a:schemeClr val="tx1">
                          <a:alpha val="80000"/>
                        </a:schemeClr>
                      </a:solidFill>
                      <a:latin typeface="OPPOSans R" panose="00020600040101010101" pitchFamily="18" charset="-122"/>
                      <a:ea typeface="OPPOSans R" panose="00020600040101010101" pitchFamily="18" charset="-122"/>
                      <a:cs typeface="OPPOSans R" panose="00020600040101010101" pitchFamily="18" charset="-122"/>
                    </a:rPr>
                    <a:t>万，线上销量</a:t>
                  </a:r>
                  <a:r>
                    <a:rPr lang="en-US" altLang="zh-CN" sz="1200" dirty="0">
                      <a:solidFill>
                        <a:schemeClr val="tx1">
                          <a:alpha val="80000"/>
                        </a:schemeClr>
                      </a:solidFill>
                      <a:latin typeface="OPPOSans R" panose="00020600040101010101" pitchFamily="18" charset="-122"/>
                      <a:ea typeface="OPPOSans R" panose="00020600040101010101" pitchFamily="18" charset="-122"/>
                      <a:cs typeface="OPPOSans R" panose="00020600040101010101" pitchFamily="18" charset="-122"/>
                    </a:rPr>
                    <a:t>415.7</a:t>
                  </a:r>
                  <a:r>
                    <a:rPr lang="zh-CN" altLang="en-US" sz="1200" dirty="0">
                      <a:solidFill>
                        <a:schemeClr val="tx1">
                          <a:alpha val="80000"/>
                        </a:schemeClr>
                      </a:solidFill>
                      <a:latin typeface="OPPOSans R" panose="00020600040101010101" pitchFamily="18" charset="-122"/>
                      <a:ea typeface="OPPOSans R" panose="00020600040101010101" pitchFamily="18" charset="-122"/>
                      <a:cs typeface="OPPOSans R" panose="00020600040101010101" pitchFamily="18" charset="-122"/>
                    </a:rPr>
                    <a:t>万，市场占有率</a:t>
                  </a:r>
                  <a:r>
                    <a:rPr lang="en-US" altLang="zh-CN" sz="1200" dirty="0">
                      <a:solidFill>
                        <a:schemeClr val="tx1">
                          <a:alpha val="80000"/>
                        </a:schemeClr>
                      </a:solidFill>
                      <a:latin typeface="OPPOSans R" panose="00020600040101010101" pitchFamily="18" charset="-122"/>
                      <a:ea typeface="OPPOSans R" panose="00020600040101010101" pitchFamily="18" charset="-122"/>
                      <a:cs typeface="OPPOSans R" panose="00020600040101010101" pitchFamily="18" charset="-122"/>
                    </a:rPr>
                    <a:t>34.5%</a:t>
                  </a:r>
                  <a:r>
                    <a:rPr lang="zh-CN" altLang="en-US" sz="1200" dirty="0">
                      <a:solidFill>
                        <a:schemeClr val="tx1">
                          <a:alpha val="80000"/>
                        </a:schemeClr>
                      </a:solidFill>
                      <a:latin typeface="OPPOSans R" panose="00020600040101010101" pitchFamily="18" charset="-122"/>
                      <a:ea typeface="OPPOSans R" panose="00020600040101010101" pitchFamily="18" charset="-122"/>
                      <a:cs typeface="OPPOSans R" panose="00020600040101010101" pitchFamily="18" charset="-122"/>
                    </a:rPr>
                    <a:t>。上半年通过创新营销和客户关系管理，实现了稳健的业绩增长。</a:t>
                  </a:r>
                  <a:endParaRPr lang="zh-CN" altLang="en-US" sz="1200" dirty="0">
                    <a:solidFill>
                      <a:schemeClr val="tx1">
                        <a:alpha val="80000"/>
                      </a:schemeClr>
                    </a:solidFill>
                    <a:latin typeface="OPPOSans R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</a:endParaRPr>
                </a:p>
              </p:txBody>
            </p:sp>
            <p:sp>
              <p:nvSpPr>
                <p:cNvPr id="130" name="7 CuadroTexto"/>
                <p:cNvSpPr txBox="1"/>
                <p:nvPr/>
              </p:nvSpPr>
              <p:spPr>
                <a:xfrm>
                  <a:off x="570714" y="1248650"/>
                  <a:ext cx="2064258" cy="40863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>
                  <a:defPPr>
                    <a:defRPr lang="zh-CN"/>
                  </a:defPPr>
                  <a:lvl1pPr>
                    <a:lnSpc>
                      <a:spcPct val="120000"/>
                    </a:lnSpc>
                    <a:defRPr sz="1000">
                      <a:solidFill>
                        <a:schemeClr val="bg2"/>
                      </a:solidFill>
                      <a:latin typeface="OPPOSans R" panose="00020600040101010101" pitchFamily="18" charset="-122"/>
                      <a:ea typeface="OPPOSans R" panose="00020600040101010101" pitchFamily="18" charset="-122"/>
                      <a:cs typeface="OPPOSans R" panose="00020600040101010101" pitchFamily="18" charset="-122"/>
                    </a:defRPr>
                  </a:lvl1pPr>
                </a:lstStyle>
                <a:p>
                  <a:pPr marL="285750" indent="-285750">
                    <a:buFont typeface="Wingdings" panose="05000000000000000000" pitchFamily="2" charset="2"/>
                    <a:buChar char="n"/>
                  </a:pPr>
                  <a:r>
                    <a:rPr lang="zh-CN" altLang="en-US" sz="1800" dirty="0">
                      <a:gradFill>
                        <a:gsLst>
                          <a:gs pos="0">
                            <a:schemeClr val="accent1"/>
                          </a:gs>
                          <a:gs pos="99000">
                            <a:schemeClr val="accent1">
                              <a:lumMod val="60000"/>
                              <a:lumOff val="40000"/>
                            </a:schemeClr>
                          </a:gs>
                        </a:gsLst>
                        <a:lin ang="16200000" scaled="1"/>
                      </a:gradFill>
                      <a:latin typeface="OPPOSans H" panose="00020600040101010101" pitchFamily="18" charset="-122"/>
                      <a:ea typeface="OPPOSans H" panose="00020600040101010101" pitchFamily="18" charset="-122"/>
                      <a:cs typeface="OPPOSans H" panose="00020600040101010101" pitchFamily="18" charset="-122"/>
                    </a:rPr>
                    <a:t>销售成果分析</a:t>
                  </a:r>
                  <a:endParaRPr lang="zh-CN" altLang="en-US" sz="1800" dirty="0">
                    <a:gradFill>
                      <a:gsLst>
                        <a:gs pos="0">
                          <a:schemeClr val="accent1"/>
                        </a:gs>
                        <a:gs pos="99000">
                          <a:schemeClr val="accent1">
                            <a:lumMod val="60000"/>
                            <a:lumOff val="40000"/>
                          </a:schemeClr>
                        </a:gs>
                      </a:gsLst>
                      <a:lin ang="16200000" scaled="1"/>
                    </a:gradFill>
                    <a:latin typeface="OPPOSans H" panose="00020600040101010101" pitchFamily="18" charset="-122"/>
                    <a:ea typeface="OPPOSans H" panose="00020600040101010101" pitchFamily="18" charset="-122"/>
                    <a:cs typeface="OPPOSans H" panose="00020600040101010101" pitchFamily="18" charset="-122"/>
                  </a:endParaRPr>
                </a:p>
              </p:txBody>
            </p:sp>
          </p:grpSp>
          <p:grpSp>
            <p:nvGrpSpPr>
              <p:cNvPr id="126" name="组合 125"/>
              <p:cNvGrpSpPr/>
              <p:nvPr/>
            </p:nvGrpSpPr>
            <p:grpSpPr>
              <a:xfrm>
                <a:off x="527989" y="4953393"/>
                <a:ext cx="4654991" cy="1075614"/>
                <a:chOff x="553928" y="1248650"/>
                <a:chExt cx="4654991" cy="1075614"/>
              </a:xfrm>
            </p:grpSpPr>
            <p:sp>
              <p:nvSpPr>
                <p:cNvPr id="127" name="7 CuadroTexto"/>
                <p:cNvSpPr txBox="1"/>
                <p:nvPr/>
              </p:nvSpPr>
              <p:spPr>
                <a:xfrm>
                  <a:off x="553928" y="1577841"/>
                  <a:ext cx="4654991" cy="74642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>
                  <a:defPPr>
                    <a:defRPr lang="zh-CN"/>
                  </a:defPPr>
                  <a:lvl1pPr>
                    <a:lnSpc>
                      <a:spcPct val="120000"/>
                    </a:lnSpc>
                    <a:defRPr sz="1000">
                      <a:solidFill>
                        <a:schemeClr val="bg2"/>
                      </a:solidFill>
                      <a:latin typeface="OPPOSans R" panose="00020600040101010101" pitchFamily="18" charset="-122"/>
                      <a:ea typeface="OPPOSans R" panose="00020600040101010101" pitchFamily="18" charset="-122"/>
                      <a:cs typeface="OPPOSans R" panose="00020600040101010101" pitchFamily="18" charset="-122"/>
                    </a:defRPr>
                  </a:lvl1pPr>
                </a:lstStyle>
                <a:p>
                  <a:r>
                    <a:rPr lang="zh-CN" altLang="en-US" sz="1200" dirty="0">
                      <a:solidFill>
                        <a:schemeClr val="tx1">
                          <a:alpha val="80000"/>
                        </a:schemeClr>
                      </a:solidFill>
                      <a:latin typeface="OPPOSans R" panose="00020600040101010101" pitchFamily="18" charset="-122"/>
                      <a:ea typeface="OPPOSans R" panose="00020600040101010101" pitchFamily="18" charset="-122"/>
                      <a:cs typeface="OPPOSans R" panose="00020600040101010101" pitchFamily="18" charset="-122"/>
                    </a:rPr>
                    <a:t>通过精准的市场定位和有效的竞争策略，我们的市场占有率提升至</a:t>
                  </a:r>
                  <a:r>
                    <a:rPr lang="en-US" altLang="zh-CN" sz="1200" dirty="0">
                      <a:solidFill>
                        <a:schemeClr val="tx1">
                          <a:alpha val="80000"/>
                        </a:schemeClr>
                      </a:solidFill>
                      <a:latin typeface="OPPOSans R" panose="00020600040101010101" pitchFamily="18" charset="-122"/>
                      <a:ea typeface="OPPOSans R" panose="00020600040101010101" pitchFamily="18" charset="-122"/>
                      <a:cs typeface="OPPOSans R" panose="00020600040101010101" pitchFamily="18" charset="-122"/>
                    </a:rPr>
                    <a:t>34.5%</a:t>
                  </a:r>
                  <a:r>
                    <a:rPr lang="zh-CN" altLang="en-US" sz="1200" dirty="0">
                      <a:solidFill>
                        <a:schemeClr val="tx1">
                          <a:alpha val="80000"/>
                        </a:schemeClr>
                      </a:solidFill>
                      <a:latin typeface="OPPOSans R" panose="00020600040101010101" pitchFamily="18" charset="-122"/>
                      <a:ea typeface="OPPOSans R" panose="00020600040101010101" pitchFamily="18" charset="-122"/>
                      <a:cs typeface="OPPOSans R" panose="00020600040101010101" pitchFamily="18" charset="-122"/>
                    </a:rPr>
                    <a:t>。上半年的市场拓展活动增强了品牌影响力和客户忠诚度。</a:t>
                  </a:r>
                  <a:endParaRPr lang="zh-CN" altLang="en-US" sz="1200" dirty="0">
                    <a:solidFill>
                      <a:schemeClr val="tx1">
                        <a:alpha val="80000"/>
                      </a:schemeClr>
                    </a:solidFill>
                    <a:latin typeface="OPPOSans R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</a:endParaRPr>
                </a:p>
              </p:txBody>
            </p:sp>
            <p:sp>
              <p:nvSpPr>
                <p:cNvPr id="128" name="7 CuadroTexto"/>
                <p:cNvSpPr txBox="1"/>
                <p:nvPr/>
              </p:nvSpPr>
              <p:spPr>
                <a:xfrm>
                  <a:off x="570714" y="1248650"/>
                  <a:ext cx="3764666" cy="40863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>
                  <a:defPPr>
                    <a:defRPr lang="zh-CN"/>
                  </a:defPPr>
                  <a:lvl1pPr marL="285750" indent="-285750">
                    <a:lnSpc>
                      <a:spcPct val="120000"/>
                    </a:lnSpc>
                    <a:buFont typeface="Wingdings" panose="05000000000000000000" pitchFamily="2" charset="2"/>
                    <a:buChar char="n"/>
                    <a:defRPr>
                      <a:gradFill>
                        <a:gsLst>
                          <a:gs pos="0">
                            <a:schemeClr val="accent1"/>
                          </a:gs>
                          <a:gs pos="99000">
                            <a:schemeClr val="accent1">
                              <a:lumMod val="60000"/>
                              <a:lumOff val="40000"/>
                            </a:schemeClr>
                          </a:gs>
                        </a:gsLst>
                        <a:lin ang="16200000" scaled="1"/>
                      </a:gradFill>
                      <a:latin typeface="OPPOSans H" panose="00020600040101010101" pitchFamily="18" charset="-122"/>
                      <a:ea typeface="OPPOSans H" panose="00020600040101010101" pitchFamily="18" charset="-122"/>
                      <a:cs typeface="OPPOSans H" panose="00020600040101010101" pitchFamily="18" charset="-122"/>
                    </a:defRPr>
                  </a:lvl1pPr>
                </a:lstStyle>
                <a:p>
                  <a:r>
                    <a:rPr lang="zh-CN" altLang="en-US" dirty="0"/>
                    <a:t>市场占有率提升策略</a:t>
                  </a:r>
                  <a:endParaRPr lang="zh-CN" altLang="en-US" dirty="0"/>
                </a:p>
              </p:txBody>
            </p:sp>
          </p:grpSp>
        </p:grpSp>
        <p:grpSp>
          <p:nvGrpSpPr>
            <p:cNvPr id="148" name="组合 147"/>
            <p:cNvGrpSpPr/>
            <p:nvPr/>
          </p:nvGrpSpPr>
          <p:grpSpPr>
            <a:xfrm>
              <a:off x="7212081" y="1463897"/>
              <a:ext cx="4200181" cy="2190934"/>
              <a:chOff x="516297" y="3838073"/>
              <a:chExt cx="4666684" cy="2190934"/>
            </a:xfrm>
          </p:grpSpPr>
          <p:grpSp>
            <p:nvGrpSpPr>
              <p:cNvPr id="149" name="组合 148"/>
              <p:cNvGrpSpPr/>
              <p:nvPr/>
            </p:nvGrpSpPr>
            <p:grpSpPr>
              <a:xfrm>
                <a:off x="516297" y="3838073"/>
                <a:ext cx="4654991" cy="1075614"/>
                <a:chOff x="553928" y="1248650"/>
                <a:chExt cx="4654991" cy="1075614"/>
              </a:xfrm>
            </p:grpSpPr>
            <p:sp>
              <p:nvSpPr>
                <p:cNvPr id="153" name="7 CuadroTexto"/>
                <p:cNvSpPr txBox="1"/>
                <p:nvPr/>
              </p:nvSpPr>
              <p:spPr>
                <a:xfrm>
                  <a:off x="553928" y="1577841"/>
                  <a:ext cx="4654991" cy="74642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>
                  <a:defPPr>
                    <a:defRPr lang="zh-CN"/>
                  </a:defPPr>
                  <a:lvl1pPr>
                    <a:lnSpc>
                      <a:spcPct val="120000"/>
                    </a:lnSpc>
                    <a:defRPr sz="1000">
                      <a:solidFill>
                        <a:schemeClr val="bg2"/>
                      </a:solidFill>
                      <a:latin typeface="OPPOSans R" panose="00020600040101010101" pitchFamily="18" charset="-122"/>
                      <a:ea typeface="OPPOSans R" panose="00020600040101010101" pitchFamily="18" charset="-122"/>
                      <a:cs typeface="OPPOSans R" panose="00020600040101010101" pitchFamily="18" charset="-122"/>
                    </a:defRPr>
                  </a:lvl1pPr>
                </a:lstStyle>
                <a:p>
                  <a:pPr algn="r"/>
                  <a:r>
                    <a:rPr lang="zh-CN" altLang="en-US" sz="1200" dirty="0">
                      <a:solidFill>
                        <a:schemeClr val="tx1">
                          <a:alpha val="80000"/>
                        </a:schemeClr>
                      </a:solidFill>
                      <a:latin typeface="OPPOSans R" panose="00020600040101010101" pitchFamily="18" charset="-122"/>
                      <a:ea typeface="OPPOSans R" panose="00020600040101010101" pitchFamily="18" charset="-122"/>
                      <a:cs typeface="OPPOSans R" panose="00020600040101010101" pitchFamily="18" charset="-122"/>
                    </a:rPr>
                    <a:t>目标全域销售额</a:t>
                  </a:r>
                  <a:r>
                    <a:rPr lang="en-US" altLang="zh-CN" sz="1200">
                      <a:solidFill>
                        <a:schemeClr val="tx1">
                          <a:alpha val="80000"/>
                        </a:schemeClr>
                      </a:solidFill>
                      <a:latin typeface="OPPOSans R" panose="00020600040101010101" pitchFamily="18" charset="-122"/>
                      <a:ea typeface="OPPOSans R" panose="00020600040101010101" pitchFamily="18" charset="-122"/>
                      <a:cs typeface="OPPOSans R" panose="00020600040101010101" pitchFamily="18" charset="-122"/>
                    </a:rPr>
                    <a:t>925.7</a:t>
                  </a:r>
                  <a:r>
                    <a:rPr lang="zh-CN" altLang="en-US" sz="1200">
                      <a:solidFill>
                        <a:schemeClr val="tx1">
                          <a:alpha val="80000"/>
                        </a:schemeClr>
                      </a:solidFill>
                      <a:latin typeface="OPPOSans R" panose="00020600040101010101" pitchFamily="18" charset="-122"/>
                      <a:ea typeface="OPPOSans R" panose="00020600040101010101" pitchFamily="18" charset="-122"/>
                      <a:cs typeface="OPPOSans R" panose="00020600040101010101" pitchFamily="18" charset="-122"/>
                    </a:rPr>
                    <a:t>万</a:t>
                  </a:r>
                  <a:r>
                    <a:rPr lang="zh-CN" altLang="en-US" sz="1200" dirty="0">
                      <a:solidFill>
                        <a:schemeClr val="tx1">
                          <a:alpha val="80000"/>
                        </a:schemeClr>
                      </a:solidFill>
                      <a:latin typeface="OPPOSans R" panose="00020600040101010101" pitchFamily="18" charset="-122"/>
                      <a:ea typeface="OPPOSans R" panose="00020600040101010101" pitchFamily="18" charset="-122"/>
                      <a:cs typeface="OPPOSans R" panose="00020600040101010101" pitchFamily="18" charset="-122"/>
                    </a:rPr>
                    <a:t>，线上销量</a:t>
                  </a:r>
                  <a:r>
                    <a:rPr lang="en-US" altLang="zh-CN" sz="1200">
                      <a:solidFill>
                        <a:schemeClr val="tx1">
                          <a:alpha val="80000"/>
                        </a:schemeClr>
                      </a:solidFill>
                      <a:latin typeface="OPPOSans R" panose="00020600040101010101" pitchFamily="18" charset="-122"/>
                      <a:ea typeface="OPPOSans R" panose="00020600040101010101" pitchFamily="18" charset="-122"/>
                      <a:cs typeface="OPPOSans R" panose="00020600040101010101" pitchFamily="18" charset="-122"/>
                    </a:rPr>
                    <a:t>612.7</a:t>
                  </a:r>
                  <a:r>
                    <a:rPr lang="zh-CN" altLang="en-US" sz="1200">
                      <a:solidFill>
                        <a:schemeClr val="tx1">
                          <a:alpha val="80000"/>
                        </a:schemeClr>
                      </a:solidFill>
                      <a:latin typeface="OPPOSans R" panose="00020600040101010101" pitchFamily="18" charset="-122"/>
                      <a:ea typeface="OPPOSans R" panose="00020600040101010101" pitchFamily="18" charset="-122"/>
                      <a:cs typeface="OPPOSans R" panose="00020600040101010101" pitchFamily="18" charset="-122"/>
                    </a:rPr>
                    <a:t>万</a:t>
                  </a:r>
                  <a:r>
                    <a:rPr lang="zh-CN" altLang="en-US" sz="1200" dirty="0">
                      <a:solidFill>
                        <a:schemeClr val="tx1">
                          <a:alpha val="80000"/>
                        </a:schemeClr>
                      </a:solidFill>
                      <a:latin typeface="OPPOSans R" panose="00020600040101010101" pitchFamily="18" charset="-122"/>
                      <a:ea typeface="OPPOSans R" panose="00020600040101010101" pitchFamily="18" charset="-122"/>
                      <a:cs typeface="OPPOSans R" panose="00020600040101010101" pitchFamily="18" charset="-122"/>
                    </a:rPr>
                    <a:t>，市场占有率</a:t>
                  </a:r>
                  <a:r>
                    <a:rPr lang="en-US" altLang="zh-CN" sz="1200">
                      <a:solidFill>
                        <a:schemeClr val="tx1">
                          <a:alpha val="80000"/>
                        </a:schemeClr>
                      </a:solidFill>
                      <a:latin typeface="OPPOSans R" panose="00020600040101010101" pitchFamily="18" charset="-122"/>
                      <a:ea typeface="OPPOSans R" panose="00020600040101010101" pitchFamily="18" charset="-122"/>
                      <a:cs typeface="OPPOSans R" panose="00020600040101010101" pitchFamily="18" charset="-122"/>
                    </a:rPr>
                    <a:t>38.5%</a:t>
                  </a:r>
                  <a:r>
                    <a:rPr lang="zh-CN" altLang="en-US" sz="1200">
                      <a:solidFill>
                        <a:schemeClr val="tx1">
                          <a:alpha val="80000"/>
                        </a:schemeClr>
                      </a:solidFill>
                      <a:latin typeface="OPPOSans R" panose="00020600040101010101" pitchFamily="18" charset="-122"/>
                      <a:ea typeface="OPPOSans R" panose="00020600040101010101" pitchFamily="18" charset="-122"/>
                      <a:cs typeface="OPPOSans R" panose="00020600040101010101" pitchFamily="18" charset="-122"/>
                    </a:rPr>
                    <a:t>。</a:t>
                  </a:r>
                  <a:r>
                    <a:rPr lang="zh-CN" altLang="en-US" sz="1200" dirty="0">
                      <a:solidFill>
                        <a:schemeClr val="tx1">
                          <a:alpha val="80000"/>
                        </a:schemeClr>
                      </a:solidFill>
                      <a:latin typeface="OPPOSans R" panose="00020600040101010101" pitchFamily="18" charset="-122"/>
                      <a:ea typeface="OPPOSans R" panose="00020600040101010101" pitchFamily="18" charset="-122"/>
                      <a:cs typeface="OPPOSans R" panose="00020600040101010101" pitchFamily="18" charset="-122"/>
                    </a:rPr>
                    <a:t>下半年将通过产品创新和市场扩张策略，推动销售业绩的持续增长</a:t>
                  </a:r>
                  <a:endParaRPr lang="zh-CN" altLang="en-US" sz="1200" dirty="0">
                    <a:solidFill>
                      <a:schemeClr val="tx1">
                        <a:alpha val="80000"/>
                      </a:schemeClr>
                    </a:solidFill>
                    <a:latin typeface="OPPOSans R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</a:endParaRPr>
                </a:p>
              </p:txBody>
            </p:sp>
            <p:sp>
              <p:nvSpPr>
                <p:cNvPr id="154" name="7 CuadroTexto"/>
                <p:cNvSpPr txBox="1"/>
                <p:nvPr/>
              </p:nvSpPr>
              <p:spPr>
                <a:xfrm>
                  <a:off x="3144661" y="1248650"/>
                  <a:ext cx="2064258" cy="40863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>
                  <a:defPPr>
                    <a:defRPr lang="zh-CN"/>
                  </a:defPPr>
                  <a:lvl1pPr>
                    <a:lnSpc>
                      <a:spcPct val="120000"/>
                    </a:lnSpc>
                    <a:defRPr sz="1000">
                      <a:solidFill>
                        <a:schemeClr val="bg2"/>
                      </a:solidFill>
                      <a:latin typeface="OPPOSans R" panose="00020600040101010101" pitchFamily="18" charset="-122"/>
                      <a:ea typeface="OPPOSans R" panose="00020600040101010101" pitchFamily="18" charset="-122"/>
                      <a:cs typeface="OPPOSans R" panose="00020600040101010101" pitchFamily="18" charset="-122"/>
                    </a:defRPr>
                  </a:lvl1pPr>
                </a:lstStyle>
                <a:p>
                  <a:pPr marL="285750" indent="-285750" algn="r">
                    <a:buFont typeface="Wingdings" panose="05000000000000000000" pitchFamily="2" charset="2"/>
                    <a:buChar char="n"/>
                  </a:pPr>
                  <a:r>
                    <a:rPr lang="zh-CN" altLang="en-US" sz="1800" dirty="0">
                      <a:gradFill>
                        <a:gsLst>
                          <a:gs pos="0">
                            <a:schemeClr val="accent3"/>
                          </a:gs>
                          <a:gs pos="99000">
                            <a:schemeClr val="accent3">
                              <a:lumMod val="60000"/>
                              <a:lumOff val="40000"/>
                            </a:schemeClr>
                          </a:gs>
                        </a:gsLst>
                        <a:lin ang="16200000" scaled="1"/>
                      </a:gradFill>
                      <a:latin typeface="OPPOSans H" panose="00020600040101010101" pitchFamily="18" charset="-122"/>
                      <a:ea typeface="OPPOSans H" panose="00020600040101010101" pitchFamily="18" charset="-122"/>
                      <a:cs typeface="OPPOSans H" panose="00020600040101010101" pitchFamily="18" charset="-122"/>
                    </a:rPr>
                    <a:t>销售增长蓝图</a:t>
                  </a:r>
                  <a:endParaRPr lang="zh-CN" altLang="en-US" sz="1800" dirty="0">
                    <a:gradFill>
                      <a:gsLst>
                        <a:gs pos="0">
                          <a:schemeClr val="accent3"/>
                        </a:gs>
                        <a:gs pos="99000">
                          <a:schemeClr val="accent3">
                            <a:lumMod val="60000"/>
                            <a:lumOff val="40000"/>
                          </a:schemeClr>
                        </a:gs>
                      </a:gsLst>
                      <a:lin ang="16200000" scaled="1"/>
                    </a:gradFill>
                    <a:latin typeface="OPPOSans H" panose="00020600040101010101" pitchFamily="18" charset="-122"/>
                    <a:ea typeface="OPPOSans H" panose="00020600040101010101" pitchFamily="18" charset="-122"/>
                    <a:cs typeface="OPPOSans H" panose="00020600040101010101" pitchFamily="18" charset="-122"/>
                  </a:endParaRPr>
                </a:p>
              </p:txBody>
            </p:sp>
          </p:grpSp>
          <p:grpSp>
            <p:nvGrpSpPr>
              <p:cNvPr id="150" name="组合 149"/>
              <p:cNvGrpSpPr/>
              <p:nvPr/>
            </p:nvGrpSpPr>
            <p:grpSpPr>
              <a:xfrm>
                <a:off x="527989" y="4953393"/>
                <a:ext cx="4654992" cy="1075614"/>
                <a:chOff x="553928" y="1248650"/>
                <a:chExt cx="4654992" cy="1075614"/>
              </a:xfrm>
            </p:grpSpPr>
            <p:sp>
              <p:nvSpPr>
                <p:cNvPr id="151" name="7 CuadroTexto"/>
                <p:cNvSpPr txBox="1"/>
                <p:nvPr/>
              </p:nvSpPr>
              <p:spPr>
                <a:xfrm>
                  <a:off x="553928" y="1577841"/>
                  <a:ext cx="4654991" cy="74642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>
                  <a:defPPr>
                    <a:defRPr lang="zh-CN"/>
                  </a:defPPr>
                  <a:lvl1pPr>
                    <a:lnSpc>
                      <a:spcPct val="120000"/>
                    </a:lnSpc>
                    <a:defRPr sz="1000">
                      <a:solidFill>
                        <a:schemeClr val="bg2"/>
                      </a:solidFill>
                      <a:latin typeface="OPPOSans R" panose="00020600040101010101" pitchFamily="18" charset="-122"/>
                      <a:ea typeface="OPPOSans R" panose="00020600040101010101" pitchFamily="18" charset="-122"/>
                      <a:cs typeface="OPPOSans R" panose="00020600040101010101" pitchFamily="18" charset="-122"/>
                    </a:defRPr>
                  </a:lvl1pPr>
                </a:lstStyle>
                <a:p>
                  <a:pPr algn="r"/>
                  <a:r>
                    <a:rPr lang="zh-CN" altLang="en-US" sz="1200" dirty="0">
                      <a:solidFill>
                        <a:schemeClr val="tx1">
                          <a:alpha val="80000"/>
                        </a:schemeClr>
                      </a:solidFill>
                      <a:latin typeface="OPPOSans R" panose="00020600040101010101" pitchFamily="18" charset="-122"/>
                      <a:ea typeface="OPPOSans R" panose="00020600040101010101" pitchFamily="18" charset="-122"/>
                      <a:cs typeface="OPPOSans R" panose="00020600040101010101" pitchFamily="18" charset="-122"/>
                    </a:rPr>
                    <a:t>计划通过增强产品竞争力和优化客户服务，提高市场占有率至</a:t>
                  </a:r>
                  <a:r>
                    <a:rPr lang="en-US" altLang="zh-CN" sz="1200">
                      <a:solidFill>
                        <a:schemeClr val="tx1">
                          <a:alpha val="80000"/>
                        </a:schemeClr>
                      </a:solidFill>
                      <a:latin typeface="OPPOSans R" panose="00020600040101010101" pitchFamily="18" charset="-122"/>
                      <a:ea typeface="OPPOSans R" panose="00020600040101010101" pitchFamily="18" charset="-122"/>
                      <a:cs typeface="OPPOSans R" panose="00020600040101010101" pitchFamily="18" charset="-122"/>
                    </a:rPr>
                    <a:t>38.5%</a:t>
                  </a:r>
                  <a:r>
                    <a:rPr lang="zh-CN" altLang="en-US" sz="1200">
                      <a:solidFill>
                        <a:schemeClr val="tx1">
                          <a:alpha val="80000"/>
                        </a:schemeClr>
                      </a:solidFill>
                      <a:latin typeface="OPPOSans R" panose="00020600040101010101" pitchFamily="18" charset="-122"/>
                      <a:ea typeface="OPPOSans R" panose="00020600040101010101" pitchFamily="18" charset="-122"/>
                      <a:cs typeface="OPPOSans R" panose="00020600040101010101" pitchFamily="18" charset="-122"/>
                    </a:rPr>
                    <a:t>。</a:t>
                  </a:r>
                  <a:r>
                    <a:rPr lang="zh-CN" altLang="en-US" sz="1200" dirty="0">
                      <a:solidFill>
                        <a:schemeClr val="tx1">
                          <a:alpha val="80000"/>
                        </a:schemeClr>
                      </a:solidFill>
                      <a:latin typeface="OPPOSans R" panose="00020600040101010101" pitchFamily="18" charset="-122"/>
                      <a:ea typeface="OPPOSans R" panose="00020600040101010101" pitchFamily="18" charset="-122"/>
                      <a:cs typeface="OPPOSans R" panose="00020600040101010101" pitchFamily="18" charset="-122"/>
                    </a:rPr>
                    <a:t>下半年将重点发展新兴市场，同时巩固现有市场地位</a:t>
                  </a:r>
                  <a:endParaRPr lang="zh-CN" altLang="en-US" sz="1200" dirty="0">
                    <a:solidFill>
                      <a:schemeClr val="tx1">
                        <a:alpha val="80000"/>
                      </a:schemeClr>
                    </a:solidFill>
                    <a:latin typeface="OPPOSans R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</a:endParaRPr>
                </a:p>
              </p:txBody>
            </p:sp>
            <p:sp>
              <p:nvSpPr>
                <p:cNvPr id="152" name="7 CuadroTexto"/>
                <p:cNvSpPr txBox="1"/>
                <p:nvPr/>
              </p:nvSpPr>
              <p:spPr>
                <a:xfrm>
                  <a:off x="2161547" y="1248650"/>
                  <a:ext cx="3047373" cy="40863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>
                  <a:defPPr>
                    <a:defRPr lang="zh-CN"/>
                  </a:defPPr>
                  <a:lvl1pPr marL="285750" indent="-285750" algn="r">
                    <a:lnSpc>
                      <a:spcPct val="120000"/>
                    </a:lnSpc>
                    <a:buFont typeface="Wingdings" panose="05000000000000000000" pitchFamily="2" charset="2"/>
                    <a:buChar char="n"/>
                    <a:defRPr>
                      <a:gradFill>
                        <a:gsLst>
                          <a:gs pos="0">
                            <a:schemeClr val="accent3"/>
                          </a:gs>
                          <a:gs pos="99000">
                            <a:schemeClr val="accent3">
                              <a:lumMod val="60000"/>
                              <a:lumOff val="40000"/>
                            </a:schemeClr>
                          </a:gs>
                        </a:gsLst>
                        <a:lin ang="16200000" scaled="1"/>
                      </a:gradFill>
                      <a:latin typeface="OPPOSans H" panose="00020600040101010101" pitchFamily="18" charset="-122"/>
                      <a:ea typeface="OPPOSans H" panose="00020600040101010101" pitchFamily="18" charset="-122"/>
                      <a:cs typeface="OPPOSans H" panose="00020600040101010101" pitchFamily="18" charset="-122"/>
                    </a:defRPr>
                  </a:lvl1pPr>
                </a:lstStyle>
                <a:p>
                  <a:r>
                    <a:rPr lang="zh-CN" altLang="en-US" dirty="0"/>
                    <a:t>市场竞争力强化计划</a:t>
                  </a:r>
                  <a:endParaRPr lang="zh-CN" altLang="en-US" dirty="0"/>
                </a:p>
              </p:txBody>
            </p:sp>
          </p:grpSp>
        </p:grpSp>
      </p:grpSp>
      <p:grpSp>
        <p:nvGrpSpPr>
          <p:cNvPr id="17" name="组合 16"/>
          <p:cNvGrpSpPr/>
          <p:nvPr/>
        </p:nvGrpSpPr>
        <p:grpSpPr>
          <a:xfrm>
            <a:off x="616301" y="2659900"/>
            <a:ext cx="5297502" cy="1002168"/>
            <a:chOff x="616301" y="2659900"/>
            <a:chExt cx="5297502" cy="1002168"/>
          </a:xfrm>
        </p:grpSpPr>
        <p:grpSp>
          <p:nvGrpSpPr>
            <p:cNvPr id="14" name="组合 13"/>
            <p:cNvGrpSpPr/>
            <p:nvPr/>
          </p:nvGrpSpPr>
          <p:grpSpPr>
            <a:xfrm>
              <a:off x="616301" y="2659900"/>
              <a:ext cx="1799955" cy="1002168"/>
              <a:chOff x="500532" y="2659900"/>
              <a:chExt cx="1799955" cy="1002168"/>
            </a:xfrm>
          </p:grpSpPr>
          <p:sp>
            <p:nvSpPr>
              <p:cNvPr id="4" name="矩形: 圆角 3"/>
              <p:cNvSpPr/>
              <p:nvPr/>
            </p:nvSpPr>
            <p:spPr>
              <a:xfrm>
                <a:off x="500532" y="2659900"/>
                <a:ext cx="1669158" cy="1002168"/>
              </a:xfrm>
              <a:prstGeom prst="roundRect">
                <a:avLst>
                  <a:gd name="adj" fmla="val 17518"/>
                </a:avLst>
              </a:prstGeom>
              <a:gradFill>
                <a:gsLst>
                  <a:gs pos="0">
                    <a:schemeClr val="accent1">
                      <a:lumMod val="75000"/>
                    </a:schemeClr>
                  </a:gs>
                  <a:gs pos="99000">
                    <a:schemeClr val="accent1"/>
                  </a:gs>
                </a:gsLst>
                <a:lin ang="16200000" scaled="1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sp>
            <p:nvSpPr>
              <p:cNvPr id="6" name="文本框 5"/>
              <p:cNvSpPr txBox="1"/>
              <p:nvPr/>
            </p:nvSpPr>
            <p:spPr>
              <a:xfrm>
                <a:off x="597659" y="3075955"/>
                <a:ext cx="154602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800" dirty="0">
                    <a:solidFill>
                      <a:srgbClr val="FFFFFF"/>
                    </a:solidFill>
                    <a:latin typeface="OPPOSans M" panose="00020600040101010101" pitchFamily="18" charset="-122"/>
                    <a:ea typeface="OPPOSans M" panose="00020600040101010101" pitchFamily="18" charset="-122"/>
                    <a:cs typeface="OPPOSans M" panose="00020600040101010101" pitchFamily="18" charset="-122"/>
                  </a:rPr>
                  <a:t>725.7</a:t>
                </a:r>
                <a:r>
                  <a:rPr kumimoji="1" lang="zh-CN" altLang="en-US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OPPOSans M" panose="00020600040101010101" pitchFamily="18" charset="-122"/>
                    <a:ea typeface="OPPOSans M" panose="00020600040101010101" pitchFamily="18" charset="-122"/>
                    <a:cs typeface="OPPOSans M" panose="00020600040101010101" pitchFamily="18" charset="-122"/>
                  </a:rPr>
                  <a:t>万</a:t>
                </a:r>
                <a:endParaRPr kumimoji="1" lang="zh-CN" alt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endParaRPr>
              </a:p>
            </p:txBody>
          </p:sp>
          <p:sp>
            <p:nvSpPr>
              <p:cNvPr id="7" name="文本框 6"/>
              <p:cNvSpPr txBox="1"/>
              <p:nvPr/>
            </p:nvSpPr>
            <p:spPr>
              <a:xfrm>
                <a:off x="622095" y="2785081"/>
                <a:ext cx="167839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dirty="0">
                    <a:solidFill>
                      <a:srgbClr val="FFFFFF"/>
                    </a:solidFill>
                    <a:latin typeface="OPPOSans M" panose="00020600040101010101" pitchFamily="18" charset="-122"/>
                    <a:ea typeface="OPPOSans M" panose="00020600040101010101" pitchFamily="18" charset="-122"/>
                    <a:cs typeface="OPPOSans M" panose="00020600040101010101" pitchFamily="18" charset="-122"/>
                  </a:rPr>
                  <a:t>全域销售额</a:t>
                </a:r>
                <a:endParaRPr kumimoji="1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endParaRPr>
              </a:p>
            </p:txBody>
          </p:sp>
        </p:grpSp>
        <p:grpSp>
          <p:nvGrpSpPr>
            <p:cNvPr id="15" name="组合 14"/>
            <p:cNvGrpSpPr/>
            <p:nvPr/>
          </p:nvGrpSpPr>
          <p:grpSpPr>
            <a:xfrm>
              <a:off x="2365075" y="2659900"/>
              <a:ext cx="1799955" cy="1002168"/>
              <a:chOff x="2379911" y="2659900"/>
              <a:chExt cx="1799955" cy="1002168"/>
            </a:xfrm>
          </p:grpSpPr>
          <p:sp>
            <p:nvSpPr>
              <p:cNvPr id="8" name="矩形: 圆角 7"/>
              <p:cNvSpPr/>
              <p:nvPr/>
            </p:nvSpPr>
            <p:spPr>
              <a:xfrm>
                <a:off x="2379911" y="2659900"/>
                <a:ext cx="1669158" cy="1002168"/>
              </a:xfrm>
              <a:prstGeom prst="roundRect">
                <a:avLst>
                  <a:gd name="adj" fmla="val 17518"/>
                </a:avLst>
              </a:prstGeom>
              <a:gradFill>
                <a:gsLst>
                  <a:gs pos="0">
                    <a:schemeClr val="accent1"/>
                  </a:gs>
                  <a:gs pos="99000">
                    <a:schemeClr val="accent1">
                      <a:lumMod val="60000"/>
                      <a:lumOff val="40000"/>
                    </a:schemeClr>
                  </a:gs>
                </a:gsLst>
                <a:lin ang="16200000" scaled="1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sp>
            <p:nvSpPr>
              <p:cNvPr id="9" name="文本框 8"/>
              <p:cNvSpPr txBox="1"/>
              <p:nvPr/>
            </p:nvSpPr>
            <p:spPr>
              <a:xfrm>
                <a:off x="2477038" y="3075955"/>
                <a:ext cx="154602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800" dirty="0">
                    <a:solidFill>
                      <a:srgbClr val="FFFFFF"/>
                    </a:solidFill>
                    <a:latin typeface="OPPOSans M" panose="00020600040101010101" pitchFamily="18" charset="-122"/>
                    <a:ea typeface="OPPOSans M" panose="00020600040101010101" pitchFamily="18" charset="-122"/>
                    <a:cs typeface="OPPOSans M" panose="00020600040101010101" pitchFamily="18" charset="-122"/>
                  </a:rPr>
                  <a:t>415.7</a:t>
                </a:r>
                <a:r>
                  <a:rPr kumimoji="1" lang="zh-CN" altLang="en-US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OPPOSans M" panose="00020600040101010101" pitchFamily="18" charset="-122"/>
                    <a:ea typeface="OPPOSans M" panose="00020600040101010101" pitchFamily="18" charset="-122"/>
                    <a:cs typeface="OPPOSans M" panose="00020600040101010101" pitchFamily="18" charset="-122"/>
                  </a:rPr>
                  <a:t>万</a:t>
                </a:r>
                <a:endParaRPr kumimoji="1" lang="zh-CN" alt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endParaRPr>
              </a:p>
            </p:txBody>
          </p:sp>
          <p:sp>
            <p:nvSpPr>
              <p:cNvPr id="10" name="文本框 9"/>
              <p:cNvSpPr txBox="1"/>
              <p:nvPr/>
            </p:nvSpPr>
            <p:spPr>
              <a:xfrm>
                <a:off x="2501474" y="2785081"/>
                <a:ext cx="167839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OPPOSans M" panose="00020600040101010101" pitchFamily="18" charset="-122"/>
                    <a:ea typeface="OPPOSans M" panose="00020600040101010101" pitchFamily="18" charset="-122"/>
                    <a:cs typeface="OPPOSans M" panose="00020600040101010101" pitchFamily="18" charset="-122"/>
                  </a:rPr>
                  <a:t>线上总销量</a:t>
                </a:r>
                <a:endParaRPr kumimoji="1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endParaRPr>
              </a:p>
            </p:txBody>
          </p:sp>
        </p:grpSp>
        <p:grpSp>
          <p:nvGrpSpPr>
            <p:cNvPr id="16" name="组合 15"/>
            <p:cNvGrpSpPr/>
            <p:nvPr/>
          </p:nvGrpSpPr>
          <p:grpSpPr>
            <a:xfrm>
              <a:off x="4113848" y="2659900"/>
              <a:ext cx="1799955" cy="1002168"/>
              <a:chOff x="4259290" y="2659900"/>
              <a:chExt cx="1799955" cy="1002168"/>
            </a:xfrm>
          </p:grpSpPr>
          <p:sp>
            <p:nvSpPr>
              <p:cNvPr id="11" name="矩形: 圆角 10"/>
              <p:cNvSpPr/>
              <p:nvPr/>
            </p:nvSpPr>
            <p:spPr>
              <a:xfrm>
                <a:off x="4259290" y="2659900"/>
                <a:ext cx="1669158" cy="1002168"/>
              </a:xfrm>
              <a:prstGeom prst="roundRect">
                <a:avLst>
                  <a:gd name="adj" fmla="val 17518"/>
                </a:avLst>
              </a:prstGeom>
              <a:gradFill>
                <a:gsLst>
                  <a:gs pos="0">
                    <a:schemeClr val="accent1"/>
                  </a:gs>
                  <a:gs pos="99000">
                    <a:schemeClr val="accent1">
                      <a:lumMod val="60000"/>
                      <a:lumOff val="40000"/>
                    </a:schemeClr>
                  </a:gs>
                </a:gsLst>
                <a:lin ang="16200000" scaled="1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2" name="文本框 11"/>
              <p:cNvSpPr txBox="1"/>
              <p:nvPr/>
            </p:nvSpPr>
            <p:spPr>
              <a:xfrm>
                <a:off x="4356417" y="3075955"/>
                <a:ext cx="154602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800" dirty="0">
                    <a:solidFill>
                      <a:srgbClr val="FFFFFF"/>
                    </a:solidFill>
                    <a:latin typeface="OPPOSans M" panose="00020600040101010101" pitchFamily="18" charset="-122"/>
                    <a:ea typeface="OPPOSans M" panose="00020600040101010101" pitchFamily="18" charset="-122"/>
                    <a:cs typeface="OPPOSans M" panose="00020600040101010101" pitchFamily="18" charset="-122"/>
                  </a:rPr>
                  <a:t>34.5%</a:t>
                </a:r>
                <a:endParaRPr kumimoji="1" lang="zh-CN" alt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endParaRPr>
              </a:p>
            </p:txBody>
          </p:sp>
          <p:sp>
            <p:nvSpPr>
              <p:cNvPr id="13" name="文本框 12"/>
              <p:cNvSpPr txBox="1"/>
              <p:nvPr/>
            </p:nvSpPr>
            <p:spPr>
              <a:xfrm>
                <a:off x="4380853" y="2785081"/>
                <a:ext cx="167839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OPPOSans M" panose="00020600040101010101" pitchFamily="18" charset="-122"/>
                    <a:ea typeface="OPPOSans M" panose="00020600040101010101" pitchFamily="18" charset="-122"/>
                    <a:cs typeface="OPPOSans M" panose="00020600040101010101" pitchFamily="18" charset="-122"/>
                  </a:rPr>
                  <a:t>市场占有率</a:t>
                </a:r>
                <a:endParaRPr kumimoji="1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endParaRPr>
              </a:p>
            </p:txBody>
          </p:sp>
        </p:grpSp>
      </p:grpSp>
      <p:grpSp>
        <p:nvGrpSpPr>
          <p:cNvPr id="68" name="组合 67"/>
          <p:cNvGrpSpPr/>
          <p:nvPr/>
        </p:nvGrpSpPr>
        <p:grpSpPr>
          <a:xfrm>
            <a:off x="6347775" y="3974412"/>
            <a:ext cx="5302198" cy="1002168"/>
            <a:chOff x="6347775" y="3974412"/>
            <a:chExt cx="5302198" cy="1002168"/>
          </a:xfrm>
        </p:grpSpPr>
        <p:grpSp>
          <p:nvGrpSpPr>
            <p:cNvPr id="56" name="组合 55"/>
            <p:cNvGrpSpPr/>
            <p:nvPr/>
          </p:nvGrpSpPr>
          <p:grpSpPr>
            <a:xfrm>
              <a:off x="6347775" y="3974412"/>
              <a:ext cx="1799955" cy="1002168"/>
              <a:chOff x="6236095" y="3974412"/>
              <a:chExt cx="1799955" cy="1002168"/>
            </a:xfrm>
          </p:grpSpPr>
          <p:sp>
            <p:nvSpPr>
              <p:cNvPr id="57" name="矩形: 圆角 56"/>
              <p:cNvSpPr/>
              <p:nvPr/>
            </p:nvSpPr>
            <p:spPr>
              <a:xfrm>
                <a:off x="6236095" y="3974412"/>
                <a:ext cx="1669158" cy="1002168"/>
              </a:xfrm>
              <a:prstGeom prst="roundRect">
                <a:avLst>
                  <a:gd name="adj" fmla="val 17518"/>
                </a:avLst>
              </a:prstGeom>
              <a:gradFill>
                <a:gsLst>
                  <a:gs pos="0">
                    <a:schemeClr val="accent3">
                      <a:lumMod val="75000"/>
                    </a:schemeClr>
                  </a:gs>
                  <a:gs pos="99000">
                    <a:schemeClr val="accent3"/>
                  </a:gs>
                </a:gsLst>
                <a:lin ang="16200000" scaled="1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58" name="文本框 57"/>
              <p:cNvSpPr txBox="1"/>
              <p:nvPr/>
            </p:nvSpPr>
            <p:spPr>
              <a:xfrm>
                <a:off x="6333222" y="4390467"/>
                <a:ext cx="154602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800">
                    <a:solidFill>
                      <a:srgbClr val="FFFFFF"/>
                    </a:solidFill>
                    <a:latin typeface="OPPOSans M" panose="00020600040101010101" pitchFamily="18" charset="-122"/>
                    <a:ea typeface="OPPOSans M" panose="00020600040101010101" pitchFamily="18" charset="-122"/>
                    <a:cs typeface="OPPOSans M" panose="00020600040101010101" pitchFamily="18" charset="-122"/>
                  </a:rPr>
                  <a:t>925.7</a:t>
                </a:r>
                <a:r>
                  <a:rPr kumimoji="1" lang="zh-CN" altLang="en-US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OPPOSans M" panose="00020600040101010101" pitchFamily="18" charset="-122"/>
                    <a:ea typeface="OPPOSans M" panose="00020600040101010101" pitchFamily="18" charset="-122"/>
                    <a:cs typeface="OPPOSans M" panose="00020600040101010101" pitchFamily="18" charset="-122"/>
                  </a:rPr>
                  <a:t>万</a:t>
                </a:r>
                <a:endParaRPr kumimoji="1" lang="zh-CN" alt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endParaRPr>
              </a:p>
            </p:txBody>
          </p:sp>
          <p:sp>
            <p:nvSpPr>
              <p:cNvPr id="59" name="文本框 58"/>
              <p:cNvSpPr txBox="1"/>
              <p:nvPr/>
            </p:nvSpPr>
            <p:spPr>
              <a:xfrm>
                <a:off x="6357658" y="4099593"/>
                <a:ext cx="167839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dirty="0">
                    <a:solidFill>
                      <a:srgbClr val="FFFFFF"/>
                    </a:solidFill>
                    <a:latin typeface="OPPOSans M" panose="00020600040101010101" pitchFamily="18" charset="-122"/>
                    <a:ea typeface="OPPOSans M" panose="00020600040101010101" pitchFamily="18" charset="-122"/>
                    <a:cs typeface="OPPOSans M" panose="00020600040101010101" pitchFamily="18" charset="-122"/>
                  </a:rPr>
                  <a:t>全域销售额</a:t>
                </a:r>
                <a:endParaRPr kumimoji="1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endParaRPr>
              </a:p>
            </p:txBody>
          </p:sp>
        </p:grpSp>
        <p:grpSp>
          <p:nvGrpSpPr>
            <p:cNvPr id="60" name="组合 59"/>
            <p:cNvGrpSpPr/>
            <p:nvPr/>
          </p:nvGrpSpPr>
          <p:grpSpPr>
            <a:xfrm>
              <a:off x="8098896" y="3974412"/>
              <a:ext cx="1799955" cy="1002168"/>
              <a:chOff x="8115474" y="3974412"/>
              <a:chExt cx="1799955" cy="1002168"/>
            </a:xfrm>
          </p:grpSpPr>
          <p:sp>
            <p:nvSpPr>
              <p:cNvPr id="61" name="矩形: 圆角 60"/>
              <p:cNvSpPr/>
              <p:nvPr/>
            </p:nvSpPr>
            <p:spPr>
              <a:xfrm>
                <a:off x="8115474" y="3974412"/>
                <a:ext cx="1669158" cy="1002168"/>
              </a:xfrm>
              <a:prstGeom prst="roundRect">
                <a:avLst>
                  <a:gd name="adj" fmla="val 17518"/>
                </a:avLst>
              </a:prstGeom>
              <a:gradFill>
                <a:gsLst>
                  <a:gs pos="0">
                    <a:schemeClr val="accent3"/>
                  </a:gs>
                  <a:gs pos="99000">
                    <a:schemeClr val="accent3">
                      <a:lumMod val="60000"/>
                      <a:lumOff val="40000"/>
                    </a:schemeClr>
                  </a:gs>
                </a:gsLst>
                <a:lin ang="16200000" scaled="1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sp>
            <p:nvSpPr>
              <p:cNvPr id="62" name="文本框 61"/>
              <p:cNvSpPr txBox="1"/>
              <p:nvPr/>
            </p:nvSpPr>
            <p:spPr>
              <a:xfrm>
                <a:off x="8212601" y="4390467"/>
                <a:ext cx="154602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800">
                    <a:solidFill>
                      <a:srgbClr val="FFFFFF"/>
                    </a:solidFill>
                    <a:latin typeface="OPPOSans M" panose="00020600040101010101" pitchFamily="18" charset="-122"/>
                    <a:ea typeface="OPPOSans M" panose="00020600040101010101" pitchFamily="18" charset="-122"/>
                    <a:cs typeface="OPPOSans M" panose="00020600040101010101" pitchFamily="18" charset="-122"/>
                  </a:rPr>
                  <a:t>612.7</a:t>
                </a:r>
                <a:r>
                  <a:rPr kumimoji="1" lang="zh-CN" altLang="en-US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OPPOSans M" panose="00020600040101010101" pitchFamily="18" charset="-122"/>
                    <a:ea typeface="OPPOSans M" panose="00020600040101010101" pitchFamily="18" charset="-122"/>
                    <a:cs typeface="OPPOSans M" panose="00020600040101010101" pitchFamily="18" charset="-122"/>
                  </a:rPr>
                  <a:t>万</a:t>
                </a:r>
                <a:endParaRPr kumimoji="1" lang="zh-CN" alt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endParaRPr>
              </a:p>
            </p:txBody>
          </p:sp>
          <p:sp>
            <p:nvSpPr>
              <p:cNvPr id="63" name="文本框 62"/>
              <p:cNvSpPr txBox="1"/>
              <p:nvPr/>
            </p:nvSpPr>
            <p:spPr>
              <a:xfrm>
                <a:off x="8237037" y="4099593"/>
                <a:ext cx="167839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OPPOSans M" panose="00020600040101010101" pitchFamily="18" charset="-122"/>
                    <a:ea typeface="OPPOSans M" panose="00020600040101010101" pitchFamily="18" charset="-122"/>
                    <a:cs typeface="OPPOSans M" panose="00020600040101010101" pitchFamily="18" charset="-122"/>
                  </a:rPr>
                  <a:t>线上总销量</a:t>
                </a:r>
                <a:endParaRPr kumimoji="1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endParaRPr>
              </a:p>
            </p:txBody>
          </p:sp>
        </p:grpSp>
        <p:grpSp>
          <p:nvGrpSpPr>
            <p:cNvPr id="64" name="组合 63"/>
            <p:cNvGrpSpPr/>
            <p:nvPr/>
          </p:nvGrpSpPr>
          <p:grpSpPr>
            <a:xfrm>
              <a:off x="9850018" y="3974412"/>
              <a:ext cx="1799955" cy="1002168"/>
              <a:chOff x="9994853" y="3974412"/>
              <a:chExt cx="1799955" cy="1002168"/>
            </a:xfrm>
          </p:grpSpPr>
          <p:sp>
            <p:nvSpPr>
              <p:cNvPr id="65" name="矩形: 圆角 64"/>
              <p:cNvSpPr/>
              <p:nvPr/>
            </p:nvSpPr>
            <p:spPr>
              <a:xfrm>
                <a:off x="9994853" y="3974412"/>
                <a:ext cx="1669158" cy="1002168"/>
              </a:xfrm>
              <a:prstGeom prst="roundRect">
                <a:avLst>
                  <a:gd name="adj" fmla="val 17518"/>
                </a:avLst>
              </a:prstGeom>
              <a:gradFill>
                <a:gsLst>
                  <a:gs pos="0">
                    <a:schemeClr val="accent3"/>
                  </a:gs>
                  <a:gs pos="99000">
                    <a:schemeClr val="accent3">
                      <a:lumMod val="60000"/>
                      <a:lumOff val="40000"/>
                    </a:schemeClr>
                  </a:gs>
                </a:gsLst>
                <a:lin ang="16200000" scaled="1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66" name="文本框 65"/>
              <p:cNvSpPr txBox="1"/>
              <p:nvPr/>
            </p:nvSpPr>
            <p:spPr>
              <a:xfrm>
                <a:off x="10091980" y="4390467"/>
                <a:ext cx="154602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800">
                    <a:solidFill>
                      <a:srgbClr val="FFFFFF"/>
                    </a:solidFill>
                    <a:latin typeface="OPPOSans M" panose="00020600040101010101" pitchFamily="18" charset="-122"/>
                    <a:ea typeface="OPPOSans M" panose="00020600040101010101" pitchFamily="18" charset="-122"/>
                    <a:cs typeface="OPPOSans M" panose="00020600040101010101" pitchFamily="18" charset="-122"/>
                  </a:rPr>
                  <a:t>38.5%</a:t>
                </a:r>
                <a:endParaRPr kumimoji="1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endParaRPr>
              </a:p>
            </p:txBody>
          </p:sp>
          <p:sp>
            <p:nvSpPr>
              <p:cNvPr id="67" name="文本框 66"/>
              <p:cNvSpPr txBox="1"/>
              <p:nvPr/>
            </p:nvSpPr>
            <p:spPr>
              <a:xfrm>
                <a:off x="10116416" y="4099593"/>
                <a:ext cx="167839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OPPOSans M" panose="00020600040101010101" pitchFamily="18" charset="-122"/>
                    <a:ea typeface="OPPOSans M" panose="00020600040101010101" pitchFamily="18" charset="-122"/>
                    <a:cs typeface="OPPOSans M" panose="00020600040101010101" pitchFamily="18" charset="-122"/>
                  </a:rPr>
                  <a:t>市场占有率</a:t>
                </a:r>
                <a:endParaRPr kumimoji="1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endParaRPr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矩形 72"/>
          <p:cNvSpPr/>
          <p:nvPr/>
        </p:nvSpPr>
        <p:spPr>
          <a:xfrm>
            <a:off x="4693277" y="1116962"/>
            <a:ext cx="2813259" cy="5473939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469900" sx="102000" sy="102000" algn="ctr" rotWithShape="0">
              <a:schemeClr val="accent1">
                <a:lumMod val="20000"/>
                <a:lumOff val="80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000">
              <a:cs typeface="OPPOSans R" panose="00020600040101010101" pitchFamily="18" charset="-122"/>
            </a:endParaRPr>
          </a:p>
        </p:txBody>
      </p:sp>
      <p:grpSp>
        <p:nvGrpSpPr>
          <p:cNvPr id="51" name="组合 50"/>
          <p:cNvGrpSpPr/>
          <p:nvPr/>
        </p:nvGrpSpPr>
        <p:grpSpPr>
          <a:xfrm flipH="1">
            <a:off x="-2354448" y="1139372"/>
            <a:ext cx="5453680" cy="5484082"/>
            <a:chOff x="8404689" y="407107"/>
            <a:chExt cx="6723422" cy="6760903"/>
          </a:xfrm>
        </p:grpSpPr>
        <p:sp>
          <p:nvSpPr>
            <p:cNvPr id="52" name="饼形 154"/>
            <p:cNvSpPr/>
            <p:nvPr/>
          </p:nvSpPr>
          <p:spPr>
            <a:xfrm flipH="1">
              <a:off x="8404689" y="407107"/>
              <a:ext cx="6723422" cy="6723422"/>
            </a:xfrm>
            <a:prstGeom prst="pie">
              <a:avLst>
                <a:gd name="adj1" fmla="val 16209278"/>
                <a:gd name="adj2" fmla="val 5418880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747993"/>
                </a:solidFill>
                <a:effectLst/>
                <a:uLnTx/>
                <a:uFillTx/>
                <a:latin typeface="OPPOSans M" panose="00020600040101010101" pitchFamily="18" charset="-122"/>
                <a:ea typeface="OPPOSans M" panose="00020600040101010101" pitchFamily="18" charset="-122"/>
                <a:cs typeface="OPPOSans M" panose="00020600040101010101" pitchFamily="18" charset="-122"/>
              </a:endParaRPr>
            </a:p>
          </p:txBody>
        </p:sp>
        <p:sp>
          <p:nvSpPr>
            <p:cNvPr id="53" name="饼形 154"/>
            <p:cNvSpPr/>
            <p:nvPr/>
          </p:nvSpPr>
          <p:spPr>
            <a:xfrm flipH="1">
              <a:off x="8404689" y="444588"/>
              <a:ext cx="6723422" cy="6723422"/>
            </a:xfrm>
            <a:prstGeom prst="pie">
              <a:avLst>
                <a:gd name="adj1" fmla="val 2151977"/>
                <a:gd name="adj2" fmla="val 5418880"/>
              </a:avLst>
            </a:prstGeom>
            <a:gradFill>
              <a:gsLst>
                <a:gs pos="100000">
                  <a:schemeClr val="accent1">
                    <a:lumMod val="20000"/>
                    <a:lumOff val="80000"/>
                  </a:schemeClr>
                </a:gs>
                <a:gs pos="23000">
                  <a:schemeClr val="accent1">
                    <a:lumMod val="60000"/>
                    <a:lumOff val="40000"/>
                  </a:schemeClr>
                </a:gs>
              </a:gsLst>
              <a:lin ang="162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747993"/>
                </a:solidFill>
                <a:effectLst/>
                <a:uLnTx/>
                <a:uFillTx/>
                <a:latin typeface="OPPOSans M" panose="00020600040101010101" pitchFamily="18" charset="-122"/>
                <a:ea typeface="OPPOSans M" panose="00020600040101010101" pitchFamily="18" charset="-122"/>
                <a:cs typeface="OPPOSans M" panose="00020600040101010101" pitchFamily="18" charset="-122"/>
              </a:endParaRPr>
            </a:p>
          </p:txBody>
        </p:sp>
        <p:grpSp>
          <p:nvGrpSpPr>
            <p:cNvPr id="54" name="组合 53"/>
            <p:cNvGrpSpPr/>
            <p:nvPr/>
          </p:nvGrpSpPr>
          <p:grpSpPr>
            <a:xfrm flipH="1">
              <a:off x="9035219" y="1037637"/>
              <a:ext cx="5462362" cy="5462362"/>
              <a:chOff x="-2311273" y="1050190"/>
              <a:chExt cx="5462362" cy="5462362"/>
            </a:xfrm>
          </p:grpSpPr>
          <p:grpSp>
            <p:nvGrpSpPr>
              <p:cNvPr id="55" name="组合 54"/>
              <p:cNvGrpSpPr/>
              <p:nvPr/>
            </p:nvGrpSpPr>
            <p:grpSpPr>
              <a:xfrm>
                <a:off x="-2311273" y="1050190"/>
                <a:ext cx="5462362" cy="5462362"/>
                <a:chOff x="-1217506" y="1935125"/>
                <a:chExt cx="3274828" cy="3274828"/>
              </a:xfrm>
            </p:grpSpPr>
            <p:sp>
              <p:nvSpPr>
                <p:cNvPr id="66" name="饼形 154"/>
                <p:cNvSpPr/>
                <p:nvPr/>
              </p:nvSpPr>
              <p:spPr>
                <a:xfrm>
                  <a:off x="-1217506" y="1935125"/>
                  <a:ext cx="3274828" cy="3274828"/>
                </a:xfrm>
                <a:prstGeom prst="pie">
                  <a:avLst>
                    <a:gd name="adj1" fmla="val 16209278"/>
                    <a:gd name="adj2" fmla="val 5418880"/>
                  </a:avLst>
                </a:prstGeom>
                <a:solidFill>
                  <a:schemeClr val="bg2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747993"/>
                    </a:solidFill>
                    <a:effectLst/>
                    <a:uLnTx/>
                    <a:uFillTx/>
                    <a:latin typeface="OPPOSans M" panose="00020600040101010101" pitchFamily="18" charset="-122"/>
                    <a:ea typeface="OPPOSans M" panose="00020600040101010101" pitchFamily="18" charset="-122"/>
                    <a:cs typeface="OPPOSans M" panose="00020600040101010101" pitchFamily="18" charset="-122"/>
                  </a:endParaRPr>
                </a:p>
              </p:txBody>
            </p:sp>
            <p:sp>
              <p:nvSpPr>
                <p:cNvPr id="67" name="饼形 155"/>
                <p:cNvSpPr/>
                <p:nvPr/>
              </p:nvSpPr>
              <p:spPr>
                <a:xfrm>
                  <a:off x="-1217506" y="1935125"/>
                  <a:ext cx="3274828" cy="3274828"/>
                </a:xfrm>
                <a:prstGeom prst="pie">
                  <a:avLst>
                    <a:gd name="adj1" fmla="val 955788"/>
                    <a:gd name="adj2" fmla="val 5418880"/>
                  </a:avLst>
                </a:prstGeom>
                <a:gradFill>
                  <a:gsLst>
                    <a:gs pos="100000">
                      <a:schemeClr val="accent1">
                        <a:lumMod val="20000"/>
                        <a:lumOff val="80000"/>
                      </a:schemeClr>
                    </a:gs>
                    <a:gs pos="23000">
                      <a:schemeClr val="accent1"/>
                    </a:gs>
                  </a:gsLst>
                  <a:lin ang="16200000" scaled="1"/>
                </a:gra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747993"/>
                    </a:solidFill>
                    <a:effectLst/>
                    <a:uLnTx/>
                    <a:uFillTx/>
                    <a:latin typeface="OPPOSans M" panose="00020600040101010101" pitchFamily="18" charset="-122"/>
                    <a:ea typeface="OPPOSans M" panose="00020600040101010101" pitchFamily="18" charset="-122"/>
                    <a:cs typeface="OPPOSans M" panose="00020600040101010101" pitchFamily="18" charset="-122"/>
                  </a:endParaRPr>
                </a:p>
              </p:txBody>
            </p:sp>
          </p:grpSp>
          <p:grpSp>
            <p:nvGrpSpPr>
              <p:cNvPr id="56" name="组合 55"/>
              <p:cNvGrpSpPr/>
              <p:nvPr/>
            </p:nvGrpSpPr>
            <p:grpSpPr>
              <a:xfrm>
                <a:off x="-1617342" y="1744121"/>
                <a:ext cx="4074500" cy="4074500"/>
                <a:chOff x="-1217506" y="1935125"/>
                <a:chExt cx="3274828" cy="3274828"/>
              </a:xfrm>
            </p:grpSpPr>
            <p:sp>
              <p:nvSpPr>
                <p:cNvPr id="64" name="饼形 152"/>
                <p:cNvSpPr/>
                <p:nvPr/>
              </p:nvSpPr>
              <p:spPr>
                <a:xfrm>
                  <a:off x="-1217506" y="1935125"/>
                  <a:ext cx="3274828" cy="3274828"/>
                </a:xfrm>
                <a:prstGeom prst="pie">
                  <a:avLst>
                    <a:gd name="adj1" fmla="val 16209278"/>
                    <a:gd name="adj2" fmla="val 5418880"/>
                  </a:avLst>
                </a:prstGeom>
                <a:solidFill>
                  <a:schemeClr val="accent2">
                    <a:alpha val="11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747993"/>
                    </a:solidFill>
                    <a:effectLst/>
                    <a:uLnTx/>
                    <a:uFillTx/>
                    <a:latin typeface="OPPOSans M" panose="00020600040101010101" pitchFamily="18" charset="-122"/>
                    <a:ea typeface="OPPOSans M" panose="00020600040101010101" pitchFamily="18" charset="-122"/>
                    <a:cs typeface="OPPOSans M" panose="00020600040101010101" pitchFamily="18" charset="-122"/>
                  </a:endParaRPr>
                </a:p>
              </p:txBody>
            </p:sp>
            <p:sp>
              <p:nvSpPr>
                <p:cNvPr id="65" name="饼形 153"/>
                <p:cNvSpPr/>
                <p:nvPr/>
              </p:nvSpPr>
              <p:spPr>
                <a:xfrm>
                  <a:off x="-1217506" y="1935125"/>
                  <a:ext cx="3274828" cy="3274828"/>
                </a:xfrm>
                <a:prstGeom prst="pie">
                  <a:avLst>
                    <a:gd name="adj1" fmla="val 20992475"/>
                    <a:gd name="adj2" fmla="val 5418880"/>
                  </a:avLst>
                </a:prstGeom>
                <a:gradFill>
                  <a:gsLst>
                    <a:gs pos="100000">
                      <a:schemeClr val="accent2">
                        <a:lumMod val="60000"/>
                        <a:lumOff val="40000"/>
                      </a:schemeClr>
                    </a:gs>
                    <a:gs pos="23000">
                      <a:schemeClr val="accent2"/>
                    </a:gs>
                  </a:gsLst>
                  <a:lin ang="16200000" scaled="1"/>
                </a:gra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747993"/>
                    </a:solidFill>
                    <a:effectLst/>
                    <a:uLnTx/>
                    <a:uFillTx/>
                    <a:latin typeface="OPPOSans M" panose="00020600040101010101" pitchFamily="18" charset="-122"/>
                    <a:ea typeface="OPPOSans M" panose="00020600040101010101" pitchFamily="18" charset="-122"/>
                    <a:cs typeface="OPPOSans M" panose="00020600040101010101" pitchFamily="18" charset="-122"/>
                  </a:endParaRPr>
                </a:p>
              </p:txBody>
            </p:sp>
          </p:grpSp>
          <p:grpSp>
            <p:nvGrpSpPr>
              <p:cNvPr id="57" name="组合 56"/>
              <p:cNvGrpSpPr/>
              <p:nvPr/>
            </p:nvGrpSpPr>
            <p:grpSpPr>
              <a:xfrm>
                <a:off x="-967719" y="2393744"/>
                <a:ext cx="2775254" cy="2775254"/>
                <a:chOff x="-1217506" y="1935125"/>
                <a:chExt cx="3274828" cy="3274828"/>
              </a:xfrm>
            </p:grpSpPr>
            <p:sp>
              <p:nvSpPr>
                <p:cNvPr id="62" name="饼形 150"/>
                <p:cNvSpPr/>
                <p:nvPr/>
              </p:nvSpPr>
              <p:spPr>
                <a:xfrm>
                  <a:off x="-1217506" y="1935125"/>
                  <a:ext cx="3274828" cy="3274828"/>
                </a:xfrm>
                <a:prstGeom prst="pie">
                  <a:avLst>
                    <a:gd name="adj1" fmla="val 16209278"/>
                    <a:gd name="adj2" fmla="val 5418880"/>
                  </a:avLst>
                </a:prstGeom>
                <a:solidFill>
                  <a:schemeClr val="accent3">
                    <a:alpha val="10000"/>
                  </a:schemeClr>
                </a:solidFill>
                <a:ln w="508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747993"/>
                    </a:solidFill>
                    <a:effectLst/>
                    <a:uLnTx/>
                    <a:uFillTx/>
                    <a:latin typeface="OPPOSans M" panose="00020600040101010101" pitchFamily="18" charset="-122"/>
                    <a:ea typeface="OPPOSans M" panose="00020600040101010101" pitchFamily="18" charset="-122"/>
                    <a:cs typeface="OPPOSans M" panose="00020600040101010101" pitchFamily="18" charset="-122"/>
                  </a:endParaRPr>
                </a:p>
              </p:txBody>
            </p:sp>
            <p:sp>
              <p:nvSpPr>
                <p:cNvPr id="63" name="饼形 151"/>
                <p:cNvSpPr/>
                <p:nvPr/>
              </p:nvSpPr>
              <p:spPr>
                <a:xfrm>
                  <a:off x="-1217506" y="1935125"/>
                  <a:ext cx="3274828" cy="3274828"/>
                </a:xfrm>
                <a:prstGeom prst="pie">
                  <a:avLst>
                    <a:gd name="adj1" fmla="val 19509220"/>
                    <a:gd name="adj2" fmla="val 5418880"/>
                  </a:avLst>
                </a:prstGeom>
                <a:gradFill>
                  <a:gsLst>
                    <a:gs pos="100000">
                      <a:schemeClr val="accent3">
                        <a:lumMod val="60000"/>
                        <a:lumOff val="40000"/>
                      </a:schemeClr>
                    </a:gs>
                    <a:gs pos="23000">
                      <a:schemeClr val="accent3"/>
                    </a:gs>
                  </a:gsLst>
                  <a:lin ang="16200000" scaled="1"/>
                </a:gradFill>
                <a:ln w="254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747993"/>
                    </a:solidFill>
                    <a:effectLst/>
                    <a:uLnTx/>
                    <a:uFillTx/>
                    <a:latin typeface="OPPOSans M" panose="00020600040101010101" pitchFamily="18" charset="-122"/>
                    <a:ea typeface="OPPOSans M" panose="00020600040101010101" pitchFamily="18" charset="-122"/>
                    <a:cs typeface="OPPOSans M" panose="00020600040101010101" pitchFamily="18" charset="-122"/>
                  </a:endParaRPr>
                </a:p>
              </p:txBody>
            </p:sp>
          </p:grpSp>
          <p:sp>
            <p:nvSpPr>
              <p:cNvPr id="58" name="饼形 140"/>
              <p:cNvSpPr/>
              <p:nvPr/>
            </p:nvSpPr>
            <p:spPr>
              <a:xfrm>
                <a:off x="-382157" y="3023662"/>
                <a:ext cx="1590380" cy="1590380"/>
              </a:xfrm>
              <a:prstGeom prst="pie">
                <a:avLst>
                  <a:gd name="adj1" fmla="val 16209278"/>
                  <a:gd name="adj2" fmla="val 5418880"/>
                </a:avLst>
              </a:prstGeom>
              <a:solidFill>
                <a:schemeClr val="tx2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747993"/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endParaRPr>
              </a:p>
            </p:txBody>
          </p:sp>
          <p:sp>
            <p:nvSpPr>
              <p:cNvPr id="59" name="文本框 58"/>
              <p:cNvSpPr txBox="1"/>
              <p:nvPr/>
            </p:nvSpPr>
            <p:spPr>
              <a:xfrm rot="19852486">
                <a:off x="383948" y="4941362"/>
                <a:ext cx="2024219" cy="1010228"/>
              </a:xfrm>
              <a:prstGeom prst="rect">
                <a:avLst/>
              </a:prstGeom>
              <a:noFill/>
            </p:spPr>
            <p:txBody>
              <a:bodyPr wrap="none" rtlCol="0">
                <a:prstTxWarp prst="textArchDown">
                  <a:avLst>
                    <a:gd name="adj" fmla="val 20825989"/>
                  </a:avLst>
                </a:prstTxWarp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OPPOSans M" panose="00020600040101010101" pitchFamily="18" charset="-122"/>
                    <a:ea typeface="OPPOSans M" panose="00020600040101010101" pitchFamily="18" charset="-122"/>
                    <a:cs typeface="OPPOSans M" panose="00020600040101010101" pitchFamily="18" charset="-122"/>
                  </a:rPr>
                  <a:t>团队协作培训</a:t>
                </a:r>
                <a:endParaRPr kumimoji="1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endParaRPr>
              </a:p>
            </p:txBody>
          </p:sp>
          <p:sp>
            <p:nvSpPr>
              <p:cNvPr id="60" name="文本框 59"/>
              <p:cNvSpPr txBox="1"/>
              <p:nvPr/>
            </p:nvSpPr>
            <p:spPr>
              <a:xfrm rot="17432686">
                <a:off x="-768617" y="2690909"/>
                <a:ext cx="2334136" cy="2252592"/>
              </a:xfrm>
              <a:prstGeom prst="rect">
                <a:avLst/>
              </a:prstGeom>
              <a:noFill/>
            </p:spPr>
            <p:txBody>
              <a:bodyPr wrap="none" rtlCol="0">
                <a:prstTxWarp prst="textArchDown">
                  <a:avLst>
                    <a:gd name="adj" fmla="val 17019585"/>
                  </a:avLst>
                </a:prstTxWarp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1600" kern="0" dirty="0">
                    <a:solidFill>
                      <a:srgbClr val="FFFFFF"/>
                    </a:solidFill>
                    <a:latin typeface="OPPOSans M" panose="00020600040101010101" pitchFamily="18" charset="-122"/>
                    <a:ea typeface="OPPOSans M" panose="00020600040101010101" pitchFamily="18" charset="-122"/>
                    <a:cs typeface="OPPOSans M" panose="00020600040101010101" pitchFamily="18" charset="-122"/>
                  </a:rPr>
                  <a:t>核心项目推进</a:t>
                </a:r>
                <a:endParaRPr kumimoji="1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endParaRPr>
              </a:p>
            </p:txBody>
          </p:sp>
          <p:sp>
            <p:nvSpPr>
              <p:cNvPr id="61" name="文本框 60"/>
              <p:cNvSpPr txBox="1"/>
              <p:nvPr/>
            </p:nvSpPr>
            <p:spPr>
              <a:xfrm rot="18830007">
                <a:off x="370328" y="4072831"/>
                <a:ext cx="1745753" cy="1135991"/>
              </a:xfrm>
              <a:prstGeom prst="rect">
                <a:avLst/>
              </a:prstGeom>
              <a:noFill/>
            </p:spPr>
            <p:txBody>
              <a:bodyPr wrap="none" rtlCol="0">
                <a:prstTxWarp prst="textArchDown">
                  <a:avLst>
                    <a:gd name="adj" fmla="val 20825989"/>
                  </a:avLst>
                </a:prstTxWarp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1600" kern="0" dirty="0">
                    <a:solidFill>
                      <a:srgbClr val="FFFFFF"/>
                    </a:solidFill>
                    <a:latin typeface="OPPOSans M" panose="00020600040101010101" pitchFamily="18" charset="-122"/>
                    <a:ea typeface="OPPOSans M" panose="00020600040101010101" pitchFamily="18" charset="-122"/>
                    <a:cs typeface="OPPOSans M" panose="00020600040101010101" pitchFamily="18" charset="-122"/>
                  </a:rPr>
                  <a:t>日常管理运营</a:t>
                </a:r>
                <a:endParaRPr kumimoji="1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endParaRPr>
              </a:p>
            </p:txBody>
          </p:sp>
        </p:grpSp>
      </p:grpSp>
      <p:sp>
        <p:nvSpPr>
          <p:cNvPr id="5" name="标题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工作进展与成果总结</a:t>
            </a:r>
            <a:endParaRPr lang="zh-CN" altLang="en-US" dirty="0"/>
          </a:p>
        </p:txBody>
      </p:sp>
      <p:grpSp>
        <p:nvGrpSpPr>
          <p:cNvPr id="3" name="组合 2"/>
          <p:cNvGrpSpPr/>
          <p:nvPr/>
        </p:nvGrpSpPr>
        <p:grpSpPr>
          <a:xfrm>
            <a:off x="1253838" y="1883322"/>
            <a:ext cx="2098462" cy="4198275"/>
            <a:chOff x="1253838" y="1883322"/>
            <a:chExt cx="2098462" cy="4198275"/>
          </a:xfrm>
        </p:grpSpPr>
        <p:cxnSp>
          <p:nvCxnSpPr>
            <p:cNvPr id="4" name="直线箭头连接符 148"/>
            <p:cNvCxnSpPr/>
            <p:nvPr/>
          </p:nvCxnSpPr>
          <p:spPr>
            <a:xfrm flipV="1">
              <a:off x="1470660" y="3281927"/>
              <a:ext cx="1881640" cy="396985"/>
            </a:xfrm>
            <a:prstGeom prst="straightConnector1">
              <a:avLst/>
            </a:prstGeom>
            <a:noFill/>
            <a:ln w="25400" cap="flat" cmpd="sng" algn="ctr">
              <a:solidFill>
                <a:schemeClr val="accent1"/>
              </a:solidFill>
              <a:prstDash val="solid"/>
              <a:miter lim="800000"/>
              <a:tailEnd type="none"/>
            </a:ln>
            <a:effectLst/>
          </p:spPr>
        </p:cxnSp>
        <p:cxnSp>
          <p:nvCxnSpPr>
            <p:cNvPr id="7" name="直线箭头连接符 148"/>
            <p:cNvCxnSpPr/>
            <p:nvPr/>
          </p:nvCxnSpPr>
          <p:spPr>
            <a:xfrm flipV="1">
              <a:off x="1253838" y="1883322"/>
              <a:ext cx="2098462" cy="1376116"/>
            </a:xfrm>
            <a:prstGeom prst="straightConnector1">
              <a:avLst/>
            </a:prstGeom>
            <a:noFill/>
            <a:ln w="25400" cap="flat" cmpd="sng" algn="ctr">
              <a:solidFill>
                <a:schemeClr val="accent3"/>
              </a:solidFill>
              <a:prstDash val="solid"/>
              <a:miter lim="800000"/>
              <a:tailEnd type="none"/>
            </a:ln>
            <a:effectLst/>
          </p:spPr>
        </p:cxnSp>
        <p:grpSp>
          <p:nvGrpSpPr>
            <p:cNvPr id="8" name="组合 7"/>
            <p:cNvGrpSpPr/>
            <p:nvPr/>
          </p:nvGrpSpPr>
          <p:grpSpPr>
            <a:xfrm>
              <a:off x="1968692" y="4334866"/>
              <a:ext cx="1383608" cy="1746731"/>
              <a:chOff x="1968692" y="4334866"/>
              <a:chExt cx="1383608" cy="1746731"/>
            </a:xfrm>
          </p:grpSpPr>
          <p:cxnSp>
            <p:nvCxnSpPr>
              <p:cNvPr id="9" name="直线箭头连接符 148"/>
              <p:cNvCxnSpPr/>
              <p:nvPr/>
            </p:nvCxnSpPr>
            <p:spPr>
              <a:xfrm>
                <a:off x="2138279" y="5189213"/>
                <a:ext cx="1214021" cy="892384"/>
              </a:xfrm>
              <a:prstGeom prst="straightConnector1">
                <a:avLst/>
              </a:prstGeom>
              <a:noFill/>
              <a:ln w="25400" cap="flat" cmpd="sng" algn="ctr">
                <a:solidFill>
                  <a:schemeClr val="accent1">
                    <a:lumMod val="40000"/>
                    <a:lumOff val="60000"/>
                  </a:schemeClr>
                </a:solidFill>
                <a:prstDash val="solid"/>
                <a:miter lim="800000"/>
                <a:tailEnd type="none"/>
              </a:ln>
              <a:effectLst/>
            </p:spPr>
          </p:cxnSp>
          <p:cxnSp>
            <p:nvCxnSpPr>
              <p:cNvPr id="10" name="直线箭头连接符 148"/>
              <p:cNvCxnSpPr/>
              <p:nvPr/>
            </p:nvCxnSpPr>
            <p:spPr>
              <a:xfrm>
                <a:off x="1968692" y="4334866"/>
                <a:ext cx="1383608" cy="348128"/>
              </a:xfrm>
              <a:prstGeom prst="straightConnector1">
                <a:avLst/>
              </a:prstGeom>
              <a:noFill/>
              <a:ln w="25400" cap="flat" cmpd="sng" algn="ctr">
                <a:solidFill>
                  <a:schemeClr val="accent3"/>
                </a:solidFill>
                <a:prstDash val="solid"/>
                <a:miter lim="800000"/>
                <a:tailEnd type="none"/>
              </a:ln>
              <a:effectLst/>
            </p:spPr>
          </p:cxnSp>
        </p:grpSp>
      </p:grpSp>
      <p:grpSp>
        <p:nvGrpSpPr>
          <p:cNvPr id="11" name="组合 10"/>
          <p:cNvGrpSpPr/>
          <p:nvPr/>
        </p:nvGrpSpPr>
        <p:grpSpPr>
          <a:xfrm>
            <a:off x="3303158" y="1322933"/>
            <a:ext cx="1123708" cy="4756761"/>
            <a:chOff x="3303158" y="1322933"/>
            <a:chExt cx="1123708" cy="4756761"/>
          </a:xfrm>
        </p:grpSpPr>
        <p:grpSp>
          <p:nvGrpSpPr>
            <p:cNvPr id="12" name="组合 11"/>
            <p:cNvGrpSpPr/>
            <p:nvPr/>
          </p:nvGrpSpPr>
          <p:grpSpPr>
            <a:xfrm>
              <a:off x="3341239" y="1885151"/>
              <a:ext cx="1055627" cy="4194543"/>
              <a:chOff x="3341239" y="1885151"/>
              <a:chExt cx="849279" cy="4194543"/>
            </a:xfrm>
          </p:grpSpPr>
          <p:cxnSp>
            <p:nvCxnSpPr>
              <p:cNvPr id="17" name="直线箭头连接符 149"/>
              <p:cNvCxnSpPr/>
              <p:nvPr/>
            </p:nvCxnSpPr>
            <p:spPr>
              <a:xfrm flipH="1">
                <a:off x="3341239" y="3284390"/>
                <a:ext cx="849279" cy="0"/>
              </a:xfrm>
              <a:prstGeom prst="straightConnector1">
                <a:avLst/>
              </a:prstGeom>
              <a:noFill/>
              <a:ln w="25400" cap="flat" cmpd="sng" algn="ctr">
                <a:solidFill>
                  <a:schemeClr val="accent2"/>
                </a:solidFill>
                <a:prstDash val="solid"/>
                <a:miter lim="800000"/>
                <a:headEnd type="triangle" w="lg" len="lg"/>
                <a:tailEnd type="none" w="lg" len="med"/>
              </a:ln>
              <a:effectLst/>
            </p:spPr>
          </p:cxnSp>
          <p:cxnSp>
            <p:nvCxnSpPr>
              <p:cNvPr id="18" name="直线箭头连接符 149"/>
              <p:cNvCxnSpPr/>
              <p:nvPr/>
            </p:nvCxnSpPr>
            <p:spPr>
              <a:xfrm flipH="1">
                <a:off x="3341239" y="1885151"/>
                <a:ext cx="849279" cy="0"/>
              </a:xfrm>
              <a:prstGeom prst="straightConnector1">
                <a:avLst/>
              </a:prstGeom>
              <a:noFill/>
              <a:ln w="25400" cap="flat" cmpd="sng" algn="ctr">
                <a:solidFill>
                  <a:schemeClr val="accent3"/>
                </a:solidFill>
                <a:prstDash val="solid"/>
                <a:miter lim="800000"/>
                <a:headEnd type="triangle" w="lg" len="lg"/>
                <a:tailEnd type="none" w="lg" len="med"/>
              </a:ln>
              <a:effectLst/>
            </p:spPr>
          </p:cxnSp>
          <p:cxnSp>
            <p:nvCxnSpPr>
              <p:cNvPr id="19" name="直线箭头连接符 149"/>
              <p:cNvCxnSpPr/>
              <p:nvPr/>
            </p:nvCxnSpPr>
            <p:spPr>
              <a:xfrm flipH="1">
                <a:off x="3341239" y="6079694"/>
                <a:ext cx="849279" cy="0"/>
              </a:xfrm>
              <a:prstGeom prst="straightConnector1">
                <a:avLst/>
              </a:prstGeom>
              <a:noFill/>
              <a:ln w="25400" cap="flat" cmpd="sng" algn="ctr">
                <a:solidFill>
                  <a:schemeClr val="accent1">
                    <a:lumMod val="40000"/>
                    <a:lumOff val="60000"/>
                  </a:schemeClr>
                </a:solidFill>
                <a:prstDash val="solid"/>
                <a:miter lim="800000"/>
                <a:headEnd type="triangle" w="lg" len="lg"/>
                <a:tailEnd type="none" w="lg" len="med"/>
              </a:ln>
              <a:effectLst/>
            </p:spPr>
          </p:cxnSp>
          <p:cxnSp>
            <p:nvCxnSpPr>
              <p:cNvPr id="20" name="直线箭头连接符 149"/>
              <p:cNvCxnSpPr/>
              <p:nvPr/>
            </p:nvCxnSpPr>
            <p:spPr>
              <a:xfrm flipH="1">
                <a:off x="3341239" y="4688074"/>
                <a:ext cx="849279" cy="0"/>
              </a:xfrm>
              <a:prstGeom prst="straightConnector1">
                <a:avLst/>
              </a:prstGeom>
              <a:noFill/>
              <a:ln w="25400" cap="flat" cmpd="sng" algn="ctr">
                <a:solidFill>
                  <a:schemeClr val="accent1"/>
                </a:solidFill>
                <a:prstDash val="solid"/>
                <a:miter lim="800000"/>
                <a:headEnd type="triangle" w="lg" len="lg"/>
                <a:tailEnd type="none" w="lg" len="med"/>
              </a:ln>
              <a:effectLst/>
            </p:spPr>
          </p:cxnSp>
        </p:grpSp>
        <p:sp>
          <p:nvSpPr>
            <p:cNvPr id="13" name="文本框 12"/>
            <p:cNvSpPr txBox="1"/>
            <p:nvPr/>
          </p:nvSpPr>
          <p:spPr>
            <a:xfrm>
              <a:off x="3303158" y="5592759"/>
              <a:ext cx="1123708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OPPOSans H" panose="00020600040101010101" pitchFamily="18" charset="-122"/>
                  <a:ea typeface="OPPOSans H" panose="00020600040101010101" pitchFamily="18" charset="-122"/>
                  <a:cs typeface="OPPOSans H" panose="00020600040101010101" pitchFamily="18" charset="-122"/>
                </a:rPr>
                <a:t>05</a:t>
              </a:r>
              <a:r>
                <a:rPr lang="en-US" altLang="zh-CN" sz="2400" i="0" dirty="0">
                  <a:solidFill>
                    <a:schemeClr val="accent1">
                      <a:lumMod val="60000"/>
                      <a:lumOff val="40000"/>
                    </a:schemeClr>
                  </a:solidFill>
                  <a:effectLst/>
                  <a:latin typeface="OPPOSans H" panose="00020600040101010101" pitchFamily="18" charset="-122"/>
                  <a:ea typeface="OPPOSans H" panose="00020600040101010101" pitchFamily="18" charset="-122"/>
                  <a:cs typeface="OPPOSans H" panose="00020600040101010101" pitchFamily="18" charset="-122"/>
                </a:rPr>
                <a:t>%</a:t>
              </a:r>
              <a:endParaRPr lang="zh-CN" altLang="en-U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3303158" y="4169483"/>
              <a:ext cx="1123708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400" i="0" dirty="0">
                  <a:solidFill>
                    <a:schemeClr val="accent1"/>
                  </a:solidFill>
                  <a:effectLst/>
                  <a:latin typeface="OPPOSans H" panose="00020600040101010101" pitchFamily="18" charset="-122"/>
                  <a:ea typeface="OPPOSans H" panose="00020600040101010101" pitchFamily="18" charset="-122"/>
                  <a:cs typeface="OPPOSans H" panose="00020600040101010101" pitchFamily="18" charset="-122"/>
                </a:rPr>
                <a:t>20%</a:t>
              </a:r>
              <a:endParaRPr lang="zh-CN" altLang="en-US" sz="2400" dirty="0">
                <a:solidFill>
                  <a:schemeClr val="accent1"/>
                </a:solidFill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3303158" y="2746208"/>
              <a:ext cx="1123708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chemeClr val="accent2"/>
                  </a:solidFill>
                  <a:latin typeface="OPPOSans H" panose="00020600040101010101" pitchFamily="18" charset="-122"/>
                  <a:ea typeface="OPPOSans H" panose="00020600040101010101" pitchFamily="18" charset="-122"/>
                  <a:cs typeface="OPPOSans H" panose="00020600040101010101" pitchFamily="18" charset="-122"/>
                </a:rPr>
                <a:t>35</a:t>
              </a:r>
              <a:r>
                <a:rPr lang="en-US" altLang="zh-CN" sz="2400" i="0" dirty="0">
                  <a:solidFill>
                    <a:schemeClr val="accent2"/>
                  </a:solidFill>
                  <a:effectLst/>
                  <a:latin typeface="OPPOSans H" panose="00020600040101010101" pitchFamily="18" charset="-122"/>
                  <a:ea typeface="OPPOSans H" panose="00020600040101010101" pitchFamily="18" charset="-122"/>
                  <a:cs typeface="OPPOSans H" panose="00020600040101010101" pitchFamily="18" charset="-122"/>
                </a:rPr>
                <a:t>%</a:t>
              </a:r>
              <a:endParaRPr lang="zh-CN" altLang="en-US" sz="2400" dirty="0">
                <a:solidFill>
                  <a:schemeClr val="accent2"/>
                </a:solidFill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3303158" y="1322933"/>
              <a:ext cx="1123708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400" i="0" dirty="0">
                  <a:solidFill>
                    <a:schemeClr val="accent3"/>
                  </a:solidFill>
                  <a:effectLst/>
                  <a:latin typeface="OPPOSans H" panose="00020600040101010101" pitchFamily="18" charset="-122"/>
                  <a:ea typeface="OPPOSans H" panose="00020600040101010101" pitchFamily="18" charset="-122"/>
                  <a:cs typeface="OPPOSans H" panose="00020600040101010101" pitchFamily="18" charset="-122"/>
                </a:rPr>
                <a:t>40%</a:t>
              </a:r>
              <a:endParaRPr lang="zh-CN" altLang="en-US" sz="2400" dirty="0">
                <a:solidFill>
                  <a:schemeClr val="accent3"/>
                </a:solidFill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endParaRPr>
            </a:p>
          </p:txBody>
        </p:sp>
      </p:grpSp>
      <p:graphicFrame>
        <p:nvGraphicFramePr>
          <p:cNvPr id="34" name="图表 33"/>
          <p:cNvGraphicFramePr/>
          <p:nvPr/>
        </p:nvGraphicFramePr>
        <p:xfrm>
          <a:off x="7592341" y="3791617"/>
          <a:ext cx="4290114" cy="27992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5" name="矩形 34"/>
          <p:cNvSpPr/>
          <p:nvPr/>
        </p:nvSpPr>
        <p:spPr>
          <a:xfrm>
            <a:off x="7654278" y="1139372"/>
            <a:ext cx="4166247" cy="394796"/>
          </a:xfrm>
          <a:prstGeom prst="rect">
            <a:avLst/>
          </a:prstGeom>
          <a:gradFill>
            <a:gsLst>
              <a:gs pos="100000">
                <a:schemeClr val="accent3">
                  <a:lumMod val="60000"/>
                  <a:lumOff val="40000"/>
                </a:schemeClr>
              </a:gs>
              <a:gs pos="23000">
                <a:schemeClr val="accent3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OPPOSans R" panose="00020600040101010101" pitchFamily="18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7654277" y="1528979"/>
            <a:ext cx="4166247" cy="2131634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469900" sx="102000" sy="102000" algn="ctr" rotWithShape="0">
              <a:schemeClr val="accent1">
                <a:lumMod val="20000"/>
                <a:lumOff val="80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000">
              <a:cs typeface="OPPOSans R" panose="00020600040101010101" pitchFamily="18" charset="-122"/>
            </a:endParaRPr>
          </a:p>
        </p:txBody>
      </p:sp>
      <p:grpSp>
        <p:nvGrpSpPr>
          <p:cNvPr id="37" name="组合 36"/>
          <p:cNvGrpSpPr/>
          <p:nvPr/>
        </p:nvGrpSpPr>
        <p:grpSpPr>
          <a:xfrm>
            <a:off x="7802008" y="1674064"/>
            <a:ext cx="3870777" cy="1363452"/>
            <a:chOff x="7784495" y="1518210"/>
            <a:chExt cx="3870777" cy="1363452"/>
          </a:xfrm>
        </p:grpSpPr>
        <p:grpSp>
          <p:nvGrpSpPr>
            <p:cNvPr id="38" name="组合 37"/>
            <p:cNvGrpSpPr/>
            <p:nvPr/>
          </p:nvGrpSpPr>
          <p:grpSpPr>
            <a:xfrm>
              <a:off x="7784495" y="1518210"/>
              <a:ext cx="1627034" cy="1363452"/>
              <a:chOff x="10147343" y="2365457"/>
              <a:chExt cx="1666344" cy="1396394"/>
            </a:xfrm>
          </p:grpSpPr>
          <p:graphicFrame>
            <p:nvGraphicFramePr>
              <p:cNvPr id="42" name="图表 41"/>
              <p:cNvGraphicFramePr/>
              <p:nvPr/>
            </p:nvGraphicFramePr>
            <p:xfrm>
              <a:off x="10147343" y="2365457"/>
              <a:ext cx="1666344" cy="1396394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2"/>
              </a:graphicData>
            </a:graphic>
          </p:graphicFrame>
          <p:sp>
            <p:nvSpPr>
              <p:cNvPr id="43" name="椭圆 42"/>
              <p:cNvSpPr/>
              <p:nvPr/>
            </p:nvSpPr>
            <p:spPr>
              <a:xfrm>
                <a:off x="10600362" y="2683502"/>
                <a:ext cx="760306" cy="760304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ea typeface="OPPOSans R" panose="00020600040101010101" pitchFamily="18" charset="-122"/>
                  <a:cs typeface="OPPOSans R" panose="00020600040101010101" pitchFamily="18" charset="-122"/>
                </a:endParaRPr>
              </a:p>
            </p:txBody>
          </p:sp>
          <p:sp>
            <p:nvSpPr>
              <p:cNvPr id="44" name="文本框 43"/>
              <p:cNvSpPr txBox="1"/>
              <p:nvPr/>
            </p:nvSpPr>
            <p:spPr>
              <a:xfrm>
                <a:off x="10648553" y="2886464"/>
                <a:ext cx="667833" cy="365309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>
                <a:defPPr>
                  <a:defRPr lang="zh-CN"/>
                </a:defPPr>
                <a:lvl1pPr algn="ctr">
                  <a:defRPr sz="2800">
                    <a:solidFill>
                      <a:schemeClr val="bg1"/>
                    </a:solidFill>
                    <a:latin typeface="+mj-ea"/>
                    <a:ea typeface="+mj-ea"/>
                  </a:defRPr>
                </a:lvl1pPr>
              </a:lstStyle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2"/>
                    </a:solidFill>
                    <a:effectLst/>
                    <a:uLnTx/>
                    <a:uFillTx/>
                    <a:latin typeface="OPPOSans M" panose="00020600040101010101" pitchFamily="18" charset="-122"/>
                    <a:ea typeface="OPPOSans M" panose="00020600040101010101" pitchFamily="18" charset="-122"/>
                    <a:cs typeface="OPPOSans M" panose="00020600040101010101" pitchFamily="18" charset="-122"/>
                  </a:rPr>
                  <a:t>95%</a:t>
                </a: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endParaRPr>
              </a:p>
            </p:txBody>
          </p:sp>
        </p:grpSp>
        <p:sp>
          <p:nvSpPr>
            <p:cNvPr id="40" name="Rectangle 8"/>
            <p:cNvSpPr/>
            <p:nvPr/>
          </p:nvSpPr>
          <p:spPr>
            <a:xfrm>
              <a:off x="9215145" y="1960111"/>
              <a:ext cx="2440127" cy="746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20000"/>
                </a:lnSpc>
                <a:defRPr/>
              </a:pPr>
              <a:r>
                <a:rPr lang="zh-CN" altLang="en-US" sz="1200" kern="0" dirty="0">
                  <a:solidFill>
                    <a:schemeClr val="tx1">
                      <a:alpha val="60000"/>
                    </a:schemeClr>
                  </a:solidFill>
                  <a:latin typeface="OPPOSans R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</a:rPr>
                <a:t>项目完成率达</a:t>
              </a:r>
              <a:r>
                <a:rPr lang="en-US" altLang="zh-CN" sz="1200" kern="0" dirty="0">
                  <a:solidFill>
                    <a:schemeClr val="tx1">
                      <a:alpha val="60000"/>
                    </a:schemeClr>
                  </a:solidFill>
                  <a:latin typeface="OPPOSans R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</a:rPr>
                <a:t>95%</a:t>
              </a:r>
              <a:r>
                <a:rPr lang="zh-CN" altLang="en-US" sz="1200" kern="0" dirty="0">
                  <a:solidFill>
                    <a:schemeClr val="tx1">
                      <a:alpha val="60000"/>
                    </a:schemeClr>
                  </a:solidFill>
                  <a:latin typeface="OPPOSans R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</a:rPr>
                <a:t>，整体推进较为顺利，但仍需针对未完成部分进行改进。</a:t>
              </a:r>
              <a:endParaRPr lang="zh-CN" altLang="en-US" sz="1200" kern="0" dirty="0">
                <a:solidFill>
                  <a:schemeClr val="tx1">
                    <a:alpha val="60000"/>
                  </a:schemeClr>
                </a:solidFill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</a:endParaRPr>
            </a:p>
          </p:txBody>
        </p:sp>
      </p:grpSp>
      <p:sp>
        <p:nvSpPr>
          <p:cNvPr id="45" name="任意多边形: 形状 44"/>
          <p:cNvSpPr/>
          <p:nvPr/>
        </p:nvSpPr>
        <p:spPr>
          <a:xfrm flipV="1">
            <a:off x="7654275" y="1136260"/>
            <a:ext cx="4166247" cy="373478"/>
          </a:xfrm>
          <a:custGeom>
            <a:avLst/>
            <a:gdLst>
              <a:gd name="connsiteX0" fmla="*/ 130207 w 3301033"/>
              <a:gd name="connsiteY0" fmla="*/ 1978393 h 1978393"/>
              <a:gd name="connsiteX1" fmla="*/ 3220962 w 3301033"/>
              <a:gd name="connsiteY1" fmla="*/ 1978393 h 1978393"/>
              <a:gd name="connsiteX2" fmla="*/ 3271644 w 3301033"/>
              <a:gd name="connsiteY2" fmla="*/ 1968161 h 1978393"/>
              <a:gd name="connsiteX3" fmla="*/ 3301033 w 3301033"/>
              <a:gd name="connsiteY3" fmla="*/ 1948347 h 1978393"/>
              <a:gd name="connsiteX4" fmla="*/ 50135 w 3301033"/>
              <a:gd name="connsiteY4" fmla="*/ 0 h 1978393"/>
              <a:gd name="connsiteX5" fmla="*/ 38137 w 3301033"/>
              <a:gd name="connsiteY5" fmla="*/ 8089 h 1978393"/>
              <a:gd name="connsiteX6" fmla="*/ 0 w 3301033"/>
              <a:gd name="connsiteY6" fmla="*/ 100159 h 1978393"/>
              <a:gd name="connsiteX7" fmla="*/ 0 w 3301033"/>
              <a:gd name="connsiteY7" fmla="*/ 1848186 h 1978393"/>
              <a:gd name="connsiteX8" fmla="*/ 130207 w 3301033"/>
              <a:gd name="connsiteY8" fmla="*/ 1978393 h 1978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301033" h="1978393">
                <a:moveTo>
                  <a:pt x="130207" y="1978393"/>
                </a:moveTo>
                <a:lnTo>
                  <a:pt x="3220962" y="1978393"/>
                </a:lnTo>
                <a:cubicBezTo>
                  <a:pt x="3238940" y="1978393"/>
                  <a:pt x="3256067" y="1974750"/>
                  <a:pt x="3271644" y="1968161"/>
                </a:cubicBezTo>
                <a:lnTo>
                  <a:pt x="3301033" y="1948347"/>
                </a:lnTo>
                <a:lnTo>
                  <a:pt x="50135" y="0"/>
                </a:lnTo>
                <a:lnTo>
                  <a:pt x="38137" y="8089"/>
                </a:lnTo>
                <a:cubicBezTo>
                  <a:pt x="14574" y="31652"/>
                  <a:pt x="0" y="64204"/>
                  <a:pt x="0" y="100159"/>
                </a:cubicBezTo>
                <a:lnTo>
                  <a:pt x="0" y="1848186"/>
                </a:lnTo>
                <a:cubicBezTo>
                  <a:pt x="0" y="1920097"/>
                  <a:pt x="58296" y="1978393"/>
                  <a:pt x="130207" y="1978393"/>
                </a:cubicBezTo>
                <a:close/>
              </a:path>
            </a:pathLst>
          </a:custGeom>
          <a:gradFill flip="none" rotWithShape="1">
            <a:gsLst>
              <a:gs pos="37000">
                <a:schemeClr val="bg1">
                  <a:alpha val="0"/>
                </a:schemeClr>
              </a:gs>
              <a:gs pos="100000">
                <a:schemeClr val="bg1">
                  <a:alpha val="20000"/>
                </a:schemeClr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</a:endParaRPr>
          </a:p>
        </p:txBody>
      </p:sp>
      <p:grpSp>
        <p:nvGrpSpPr>
          <p:cNvPr id="46" name="组合 45"/>
          <p:cNvGrpSpPr/>
          <p:nvPr/>
        </p:nvGrpSpPr>
        <p:grpSpPr>
          <a:xfrm>
            <a:off x="7812270" y="1237179"/>
            <a:ext cx="2111186" cy="225767"/>
            <a:chOff x="622811" y="1150290"/>
            <a:chExt cx="2111186" cy="225767"/>
          </a:xfrm>
        </p:grpSpPr>
        <p:sp>
          <p:nvSpPr>
            <p:cNvPr id="47" name="标题 1"/>
            <p:cNvSpPr txBox="1"/>
            <p:nvPr/>
          </p:nvSpPr>
          <p:spPr>
            <a:xfrm>
              <a:off x="622811" y="1150290"/>
              <a:ext cx="1411648" cy="225767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sp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kumimoji="1" lang="zh-CN" altLang="en-US" sz="1800" kern="1200" dirty="0">
                  <a:solidFill>
                    <a:schemeClr val="bg1"/>
                  </a:solidFill>
                  <a:latin typeface="OPPOSans B" panose="00020600040101010101" charset="-122"/>
                  <a:ea typeface="OPPOSans B" panose="00020600040101010101" charset="-122"/>
                  <a:cs typeface="OPPOSans B" panose="00020600040101010101" charset="-122"/>
                </a:defRPr>
              </a:lvl1pPr>
            </a:lstStyle>
            <a:p>
              <a:r>
                <a:rPr lang="zh-CN" altLang="en-US" sz="1600" b="1" dirty="0">
                  <a:solidFill>
                    <a:schemeClr val="bg2"/>
                  </a:solidFill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  <a:sym typeface="OPPOSans R" panose="00020600040101010101" pitchFamily="18" charset="-122"/>
                </a:rPr>
                <a:t>关键指标</a:t>
              </a:r>
              <a:endParaRPr lang="zh-CN" altLang="en-US" sz="1600" b="1" dirty="0">
                <a:solidFill>
                  <a:schemeClr val="bg2"/>
                </a:solidFill>
                <a:latin typeface="OPPOSans M" panose="00020600040101010101" pitchFamily="18" charset="-122"/>
                <a:ea typeface="OPPOSans M" panose="00020600040101010101" pitchFamily="18" charset="-122"/>
                <a:cs typeface="OPPOSans M" panose="00020600040101010101" pitchFamily="18" charset="-122"/>
                <a:sym typeface="OPPOSans R" panose="00020600040101010101" pitchFamily="18" charset="-122"/>
              </a:endParaRPr>
            </a:p>
          </p:txBody>
        </p:sp>
        <p:sp>
          <p:nvSpPr>
            <p:cNvPr id="48" name="标题 1"/>
            <p:cNvSpPr txBox="1"/>
            <p:nvPr/>
          </p:nvSpPr>
          <p:spPr>
            <a:xfrm>
              <a:off x="1467049" y="1205920"/>
              <a:ext cx="1266948" cy="155235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sp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kumimoji="1" lang="zh-CN" altLang="en-US" sz="1800" kern="1200" dirty="0">
                  <a:solidFill>
                    <a:schemeClr val="bg1"/>
                  </a:solidFill>
                  <a:latin typeface="OPPOSans B" panose="00020600040101010101" charset="-122"/>
                  <a:ea typeface="OPPOSans B" panose="00020600040101010101" charset="-122"/>
                  <a:cs typeface="OPPOSans B" panose="00020600040101010101" charset="-122"/>
                </a:defRPr>
              </a:lvl1pPr>
            </a:lstStyle>
            <a:p>
              <a:r>
                <a:rPr lang="en-US" altLang="zh-CN" sz="1100" dirty="0">
                  <a:solidFill>
                    <a:schemeClr val="bg2"/>
                  </a:solidFill>
                  <a:latin typeface="OPPOSans R" panose="00020600040101010101" pitchFamily="18" charset="-122"/>
                  <a:ea typeface="OPPOSans R" panose="00020600040101010101" pitchFamily="18" charset="-122"/>
                  <a:cs typeface="OPPOSans M" panose="00020600040101010101" pitchFamily="18" charset="-122"/>
                  <a:sym typeface="OPPOSans R" panose="00020600040101010101" pitchFamily="18" charset="-122"/>
                </a:rPr>
                <a:t>Key Indicator</a:t>
              </a:r>
              <a:endParaRPr lang="zh-CN" altLang="en-US" sz="1100" dirty="0">
                <a:solidFill>
                  <a:schemeClr val="bg2"/>
                </a:solidFill>
                <a:latin typeface="OPPOSans R" panose="00020600040101010101" pitchFamily="18" charset="-122"/>
                <a:ea typeface="OPPOSans R" panose="00020600040101010101" pitchFamily="18" charset="-122"/>
                <a:cs typeface="OPPOSans M" panose="00020600040101010101" pitchFamily="18" charset="-122"/>
                <a:sym typeface="OPPOSans R" panose="00020600040101010101" pitchFamily="18" charset="-122"/>
              </a:endParaRPr>
            </a:p>
          </p:txBody>
        </p:sp>
      </p:grpSp>
      <p:sp>
        <p:nvSpPr>
          <p:cNvPr id="49" name="文本框 48"/>
          <p:cNvSpPr txBox="1"/>
          <p:nvPr/>
        </p:nvSpPr>
        <p:spPr>
          <a:xfrm rot="20194286">
            <a:off x="432869" y="5372470"/>
            <a:ext cx="1641938" cy="819443"/>
          </a:xfrm>
          <a:prstGeom prst="rect">
            <a:avLst/>
          </a:prstGeom>
          <a:noFill/>
        </p:spPr>
        <p:txBody>
          <a:bodyPr wrap="none" rtlCol="0">
            <a:prstTxWarp prst="textArchDown">
              <a:avLst>
                <a:gd name="adj" fmla="val 20756524"/>
              </a:avLst>
            </a:prstTxWarp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kern="0" dirty="0">
                <a:solidFill>
                  <a:srgbClr val="FFFFFF"/>
                </a:solidFill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</a:rPr>
              <a:t>其他事务</a:t>
            </a:r>
            <a:endParaRPr kumimoji="1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7989339" y="2997365"/>
            <a:ext cx="3496118" cy="523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just">
              <a:lnSpc>
                <a:spcPct val="120000"/>
              </a:lnSpc>
              <a:defRPr sz="1200" kern="0">
                <a:solidFill>
                  <a:schemeClr val="tx1">
                    <a:alpha val="60000"/>
                  </a:schemeClr>
                </a:solidFill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</a:defRPr>
            </a:lvl1pPr>
          </a:lstStyle>
          <a:p>
            <a:pPr marL="171450" indent="-171450">
              <a:buFont typeface="OPPOSans R" panose="00020600040101010101" pitchFamily="18" charset="-122"/>
              <a:buChar char="•"/>
            </a:pPr>
            <a:r>
              <a:rPr lang="zh-CN" altLang="en-US" dirty="0"/>
              <a:t>已完成：</a:t>
            </a:r>
            <a:r>
              <a:rPr lang="en-US" altLang="zh-CN" dirty="0"/>
              <a:t>A</a:t>
            </a:r>
            <a:r>
              <a:rPr lang="zh-CN" altLang="en-US" dirty="0"/>
              <a:t>项目、</a:t>
            </a:r>
            <a:r>
              <a:rPr lang="en-US" altLang="zh-CN" dirty="0"/>
              <a:t>B</a:t>
            </a:r>
            <a:r>
              <a:rPr lang="zh-CN" altLang="en-US" dirty="0"/>
              <a:t>流程优化、</a:t>
            </a:r>
            <a:r>
              <a:rPr lang="en-US" altLang="zh-CN" dirty="0"/>
              <a:t>C</a:t>
            </a:r>
            <a:r>
              <a:rPr lang="zh-CN" altLang="en-US" dirty="0"/>
              <a:t>系统升级</a:t>
            </a:r>
            <a:endParaRPr lang="zh-CN" altLang="en-US" dirty="0"/>
          </a:p>
          <a:p>
            <a:pPr marL="171450" indent="-171450">
              <a:buFont typeface="OPPOSans R" panose="00020600040101010101" pitchFamily="18" charset="-122"/>
              <a:buChar char="•"/>
            </a:pPr>
            <a:r>
              <a:rPr lang="zh-CN" altLang="en-US" dirty="0"/>
              <a:t>未完成：</a:t>
            </a:r>
            <a:r>
              <a:rPr lang="en-US" altLang="zh-CN" dirty="0"/>
              <a:t>D</a:t>
            </a:r>
            <a:r>
              <a:rPr lang="zh-CN" altLang="en-US" dirty="0"/>
              <a:t>任务（因资源限制延期至下季度）</a:t>
            </a:r>
            <a:endParaRPr lang="zh-CN" altLang="en-US" dirty="0"/>
          </a:p>
        </p:txBody>
      </p:sp>
      <p:sp>
        <p:nvSpPr>
          <p:cNvPr id="69" name="文本框 68"/>
          <p:cNvSpPr txBox="1"/>
          <p:nvPr/>
        </p:nvSpPr>
        <p:spPr>
          <a:xfrm rot="20194286">
            <a:off x="511839" y="5368235"/>
            <a:ext cx="1641938" cy="819443"/>
          </a:xfrm>
          <a:prstGeom prst="rect">
            <a:avLst/>
          </a:prstGeom>
          <a:noFill/>
        </p:spPr>
        <p:txBody>
          <a:bodyPr wrap="none" rtlCol="0">
            <a:prstTxWarp prst="textArchDown">
              <a:avLst>
                <a:gd name="adj" fmla="val 20756524"/>
              </a:avLst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</a:rPr>
              <a:t>其他事务</a:t>
            </a:r>
            <a:endParaRPr kumimoji="1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POSans R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4854258" y="1270231"/>
            <a:ext cx="2543830" cy="5143051"/>
            <a:chOff x="4712062" y="1270231"/>
            <a:chExt cx="2543830" cy="5143051"/>
          </a:xfrm>
        </p:grpSpPr>
        <p:grpSp>
          <p:nvGrpSpPr>
            <p:cNvPr id="22" name="组合 21"/>
            <p:cNvGrpSpPr/>
            <p:nvPr/>
          </p:nvGrpSpPr>
          <p:grpSpPr>
            <a:xfrm>
              <a:off x="4712062" y="1270231"/>
              <a:ext cx="2543830" cy="949823"/>
              <a:chOff x="4712062" y="1270231"/>
              <a:chExt cx="2543830" cy="949823"/>
            </a:xfrm>
          </p:grpSpPr>
          <p:sp>
            <p:nvSpPr>
              <p:cNvPr id="32" name="标题 1"/>
              <p:cNvSpPr txBox="1"/>
              <p:nvPr/>
            </p:nvSpPr>
            <p:spPr>
              <a:xfrm>
                <a:off x="4712062" y="1270231"/>
                <a:ext cx="1836416" cy="3735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lnSpc>
                    <a:spcPct val="120000"/>
                  </a:lnSpc>
                  <a:defRPr sz="1600">
                    <a:gradFill>
                      <a:gsLst>
                        <a:gs pos="0">
                          <a:schemeClr val="accent3"/>
                        </a:gs>
                        <a:gs pos="99000">
                          <a:schemeClr val="accent3">
                            <a:lumMod val="60000"/>
                            <a:lumOff val="40000"/>
                          </a:schemeClr>
                        </a:gs>
                      </a:gsLst>
                      <a:lin ang="16200000" scaled="1"/>
                    </a:gradFill>
                    <a:latin typeface="OPPOSans H" panose="00020600040101010101" pitchFamily="18" charset="-122"/>
                    <a:ea typeface="OPPOSans H" panose="00020600040101010101" pitchFamily="18" charset="-122"/>
                    <a:cs typeface="OPPOSans H" panose="00020600040101010101" pitchFamily="18" charset="-122"/>
                  </a:defRPr>
                </a:lvl1pPr>
              </a:lstStyle>
              <a:p>
                <a:r>
                  <a:rPr lang="zh-CN" altLang="en-US" dirty="0">
                    <a:gradFill>
                      <a:gsLst>
                        <a:gs pos="0">
                          <a:schemeClr val="accent1"/>
                        </a:gs>
                        <a:gs pos="100000">
                          <a:schemeClr val="accent1">
                            <a:lumMod val="60000"/>
                            <a:lumOff val="40000"/>
                          </a:schemeClr>
                        </a:gs>
                      </a:gsLst>
                      <a:lin ang="16200000" scaled="1"/>
                    </a:gradFill>
                    <a:sym typeface="OPPOSans R" panose="00020600040101010101" pitchFamily="18" charset="-122"/>
                  </a:rPr>
                  <a:t>核心项目推进</a:t>
                </a:r>
                <a:endParaRPr lang="zh-CN" altLang="en-US" dirty="0">
                  <a:gradFill>
                    <a:gsLst>
                      <a:gs pos="0">
                        <a:schemeClr val="accent1"/>
                      </a:gs>
                      <a:gs pos="100000">
                        <a:schemeClr val="accent1">
                          <a:lumMod val="60000"/>
                          <a:lumOff val="40000"/>
                        </a:schemeClr>
                      </a:gs>
                    </a:gsLst>
                    <a:lin ang="16200000" scaled="1"/>
                  </a:gradFill>
                  <a:sym typeface="OPPOSans R" panose="00020600040101010101" pitchFamily="18" charset="-122"/>
                </a:endParaRPr>
              </a:p>
            </p:txBody>
          </p:sp>
          <p:sp>
            <p:nvSpPr>
              <p:cNvPr id="33" name="标题 1"/>
              <p:cNvSpPr txBox="1"/>
              <p:nvPr/>
            </p:nvSpPr>
            <p:spPr>
              <a:xfrm>
                <a:off x="4795252" y="1620466"/>
                <a:ext cx="2460640" cy="599588"/>
              </a:xfrm>
              <a:prstGeom prst="rect">
                <a:avLst/>
              </a:prstGeom>
              <a:noFill/>
            </p:spPr>
            <p:txBody>
              <a:bodyPr vert="horz" wrap="square" lIns="0" tIns="0" rIns="0" bIns="0" rtlCol="0" anchor="ctr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kumimoji="1" lang="zh-CN" altLang="en-US" sz="1800" kern="1200" dirty="0">
                    <a:solidFill>
                      <a:schemeClr val="bg1"/>
                    </a:solidFill>
                    <a:latin typeface="OPPOSans B" panose="00020600040101010101" charset="-122"/>
                    <a:ea typeface="OPPOSans B" panose="00020600040101010101" charset="-122"/>
                    <a:cs typeface="OPPOSans B" panose="00020600040101010101" charset="-122"/>
                  </a:defRPr>
                </a:lvl1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100" dirty="0">
                    <a:solidFill>
                      <a:schemeClr val="tx1">
                        <a:alpha val="60000"/>
                      </a:schemeClr>
                    </a:solidFill>
                    <a:latin typeface="OPPOSans R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  <a:sym typeface="OPPOSans R" panose="00020600040101010101" pitchFamily="18" charset="-122"/>
                  </a:rPr>
                  <a:t>负责</a:t>
                </a:r>
                <a:r>
                  <a:rPr lang="en-US" altLang="zh-CN" sz="1100" dirty="0">
                    <a:solidFill>
                      <a:schemeClr val="tx1">
                        <a:alpha val="60000"/>
                      </a:schemeClr>
                    </a:solidFill>
                    <a:latin typeface="OPPOSans R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  <a:sym typeface="OPPOSans R" panose="00020600040101010101" pitchFamily="18" charset="-122"/>
                  </a:rPr>
                  <a:t>A</a:t>
                </a:r>
                <a:r>
                  <a:rPr lang="zh-CN" altLang="en-US" sz="1100" dirty="0">
                    <a:solidFill>
                      <a:schemeClr val="tx1">
                        <a:alpha val="60000"/>
                      </a:schemeClr>
                    </a:solidFill>
                    <a:latin typeface="OPPOSans R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  <a:sym typeface="OPPOSans R" panose="00020600040101010101" pitchFamily="18" charset="-122"/>
                  </a:rPr>
                  <a:t>项目的需求分析、方案设计及实施，确保项目按时交付，提升客户满意度。</a:t>
                </a:r>
                <a:endParaRPr lang="zh-CN" altLang="en-US" sz="1100" dirty="0">
                  <a:solidFill>
                    <a:schemeClr val="tx1">
                      <a:alpha val="60000"/>
                    </a:schemeClr>
                  </a:solidFill>
                  <a:latin typeface="OPPOSans R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R" panose="00020600040101010101" pitchFamily="18" charset="-122"/>
                </a:endParaRPr>
              </a:p>
            </p:txBody>
          </p:sp>
        </p:grpSp>
        <p:grpSp>
          <p:nvGrpSpPr>
            <p:cNvPr id="23" name="组合 22"/>
            <p:cNvGrpSpPr/>
            <p:nvPr/>
          </p:nvGrpSpPr>
          <p:grpSpPr>
            <a:xfrm>
              <a:off x="4712062" y="5463459"/>
              <a:ext cx="2543830" cy="949823"/>
              <a:chOff x="4712062" y="1270231"/>
              <a:chExt cx="2543830" cy="949823"/>
            </a:xfrm>
          </p:grpSpPr>
          <p:sp>
            <p:nvSpPr>
              <p:cNvPr id="30" name="标题 1"/>
              <p:cNvSpPr txBox="1"/>
              <p:nvPr/>
            </p:nvSpPr>
            <p:spPr>
              <a:xfrm>
                <a:off x="4712062" y="1270231"/>
                <a:ext cx="1836416" cy="3735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lnSpc>
                    <a:spcPct val="120000"/>
                  </a:lnSpc>
                  <a:defRPr sz="1600">
                    <a:gradFill>
                      <a:gsLst>
                        <a:gs pos="0">
                          <a:schemeClr val="accent1"/>
                        </a:gs>
                        <a:gs pos="100000">
                          <a:schemeClr val="accent1">
                            <a:lumMod val="60000"/>
                            <a:lumOff val="40000"/>
                          </a:schemeClr>
                        </a:gs>
                      </a:gsLst>
                      <a:lin ang="16200000" scaled="1"/>
                    </a:gradFill>
                    <a:latin typeface="OPPOSans H" panose="00020600040101010101" pitchFamily="18" charset="-122"/>
                    <a:ea typeface="OPPOSans H" panose="00020600040101010101" pitchFamily="18" charset="-122"/>
                    <a:cs typeface="OPPOSans H" panose="00020600040101010101" pitchFamily="18" charset="-122"/>
                  </a:defRPr>
                </a:lvl1pPr>
              </a:lstStyle>
              <a:p>
                <a:r>
                  <a:rPr lang="zh-CN" altLang="en-US" dirty="0">
                    <a:sym typeface="OPPOSans R" panose="00020600040101010101" pitchFamily="18" charset="-122"/>
                  </a:rPr>
                  <a:t>其他事务支持</a:t>
                </a:r>
                <a:endParaRPr lang="zh-CN" altLang="en-US" dirty="0">
                  <a:sym typeface="OPPOSans R" panose="00020600040101010101" pitchFamily="18" charset="-122"/>
                </a:endParaRPr>
              </a:p>
            </p:txBody>
          </p:sp>
          <p:sp>
            <p:nvSpPr>
              <p:cNvPr id="31" name="标题 1"/>
              <p:cNvSpPr txBox="1"/>
              <p:nvPr/>
            </p:nvSpPr>
            <p:spPr>
              <a:xfrm>
                <a:off x="4795252" y="1620466"/>
                <a:ext cx="2460640" cy="599588"/>
              </a:xfrm>
              <a:prstGeom prst="rect">
                <a:avLst/>
              </a:prstGeom>
              <a:noFill/>
            </p:spPr>
            <p:txBody>
              <a:bodyPr vert="horz" wrap="square" lIns="0" tIns="0" rIns="0" bIns="0" rtlCol="0" anchor="ctr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kumimoji="1" lang="zh-CN" altLang="en-US" sz="1800" kern="1200" dirty="0">
                    <a:solidFill>
                      <a:schemeClr val="bg1"/>
                    </a:solidFill>
                    <a:latin typeface="OPPOSans B" panose="00020600040101010101" charset="-122"/>
                    <a:ea typeface="OPPOSans B" panose="00020600040101010101" charset="-122"/>
                    <a:cs typeface="OPPOSans B" panose="00020600040101010101" charset="-122"/>
                  </a:defRPr>
                </a:lvl1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100" dirty="0">
                    <a:solidFill>
                      <a:schemeClr val="tx1">
                        <a:alpha val="60000"/>
                      </a:schemeClr>
                    </a:solidFill>
                    <a:latin typeface="OPPOSans R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  <a:sym typeface="OPPOSans R" panose="00020600040101010101" pitchFamily="18" charset="-122"/>
                  </a:rPr>
                  <a:t>参与</a:t>
                </a:r>
                <a:r>
                  <a:rPr lang="en-US" altLang="zh-CN" sz="1100" dirty="0">
                    <a:solidFill>
                      <a:schemeClr val="tx1">
                        <a:alpha val="60000"/>
                      </a:schemeClr>
                    </a:solidFill>
                    <a:latin typeface="OPPOSans R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  <a:sym typeface="OPPOSans R" panose="00020600040101010101" pitchFamily="18" charset="-122"/>
                  </a:rPr>
                  <a:t>12</a:t>
                </a:r>
                <a:r>
                  <a:rPr lang="zh-CN" altLang="en-US" sz="1100" dirty="0">
                    <a:solidFill>
                      <a:schemeClr val="tx1">
                        <a:alpha val="60000"/>
                      </a:schemeClr>
                    </a:solidFill>
                    <a:latin typeface="OPPOSans R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  <a:sym typeface="OPPOSans R" panose="00020600040101010101" pitchFamily="18" charset="-122"/>
                  </a:rPr>
                  <a:t>次跨部门会议，提出</a:t>
                </a:r>
                <a:r>
                  <a:rPr lang="en-US" altLang="zh-CN" sz="1100" dirty="0">
                    <a:solidFill>
                      <a:schemeClr val="tx1">
                        <a:alpha val="60000"/>
                      </a:schemeClr>
                    </a:solidFill>
                    <a:latin typeface="OPPOSans R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  <a:sym typeface="OPPOSans R" panose="00020600040101010101" pitchFamily="18" charset="-122"/>
                  </a:rPr>
                  <a:t>5</a:t>
                </a:r>
                <a:r>
                  <a:rPr lang="zh-CN" altLang="en-US" sz="1100" dirty="0">
                    <a:solidFill>
                      <a:schemeClr val="tx1">
                        <a:alpha val="60000"/>
                      </a:schemeClr>
                    </a:solidFill>
                    <a:latin typeface="OPPOSans R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  <a:sym typeface="OPPOSans R" panose="00020600040101010101" pitchFamily="18" charset="-122"/>
                  </a:rPr>
                  <a:t>项改进建议，</a:t>
                </a:r>
                <a:r>
                  <a:rPr lang="en-US" altLang="zh-CN" sz="1100" dirty="0">
                    <a:solidFill>
                      <a:schemeClr val="tx1">
                        <a:alpha val="60000"/>
                      </a:schemeClr>
                    </a:solidFill>
                    <a:latin typeface="OPPOSans R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  <a:sym typeface="OPPOSans R" panose="00020600040101010101" pitchFamily="18" charset="-122"/>
                  </a:rPr>
                  <a:t>3</a:t>
                </a:r>
                <a:r>
                  <a:rPr lang="zh-CN" altLang="en-US" sz="1100" dirty="0">
                    <a:solidFill>
                      <a:schemeClr val="tx1">
                        <a:alpha val="60000"/>
                      </a:schemeClr>
                    </a:solidFill>
                    <a:latin typeface="OPPOSans R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  <a:sym typeface="OPPOSans R" panose="00020600040101010101" pitchFamily="18" charset="-122"/>
                  </a:rPr>
                  <a:t>项被采纳；反思需优化时间管理，控制此类事务占比。</a:t>
                </a:r>
                <a:endParaRPr lang="zh-CN" altLang="en-US" sz="1100" dirty="0">
                  <a:solidFill>
                    <a:schemeClr val="tx1">
                      <a:alpha val="60000"/>
                    </a:schemeClr>
                  </a:solidFill>
                  <a:latin typeface="OPPOSans R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R" panose="00020600040101010101" pitchFamily="18" charset="-122"/>
                </a:endParaRPr>
              </a:p>
            </p:txBody>
          </p:sp>
        </p:grpSp>
        <p:grpSp>
          <p:nvGrpSpPr>
            <p:cNvPr id="24" name="组合 23"/>
            <p:cNvGrpSpPr/>
            <p:nvPr/>
          </p:nvGrpSpPr>
          <p:grpSpPr>
            <a:xfrm>
              <a:off x="4712062" y="4065717"/>
              <a:ext cx="2543830" cy="949823"/>
              <a:chOff x="4712062" y="1270231"/>
              <a:chExt cx="2543830" cy="949823"/>
            </a:xfrm>
          </p:grpSpPr>
          <p:sp>
            <p:nvSpPr>
              <p:cNvPr id="28" name="标题 1"/>
              <p:cNvSpPr txBox="1"/>
              <p:nvPr/>
            </p:nvSpPr>
            <p:spPr>
              <a:xfrm>
                <a:off x="4712062" y="1270231"/>
                <a:ext cx="1836416" cy="3735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lnSpc>
                    <a:spcPct val="120000"/>
                  </a:lnSpc>
                  <a:defRPr sz="1600">
                    <a:gradFill>
                      <a:gsLst>
                        <a:gs pos="0">
                          <a:schemeClr val="accent1"/>
                        </a:gs>
                        <a:gs pos="100000">
                          <a:schemeClr val="accent1">
                            <a:lumMod val="60000"/>
                            <a:lumOff val="40000"/>
                          </a:schemeClr>
                        </a:gs>
                      </a:gsLst>
                      <a:lin ang="16200000" scaled="1"/>
                    </a:gradFill>
                    <a:latin typeface="OPPOSans H" panose="00020600040101010101" pitchFamily="18" charset="-122"/>
                    <a:ea typeface="OPPOSans H" panose="00020600040101010101" pitchFamily="18" charset="-122"/>
                    <a:cs typeface="OPPOSans H" panose="00020600040101010101" pitchFamily="18" charset="-122"/>
                  </a:defRPr>
                </a:lvl1pPr>
              </a:lstStyle>
              <a:p>
                <a:r>
                  <a:rPr lang="zh-CN" altLang="en-US" dirty="0">
                    <a:sym typeface="OPPOSans R" panose="00020600040101010101" pitchFamily="18" charset="-122"/>
                  </a:rPr>
                  <a:t>团队协作与赋能</a:t>
                </a:r>
                <a:endParaRPr lang="zh-CN" altLang="en-US" dirty="0">
                  <a:sym typeface="OPPOSans R" panose="00020600040101010101" pitchFamily="18" charset="-122"/>
                </a:endParaRPr>
              </a:p>
            </p:txBody>
          </p:sp>
          <p:sp>
            <p:nvSpPr>
              <p:cNvPr id="29" name="标题 1"/>
              <p:cNvSpPr txBox="1"/>
              <p:nvPr/>
            </p:nvSpPr>
            <p:spPr>
              <a:xfrm>
                <a:off x="4795252" y="1620466"/>
                <a:ext cx="2460640" cy="599588"/>
              </a:xfrm>
              <a:prstGeom prst="rect">
                <a:avLst/>
              </a:prstGeom>
              <a:noFill/>
            </p:spPr>
            <p:txBody>
              <a:bodyPr vert="horz" wrap="square" lIns="0" tIns="0" rIns="0" bIns="0" rtlCol="0" anchor="ctr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kumimoji="1" lang="zh-CN" altLang="en-US" sz="1800" kern="1200" dirty="0">
                    <a:solidFill>
                      <a:schemeClr val="bg1"/>
                    </a:solidFill>
                    <a:latin typeface="OPPOSans B" panose="00020600040101010101" charset="-122"/>
                    <a:ea typeface="OPPOSans B" panose="00020600040101010101" charset="-122"/>
                    <a:cs typeface="OPPOSans B" panose="00020600040101010101" charset="-122"/>
                  </a:defRPr>
                </a:lvl1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100" dirty="0">
                    <a:solidFill>
                      <a:schemeClr val="tx1">
                        <a:alpha val="60000"/>
                      </a:schemeClr>
                    </a:solidFill>
                    <a:latin typeface="OPPOSans R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  <a:sym typeface="OPPOSans R" panose="00020600040101010101" pitchFamily="18" charset="-122"/>
                  </a:rPr>
                  <a:t>组织</a:t>
                </a:r>
                <a:r>
                  <a:rPr lang="en-US" altLang="zh-CN" sz="1100" dirty="0">
                    <a:solidFill>
                      <a:schemeClr val="tx1">
                        <a:alpha val="60000"/>
                      </a:schemeClr>
                    </a:solidFill>
                    <a:latin typeface="OPPOSans R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  <a:sym typeface="OPPOSans R" panose="00020600040101010101" pitchFamily="18" charset="-122"/>
                  </a:rPr>
                  <a:t>3</a:t>
                </a:r>
                <a:r>
                  <a:rPr lang="zh-CN" altLang="en-US" sz="1100" dirty="0">
                    <a:solidFill>
                      <a:schemeClr val="tx1">
                        <a:alpha val="60000"/>
                      </a:schemeClr>
                    </a:solidFill>
                    <a:latin typeface="OPPOSans R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  <a:sym typeface="OPPOSans R" panose="00020600040101010101" pitchFamily="18" charset="-122"/>
                  </a:rPr>
                  <a:t>次培训，团队技能评估提升至</a:t>
                </a:r>
                <a:r>
                  <a:rPr lang="en-US" altLang="zh-CN" sz="1100" dirty="0">
                    <a:solidFill>
                      <a:schemeClr val="tx1">
                        <a:alpha val="60000"/>
                      </a:schemeClr>
                    </a:solidFill>
                    <a:latin typeface="OPPOSans R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  <a:sym typeface="OPPOSans R" panose="00020600040101010101" pitchFamily="18" charset="-122"/>
                  </a:rPr>
                  <a:t>90%</a:t>
                </a:r>
                <a:r>
                  <a:rPr lang="zh-CN" altLang="en-US" sz="1100" dirty="0">
                    <a:solidFill>
                      <a:schemeClr val="tx1">
                        <a:alpha val="60000"/>
                      </a:schemeClr>
                    </a:solidFill>
                    <a:latin typeface="OPPOSans R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  <a:sym typeface="OPPOSans R" panose="00020600040101010101" pitchFamily="18" charset="-122"/>
                  </a:rPr>
                  <a:t>；搭建知识共享平台，问题解决效率提升</a:t>
                </a:r>
                <a:r>
                  <a:rPr lang="en-US" altLang="zh-CN" sz="1100" dirty="0">
                    <a:solidFill>
                      <a:schemeClr val="tx1">
                        <a:alpha val="60000"/>
                      </a:schemeClr>
                    </a:solidFill>
                    <a:latin typeface="OPPOSans R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  <a:sym typeface="OPPOSans R" panose="00020600040101010101" pitchFamily="18" charset="-122"/>
                  </a:rPr>
                  <a:t>40%</a:t>
                </a:r>
                <a:r>
                  <a:rPr lang="zh-CN" altLang="en-US" sz="1100" dirty="0">
                    <a:solidFill>
                      <a:schemeClr val="tx1">
                        <a:alpha val="60000"/>
                      </a:schemeClr>
                    </a:solidFill>
                    <a:latin typeface="OPPOSans R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  <a:sym typeface="OPPOSans R" panose="00020600040101010101" pitchFamily="18" charset="-122"/>
                  </a:rPr>
                  <a:t>。</a:t>
                </a:r>
                <a:endParaRPr lang="zh-CN" altLang="en-US" sz="1100" dirty="0">
                  <a:solidFill>
                    <a:schemeClr val="tx1">
                      <a:alpha val="60000"/>
                    </a:schemeClr>
                  </a:solidFill>
                  <a:latin typeface="OPPOSans R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R" panose="00020600040101010101" pitchFamily="18" charset="-122"/>
                </a:endParaRPr>
              </a:p>
            </p:txBody>
          </p:sp>
        </p:grpSp>
        <p:grpSp>
          <p:nvGrpSpPr>
            <p:cNvPr id="25" name="组合 24"/>
            <p:cNvGrpSpPr/>
            <p:nvPr/>
          </p:nvGrpSpPr>
          <p:grpSpPr>
            <a:xfrm>
              <a:off x="4712062" y="2667974"/>
              <a:ext cx="2543830" cy="949823"/>
              <a:chOff x="4712062" y="1270231"/>
              <a:chExt cx="2543830" cy="949823"/>
            </a:xfrm>
          </p:grpSpPr>
          <p:sp>
            <p:nvSpPr>
              <p:cNvPr id="26" name="标题 1"/>
              <p:cNvSpPr txBox="1"/>
              <p:nvPr/>
            </p:nvSpPr>
            <p:spPr>
              <a:xfrm>
                <a:off x="4712062" y="1270231"/>
                <a:ext cx="1836416" cy="3735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lnSpc>
                    <a:spcPct val="120000"/>
                  </a:lnSpc>
                  <a:defRPr sz="1600">
                    <a:gradFill>
                      <a:gsLst>
                        <a:gs pos="0">
                          <a:schemeClr val="accent1"/>
                        </a:gs>
                        <a:gs pos="100000">
                          <a:schemeClr val="accent1">
                            <a:lumMod val="60000"/>
                            <a:lumOff val="40000"/>
                          </a:schemeClr>
                        </a:gs>
                      </a:gsLst>
                      <a:lin ang="16200000" scaled="1"/>
                    </a:gradFill>
                    <a:latin typeface="OPPOSans H" panose="00020600040101010101" pitchFamily="18" charset="-122"/>
                    <a:ea typeface="OPPOSans H" panose="00020600040101010101" pitchFamily="18" charset="-122"/>
                    <a:cs typeface="OPPOSans H" panose="00020600040101010101" pitchFamily="18" charset="-122"/>
                  </a:defRPr>
                </a:lvl1pPr>
              </a:lstStyle>
              <a:p>
                <a:r>
                  <a:rPr lang="zh-CN" altLang="en-US" dirty="0">
                    <a:sym typeface="OPPOSans R" panose="00020600040101010101" pitchFamily="18" charset="-122"/>
                  </a:rPr>
                  <a:t>流程优化与创新</a:t>
                </a:r>
                <a:endParaRPr lang="zh-CN" altLang="en-US" dirty="0">
                  <a:sym typeface="OPPOSans R" panose="00020600040101010101" pitchFamily="18" charset="-122"/>
                </a:endParaRPr>
              </a:p>
            </p:txBody>
          </p:sp>
          <p:sp>
            <p:nvSpPr>
              <p:cNvPr id="27" name="标题 1"/>
              <p:cNvSpPr txBox="1"/>
              <p:nvPr/>
            </p:nvSpPr>
            <p:spPr>
              <a:xfrm>
                <a:off x="4795252" y="1620466"/>
                <a:ext cx="2460640" cy="599588"/>
              </a:xfrm>
              <a:prstGeom prst="rect">
                <a:avLst/>
              </a:prstGeom>
              <a:noFill/>
            </p:spPr>
            <p:txBody>
              <a:bodyPr vert="horz" wrap="square" lIns="0" tIns="0" rIns="0" bIns="0" rtlCol="0" anchor="ctr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kumimoji="1" lang="zh-CN" altLang="en-US" sz="1800" kern="1200" dirty="0">
                    <a:solidFill>
                      <a:schemeClr val="bg1"/>
                    </a:solidFill>
                    <a:latin typeface="OPPOSans B" panose="00020600040101010101" charset="-122"/>
                    <a:ea typeface="OPPOSans B" panose="00020600040101010101" charset="-122"/>
                    <a:cs typeface="OPPOSans B" panose="00020600040101010101" charset="-122"/>
                  </a:defRPr>
                </a:lvl1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100" dirty="0">
                    <a:solidFill>
                      <a:schemeClr val="tx1">
                        <a:alpha val="60000"/>
                      </a:schemeClr>
                    </a:solidFill>
                    <a:latin typeface="OPPOSans R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  <a:sym typeface="OPPOSans R" panose="00020600040101010101" pitchFamily="18" charset="-122"/>
                  </a:rPr>
                  <a:t>将审批时间缩短至</a:t>
                </a:r>
                <a:r>
                  <a:rPr lang="en-US" altLang="zh-CN" sz="1100" dirty="0">
                    <a:solidFill>
                      <a:schemeClr val="tx1">
                        <a:alpha val="60000"/>
                      </a:schemeClr>
                    </a:solidFill>
                    <a:latin typeface="OPPOSans R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  <a:sym typeface="OPPOSans R" panose="00020600040101010101" pitchFamily="18" charset="-122"/>
                  </a:rPr>
                  <a:t>2</a:t>
                </a:r>
                <a:r>
                  <a:rPr lang="zh-CN" altLang="en-US" sz="1100" dirty="0">
                    <a:solidFill>
                      <a:schemeClr val="tx1">
                        <a:alpha val="60000"/>
                      </a:schemeClr>
                    </a:solidFill>
                    <a:latin typeface="OPPOSans R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  <a:sym typeface="OPPOSans R" panose="00020600040101010101" pitchFamily="18" charset="-122"/>
                  </a:rPr>
                  <a:t>天，效率提升</a:t>
                </a:r>
                <a:r>
                  <a:rPr lang="en-US" altLang="zh-CN" sz="1100" dirty="0">
                    <a:solidFill>
                      <a:schemeClr val="tx1">
                        <a:alpha val="60000"/>
                      </a:schemeClr>
                    </a:solidFill>
                    <a:latin typeface="OPPOSans R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  <a:sym typeface="OPPOSans R" panose="00020600040101010101" pitchFamily="18" charset="-122"/>
                  </a:rPr>
                  <a:t>60%</a:t>
                </a:r>
                <a:r>
                  <a:rPr lang="zh-CN" altLang="en-US" sz="1100" dirty="0">
                    <a:solidFill>
                      <a:schemeClr val="tx1">
                        <a:alpha val="60000"/>
                      </a:schemeClr>
                    </a:solidFill>
                    <a:latin typeface="OPPOSans R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  <a:sym typeface="OPPOSans R" panose="00020600040101010101" pitchFamily="18" charset="-122"/>
                  </a:rPr>
                  <a:t>；引入自动化工具，跨部门协作机制解决信息孤岛问题。</a:t>
                </a:r>
                <a:endParaRPr lang="zh-CN" altLang="en-US" sz="1100" dirty="0">
                  <a:solidFill>
                    <a:schemeClr val="tx1">
                      <a:alpha val="60000"/>
                    </a:schemeClr>
                  </a:solidFill>
                  <a:latin typeface="OPPOSans R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OPPOSans R" panose="00020600040101010101" pitchFamily="18" charset="-122"/>
                </a:endParaRPr>
              </a:p>
            </p:txBody>
          </p:sp>
        </p:grpSp>
      </p:grpSp>
      <p:sp>
        <p:nvSpPr>
          <p:cNvPr id="71" name="TextBox 86"/>
          <p:cNvSpPr txBox="1"/>
          <p:nvPr/>
        </p:nvSpPr>
        <p:spPr>
          <a:xfrm>
            <a:off x="9230517" y="1794020"/>
            <a:ext cx="1713519" cy="3735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1600">
                <a:gradFill>
                  <a:gsLst>
                    <a:gs pos="0">
                      <a:schemeClr val="accent3"/>
                    </a:gs>
                    <a:gs pos="99000">
                      <a:schemeClr val="accent3">
                        <a:lumMod val="60000"/>
                        <a:lumOff val="40000"/>
                      </a:schemeClr>
                    </a:gs>
                  </a:gsLst>
                  <a:lin ang="16200000" scaled="1"/>
                </a:gradFill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defRPr>
            </a:lvl1pPr>
          </a:lstStyle>
          <a:p>
            <a:r>
              <a:rPr lang="zh-CN" altLang="en-US" dirty="0"/>
              <a:t>项目完成率</a:t>
            </a:r>
            <a:endParaRPr lang="zh-CN" altLang="en-US" dirty="0"/>
          </a:p>
        </p:txBody>
      </p:sp>
      <p:cxnSp>
        <p:nvCxnSpPr>
          <p:cNvPr id="77" name="直接连接符 76"/>
          <p:cNvCxnSpPr/>
          <p:nvPr/>
        </p:nvCxnSpPr>
        <p:spPr>
          <a:xfrm>
            <a:off x="4832737" y="2454468"/>
            <a:ext cx="2526525" cy="0"/>
          </a:xfrm>
          <a:prstGeom prst="line">
            <a:avLst/>
          </a:prstGeom>
          <a:ln>
            <a:gradFill flip="none" rotWithShape="1">
              <a:gsLst>
                <a:gs pos="0">
                  <a:schemeClr val="bg2"/>
                </a:gs>
                <a:gs pos="54000">
                  <a:schemeClr val="accent1">
                    <a:lumMod val="45000"/>
                    <a:lumOff val="55000"/>
                  </a:schemeClr>
                </a:gs>
                <a:gs pos="100000">
                  <a:schemeClr val="bg2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连接符 78"/>
          <p:cNvCxnSpPr/>
          <p:nvPr/>
        </p:nvCxnSpPr>
        <p:spPr>
          <a:xfrm>
            <a:off x="4832737" y="3909888"/>
            <a:ext cx="2526525" cy="0"/>
          </a:xfrm>
          <a:prstGeom prst="line">
            <a:avLst/>
          </a:prstGeom>
          <a:ln>
            <a:gradFill flip="none" rotWithShape="1">
              <a:gsLst>
                <a:gs pos="0">
                  <a:schemeClr val="bg2"/>
                </a:gs>
                <a:gs pos="54000">
                  <a:schemeClr val="accent1">
                    <a:lumMod val="45000"/>
                    <a:lumOff val="55000"/>
                  </a:schemeClr>
                </a:gs>
                <a:gs pos="100000">
                  <a:schemeClr val="bg2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/>
          <p:cNvCxnSpPr/>
          <p:nvPr/>
        </p:nvCxnSpPr>
        <p:spPr>
          <a:xfrm>
            <a:off x="4832737" y="5321493"/>
            <a:ext cx="2526525" cy="0"/>
          </a:xfrm>
          <a:prstGeom prst="line">
            <a:avLst/>
          </a:prstGeom>
          <a:ln>
            <a:gradFill flip="none" rotWithShape="1">
              <a:gsLst>
                <a:gs pos="0">
                  <a:schemeClr val="bg2"/>
                </a:gs>
                <a:gs pos="54000">
                  <a:schemeClr val="accent1">
                    <a:lumMod val="45000"/>
                    <a:lumOff val="55000"/>
                  </a:schemeClr>
                </a:gs>
                <a:gs pos="100000">
                  <a:schemeClr val="bg2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任意形状 79"/>
          <p:cNvSpPr/>
          <p:nvPr/>
        </p:nvSpPr>
        <p:spPr>
          <a:xfrm rot="5400000">
            <a:off x="5883676" y="-3565810"/>
            <a:ext cx="1191268" cy="10680594"/>
          </a:xfrm>
          <a:custGeom>
            <a:avLst/>
            <a:gdLst>
              <a:gd name="connsiteX0" fmla="*/ 0 w 1191268"/>
              <a:gd name="connsiteY0" fmla="*/ 10070007 h 10070007"/>
              <a:gd name="connsiteX1" fmla="*/ 0 w 1191268"/>
              <a:gd name="connsiteY1" fmla="*/ 0 h 10070007"/>
              <a:gd name="connsiteX2" fmla="*/ 1191268 w 1191268"/>
              <a:gd name="connsiteY2" fmla="*/ 0 h 10070007"/>
              <a:gd name="connsiteX3" fmla="*/ 1191268 w 1191268"/>
              <a:gd name="connsiteY3" fmla="*/ 8652067 h 10070007"/>
              <a:gd name="connsiteX4" fmla="*/ 1120358 w 1191268"/>
              <a:gd name="connsiteY4" fmla="*/ 8696986 h 10070007"/>
              <a:gd name="connsiteX5" fmla="*/ 43399 w 1191268"/>
              <a:gd name="connsiteY5" fmla="*/ 9968631 h 10070007"/>
              <a:gd name="connsiteX6" fmla="*/ 0 w 1191268"/>
              <a:gd name="connsiteY6" fmla="*/ 10070007 h 10070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91268" h="10070007">
                <a:moveTo>
                  <a:pt x="0" y="10070007"/>
                </a:moveTo>
                <a:lnTo>
                  <a:pt x="0" y="0"/>
                </a:lnTo>
                <a:lnTo>
                  <a:pt x="1191268" y="0"/>
                </a:lnTo>
                <a:lnTo>
                  <a:pt x="1191268" y="8652067"/>
                </a:lnTo>
                <a:lnTo>
                  <a:pt x="1120358" y="8696986"/>
                </a:lnTo>
                <a:cubicBezTo>
                  <a:pt x="669009" y="9005585"/>
                  <a:pt x="296153" y="9445073"/>
                  <a:pt x="43399" y="9968631"/>
                </a:cubicBezTo>
                <a:lnTo>
                  <a:pt x="0" y="10070007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outerShdw blurRad="469900" sx="102000" sy="102000" algn="ctr" rotWithShape="0">
              <a:schemeClr val="accent1">
                <a:lumMod val="20000"/>
                <a:lumOff val="80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000" dirty="0">
              <a:solidFill>
                <a:schemeClr val="lt1"/>
              </a:solidFill>
              <a:cs typeface="OPPOSans R" panose="00020600040101010101" pitchFamily="18" charset="-122"/>
            </a:endParaRPr>
          </a:p>
        </p:txBody>
      </p:sp>
      <p:sp>
        <p:nvSpPr>
          <p:cNvPr id="167" name="任意形状 76"/>
          <p:cNvSpPr/>
          <p:nvPr/>
        </p:nvSpPr>
        <p:spPr>
          <a:xfrm rot="5400000">
            <a:off x="6696176" y="-1367920"/>
            <a:ext cx="1191269" cy="9055593"/>
          </a:xfrm>
          <a:custGeom>
            <a:avLst/>
            <a:gdLst>
              <a:gd name="connsiteX0" fmla="*/ 0 w 1191269"/>
              <a:gd name="connsiteY0" fmla="*/ 8537904 h 8537904"/>
              <a:gd name="connsiteX1" fmla="*/ 0 w 1191269"/>
              <a:gd name="connsiteY1" fmla="*/ 0 h 8537904"/>
              <a:gd name="connsiteX2" fmla="*/ 1191269 w 1191269"/>
              <a:gd name="connsiteY2" fmla="*/ 0 h 8537904"/>
              <a:gd name="connsiteX3" fmla="*/ 1191269 w 1191269"/>
              <a:gd name="connsiteY3" fmla="*/ 8214261 h 8537904"/>
              <a:gd name="connsiteX4" fmla="*/ 1072177 w 1191269"/>
              <a:gd name="connsiteY4" fmla="*/ 8218918 h 8537904"/>
              <a:gd name="connsiteX5" fmla="*/ 87547 w 1191269"/>
              <a:gd name="connsiteY5" fmla="*/ 8490811 h 8537904"/>
              <a:gd name="connsiteX6" fmla="*/ 0 w 1191269"/>
              <a:gd name="connsiteY6" fmla="*/ 8537904 h 8537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91269" h="8537904">
                <a:moveTo>
                  <a:pt x="0" y="8537904"/>
                </a:moveTo>
                <a:lnTo>
                  <a:pt x="0" y="0"/>
                </a:lnTo>
                <a:lnTo>
                  <a:pt x="1191269" y="0"/>
                </a:lnTo>
                <a:lnTo>
                  <a:pt x="1191269" y="8214261"/>
                </a:lnTo>
                <a:lnTo>
                  <a:pt x="1072177" y="8218918"/>
                </a:lnTo>
                <a:cubicBezTo>
                  <a:pt x="724141" y="8246227"/>
                  <a:pt x="392545" y="8340668"/>
                  <a:pt x="87547" y="8490811"/>
                </a:cubicBezTo>
                <a:lnTo>
                  <a:pt x="0" y="8537904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outerShdw blurRad="469900" sx="102000" sy="102000" algn="ctr" rotWithShape="0">
              <a:schemeClr val="accent1">
                <a:lumMod val="20000"/>
                <a:lumOff val="80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000">
              <a:solidFill>
                <a:schemeClr val="lt1"/>
              </a:solidFill>
              <a:cs typeface="OPPOSans R" panose="00020600040101010101" pitchFamily="18" charset="-122"/>
            </a:endParaRPr>
          </a:p>
        </p:txBody>
      </p:sp>
      <p:sp>
        <p:nvSpPr>
          <p:cNvPr id="168" name="任意形状 73"/>
          <p:cNvSpPr/>
          <p:nvPr/>
        </p:nvSpPr>
        <p:spPr>
          <a:xfrm rot="5400000">
            <a:off x="6693075" y="14367"/>
            <a:ext cx="1191267" cy="9061799"/>
          </a:xfrm>
          <a:custGeom>
            <a:avLst/>
            <a:gdLst>
              <a:gd name="connsiteX0" fmla="*/ 0 w 1191267"/>
              <a:gd name="connsiteY0" fmla="*/ 8214686 h 8543755"/>
              <a:gd name="connsiteX1" fmla="*/ 0 w 1191267"/>
              <a:gd name="connsiteY1" fmla="*/ 0 h 8543755"/>
              <a:gd name="connsiteX2" fmla="*/ 1191267 w 1191267"/>
              <a:gd name="connsiteY2" fmla="*/ 0 h 8543755"/>
              <a:gd name="connsiteX3" fmla="*/ 1191266 w 1191267"/>
              <a:gd name="connsiteY3" fmla="*/ 8543755 h 8543755"/>
              <a:gd name="connsiteX4" fmla="*/ 1092843 w 1191267"/>
              <a:gd name="connsiteY4" fmla="*/ 8490811 h 8543755"/>
              <a:gd name="connsiteX5" fmla="*/ 108213 w 1191267"/>
              <a:gd name="connsiteY5" fmla="*/ 8218918 h 8543755"/>
              <a:gd name="connsiteX6" fmla="*/ 0 w 1191267"/>
              <a:gd name="connsiteY6" fmla="*/ 8214686 h 8543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91267" h="8543755">
                <a:moveTo>
                  <a:pt x="0" y="8214686"/>
                </a:moveTo>
                <a:lnTo>
                  <a:pt x="0" y="0"/>
                </a:lnTo>
                <a:lnTo>
                  <a:pt x="1191267" y="0"/>
                </a:lnTo>
                <a:lnTo>
                  <a:pt x="1191266" y="8543755"/>
                </a:lnTo>
                <a:lnTo>
                  <a:pt x="1092843" y="8490811"/>
                </a:lnTo>
                <a:cubicBezTo>
                  <a:pt x="787846" y="8340668"/>
                  <a:pt x="456250" y="8246227"/>
                  <a:pt x="108213" y="8218918"/>
                </a:cubicBezTo>
                <a:lnTo>
                  <a:pt x="0" y="8214686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outerShdw blurRad="469900" sx="102000" sy="102000" algn="ctr" rotWithShape="0">
              <a:schemeClr val="accent1">
                <a:lumMod val="20000"/>
                <a:lumOff val="80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000">
              <a:solidFill>
                <a:schemeClr val="lt1"/>
              </a:solidFill>
              <a:cs typeface="OPPOSans R" panose="00020600040101010101" pitchFamily="18" charset="-122"/>
            </a:endParaRPr>
          </a:p>
        </p:txBody>
      </p:sp>
      <p:sp>
        <p:nvSpPr>
          <p:cNvPr id="169" name="任意形状 70"/>
          <p:cNvSpPr/>
          <p:nvPr/>
        </p:nvSpPr>
        <p:spPr>
          <a:xfrm rot="5400000">
            <a:off x="5870196" y="576883"/>
            <a:ext cx="1191274" cy="10707550"/>
          </a:xfrm>
          <a:custGeom>
            <a:avLst/>
            <a:gdLst>
              <a:gd name="connsiteX0" fmla="*/ 0 w 1191274"/>
              <a:gd name="connsiteY0" fmla="*/ 8658956 h 10095422"/>
              <a:gd name="connsiteX1" fmla="*/ 1 w 1191274"/>
              <a:gd name="connsiteY1" fmla="*/ 0 h 10095422"/>
              <a:gd name="connsiteX2" fmla="*/ 1191274 w 1191274"/>
              <a:gd name="connsiteY2" fmla="*/ 0 h 10095422"/>
              <a:gd name="connsiteX3" fmla="*/ 1191273 w 1191274"/>
              <a:gd name="connsiteY3" fmla="*/ 10095422 h 10095422"/>
              <a:gd name="connsiteX4" fmla="*/ 1136994 w 1191274"/>
              <a:gd name="connsiteY4" fmla="*/ 9968631 h 10095422"/>
              <a:gd name="connsiteX5" fmla="*/ 60035 w 1191274"/>
              <a:gd name="connsiteY5" fmla="*/ 8696986 h 10095422"/>
              <a:gd name="connsiteX6" fmla="*/ 0 w 1191274"/>
              <a:gd name="connsiteY6" fmla="*/ 8658956 h 10095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91274" h="10095422">
                <a:moveTo>
                  <a:pt x="0" y="8658956"/>
                </a:moveTo>
                <a:lnTo>
                  <a:pt x="1" y="0"/>
                </a:lnTo>
                <a:lnTo>
                  <a:pt x="1191274" y="0"/>
                </a:lnTo>
                <a:lnTo>
                  <a:pt x="1191273" y="10095422"/>
                </a:lnTo>
                <a:lnTo>
                  <a:pt x="1136994" y="9968631"/>
                </a:lnTo>
                <a:cubicBezTo>
                  <a:pt x="884240" y="9445073"/>
                  <a:pt x="511384" y="9005585"/>
                  <a:pt x="60035" y="8696986"/>
                </a:cubicBezTo>
                <a:lnTo>
                  <a:pt x="0" y="8658956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outerShdw blurRad="469900" sx="102000" sy="102000" algn="ctr" rotWithShape="0">
              <a:schemeClr val="accent1">
                <a:lumMod val="20000"/>
                <a:lumOff val="80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000">
              <a:solidFill>
                <a:schemeClr val="lt1"/>
              </a:solidFill>
              <a:cs typeface="OPPOSans R" panose="00020600040101010101" pitchFamily="18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工作亮点</a:t>
            </a:r>
            <a:r>
              <a:rPr lang="en-US" altLang="zh-CN" dirty="0"/>
              <a:t>/</a:t>
            </a:r>
            <a:r>
              <a:rPr lang="zh-CN" altLang="en-US" dirty="0"/>
              <a:t>核心成果总结</a:t>
            </a:r>
            <a:endParaRPr lang="zh-CN" altLang="en-US" dirty="0"/>
          </a:p>
        </p:txBody>
      </p:sp>
      <p:grpSp>
        <p:nvGrpSpPr>
          <p:cNvPr id="89" name="组合 88"/>
          <p:cNvGrpSpPr/>
          <p:nvPr/>
        </p:nvGrpSpPr>
        <p:grpSpPr>
          <a:xfrm>
            <a:off x="30759" y="922778"/>
            <a:ext cx="3287213" cy="5859594"/>
            <a:chOff x="-55319" y="891994"/>
            <a:chExt cx="3287213" cy="5859594"/>
          </a:xfrm>
        </p:grpSpPr>
        <p:sp>
          <p:nvSpPr>
            <p:cNvPr id="90" name="任意形状 88"/>
            <p:cNvSpPr/>
            <p:nvPr/>
          </p:nvSpPr>
          <p:spPr>
            <a:xfrm rot="18900000">
              <a:off x="-55319" y="891994"/>
              <a:ext cx="1886111" cy="1877227"/>
            </a:xfrm>
            <a:custGeom>
              <a:avLst/>
              <a:gdLst>
                <a:gd name="connsiteX0" fmla="*/ 1084124 w 1886111"/>
                <a:gd name="connsiteY0" fmla="*/ 2669 h 1877227"/>
                <a:gd name="connsiteX1" fmla="*/ 1876852 w 1886111"/>
                <a:gd name="connsiteY1" fmla="*/ 1683314 h 1877227"/>
                <a:gd name="connsiteX2" fmla="*/ 1886111 w 1886111"/>
                <a:gd name="connsiteY2" fmla="*/ 1877227 h 1877227"/>
                <a:gd name="connsiteX3" fmla="*/ 357103 w 1886111"/>
                <a:gd name="connsiteY3" fmla="*/ 1877227 h 1877227"/>
                <a:gd name="connsiteX4" fmla="*/ 354842 w 1886111"/>
                <a:gd name="connsiteY4" fmla="*/ 1829872 h 1877227"/>
                <a:gd name="connsiteX5" fmla="*/ 2953 w 1886111"/>
                <a:gd name="connsiteY5" fmla="*/ 1083841 h 1877227"/>
                <a:gd name="connsiteX6" fmla="*/ 0 w 1886111"/>
                <a:gd name="connsiteY6" fmla="*/ 1081172 h 1877227"/>
                <a:gd name="connsiteX7" fmla="*/ 1081172 w 1886111"/>
                <a:gd name="connsiteY7" fmla="*/ 0 h 1877227"/>
                <a:gd name="connsiteX8" fmla="*/ 1084124 w 1886111"/>
                <a:gd name="connsiteY8" fmla="*/ 2669 h 18772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86111" h="1877227">
                  <a:moveTo>
                    <a:pt x="1084124" y="2669"/>
                  </a:moveTo>
                  <a:cubicBezTo>
                    <a:pt x="1553889" y="472434"/>
                    <a:pt x="1818131" y="1069893"/>
                    <a:pt x="1876852" y="1683314"/>
                  </a:cubicBezTo>
                  <a:lnTo>
                    <a:pt x="1886111" y="1877227"/>
                  </a:lnTo>
                  <a:lnTo>
                    <a:pt x="357103" y="1877227"/>
                  </a:lnTo>
                  <a:lnTo>
                    <a:pt x="354842" y="1829872"/>
                  </a:lnTo>
                  <a:cubicBezTo>
                    <a:pt x="328776" y="1557577"/>
                    <a:pt x="211480" y="1292367"/>
                    <a:pt x="2953" y="1083841"/>
                  </a:cubicBezTo>
                  <a:lnTo>
                    <a:pt x="0" y="1081172"/>
                  </a:lnTo>
                  <a:lnTo>
                    <a:pt x="1081172" y="0"/>
                  </a:lnTo>
                  <a:lnTo>
                    <a:pt x="1084124" y="2669"/>
                  </a:lnTo>
                  <a:close/>
                </a:path>
              </a:pathLst>
            </a:custGeom>
            <a:gradFill>
              <a:gsLst>
                <a:gs pos="100000">
                  <a:schemeClr val="accent1">
                    <a:lumMod val="60000"/>
                    <a:lumOff val="40000"/>
                  </a:schemeClr>
                </a:gs>
                <a:gs pos="23000">
                  <a:schemeClr val="accent1"/>
                </a:gs>
              </a:gsLst>
              <a:lin ang="162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</a:endParaRPr>
            </a:p>
          </p:txBody>
        </p:sp>
        <p:sp>
          <p:nvSpPr>
            <p:cNvPr id="91" name="任意形状 89"/>
            <p:cNvSpPr/>
            <p:nvPr/>
          </p:nvSpPr>
          <p:spPr>
            <a:xfrm rot="18900000">
              <a:off x="1400524" y="2318851"/>
              <a:ext cx="1831370" cy="1804821"/>
            </a:xfrm>
            <a:custGeom>
              <a:avLst/>
              <a:gdLst>
                <a:gd name="connsiteX0" fmla="*/ 1831370 w 1831370"/>
                <a:gd name="connsiteY0" fmla="*/ 0 h 1804821"/>
                <a:gd name="connsiteX1" fmla="*/ 1822738 w 1831370"/>
                <a:gd name="connsiteY1" fmla="*/ 180779 h 1804821"/>
                <a:gd name="connsiteX2" fmla="*/ 1218757 w 1831370"/>
                <a:gd name="connsiteY2" fmla="*/ 1652604 h 1804821"/>
                <a:gd name="connsiteX3" fmla="*/ 1081173 w 1831370"/>
                <a:gd name="connsiteY3" fmla="*/ 1804821 h 1804821"/>
                <a:gd name="connsiteX4" fmla="*/ 0 w 1831370"/>
                <a:gd name="connsiteY4" fmla="*/ 723648 h 1804821"/>
                <a:gd name="connsiteX5" fmla="*/ 32623 w 1831370"/>
                <a:gd name="connsiteY5" fmla="*/ 687557 h 1804821"/>
                <a:gd name="connsiteX6" fmla="*/ 300728 w 1831370"/>
                <a:gd name="connsiteY6" fmla="*/ 34220 h 1804821"/>
                <a:gd name="connsiteX7" fmla="*/ 302361 w 1831370"/>
                <a:gd name="connsiteY7" fmla="*/ 0 h 1804821"/>
                <a:gd name="connsiteX8" fmla="*/ 1831370 w 1831370"/>
                <a:gd name="connsiteY8" fmla="*/ 0 h 1804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31370" h="1804821">
                  <a:moveTo>
                    <a:pt x="1831370" y="0"/>
                  </a:moveTo>
                  <a:lnTo>
                    <a:pt x="1822738" y="180779"/>
                  </a:lnTo>
                  <a:cubicBezTo>
                    <a:pt x="1772407" y="706569"/>
                    <a:pt x="1571079" y="1220631"/>
                    <a:pt x="1218757" y="1652604"/>
                  </a:cubicBezTo>
                  <a:lnTo>
                    <a:pt x="1081173" y="1804821"/>
                  </a:lnTo>
                  <a:lnTo>
                    <a:pt x="0" y="723648"/>
                  </a:lnTo>
                  <a:lnTo>
                    <a:pt x="32623" y="687557"/>
                  </a:lnTo>
                  <a:cubicBezTo>
                    <a:pt x="189017" y="495805"/>
                    <a:pt x="278386" y="267615"/>
                    <a:pt x="300728" y="34220"/>
                  </a:cubicBezTo>
                  <a:lnTo>
                    <a:pt x="302361" y="0"/>
                  </a:lnTo>
                  <a:lnTo>
                    <a:pt x="1831370" y="0"/>
                  </a:lnTo>
                  <a:close/>
                </a:path>
              </a:pathLst>
            </a:custGeom>
            <a:gradFill>
              <a:gsLst>
                <a:gs pos="100000">
                  <a:schemeClr val="accent1"/>
                </a:gs>
                <a:gs pos="23000">
                  <a:schemeClr val="accent1">
                    <a:lumMod val="75000"/>
                  </a:schemeClr>
                </a:gs>
              </a:gsLst>
              <a:lin ang="162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</a:endParaRPr>
            </a:p>
          </p:txBody>
        </p:sp>
        <p:sp>
          <p:nvSpPr>
            <p:cNvPr id="92" name="任意形状 90"/>
            <p:cNvSpPr/>
            <p:nvPr/>
          </p:nvSpPr>
          <p:spPr>
            <a:xfrm rot="18900000">
              <a:off x="1408305" y="3502418"/>
              <a:ext cx="1811389" cy="1831683"/>
            </a:xfrm>
            <a:custGeom>
              <a:avLst/>
              <a:gdLst>
                <a:gd name="connsiteX0" fmla="*/ 730216 w 1811389"/>
                <a:gd name="connsiteY0" fmla="*/ 0 h 1831683"/>
                <a:gd name="connsiteX1" fmla="*/ 1811389 w 1811389"/>
                <a:gd name="connsiteY1" fmla="*/ 1081173 h 1831683"/>
                <a:gd name="connsiteX2" fmla="*/ 1659172 w 1811389"/>
                <a:gd name="connsiteY2" fmla="*/ 1218757 h 1831683"/>
                <a:gd name="connsiteX3" fmla="*/ 187347 w 1811389"/>
                <a:gd name="connsiteY3" fmla="*/ 1822738 h 1831683"/>
                <a:gd name="connsiteX4" fmla="*/ 0 w 1811389"/>
                <a:gd name="connsiteY4" fmla="*/ 1831683 h 1831683"/>
                <a:gd name="connsiteX5" fmla="*/ 0 w 1811389"/>
                <a:gd name="connsiteY5" fmla="*/ 302675 h 1831683"/>
                <a:gd name="connsiteX6" fmla="*/ 40788 w 1811389"/>
                <a:gd name="connsiteY6" fmla="*/ 300728 h 1831683"/>
                <a:gd name="connsiteX7" fmla="*/ 694125 w 1811389"/>
                <a:gd name="connsiteY7" fmla="*/ 32623 h 1831683"/>
                <a:gd name="connsiteX8" fmla="*/ 730216 w 1811389"/>
                <a:gd name="connsiteY8" fmla="*/ 0 h 1831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11389" h="1831683">
                  <a:moveTo>
                    <a:pt x="730216" y="0"/>
                  </a:moveTo>
                  <a:lnTo>
                    <a:pt x="1811389" y="1081173"/>
                  </a:lnTo>
                  <a:lnTo>
                    <a:pt x="1659172" y="1218757"/>
                  </a:lnTo>
                  <a:cubicBezTo>
                    <a:pt x="1227199" y="1571080"/>
                    <a:pt x="713137" y="1772406"/>
                    <a:pt x="187347" y="1822738"/>
                  </a:cubicBezTo>
                  <a:lnTo>
                    <a:pt x="0" y="1831683"/>
                  </a:lnTo>
                  <a:lnTo>
                    <a:pt x="0" y="302675"/>
                  </a:lnTo>
                  <a:lnTo>
                    <a:pt x="40788" y="300728"/>
                  </a:lnTo>
                  <a:cubicBezTo>
                    <a:pt x="274183" y="278386"/>
                    <a:pt x="502373" y="189017"/>
                    <a:pt x="694125" y="32623"/>
                  </a:cubicBezTo>
                  <a:lnTo>
                    <a:pt x="730216" y="0"/>
                  </a:lnTo>
                  <a:close/>
                </a:path>
              </a:pathLst>
            </a:custGeom>
            <a:gradFill>
              <a:gsLst>
                <a:gs pos="100000">
                  <a:schemeClr val="accent2">
                    <a:lumMod val="60000"/>
                    <a:lumOff val="40000"/>
                  </a:schemeClr>
                </a:gs>
                <a:gs pos="23000">
                  <a:schemeClr val="accent2"/>
                </a:gs>
              </a:gsLst>
              <a:lin ang="162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</a:endParaRPr>
            </a:p>
          </p:txBody>
        </p:sp>
        <p:sp>
          <p:nvSpPr>
            <p:cNvPr id="93" name="任意形状 91"/>
            <p:cNvSpPr/>
            <p:nvPr/>
          </p:nvSpPr>
          <p:spPr>
            <a:xfrm rot="18900000">
              <a:off x="-50026" y="4865792"/>
              <a:ext cx="1870659" cy="1885796"/>
            </a:xfrm>
            <a:custGeom>
              <a:avLst/>
              <a:gdLst>
                <a:gd name="connsiteX0" fmla="*/ 1870659 w 1870659"/>
                <a:gd name="connsiteY0" fmla="*/ 356789 h 1885796"/>
                <a:gd name="connsiteX1" fmla="*/ 1870659 w 1870659"/>
                <a:gd name="connsiteY1" fmla="*/ 1885796 h 1885796"/>
                <a:gd name="connsiteX2" fmla="*/ 1683314 w 1870659"/>
                <a:gd name="connsiteY2" fmla="*/ 1876852 h 1885796"/>
                <a:gd name="connsiteX3" fmla="*/ 2669 w 1870659"/>
                <a:gd name="connsiteY3" fmla="*/ 1084123 h 1885796"/>
                <a:gd name="connsiteX4" fmla="*/ 0 w 1870659"/>
                <a:gd name="connsiteY4" fmla="*/ 1081170 h 1885796"/>
                <a:gd name="connsiteX5" fmla="*/ 1081170 w 1870659"/>
                <a:gd name="connsiteY5" fmla="*/ 0 h 1885796"/>
                <a:gd name="connsiteX6" fmla="*/ 1083841 w 1870659"/>
                <a:gd name="connsiteY6" fmla="*/ 2953 h 1885796"/>
                <a:gd name="connsiteX7" fmla="*/ 1829872 w 1870659"/>
                <a:gd name="connsiteY7" fmla="*/ 354842 h 1885796"/>
                <a:gd name="connsiteX8" fmla="*/ 1870659 w 1870659"/>
                <a:gd name="connsiteY8" fmla="*/ 356789 h 1885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70659" h="1885796">
                  <a:moveTo>
                    <a:pt x="1870659" y="356789"/>
                  </a:moveTo>
                  <a:lnTo>
                    <a:pt x="1870659" y="1885796"/>
                  </a:lnTo>
                  <a:lnTo>
                    <a:pt x="1683314" y="1876852"/>
                  </a:lnTo>
                  <a:cubicBezTo>
                    <a:pt x="1069893" y="1818130"/>
                    <a:pt x="472433" y="1553888"/>
                    <a:pt x="2669" y="1084123"/>
                  </a:cubicBezTo>
                  <a:lnTo>
                    <a:pt x="0" y="1081170"/>
                  </a:lnTo>
                  <a:lnTo>
                    <a:pt x="1081170" y="0"/>
                  </a:lnTo>
                  <a:lnTo>
                    <a:pt x="1083841" y="2953"/>
                  </a:lnTo>
                  <a:cubicBezTo>
                    <a:pt x="1292367" y="211480"/>
                    <a:pt x="1557577" y="328776"/>
                    <a:pt x="1829872" y="354842"/>
                  </a:cubicBezTo>
                  <a:lnTo>
                    <a:pt x="1870659" y="356789"/>
                  </a:lnTo>
                  <a:close/>
                </a:path>
              </a:pathLst>
            </a:custGeom>
            <a:gradFill>
              <a:gsLst>
                <a:gs pos="100000">
                  <a:schemeClr val="accent3">
                    <a:lumMod val="60000"/>
                    <a:lumOff val="40000"/>
                  </a:schemeClr>
                </a:gs>
                <a:gs pos="23000">
                  <a:schemeClr val="accent3"/>
                </a:gs>
              </a:gsLst>
              <a:lin ang="162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</a:endParaRPr>
            </a:p>
          </p:txBody>
        </p:sp>
        <p:sp>
          <p:nvSpPr>
            <p:cNvPr id="94" name="任意形状 92"/>
            <p:cNvSpPr/>
            <p:nvPr/>
          </p:nvSpPr>
          <p:spPr>
            <a:xfrm rot="5400000">
              <a:off x="-179695" y="3313174"/>
              <a:ext cx="2013526" cy="1010740"/>
            </a:xfrm>
            <a:custGeom>
              <a:avLst/>
              <a:gdLst>
                <a:gd name="connsiteX0" fmla="*/ 0 w 2013526"/>
                <a:gd name="connsiteY0" fmla="*/ 1006764 h 1010740"/>
                <a:gd name="connsiteX1" fmla="*/ 1006763 w 2013526"/>
                <a:gd name="connsiteY1" fmla="*/ 0 h 1010740"/>
                <a:gd name="connsiteX2" fmla="*/ 2013526 w 2013526"/>
                <a:gd name="connsiteY2" fmla="*/ 1006764 h 1010740"/>
                <a:gd name="connsiteX3" fmla="*/ 2013325 w 2013526"/>
                <a:gd name="connsiteY3" fmla="*/ 1010740 h 1010740"/>
                <a:gd name="connsiteX4" fmla="*/ 201 w 2013526"/>
                <a:gd name="connsiteY4" fmla="*/ 1010740 h 1010740"/>
                <a:gd name="connsiteX5" fmla="*/ 0 w 2013526"/>
                <a:gd name="connsiteY5" fmla="*/ 1006764 h 1010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13526" h="1010740">
                  <a:moveTo>
                    <a:pt x="0" y="1006764"/>
                  </a:moveTo>
                  <a:cubicBezTo>
                    <a:pt x="0" y="450744"/>
                    <a:pt x="450743" y="0"/>
                    <a:pt x="1006763" y="0"/>
                  </a:cubicBezTo>
                  <a:cubicBezTo>
                    <a:pt x="1562783" y="0"/>
                    <a:pt x="2013526" y="450744"/>
                    <a:pt x="2013526" y="1006764"/>
                  </a:cubicBezTo>
                  <a:lnTo>
                    <a:pt x="2013325" y="1010740"/>
                  </a:lnTo>
                  <a:lnTo>
                    <a:pt x="201" y="1010740"/>
                  </a:lnTo>
                  <a:lnTo>
                    <a:pt x="0" y="1006764"/>
                  </a:lnTo>
                  <a:close/>
                </a:path>
              </a:pathLst>
            </a:custGeom>
            <a:gradFill>
              <a:gsLst>
                <a:gs pos="100000">
                  <a:schemeClr val="accent1">
                    <a:lumMod val="60000"/>
                    <a:lumOff val="40000"/>
                  </a:schemeClr>
                </a:gs>
                <a:gs pos="23000">
                  <a:schemeClr val="accent1"/>
                </a:gs>
              </a:gsLst>
              <a:lin ang="162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</a:endParaRPr>
            </a:p>
          </p:txBody>
        </p:sp>
        <p:sp>
          <p:nvSpPr>
            <p:cNvPr id="95" name="文本框 94"/>
            <p:cNvSpPr txBox="1"/>
            <p:nvPr/>
          </p:nvSpPr>
          <p:spPr>
            <a:xfrm>
              <a:off x="321496" y="3396309"/>
              <a:ext cx="813043" cy="800219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300" b="0" i="0" u="none" strike="noStrike" kern="0" cap="none" spc="15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H" panose="00020600040101010101" pitchFamily="18" charset="-122"/>
                  <a:ea typeface="OPPOSans H" panose="00020600040101010101" pitchFamily="18" charset="-122"/>
                  <a:cs typeface="OPPOSans H" panose="00020600040101010101" pitchFamily="18" charset="-122"/>
                </a:rPr>
                <a:t>核心</a:t>
              </a:r>
              <a:endParaRPr kumimoji="1" lang="en-US" altLang="zh-CN" sz="2300" b="0" i="0" u="none" strike="noStrike" kern="0" cap="none" spc="1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300" b="0" i="0" u="none" strike="noStrike" kern="0" cap="none" spc="15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POSans H" panose="00020600040101010101" pitchFamily="18" charset="-122"/>
                  <a:ea typeface="OPPOSans H" panose="00020600040101010101" pitchFamily="18" charset="-122"/>
                  <a:cs typeface="OPPOSans H" panose="00020600040101010101" pitchFamily="18" charset="-122"/>
                </a:rPr>
                <a:t>成果</a:t>
              </a:r>
              <a:endParaRPr kumimoji="1" lang="zh-CN" altLang="en-US" sz="2300" b="0" i="0" u="none" strike="noStrike" kern="0" cap="none" spc="1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endParaRPr>
            </a:p>
          </p:txBody>
        </p:sp>
      </p:grpSp>
      <p:grpSp>
        <p:nvGrpSpPr>
          <p:cNvPr id="96" name="组合 95"/>
          <p:cNvGrpSpPr/>
          <p:nvPr/>
        </p:nvGrpSpPr>
        <p:grpSpPr>
          <a:xfrm>
            <a:off x="4371350" y="2798620"/>
            <a:ext cx="3933731" cy="523391"/>
            <a:chOff x="4375055" y="2785336"/>
            <a:chExt cx="5152558" cy="523391"/>
          </a:xfrm>
        </p:grpSpPr>
        <p:sp>
          <p:nvSpPr>
            <p:cNvPr id="97" name="文本框 96"/>
            <p:cNvSpPr txBox="1"/>
            <p:nvPr/>
          </p:nvSpPr>
          <p:spPr>
            <a:xfrm>
              <a:off x="4375055" y="2785336"/>
              <a:ext cx="3572897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defRPr/>
              </a:pPr>
              <a:endParaRPr kumimoji="1" lang="zh-CN" altLang="en-US" dirty="0">
                <a:solidFill>
                  <a:srgbClr val="0354D7"/>
                </a:solidFill>
                <a:latin typeface="OPPOSans M" panose="00020600040101010101" pitchFamily="18" charset="-122"/>
                <a:ea typeface="OPPOSans M" panose="00020600040101010101" pitchFamily="18" charset="-122"/>
                <a:cs typeface="OPPOSans M" panose="00020600040101010101" pitchFamily="18" charset="-122"/>
              </a:endParaRPr>
            </a:p>
          </p:txBody>
        </p:sp>
        <p:sp>
          <p:nvSpPr>
            <p:cNvPr id="98" name="TextBox 3"/>
            <p:cNvSpPr txBox="1"/>
            <p:nvPr/>
          </p:nvSpPr>
          <p:spPr>
            <a:xfrm>
              <a:off x="4375056" y="3090910"/>
              <a:ext cx="5152557" cy="21781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 defTabSz="913765">
                <a:lnSpc>
                  <a:spcPts val="1800"/>
                </a:lnSpc>
                <a:defRPr/>
              </a:pPr>
              <a:endParaRPr lang="zh-CN" altLang="en-US" sz="1200" spc="-60" dirty="0">
                <a:solidFill>
                  <a:srgbClr val="313131">
                    <a:alpha val="60000"/>
                  </a:srgbClr>
                </a:solidFill>
                <a:cs typeface="OPPOSans R" panose="00020600040101010101" pitchFamily="18" charset="-122"/>
              </a:endParaRPr>
            </a:p>
          </p:txBody>
        </p:sp>
      </p:grpSp>
      <p:grpSp>
        <p:nvGrpSpPr>
          <p:cNvPr id="99" name="组合 98"/>
          <p:cNvGrpSpPr/>
          <p:nvPr/>
        </p:nvGrpSpPr>
        <p:grpSpPr>
          <a:xfrm>
            <a:off x="4371350" y="4172116"/>
            <a:ext cx="3933731" cy="523391"/>
            <a:chOff x="4375055" y="4158832"/>
            <a:chExt cx="5152558" cy="523391"/>
          </a:xfrm>
        </p:grpSpPr>
        <p:sp>
          <p:nvSpPr>
            <p:cNvPr id="100" name="文本框 99"/>
            <p:cNvSpPr txBox="1"/>
            <p:nvPr/>
          </p:nvSpPr>
          <p:spPr>
            <a:xfrm>
              <a:off x="4375055" y="4158832"/>
              <a:ext cx="3572897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just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354D7"/>
                </a:solidFill>
                <a:effectLst/>
                <a:uLnTx/>
                <a:uFillTx/>
                <a:latin typeface="OPPOSans M" panose="00020600040101010101" pitchFamily="18" charset="-122"/>
                <a:ea typeface="OPPOSans M" panose="00020600040101010101" pitchFamily="18" charset="-122"/>
                <a:cs typeface="OPPOSans M" panose="00020600040101010101" pitchFamily="18" charset="-122"/>
              </a:endParaRPr>
            </a:p>
          </p:txBody>
        </p:sp>
        <p:sp>
          <p:nvSpPr>
            <p:cNvPr id="101" name="TextBox 3"/>
            <p:cNvSpPr txBox="1"/>
            <p:nvPr/>
          </p:nvSpPr>
          <p:spPr>
            <a:xfrm>
              <a:off x="4375056" y="4464406"/>
              <a:ext cx="5152557" cy="21781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 marR="0" lvl="0" indent="0" algn="just" defTabSz="913765" fontAlgn="auto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1100" b="0" i="0" u="none" strike="noStrike" cap="none" spc="-60" normalizeH="0" baseline="0">
                  <a:ln>
                    <a:noFill/>
                  </a:ln>
                  <a:solidFill>
                    <a:schemeClr val="tx1">
                      <a:alpha val="65000"/>
                    </a:schemeClr>
                  </a:solidFill>
                  <a:effectLst/>
                  <a:uLnTx/>
                  <a:uFillTx/>
                  <a:latin typeface="OPPOSans R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</a:defRPr>
              </a:lvl1pPr>
            </a:lstStyle>
            <a:p>
              <a:pPr marL="0" marR="0" lvl="0" indent="0" algn="just" defTabSz="913765" eaLnBrk="1" fontAlgn="auto" latinLnBrk="0" hangingPunct="1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0" u="none" strike="noStrike" kern="0" cap="none" spc="-60" normalizeH="0" baseline="0" noProof="0" dirty="0">
                <a:ln>
                  <a:noFill/>
                </a:ln>
                <a:solidFill>
                  <a:srgbClr val="313131">
                    <a:alpha val="60000"/>
                  </a:srgbClr>
                </a:solidFill>
                <a:effectLst/>
                <a:uLnTx/>
                <a:uFillTx/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</a:endParaRPr>
            </a:p>
          </p:txBody>
        </p:sp>
      </p:grpSp>
      <p:grpSp>
        <p:nvGrpSpPr>
          <p:cNvPr id="102" name="组合 101"/>
          <p:cNvGrpSpPr/>
          <p:nvPr/>
        </p:nvGrpSpPr>
        <p:grpSpPr>
          <a:xfrm>
            <a:off x="4371350" y="5569116"/>
            <a:ext cx="3933731" cy="523391"/>
            <a:chOff x="4375055" y="5555832"/>
            <a:chExt cx="5152558" cy="523391"/>
          </a:xfrm>
        </p:grpSpPr>
        <p:sp>
          <p:nvSpPr>
            <p:cNvPr id="103" name="文本框 102"/>
            <p:cNvSpPr txBox="1"/>
            <p:nvPr/>
          </p:nvSpPr>
          <p:spPr>
            <a:xfrm>
              <a:off x="4375055" y="5555832"/>
              <a:ext cx="3572897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defRPr/>
              </a:pPr>
              <a:endParaRPr kumimoji="1" lang="zh-CN" altLang="en-US" dirty="0">
                <a:solidFill>
                  <a:srgbClr val="0354D7"/>
                </a:solidFill>
                <a:latin typeface="OPPOSans M" panose="00020600040101010101" pitchFamily="18" charset="-122"/>
                <a:ea typeface="OPPOSans M" panose="00020600040101010101" pitchFamily="18" charset="-122"/>
                <a:cs typeface="OPPOSans M" panose="00020600040101010101" pitchFamily="18" charset="-122"/>
              </a:endParaRPr>
            </a:p>
          </p:txBody>
        </p:sp>
        <p:sp>
          <p:nvSpPr>
            <p:cNvPr id="104" name="TextBox 3"/>
            <p:cNvSpPr txBox="1"/>
            <p:nvPr/>
          </p:nvSpPr>
          <p:spPr>
            <a:xfrm>
              <a:off x="4375056" y="5861406"/>
              <a:ext cx="5152557" cy="21781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 defTabSz="913765">
                <a:lnSpc>
                  <a:spcPts val="1800"/>
                </a:lnSpc>
                <a:defRPr/>
              </a:pPr>
              <a:endParaRPr lang="zh-CN" altLang="en-US" sz="1200" spc="-60" dirty="0">
                <a:solidFill>
                  <a:srgbClr val="313131">
                    <a:alpha val="60000"/>
                  </a:srgbClr>
                </a:solidFill>
                <a:cs typeface="OPPOSans R" panose="00020600040101010101" pitchFamily="18" charset="-122"/>
              </a:endParaRPr>
            </a:p>
          </p:txBody>
        </p:sp>
      </p:grpSp>
      <p:sp>
        <p:nvSpPr>
          <p:cNvPr id="135" name="任意形状 14"/>
          <p:cNvSpPr/>
          <p:nvPr/>
        </p:nvSpPr>
        <p:spPr>
          <a:xfrm>
            <a:off x="11745239" y="1178853"/>
            <a:ext cx="74368" cy="1191267"/>
          </a:xfrm>
          <a:custGeom>
            <a:avLst/>
            <a:gdLst>
              <a:gd name="connsiteX0" fmla="*/ 0 w 1223009"/>
              <a:gd name="connsiteY0" fmla="*/ 0 h 1223009"/>
              <a:gd name="connsiteX1" fmla="*/ 1223010 w 1223009"/>
              <a:gd name="connsiteY1" fmla="*/ 0 h 1223009"/>
              <a:gd name="connsiteX2" fmla="*/ 1223010 w 1223009"/>
              <a:gd name="connsiteY2" fmla="*/ 1223010 h 1223009"/>
              <a:gd name="connsiteX3" fmla="*/ 0 w 1223009"/>
              <a:gd name="connsiteY3" fmla="*/ 1223010 h 1223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3009" h="1223009">
                <a:moveTo>
                  <a:pt x="0" y="0"/>
                </a:moveTo>
                <a:lnTo>
                  <a:pt x="1223010" y="0"/>
                </a:lnTo>
                <a:lnTo>
                  <a:pt x="1223010" y="1223010"/>
                </a:lnTo>
                <a:lnTo>
                  <a:pt x="0" y="1223010"/>
                </a:lnTo>
                <a:close/>
              </a:path>
            </a:pathLst>
          </a:custGeom>
          <a:gradFill>
            <a:gsLst>
              <a:gs pos="100000">
                <a:schemeClr val="accent1">
                  <a:lumMod val="60000"/>
                  <a:lumOff val="40000"/>
                </a:schemeClr>
              </a:gs>
              <a:gs pos="23000">
                <a:schemeClr val="accent1"/>
              </a:gs>
            </a:gsLst>
            <a:lin ang="16200000" scaled="1"/>
          </a:gradFill>
          <a:ln w="962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383535"/>
              </a:solidFill>
              <a:effectLst/>
              <a:uLnTx/>
              <a:uFillTx/>
              <a:cs typeface="OPPOSans R" panose="00020600040101010101" pitchFamily="18" charset="-122"/>
            </a:endParaRPr>
          </a:p>
        </p:txBody>
      </p:sp>
      <p:sp>
        <p:nvSpPr>
          <p:cNvPr id="136" name="任意形状 58"/>
          <p:cNvSpPr/>
          <p:nvPr/>
        </p:nvSpPr>
        <p:spPr>
          <a:xfrm>
            <a:off x="11745239" y="2564243"/>
            <a:ext cx="74368" cy="1191267"/>
          </a:xfrm>
          <a:custGeom>
            <a:avLst/>
            <a:gdLst>
              <a:gd name="connsiteX0" fmla="*/ 0 w 1223009"/>
              <a:gd name="connsiteY0" fmla="*/ 0 h 1223009"/>
              <a:gd name="connsiteX1" fmla="*/ 1223010 w 1223009"/>
              <a:gd name="connsiteY1" fmla="*/ 0 h 1223009"/>
              <a:gd name="connsiteX2" fmla="*/ 1223010 w 1223009"/>
              <a:gd name="connsiteY2" fmla="*/ 1223010 h 1223009"/>
              <a:gd name="connsiteX3" fmla="*/ 0 w 1223009"/>
              <a:gd name="connsiteY3" fmla="*/ 1223010 h 1223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3009" h="1223009">
                <a:moveTo>
                  <a:pt x="0" y="0"/>
                </a:moveTo>
                <a:lnTo>
                  <a:pt x="1223010" y="0"/>
                </a:lnTo>
                <a:lnTo>
                  <a:pt x="1223010" y="1223010"/>
                </a:lnTo>
                <a:lnTo>
                  <a:pt x="0" y="1223010"/>
                </a:lnTo>
                <a:close/>
              </a:path>
            </a:pathLst>
          </a:custGeom>
          <a:gradFill>
            <a:gsLst>
              <a:gs pos="100000">
                <a:schemeClr val="accent1"/>
              </a:gs>
              <a:gs pos="23000">
                <a:schemeClr val="accent1">
                  <a:lumMod val="75000"/>
                </a:schemeClr>
              </a:gs>
            </a:gsLst>
            <a:lin ang="16200000" scaled="1"/>
          </a:gradFill>
          <a:ln w="962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383535"/>
              </a:solidFill>
              <a:effectLst/>
              <a:uLnTx/>
              <a:uFillTx/>
              <a:cs typeface="OPPOSans R" panose="00020600040101010101" pitchFamily="18" charset="-122"/>
            </a:endParaRPr>
          </a:p>
        </p:txBody>
      </p:sp>
      <p:sp>
        <p:nvSpPr>
          <p:cNvPr id="137" name="任意形状 62"/>
          <p:cNvSpPr/>
          <p:nvPr/>
        </p:nvSpPr>
        <p:spPr>
          <a:xfrm>
            <a:off x="11745239" y="3949634"/>
            <a:ext cx="74368" cy="1191260"/>
          </a:xfrm>
          <a:custGeom>
            <a:avLst/>
            <a:gdLst>
              <a:gd name="connsiteX0" fmla="*/ 0 w 1223009"/>
              <a:gd name="connsiteY0" fmla="*/ 0 h 1223009"/>
              <a:gd name="connsiteX1" fmla="*/ 1223010 w 1223009"/>
              <a:gd name="connsiteY1" fmla="*/ 0 h 1223009"/>
              <a:gd name="connsiteX2" fmla="*/ 1223010 w 1223009"/>
              <a:gd name="connsiteY2" fmla="*/ 1223010 h 1223009"/>
              <a:gd name="connsiteX3" fmla="*/ 0 w 1223009"/>
              <a:gd name="connsiteY3" fmla="*/ 1223010 h 1223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3009" h="1223009">
                <a:moveTo>
                  <a:pt x="0" y="0"/>
                </a:moveTo>
                <a:lnTo>
                  <a:pt x="1223010" y="0"/>
                </a:lnTo>
                <a:lnTo>
                  <a:pt x="1223010" y="1223010"/>
                </a:lnTo>
                <a:lnTo>
                  <a:pt x="0" y="1223010"/>
                </a:lnTo>
                <a:close/>
              </a:path>
            </a:pathLst>
          </a:custGeom>
          <a:gradFill>
            <a:gsLst>
              <a:gs pos="100000">
                <a:schemeClr val="accent2">
                  <a:lumMod val="60000"/>
                  <a:lumOff val="40000"/>
                </a:schemeClr>
              </a:gs>
              <a:gs pos="23000">
                <a:schemeClr val="accent2"/>
              </a:gs>
            </a:gsLst>
            <a:lin ang="16200000" scaled="1"/>
          </a:gradFill>
          <a:ln w="962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383535"/>
              </a:solidFill>
              <a:effectLst/>
              <a:uLnTx/>
              <a:uFillTx/>
              <a:cs typeface="OPPOSans R" panose="00020600040101010101" pitchFamily="18" charset="-122"/>
            </a:endParaRPr>
          </a:p>
        </p:txBody>
      </p:sp>
      <p:sp>
        <p:nvSpPr>
          <p:cNvPr id="138" name="任意形状 67"/>
          <p:cNvSpPr/>
          <p:nvPr/>
        </p:nvSpPr>
        <p:spPr>
          <a:xfrm>
            <a:off x="11745239" y="5335023"/>
            <a:ext cx="74368" cy="1191267"/>
          </a:xfrm>
          <a:custGeom>
            <a:avLst/>
            <a:gdLst>
              <a:gd name="connsiteX0" fmla="*/ 0 w 1223009"/>
              <a:gd name="connsiteY0" fmla="*/ 0 h 1223009"/>
              <a:gd name="connsiteX1" fmla="*/ 1223010 w 1223009"/>
              <a:gd name="connsiteY1" fmla="*/ 0 h 1223009"/>
              <a:gd name="connsiteX2" fmla="*/ 1223010 w 1223009"/>
              <a:gd name="connsiteY2" fmla="*/ 1223010 h 1223009"/>
              <a:gd name="connsiteX3" fmla="*/ 0 w 1223009"/>
              <a:gd name="connsiteY3" fmla="*/ 1223010 h 1223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3009" h="1223009">
                <a:moveTo>
                  <a:pt x="0" y="0"/>
                </a:moveTo>
                <a:lnTo>
                  <a:pt x="1223010" y="0"/>
                </a:lnTo>
                <a:lnTo>
                  <a:pt x="1223010" y="1223010"/>
                </a:lnTo>
                <a:lnTo>
                  <a:pt x="0" y="1223010"/>
                </a:lnTo>
                <a:close/>
              </a:path>
            </a:pathLst>
          </a:custGeom>
          <a:gradFill>
            <a:gsLst>
              <a:gs pos="100000">
                <a:schemeClr val="accent3">
                  <a:lumMod val="60000"/>
                  <a:lumOff val="40000"/>
                </a:schemeClr>
              </a:gs>
              <a:gs pos="23000">
                <a:schemeClr val="accent3"/>
              </a:gs>
            </a:gsLst>
            <a:lin ang="16200000" scaled="1"/>
          </a:gradFill>
          <a:ln w="962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383535"/>
              </a:solidFill>
              <a:effectLst/>
              <a:uLnTx/>
              <a:uFillTx/>
              <a:cs typeface="OPPOSans R" panose="00020600040101010101" pitchFamily="18" charset="-122"/>
            </a:endParaRPr>
          </a:p>
        </p:txBody>
      </p:sp>
      <p:sp>
        <p:nvSpPr>
          <p:cNvPr id="139" name="图形 28"/>
          <p:cNvSpPr/>
          <p:nvPr/>
        </p:nvSpPr>
        <p:spPr>
          <a:xfrm>
            <a:off x="755705" y="1613357"/>
            <a:ext cx="712704" cy="593938"/>
          </a:xfrm>
          <a:custGeom>
            <a:avLst/>
            <a:gdLst>
              <a:gd name="connsiteX0" fmla="*/ 647848 w 712704"/>
              <a:gd name="connsiteY0" fmla="*/ 124972 h 593938"/>
              <a:gd name="connsiteX1" fmla="*/ 0 w 712704"/>
              <a:gd name="connsiteY1" fmla="*/ 124972 h 593938"/>
              <a:gd name="connsiteX2" fmla="*/ 0 w 712704"/>
              <a:gd name="connsiteY2" fmla="*/ 531451 h 593938"/>
              <a:gd name="connsiteX3" fmla="*/ 64367 w 712704"/>
              <a:gd name="connsiteY3" fmla="*/ 593932 h 593938"/>
              <a:gd name="connsiteX4" fmla="*/ 64381 w 712704"/>
              <a:gd name="connsiteY4" fmla="*/ 593932 h 593938"/>
              <a:gd name="connsiteX5" fmla="*/ 648323 w 712704"/>
              <a:gd name="connsiteY5" fmla="*/ 593932 h 593938"/>
              <a:gd name="connsiteX6" fmla="*/ 712704 w 712704"/>
              <a:gd name="connsiteY6" fmla="*/ 531689 h 593938"/>
              <a:gd name="connsiteX7" fmla="*/ 712704 w 712704"/>
              <a:gd name="connsiteY7" fmla="*/ 187215 h 593938"/>
              <a:gd name="connsiteX8" fmla="*/ 648112 w 712704"/>
              <a:gd name="connsiteY8" fmla="*/ 124967 h 593938"/>
              <a:gd name="connsiteX9" fmla="*/ 647848 w 712704"/>
              <a:gd name="connsiteY9" fmla="*/ 124972 h 593938"/>
              <a:gd name="connsiteX10" fmla="*/ 508871 w 712704"/>
              <a:gd name="connsiteY10" fmla="*/ 303386 h 593938"/>
              <a:gd name="connsiteX11" fmla="*/ 346849 w 712704"/>
              <a:gd name="connsiteY11" fmla="*/ 459468 h 593938"/>
              <a:gd name="connsiteX12" fmla="*/ 300999 w 712704"/>
              <a:gd name="connsiteY12" fmla="*/ 459468 h 593938"/>
              <a:gd name="connsiteX13" fmla="*/ 237568 w 712704"/>
              <a:gd name="connsiteY13" fmla="*/ 396988 h 593938"/>
              <a:gd name="connsiteX14" fmla="*/ 236021 w 712704"/>
              <a:gd name="connsiteY14" fmla="*/ 354347 h 593938"/>
              <a:gd name="connsiteX15" fmla="*/ 237568 w 712704"/>
              <a:gd name="connsiteY15" fmla="*/ 352800 h 593938"/>
              <a:gd name="connsiteX16" fmla="*/ 283181 w 712704"/>
              <a:gd name="connsiteY16" fmla="*/ 352800 h 593938"/>
              <a:gd name="connsiteX17" fmla="*/ 325231 w 712704"/>
              <a:gd name="connsiteY17" fmla="*/ 393424 h 593938"/>
              <a:gd name="connsiteX18" fmla="*/ 464208 w 712704"/>
              <a:gd name="connsiteY18" fmla="*/ 259198 h 593938"/>
              <a:gd name="connsiteX19" fmla="*/ 510059 w 712704"/>
              <a:gd name="connsiteY19" fmla="*/ 259198 h 593938"/>
              <a:gd name="connsiteX20" fmla="*/ 509766 w 712704"/>
              <a:gd name="connsiteY20" fmla="*/ 302538 h 593938"/>
              <a:gd name="connsiteX21" fmla="*/ 508871 w 712704"/>
              <a:gd name="connsiteY21" fmla="*/ 303386 h 593938"/>
              <a:gd name="connsiteX22" fmla="*/ 356352 w 712704"/>
              <a:gd name="connsiteY22" fmla="*/ 12 h 593938"/>
              <a:gd name="connsiteX23" fmla="*/ 64856 w 712704"/>
              <a:gd name="connsiteY23" fmla="*/ 12 h 593938"/>
              <a:gd name="connsiteX24" fmla="*/ 0 w 712704"/>
              <a:gd name="connsiteY24" fmla="*/ 62470 h 593938"/>
              <a:gd name="connsiteX25" fmla="*/ 0 w 712704"/>
              <a:gd name="connsiteY25" fmla="*/ 62492 h 593938"/>
              <a:gd name="connsiteX26" fmla="*/ 0 w 712704"/>
              <a:gd name="connsiteY26" fmla="*/ 93851 h 593938"/>
              <a:gd name="connsiteX27" fmla="*/ 420971 w 712704"/>
              <a:gd name="connsiteY27" fmla="*/ 93851 h 593938"/>
              <a:gd name="connsiteX28" fmla="*/ 420971 w 712704"/>
              <a:gd name="connsiteY28" fmla="*/ 62492 h 593938"/>
              <a:gd name="connsiteX29" fmla="*/ 356352 w 712704"/>
              <a:gd name="connsiteY29" fmla="*/ 12 h 593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712704" h="593938">
                <a:moveTo>
                  <a:pt x="647848" y="124972"/>
                </a:moveTo>
                <a:lnTo>
                  <a:pt x="0" y="124972"/>
                </a:lnTo>
                <a:lnTo>
                  <a:pt x="0" y="531451"/>
                </a:lnTo>
                <a:cubicBezTo>
                  <a:pt x="521" y="566479"/>
                  <a:pt x="29339" y="594452"/>
                  <a:pt x="64367" y="593932"/>
                </a:cubicBezTo>
                <a:cubicBezTo>
                  <a:pt x="64372" y="593932"/>
                  <a:pt x="64376" y="593932"/>
                  <a:pt x="64381" y="593932"/>
                </a:cubicBezTo>
                <a:lnTo>
                  <a:pt x="648323" y="593932"/>
                </a:lnTo>
                <a:cubicBezTo>
                  <a:pt x="683265" y="594461"/>
                  <a:pt x="712054" y="566629"/>
                  <a:pt x="712704" y="531689"/>
                </a:cubicBezTo>
                <a:lnTo>
                  <a:pt x="712704" y="187215"/>
                </a:lnTo>
                <a:cubicBezTo>
                  <a:pt x="712057" y="152190"/>
                  <a:pt x="683139" y="124320"/>
                  <a:pt x="648112" y="124967"/>
                </a:cubicBezTo>
                <a:cubicBezTo>
                  <a:pt x="648024" y="124969"/>
                  <a:pt x="647936" y="124970"/>
                  <a:pt x="647848" y="124972"/>
                </a:cubicBezTo>
                <a:close/>
                <a:moveTo>
                  <a:pt x="508871" y="303386"/>
                </a:moveTo>
                <a:lnTo>
                  <a:pt x="346849" y="459468"/>
                </a:lnTo>
                <a:cubicBezTo>
                  <a:pt x="334057" y="471808"/>
                  <a:pt x="313791" y="471808"/>
                  <a:pt x="300999" y="459468"/>
                </a:cubicBezTo>
                <a:lnTo>
                  <a:pt x="237568" y="396988"/>
                </a:lnTo>
                <a:cubicBezTo>
                  <a:pt x="225366" y="385640"/>
                  <a:pt x="224673" y="366549"/>
                  <a:pt x="236021" y="354347"/>
                </a:cubicBezTo>
                <a:cubicBezTo>
                  <a:pt x="236518" y="353813"/>
                  <a:pt x="237033" y="353296"/>
                  <a:pt x="237568" y="352800"/>
                </a:cubicBezTo>
                <a:cubicBezTo>
                  <a:pt x="250378" y="340732"/>
                  <a:pt x="270371" y="340732"/>
                  <a:pt x="283181" y="352800"/>
                </a:cubicBezTo>
                <a:lnTo>
                  <a:pt x="325231" y="393424"/>
                </a:lnTo>
                <a:lnTo>
                  <a:pt x="464208" y="259198"/>
                </a:lnTo>
                <a:cubicBezTo>
                  <a:pt x="477097" y="247100"/>
                  <a:pt x="497170" y="247100"/>
                  <a:pt x="510059" y="259198"/>
                </a:cubicBezTo>
                <a:cubicBezTo>
                  <a:pt x="521945" y="271246"/>
                  <a:pt x="521814" y="290651"/>
                  <a:pt x="509766" y="302538"/>
                </a:cubicBezTo>
                <a:cubicBezTo>
                  <a:pt x="509473" y="302826"/>
                  <a:pt x="509175" y="303109"/>
                  <a:pt x="508871" y="303386"/>
                </a:cubicBezTo>
                <a:close/>
                <a:moveTo>
                  <a:pt x="356352" y="12"/>
                </a:moveTo>
                <a:lnTo>
                  <a:pt x="64856" y="12"/>
                </a:lnTo>
                <a:cubicBezTo>
                  <a:pt x="29700" y="-650"/>
                  <a:pt x="663" y="27313"/>
                  <a:pt x="0" y="62470"/>
                </a:cubicBezTo>
                <a:cubicBezTo>
                  <a:pt x="0" y="62477"/>
                  <a:pt x="0" y="62484"/>
                  <a:pt x="0" y="62492"/>
                </a:cubicBezTo>
                <a:lnTo>
                  <a:pt x="0" y="93851"/>
                </a:lnTo>
                <a:lnTo>
                  <a:pt x="420971" y="93851"/>
                </a:lnTo>
                <a:lnTo>
                  <a:pt x="420971" y="62492"/>
                </a:lnTo>
                <a:cubicBezTo>
                  <a:pt x="420320" y="27421"/>
                  <a:pt x="391426" y="-518"/>
                  <a:pt x="356352" y="12"/>
                </a:cubicBezTo>
                <a:close/>
              </a:path>
            </a:pathLst>
          </a:custGeom>
          <a:gradFill flip="none" rotWithShape="1">
            <a:gsLst>
              <a:gs pos="100000">
                <a:srgbClr val="FFFFFF">
                  <a:alpha val="0"/>
                </a:srgbClr>
              </a:gs>
              <a:gs pos="30000">
                <a:srgbClr val="FFFFFF"/>
              </a:gs>
            </a:gsLst>
            <a:lin ang="5400000" scaled="1"/>
            <a:tileRect/>
          </a:gradFill>
          <a:ln w="53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313131"/>
              </a:solidFill>
              <a:effectLst/>
              <a:uLnTx/>
              <a:uFillTx/>
              <a:cs typeface="OPPOSans R" panose="00020600040101010101" pitchFamily="18" charset="-122"/>
            </a:endParaRPr>
          </a:p>
        </p:txBody>
      </p:sp>
      <p:sp>
        <p:nvSpPr>
          <p:cNvPr id="140" name="任意多边形: 形状 139"/>
          <p:cNvSpPr/>
          <p:nvPr/>
        </p:nvSpPr>
        <p:spPr>
          <a:xfrm>
            <a:off x="759011" y="5325989"/>
            <a:ext cx="703961" cy="699807"/>
          </a:xfrm>
          <a:custGeom>
            <a:avLst/>
            <a:gdLst>
              <a:gd name="connsiteX0" fmla="*/ 22842 w 703961"/>
              <a:gd name="connsiteY0" fmla="*/ 319793 h 699807"/>
              <a:gd name="connsiteX1" fmla="*/ 132901 w 703961"/>
              <a:gd name="connsiteY1" fmla="*/ 319793 h 699807"/>
              <a:gd name="connsiteX2" fmla="*/ 153667 w 703961"/>
              <a:gd name="connsiteY2" fmla="*/ 340559 h 699807"/>
              <a:gd name="connsiteX3" fmla="*/ 153667 w 703961"/>
              <a:gd name="connsiteY3" fmla="*/ 344712 h 699807"/>
              <a:gd name="connsiteX4" fmla="*/ 182739 w 703961"/>
              <a:gd name="connsiteY4" fmla="*/ 373784 h 699807"/>
              <a:gd name="connsiteX5" fmla="*/ 205581 w 703961"/>
              <a:gd name="connsiteY5" fmla="*/ 373784 h 699807"/>
              <a:gd name="connsiteX6" fmla="*/ 234654 w 703961"/>
              <a:gd name="connsiteY6" fmla="*/ 344712 h 699807"/>
              <a:gd name="connsiteX7" fmla="*/ 234654 w 703961"/>
              <a:gd name="connsiteY7" fmla="*/ 340559 h 699807"/>
              <a:gd name="connsiteX8" fmla="*/ 255419 w 703961"/>
              <a:gd name="connsiteY8" fmla="*/ 321870 h 699807"/>
              <a:gd name="connsiteX9" fmla="*/ 456848 w 703961"/>
              <a:gd name="connsiteY9" fmla="*/ 321870 h 699807"/>
              <a:gd name="connsiteX10" fmla="*/ 473460 w 703961"/>
              <a:gd name="connsiteY10" fmla="*/ 338482 h 699807"/>
              <a:gd name="connsiteX11" fmla="*/ 473460 w 703961"/>
              <a:gd name="connsiteY11" fmla="*/ 344712 h 699807"/>
              <a:gd name="connsiteX12" fmla="*/ 502532 w 703961"/>
              <a:gd name="connsiteY12" fmla="*/ 373784 h 699807"/>
              <a:gd name="connsiteX13" fmla="*/ 525375 w 703961"/>
              <a:gd name="connsiteY13" fmla="*/ 373784 h 699807"/>
              <a:gd name="connsiteX14" fmla="*/ 554447 w 703961"/>
              <a:gd name="connsiteY14" fmla="*/ 344712 h 699807"/>
              <a:gd name="connsiteX15" fmla="*/ 554447 w 703961"/>
              <a:gd name="connsiteY15" fmla="*/ 338482 h 699807"/>
              <a:gd name="connsiteX16" fmla="*/ 573136 w 703961"/>
              <a:gd name="connsiteY16" fmla="*/ 319793 h 699807"/>
              <a:gd name="connsiteX17" fmla="*/ 685271 w 703961"/>
              <a:gd name="connsiteY17" fmla="*/ 319793 h 699807"/>
              <a:gd name="connsiteX18" fmla="*/ 703961 w 703961"/>
              <a:gd name="connsiteY18" fmla="*/ 338482 h 699807"/>
              <a:gd name="connsiteX19" fmla="*/ 703961 w 703961"/>
              <a:gd name="connsiteY19" fmla="*/ 639586 h 699807"/>
              <a:gd name="connsiteX20" fmla="*/ 645816 w 703961"/>
              <a:gd name="connsiteY20" fmla="*/ 699807 h 699807"/>
              <a:gd name="connsiteX21" fmla="*/ 58144 w 703961"/>
              <a:gd name="connsiteY21" fmla="*/ 699807 h 699807"/>
              <a:gd name="connsiteX22" fmla="*/ 0 w 703961"/>
              <a:gd name="connsiteY22" fmla="*/ 639586 h 699807"/>
              <a:gd name="connsiteX23" fmla="*/ 0 w 703961"/>
              <a:gd name="connsiteY23" fmla="*/ 342635 h 699807"/>
              <a:gd name="connsiteX24" fmla="*/ 22842 w 703961"/>
              <a:gd name="connsiteY24" fmla="*/ 319793 h 699807"/>
              <a:gd name="connsiteX25" fmla="*/ 514991 w 703961"/>
              <a:gd name="connsiteY25" fmla="*/ 255419 h 699807"/>
              <a:gd name="connsiteX26" fmla="*/ 535757 w 703961"/>
              <a:gd name="connsiteY26" fmla="*/ 284491 h 699807"/>
              <a:gd name="connsiteX27" fmla="*/ 535757 w 703961"/>
              <a:gd name="connsiteY27" fmla="*/ 319793 h 699807"/>
              <a:gd name="connsiteX28" fmla="*/ 514991 w 703961"/>
              <a:gd name="connsiteY28" fmla="*/ 348865 h 699807"/>
              <a:gd name="connsiteX29" fmla="*/ 492149 w 703961"/>
              <a:gd name="connsiteY29" fmla="*/ 319793 h 699807"/>
              <a:gd name="connsiteX30" fmla="*/ 492149 w 703961"/>
              <a:gd name="connsiteY30" fmla="*/ 284491 h 699807"/>
              <a:gd name="connsiteX31" fmla="*/ 514991 w 703961"/>
              <a:gd name="connsiteY31" fmla="*/ 255419 h 699807"/>
              <a:gd name="connsiteX32" fmla="*/ 191045 w 703961"/>
              <a:gd name="connsiteY32" fmla="*/ 255419 h 699807"/>
              <a:gd name="connsiteX33" fmla="*/ 213887 w 703961"/>
              <a:gd name="connsiteY33" fmla="*/ 284491 h 699807"/>
              <a:gd name="connsiteX34" fmla="*/ 213887 w 703961"/>
              <a:gd name="connsiteY34" fmla="*/ 319793 h 699807"/>
              <a:gd name="connsiteX35" fmla="*/ 191045 w 703961"/>
              <a:gd name="connsiteY35" fmla="*/ 348865 h 699807"/>
              <a:gd name="connsiteX36" fmla="*/ 170279 w 703961"/>
              <a:gd name="connsiteY36" fmla="*/ 319793 h 699807"/>
              <a:gd name="connsiteX37" fmla="*/ 170279 w 703961"/>
              <a:gd name="connsiteY37" fmla="*/ 284491 h 699807"/>
              <a:gd name="connsiteX38" fmla="*/ 191045 w 703961"/>
              <a:gd name="connsiteY38" fmla="*/ 255419 h 699807"/>
              <a:gd name="connsiteX39" fmla="*/ 60220 w 703961"/>
              <a:gd name="connsiteY39" fmla="*/ 166126 h 699807"/>
              <a:gd name="connsiteX40" fmla="*/ 645816 w 703961"/>
              <a:gd name="connsiteY40" fmla="*/ 166126 h 699807"/>
              <a:gd name="connsiteX41" fmla="*/ 703960 w 703961"/>
              <a:gd name="connsiteY41" fmla="*/ 226347 h 699807"/>
              <a:gd name="connsiteX42" fmla="*/ 703960 w 703961"/>
              <a:gd name="connsiteY42" fmla="*/ 259572 h 699807"/>
              <a:gd name="connsiteX43" fmla="*/ 685271 w 703961"/>
              <a:gd name="connsiteY43" fmla="*/ 278261 h 699807"/>
              <a:gd name="connsiteX44" fmla="*/ 573136 w 703961"/>
              <a:gd name="connsiteY44" fmla="*/ 278261 h 699807"/>
              <a:gd name="connsiteX45" fmla="*/ 554446 w 703961"/>
              <a:gd name="connsiteY45" fmla="*/ 261649 h 699807"/>
              <a:gd name="connsiteX46" fmla="*/ 554446 w 703961"/>
              <a:gd name="connsiteY46" fmla="*/ 255419 h 699807"/>
              <a:gd name="connsiteX47" fmla="*/ 525374 w 703961"/>
              <a:gd name="connsiteY47" fmla="*/ 226347 h 699807"/>
              <a:gd name="connsiteX48" fmla="*/ 502532 w 703961"/>
              <a:gd name="connsiteY48" fmla="*/ 226347 h 699807"/>
              <a:gd name="connsiteX49" fmla="*/ 473460 w 703961"/>
              <a:gd name="connsiteY49" fmla="*/ 255419 h 699807"/>
              <a:gd name="connsiteX50" fmla="*/ 473460 w 703961"/>
              <a:gd name="connsiteY50" fmla="*/ 261649 h 699807"/>
              <a:gd name="connsiteX51" fmla="*/ 456847 w 703961"/>
              <a:gd name="connsiteY51" fmla="*/ 278261 h 699807"/>
              <a:gd name="connsiteX52" fmla="*/ 253342 w 703961"/>
              <a:gd name="connsiteY52" fmla="*/ 278261 h 699807"/>
              <a:gd name="connsiteX53" fmla="*/ 232576 w 703961"/>
              <a:gd name="connsiteY53" fmla="*/ 259572 h 699807"/>
              <a:gd name="connsiteX54" fmla="*/ 232576 w 703961"/>
              <a:gd name="connsiteY54" fmla="*/ 255419 h 699807"/>
              <a:gd name="connsiteX55" fmla="*/ 203504 w 703961"/>
              <a:gd name="connsiteY55" fmla="*/ 226347 h 699807"/>
              <a:gd name="connsiteX56" fmla="*/ 180662 w 703961"/>
              <a:gd name="connsiteY56" fmla="*/ 226347 h 699807"/>
              <a:gd name="connsiteX57" fmla="*/ 151590 w 703961"/>
              <a:gd name="connsiteY57" fmla="*/ 255419 h 699807"/>
              <a:gd name="connsiteX58" fmla="*/ 151590 w 703961"/>
              <a:gd name="connsiteY58" fmla="*/ 259572 h 699807"/>
              <a:gd name="connsiteX59" fmla="*/ 130824 w 703961"/>
              <a:gd name="connsiteY59" fmla="*/ 278261 h 699807"/>
              <a:gd name="connsiteX60" fmla="*/ 24918 w 703961"/>
              <a:gd name="connsiteY60" fmla="*/ 278261 h 699807"/>
              <a:gd name="connsiteX61" fmla="*/ 2076 w 703961"/>
              <a:gd name="connsiteY61" fmla="*/ 257496 h 699807"/>
              <a:gd name="connsiteX62" fmla="*/ 2076 w 703961"/>
              <a:gd name="connsiteY62" fmla="*/ 226347 h 699807"/>
              <a:gd name="connsiteX63" fmla="*/ 60220 w 703961"/>
              <a:gd name="connsiteY63" fmla="*/ 166126 h 699807"/>
              <a:gd name="connsiteX64" fmla="*/ 353019 w 703961"/>
              <a:gd name="connsiteY64" fmla="*/ 0 h 699807"/>
              <a:gd name="connsiteX65" fmla="*/ 525375 w 703961"/>
              <a:gd name="connsiteY65" fmla="*/ 134978 h 699807"/>
              <a:gd name="connsiteX66" fmla="*/ 502532 w 703961"/>
              <a:gd name="connsiteY66" fmla="*/ 151590 h 699807"/>
              <a:gd name="connsiteX67" fmla="*/ 475537 w 703961"/>
              <a:gd name="connsiteY67" fmla="*/ 134978 h 699807"/>
              <a:gd name="connsiteX68" fmla="*/ 353019 w 703961"/>
              <a:gd name="connsiteY68" fmla="*/ 47761 h 699807"/>
              <a:gd name="connsiteX69" fmla="*/ 230500 w 703961"/>
              <a:gd name="connsiteY69" fmla="*/ 132901 h 699807"/>
              <a:gd name="connsiteX70" fmla="*/ 203505 w 703961"/>
              <a:gd name="connsiteY70" fmla="*/ 149514 h 699807"/>
              <a:gd name="connsiteX71" fmla="*/ 180662 w 703961"/>
              <a:gd name="connsiteY71" fmla="*/ 134978 h 699807"/>
              <a:gd name="connsiteX72" fmla="*/ 353019 w 703961"/>
              <a:gd name="connsiteY72" fmla="*/ 0 h 6998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703961" h="699807">
                <a:moveTo>
                  <a:pt x="22842" y="319793"/>
                </a:moveTo>
                <a:lnTo>
                  <a:pt x="132901" y="319793"/>
                </a:lnTo>
                <a:cubicBezTo>
                  <a:pt x="149514" y="319793"/>
                  <a:pt x="153667" y="323946"/>
                  <a:pt x="153667" y="340559"/>
                </a:cubicBezTo>
                <a:lnTo>
                  <a:pt x="153667" y="344712"/>
                </a:lnTo>
                <a:cubicBezTo>
                  <a:pt x="153667" y="361325"/>
                  <a:pt x="166126" y="373784"/>
                  <a:pt x="182739" y="373784"/>
                </a:cubicBezTo>
                <a:lnTo>
                  <a:pt x="205581" y="373784"/>
                </a:lnTo>
                <a:cubicBezTo>
                  <a:pt x="222194" y="373784"/>
                  <a:pt x="234654" y="361325"/>
                  <a:pt x="234654" y="344712"/>
                </a:cubicBezTo>
                <a:lnTo>
                  <a:pt x="234654" y="340559"/>
                </a:lnTo>
                <a:cubicBezTo>
                  <a:pt x="234654" y="326023"/>
                  <a:pt x="238807" y="321870"/>
                  <a:pt x="255419" y="321870"/>
                </a:cubicBezTo>
                <a:lnTo>
                  <a:pt x="456848" y="321870"/>
                </a:lnTo>
                <a:cubicBezTo>
                  <a:pt x="469307" y="321870"/>
                  <a:pt x="473460" y="326023"/>
                  <a:pt x="473460" y="338482"/>
                </a:cubicBezTo>
                <a:lnTo>
                  <a:pt x="473460" y="344712"/>
                </a:lnTo>
                <a:cubicBezTo>
                  <a:pt x="473460" y="361325"/>
                  <a:pt x="485920" y="373784"/>
                  <a:pt x="502532" y="373784"/>
                </a:cubicBezTo>
                <a:lnTo>
                  <a:pt x="525375" y="373784"/>
                </a:lnTo>
                <a:cubicBezTo>
                  <a:pt x="541987" y="373784"/>
                  <a:pt x="554447" y="361325"/>
                  <a:pt x="554447" y="344712"/>
                </a:cubicBezTo>
                <a:lnTo>
                  <a:pt x="554447" y="338482"/>
                </a:lnTo>
                <a:cubicBezTo>
                  <a:pt x="554447" y="323946"/>
                  <a:pt x="558600" y="321870"/>
                  <a:pt x="573136" y="319793"/>
                </a:cubicBezTo>
                <a:lnTo>
                  <a:pt x="685271" y="319793"/>
                </a:lnTo>
                <a:cubicBezTo>
                  <a:pt x="697731" y="319793"/>
                  <a:pt x="703961" y="326023"/>
                  <a:pt x="703961" y="338482"/>
                </a:cubicBezTo>
                <a:lnTo>
                  <a:pt x="703961" y="639586"/>
                </a:lnTo>
                <a:cubicBezTo>
                  <a:pt x="703961" y="672812"/>
                  <a:pt x="676965" y="699807"/>
                  <a:pt x="645816" y="699807"/>
                </a:cubicBezTo>
                <a:lnTo>
                  <a:pt x="58144" y="699807"/>
                </a:lnTo>
                <a:cubicBezTo>
                  <a:pt x="26996" y="699807"/>
                  <a:pt x="0" y="672812"/>
                  <a:pt x="0" y="639586"/>
                </a:cubicBezTo>
                <a:lnTo>
                  <a:pt x="0" y="342635"/>
                </a:lnTo>
                <a:cubicBezTo>
                  <a:pt x="0" y="323946"/>
                  <a:pt x="4153" y="319793"/>
                  <a:pt x="22842" y="319793"/>
                </a:cubicBezTo>
                <a:close/>
                <a:moveTo>
                  <a:pt x="514991" y="255419"/>
                </a:moveTo>
                <a:cubicBezTo>
                  <a:pt x="527451" y="255419"/>
                  <a:pt x="535757" y="267878"/>
                  <a:pt x="535757" y="284491"/>
                </a:cubicBezTo>
                <a:lnTo>
                  <a:pt x="535757" y="319793"/>
                </a:lnTo>
                <a:cubicBezTo>
                  <a:pt x="535757" y="336406"/>
                  <a:pt x="525374" y="348865"/>
                  <a:pt x="514991" y="348865"/>
                </a:cubicBezTo>
                <a:cubicBezTo>
                  <a:pt x="502532" y="348865"/>
                  <a:pt x="492149" y="336406"/>
                  <a:pt x="492149" y="319793"/>
                </a:cubicBezTo>
                <a:lnTo>
                  <a:pt x="492149" y="284491"/>
                </a:lnTo>
                <a:cubicBezTo>
                  <a:pt x="492149" y="267878"/>
                  <a:pt x="502532" y="255419"/>
                  <a:pt x="514991" y="255419"/>
                </a:cubicBezTo>
                <a:close/>
                <a:moveTo>
                  <a:pt x="191045" y="255419"/>
                </a:moveTo>
                <a:cubicBezTo>
                  <a:pt x="203504" y="255419"/>
                  <a:pt x="213887" y="267878"/>
                  <a:pt x="213887" y="284491"/>
                </a:cubicBezTo>
                <a:lnTo>
                  <a:pt x="213887" y="319793"/>
                </a:lnTo>
                <a:cubicBezTo>
                  <a:pt x="213887" y="336406"/>
                  <a:pt x="203504" y="348865"/>
                  <a:pt x="191045" y="348865"/>
                </a:cubicBezTo>
                <a:cubicBezTo>
                  <a:pt x="178585" y="348865"/>
                  <a:pt x="170279" y="336406"/>
                  <a:pt x="170279" y="319793"/>
                </a:cubicBezTo>
                <a:lnTo>
                  <a:pt x="170279" y="284491"/>
                </a:lnTo>
                <a:cubicBezTo>
                  <a:pt x="170279" y="267878"/>
                  <a:pt x="180662" y="255419"/>
                  <a:pt x="191045" y="255419"/>
                </a:cubicBezTo>
                <a:close/>
                <a:moveTo>
                  <a:pt x="60220" y="166126"/>
                </a:moveTo>
                <a:lnTo>
                  <a:pt x="645816" y="166126"/>
                </a:lnTo>
                <a:cubicBezTo>
                  <a:pt x="676965" y="166126"/>
                  <a:pt x="703960" y="193122"/>
                  <a:pt x="703960" y="226347"/>
                </a:cubicBezTo>
                <a:lnTo>
                  <a:pt x="703960" y="259572"/>
                </a:lnTo>
                <a:cubicBezTo>
                  <a:pt x="703960" y="274108"/>
                  <a:pt x="699807" y="278261"/>
                  <a:pt x="685271" y="278261"/>
                </a:cubicBezTo>
                <a:lnTo>
                  <a:pt x="573136" y="278261"/>
                </a:lnTo>
                <a:cubicBezTo>
                  <a:pt x="558599" y="278261"/>
                  <a:pt x="554446" y="276185"/>
                  <a:pt x="554446" y="261649"/>
                </a:cubicBezTo>
                <a:lnTo>
                  <a:pt x="554446" y="255419"/>
                </a:lnTo>
                <a:cubicBezTo>
                  <a:pt x="554446" y="238806"/>
                  <a:pt x="541987" y="226347"/>
                  <a:pt x="525374" y="226347"/>
                </a:cubicBezTo>
                <a:lnTo>
                  <a:pt x="502532" y="226347"/>
                </a:lnTo>
                <a:cubicBezTo>
                  <a:pt x="485919" y="226347"/>
                  <a:pt x="473460" y="238806"/>
                  <a:pt x="473460" y="255419"/>
                </a:cubicBezTo>
                <a:lnTo>
                  <a:pt x="473460" y="261649"/>
                </a:lnTo>
                <a:cubicBezTo>
                  <a:pt x="473460" y="276185"/>
                  <a:pt x="471383" y="278261"/>
                  <a:pt x="456847" y="278261"/>
                </a:cubicBezTo>
                <a:lnTo>
                  <a:pt x="253342" y="278261"/>
                </a:lnTo>
                <a:cubicBezTo>
                  <a:pt x="236730" y="278261"/>
                  <a:pt x="232576" y="276185"/>
                  <a:pt x="232576" y="259572"/>
                </a:cubicBezTo>
                <a:lnTo>
                  <a:pt x="232576" y="255419"/>
                </a:lnTo>
                <a:cubicBezTo>
                  <a:pt x="232576" y="238806"/>
                  <a:pt x="220117" y="226347"/>
                  <a:pt x="203504" y="226347"/>
                </a:cubicBezTo>
                <a:lnTo>
                  <a:pt x="180662" y="226347"/>
                </a:lnTo>
                <a:cubicBezTo>
                  <a:pt x="164049" y="226347"/>
                  <a:pt x="151590" y="238806"/>
                  <a:pt x="151590" y="255419"/>
                </a:cubicBezTo>
                <a:lnTo>
                  <a:pt x="151590" y="259572"/>
                </a:lnTo>
                <a:cubicBezTo>
                  <a:pt x="151590" y="274108"/>
                  <a:pt x="147437" y="276185"/>
                  <a:pt x="130824" y="278261"/>
                </a:cubicBezTo>
                <a:lnTo>
                  <a:pt x="24918" y="278261"/>
                </a:lnTo>
                <a:cubicBezTo>
                  <a:pt x="6229" y="278261"/>
                  <a:pt x="2076" y="274108"/>
                  <a:pt x="2076" y="257496"/>
                </a:cubicBezTo>
                <a:lnTo>
                  <a:pt x="2076" y="226347"/>
                </a:lnTo>
                <a:cubicBezTo>
                  <a:pt x="2076" y="193122"/>
                  <a:pt x="29072" y="166126"/>
                  <a:pt x="60220" y="166126"/>
                </a:cubicBezTo>
                <a:close/>
                <a:moveTo>
                  <a:pt x="353019" y="0"/>
                </a:moveTo>
                <a:cubicBezTo>
                  <a:pt x="436082" y="0"/>
                  <a:pt x="504609" y="56068"/>
                  <a:pt x="525375" y="134978"/>
                </a:cubicBezTo>
                <a:cubicBezTo>
                  <a:pt x="525375" y="134978"/>
                  <a:pt x="525375" y="151590"/>
                  <a:pt x="502532" y="151590"/>
                </a:cubicBezTo>
                <a:cubicBezTo>
                  <a:pt x="479690" y="151590"/>
                  <a:pt x="475537" y="134978"/>
                  <a:pt x="475537" y="134978"/>
                </a:cubicBezTo>
                <a:cubicBezTo>
                  <a:pt x="456848" y="83063"/>
                  <a:pt x="409086" y="47761"/>
                  <a:pt x="353019" y="47761"/>
                </a:cubicBezTo>
                <a:cubicBezTo>
                  <a:pt x="298413" y="47791"/>
                  <a:pt x="249569" y="81733"/>
                  <a:pt x="230500" y="132901"/>
                </a:cubicBezTo>
                <a:cubicBezTo>
                  <a:pt x="230500" y="132901"/>
                  <a:pt x="226347" y="147437"/>
                  <a:pt x="203505" y="149514"/>
                </a:cubicBezTo>
                <a:cubicBezTo>
                  <a:pt x="178586" y="149514"/>
                  <a:pt x="180662" y="134978"/>
                  <a:pt x="180662" y="134978"/>
                </a:cubicBezTo>
                <a:cubicBezTo>
                  <a:pt x="199352" y="58144"/>
                  <a:pt x="269955" y="0"/>
                  <a:pt x="353019" y="0"/>
                </a:cubicBezTo>
                <a:close/>
              </a:path>
            </a:pathLst>
          </a:custGeom>
          <a:gradFill flip="none" rotWithShape="1">
            <a:gsLst>
              <a:gs pos="100000">
                <a:srgbClr val="FFFFFF">
                  <a:alpha val="0"/>
                </a:srgbClr>
              </a:gs>
              <a:gs pos="30000">
                <a:srgbClr val="FFFFFF"/>
              </a:gs>
            </a:gsLst>
            <a:lin ang="5400000" scaled="1"/>
            <a:tileRect/>
          </a:gradFill>
          <a:ln w="53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313131"/>
              </a:solidFill>
              <a:effectLst/>
              <a:uLnTx/>
              <a:uFillTx/>
              <a:cs typeface="OPPOSans R" panose="00020600040101010101" pitchFamily="18" charset="-122"/>
            </a:endParaRPr>
          </a:p>
        </p:txBody>
      </p:sp>
      <p:sp>
        <p:nvSpPr>
          <p:cNvPr id="141" name="图形 31"/>
          <p:cNvSpPr/>
          <p:nvPr/>
        </p:nvSpPr>
        <p:spPr>
          <a:xfrm>
            <a:off x="1939983" y="2801657"/>
            <a:ext cx="742167" cy="604247"/>
          </a:xfrm>
          <a:custGeom>
            <a:avLst/>
            <a:gdLst>
              <a:gd name="connsiteX0" fmla="*/ 742168 w 742167"/>
              <a:gd name="connsiteY0" fmla="*/ 475649 h 604247"/>
              <a:gd name="connsiteX1" fmla="*/ 670450 w 742167"/>
              <a:gd name="connsiteY1" fmla="*/ 520163 h 604247"/>
              <a:gd name="connsiteX2" fmla="*/ 509702 w 742167"/>
              <a:gd name="connsiteY2" fmla="*/ 272860 h 604247"/>
              <a:gd name="connsiteX3" fmla="*/ 514648 w 742167"/>
              <a:gd name="connsiteY3" fmla="*/ 37922 h 604247"/>
              <a:gd name="connsiteX4" fmla="*/ 645719 w 742167"/>
              <a:gd name="connsiteY4" fmla="*/ 122006 h 604247"/>
              <a:gd name="connsiteX5" fmla="*/ 583893 w 742167"/>
              <a:gd name="connsiteY5" fmla="*/ 258022 h 604247"/>
              <a:gd name="connsiteX6" fmla="*/ 742168 w 742167"/>
              <a:gd name="connsiteY6" fmla="*/ 475649 h 604247"/>
              <a:gd name="connsiteX7" fmla="*/ 437985 w 742167"/>
              <a:gd name="connsiteY7" fmla="*/ 285226 h 604247"/>
              <a:gd name="connsiteX8" fmla="*/ 635827 w 742167"/>
              <a:gd name="connsiteY8" fmla="*/ 554786 h 604247"/>
              <a:gd name="connsiteX9" fmla="*/ 373686 w 742167"/>
              <a:gd name="connsiteY9" fmla="*/ 604247 h 604247"/>
              <a:gd name="connsiteX10" fmla="*/ 111544 w 742167"/>
              <a:gd name="connsiteY10" fmla="*/ 554786 h 604247"/>
              <a:gd name="connsiteX11" fmla="*/ 309386 w 742167"/>
              <a:gd name="connsiteY11" fmla="*/ 285226 h 604247"/>
              <a:gd name="connsiteX12" fmla="*/ 247562 w 742167"/>
              <a:gd name="connsiteY12" fmla="*/ 79964 h 604247"/>
              <a:gd name="connsiteX13" fmla="*/ 435512 w 742167"/>
              <a:gd name="connsiteY13" fmla="*/ 18138 h 604247"/>
              <a:gd name="connsiteX14" fmla="*/ 492392 w 742167"/>
              <a:gd name="connsiteY14" fmla="*/ 220927 h 604247"/>
              <a:gd name="connsiteX15" fmla="*/ 437985 w 742167"/>
              <a:gd name="connsiteY15" fmla="*/ 285226 h 604247"/>
              <a:gd name="connsiteX16" fmla="*/ 232723 w 742167"/>
              <a:gd name="connsiteY16" fmla="*/ 272860 h 604247"/>
              <a:gd name="connsiteX17" fmla="*/ 71975 w 742167"/>
              <a:gd name="connsiteY17" fmla="*/ 520163 h 604247"/>
              <a:gd name="connsiteX18" fmla="*/ 258 w 742167"/>
              <a:gd name="connsiteY18" fmla="*/ 475649 h 604247"/>
              <a:gd name="connsiteX19" fmla="*/ 156059 w 742167"/>
              <a:gd name="connsiteY19" fmla="*/ 258022 h 604247"/>
              <a:gd name="connsiteX20" fmla="*/ 101652 w 742167"/>
              <a:gd name="connsiteY20" fmla="*/ 104694 h 604247"/>
              <a:gd name="connsiteX21" fmla="*/ 227776 w 742167"/>
              <a:gd name="connsiteY21" fmla="*/ 40395 h 604247"/>
              <a:gd name="connsiteX22" fmla="*/ 232723 w 742167"/>
              <a:gd name="connsiteY22" fmla="*/ 272860 h 604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742167" h="604247">
                <a:moveTo>
                  <a:pt x="742168" y="475649"/>
                </a:moveTo>
                <a:cubicBezTo>
                  <a:pt x="742168" y="512744"/>
                  <a:pt x="727330" y="520163"/>
                  <a:pt x="670450" y="520163"/>
                </a:cubicBezTo>
                <a:cubicBezTo>
                  <a:pt x="655611" y="376728"/>
                  <a:pt x="583893" y="307483"/>
                  <a:pt x="509702" y="272860"/>
                </a:cubicBezTo>
                <a:cubicBezTo>
                  <a:pt x="559163" y="206088"/>
                  <a:pt x="561636" y="109640"/>
                  <a:pt x="514648" y="37922"/>
                </a:cubicBezTo>
                <a:cubicBezTo>
                  <a:pt x="571528" y="20611"/>
                  <a:pt x="630881" y="60179"/>
                  <a:pt x="645719" y="122006"/>
                </a:cubicBezTo>
                <a:cubicBezTo>
                  <a:pt x="658084" y="176412"/>
                  <a:pt x="633354" y="235765"/>
                  <a:pt x="583893" y="258022"/>
                </a:cubicBezTo>
                <a:cubicBezTo>
                  <a:pt x="677869" y="282752"/>
                  <a:pt x="742168" y="371781"/>
                  <a:pt x="742168" y="475649"/>
                </a:cubicBezTo>
                <a:close/>
                <a:moveTo>
                  <a:pt x="437985" y="285226"/>
                </a:moveTo>
                <a:cubicBezTo>
                  <a:pt x="529487" y="305010"/>
                  <a:pt x="635827" y="369309"/>
                  <a:pt x="635827" y="554786"/>
                </a:cubicBezTo>
                <a:cubicBezTo>
                  <a:pt x="635827" y="604247"/>
                  <a:pt x="574001" y="604247"/>
                  <a:pt x="373686" y="604247"/>
                </a:cubicBezTo>
                <a:cubicBezTo>
                  <a:pt x="170897" y="604247"/>
                  <a:pt x="111544" y="604247"/>
                  <a:pt x="111544" y="554786"/>
                </a:cubicBezTo>
                <a:cubicBezTo>
                  <a:pt x="111544" y="371781"/>
                  <a:pt x="217884" y="305010"/>
                  <a:pt x="309386" y="285226"/>
                </a:cubicBezTo>
                <a:cubicBezTo>
                  <a:pt x="237669" y="245657"/>
                  <a:pt x="212938" y="154155"/>
                  <a:pt x="247562" y="79964"/>
                </a:cubicBezTo>
                <a:cubicBezTo>
                  <a:pt x="282185" y="5773"/>
                  <a:pt x="368740" y="-21431"/>
                  <a:pt x="435512" y="18138"/>
                </a:cubicBezTo>
                <a:cubicBezTo>
                  <a:pt x="502284" y="57707"/>
                  <a:pt x="529487" y="149208"/>
                  <a:pt x="492392" y="220927"/>
                </a:cubicBezTo>
                <a:cubicBezTo>
                  <a:pt x="480026" y="250603"/>
                  <a:pt x="460243" y="270388"/>
                  <a:pt x="437985" y="285226"/>
                </a:cubicBezTo>
                <a:close/>
                <a:moveTo>
                  <a:pt x="232723" y="272860"/>
                </a:moveTo>
                <a:cubicBezTo>
                  <a:pt x="158532" y="307483"/>
                  <a:pt x="86813" y="379201"/>
                  <a:pt x="71975" y="520163"/>
                </a:cubicBezTo>
                <a:cubicBezTo>
                  <a:pt x="15096" y="520163"/>
                  <a:pt x="258" y="512744"/>
                  <a:pt x="258" y="475649"/>
                </a:cubicBezTo>
                <a:cubicBezTo>
                  <a:pt x="-4689" y="371781"/>
                  <a:pt x="62083" y="280279"/>
                  <a:pt x="156059" y="258022"/>
                </a:cubicBezTo>
                <a:cubicBezTo>
                  <a:pt x="101652" y="230819"/>
                  <a:pt x="76922" y="164047"/>
                  <a:pt x="101652" y="104694"/>
                </a:cubicBezTo>
                <a:cubicBezTo>
                  <a:pt x="123909" y="52760"/>
                  <a:pt x="175843" y="25557"/>
                  <a:pt x="227776" y="40395"/>
                </a:cubicBezTo>
                <a:cubicBezTo>
                  <a:pt x="180789" y="109640"/>
                  <a:pt x="183262" y="203616"/>
                  <a:pt x="232723" y="272860"/>
                </a:cubicBezTo>
                <a:close/>
              </a:path>
            </a:pathLst>
          </a:custGeom>
          <a:gradFill flip="none" rotWithShape="1">
            <a:gsLst>
              <a:gs pos="100000">
                <a:srgbClr val="FFFFFF">
                  <a:alpha val="0"/>
                </a:srgbClr>
              </a:gs>
              <a:gs pos="30000">
                <a:srgbClr val="FFFFFF"/>
              </a:gs>
            </a:gsLst>
            <a:lin ang="5400000" scaled="1"/>
            <a:tileRect/>
          </a:gradFill>
          <a:ln w="53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313131"/>
              </a:solidFill>
              <a:effectLst/>
              <a:uLnTx/>
              <a:uFillTx/>
              <a:cs typeface="OPPOSans R" panose="00020600040101010101" pitchFamily="18" charset="-122"/>
            </a:endParaRPr>
          </a:p>
        </p:txBody>
      </p:sp>
      <p:sp>
        <p:nvSpPr>
          <p:cNvPr id="142" name="图形 33"/>
          <p:cNvSpPr/>
          <p:nvPr/>
        </p:nvSpPr>
        <p:spPr>
          <a:xfrm>
            <a:off x="1951832" y="4284138"/>
            <a:ext cx="732503" cy="640934"/>
          </a:xfrm>
          <a:custGeom>
            <a:avLst/>
            <a:gdLst>
              <a:gd name="connsiteX0" fmla="*/ 732503 w 732503"/>
              <a:gd name="connsiteY0" fmla="*/ 159357 h 640934"/>
              <a:gd name="connsiteX1" fmla="*/ 732503 w 732503"/>
              <a:gd name="connsiteY1" fmla="*/ 348417 h 640934"/>
              <a:gd name="connsiteX2" fmla="*/ 659257 w 732503"/>
              <a:gd name="connsiteY2" fmla="*/ 421671 h 640934"/>
              <a:gd name="connsiteX3" fmla="*/ 658521 w 732503"/>
              <a:gd name="connsiteY3" fmla="*/ 421667 h 640934"/>
              <a:gd name="connsiteX4" fmla="*/ 610688 w 732503"/>
              <a:gd name="connsiteY4" fmla="*/ 421191 h 640934"/>
              <a:gd name="connsiteX5" fmla="*/ 429430 w 732503"/>
              <a:gd name="connsiteY5" fmla="*/ 163624 h 640934"/>
              <a:gd name="connsiteX6" fmla="*/ 339131 w 732503"/>
              <a:gd name="connsiteY6" fmla="*/ 139140 h 640934"/>
              <a:gd name="connsiteX7" fmla="*/ 256376 w 732503"/>
              <a:gd name="connsiteY7" fmla="*/ 176883 h 640934"/>
              <a:gd name="connsiteX8" fmla="*/ 227809 w 732503"/>
              <a:gd name="connsiteY8" fmla="*/ 180215 h 640934"/>
              <a:gd name="connsiteX9" fmla="*/ 185397 w 732503"/>
              <a:gd name="connsiteY9" fmla="*/ 136485 h 640934"/>
              <a:gd name="connsiteX10" fmla="*/ 356784 w 732503"/>
              <a:gd name="connsiteY10" fmla="*/ 14944 h 640934"/>
              <a:gd name="connsiteX11" fmla="*/ 364951 w 732503"/>
              <a:gd name="connsiteY11" fmla="*/ 10861 h 640934"/>
              <a:gd name="connsiteX12" fmla="*/ 509932 w 732503"/>
              <a:gd name="connsiteY12" fmla="*/ 32195 h 640934"/>
              <a:gd name="connsiteX13" fmla="*/ 677126 w 732503"/>
              <a:gd name="connsiteY13" fmla="*/ 88323 h 640934"/>
              <a:gd name="connsiteX14" fmla="*/ 732503 w 732503"/>
              <a:gd name="connsiteY14" fmla="*/ 159357 h 640934"/>
              <a:gd name="connsiteX15" fmla="*/ 0 w 732503"/>
              <a:gd name="connsiteY15" fmla="*/ 376581 h 640934"/>
              <a:gd name="connsiteX16" fmla="*/ 0 w 732503"/>
              <a:gd name="connsiteY16" fmla="*/ 164815 h 640934"/>
              <a:gd name="connsiteX17" fmla="*/ 73250 w 732503"/>
              <a:gd name="connsiteY17" fmla="*/ 91564 h 640934"/>
              <a:gd name="connsiteX18" fmla="*/ 166901 w 732503"/>
              <a:gd name="connsiteY18" fmla="*/ 91564 h 640934"/>
              <a:gd name="connsiteX19" fmla="*/ 148369 w 732503"/>
              <a:gd name="connsiteY19" fmla="*/ 109749 h 640934"/>
              <a:gd name="connsiteX20" fmla="*/ 133242 w 732503"/>
              <a:gd name="connsiteY20" fmla="*/ 147564 h 640934"/>
              <a:gd name="connsiteX21" fmla="*/ 155565 w 732503"/>
              <a:gd name="connsiteY21" fmla="*/ 192119 h 640934"/>
              <a:gd name="connsiteX22" fmla="*/ 276447 w 732503"/>
              <a:gd name="connsiteY22" fmla="*/ 211988 h 640934"/>
              <a:gd name="connsiteX23" fmla="*/ 327978 w 732503"/>
              <a:gd name="connsiteY23" fmla="*/ 193419 h 640934"/>
              <a:gd name="connsiteX24" fmla="*/ 412857 w 732503"/>
              <a:gd name="connsiteY24" fmla="*/ 220375 h 640934"/>
              <a:gd name="connsiteX25" fmla="*/ 559156 w 732503"/>
              <a:gd name="connsiteY25" fmla="*/ 429798 h 640934"/>
              <a:gd name="connsiteX26" fmla="*/ 541066 w 732503"/>
              <a:gd name="connsiteY26" fmla="*/ 531798 h 640934"/>
              <a:gd name="connsiteX27" fmla="*/ 536522 w 732503"/>
              <a:gd name="connsiteY27" fmla="*/ 534729 h 640934"/>
              <a:gd name="connsiteX28" fmla="*/ 365794 w 732503"/>
              <a:gd name="connsiteY28" fmla="*/ 636181 h 640934"/>
              <a:gd name="connsiteX29" fmla="*/ 336127 w 732503"/>
              <a:gd name="connsiteY29" fmla="*/ 640026 h 640934"/>
              <a:gd name="connsiteX30" fmla="*/ 343691 w 732503"/>
              <a:gd name="connsiteY30" fmla="*/ 632445 h 640934"/>
              <a:gd name="connsiteX31" fmla="*/ 343996 w 732503"/>
              <a:gd name="connsiteY31" fmla="*/ 503940 h 640934"/>
              <a:gd name="connsiteX32" fmla="*/ 343691 w 732503"/>
              <a:gd name="connsiteY32" fmla="*/ 503634 h 640934"/>
              <a:gd name="connsiteX33" fmla="*/ 195359 w 732503"/>
              <a:gd name="connsiteY33" fmla="*/ 355284 h 640934"/>
              <a:gd name="connsiteX34" fmla="*/ 145878 w 732503"/>
              <a:gd name="connsiteY34" fmla="*/ 334865 h 640934"/>
              <a:gd name="connsiteX35" fmla="*/ 96416 w 732503"/>
              <a:gd name="connsiteY35" fmla="*/ 355265 h 640934"/>
              <a:gd name="connsiteX36" fmla="*/ 31644 w 732503"/>
              <a:gd name="connsiteY36" fmla="*/ 420019 h 640934"/>
              <a:gd name="connsiteX37" fmla="*/ 0 w 732503"/>
              <a:gd name="connsiteY37" fmla="*/ 376581 h 640934"/>
              <a:gd name="connsiteX38" fmla="*/ 177009 w 732503"/>
              <a:gd name="connsiteY38" fmla="*/ 400333 h 640934"/>
              <a:gd name="connsiteX39" fmla="*/ 308585 w 732503"/>
              <a:gd name="connsiteY39" fmla="*/ 531872 h 640934"/>
              <a:gd name="connsiteX40" fmla="*/ 320397 w 732503"/>
              <a:gd name="connsiteY40" fmla="*/ 575822 h 640934"/>
              <a:gd name="connsiteX41" fmla="*/ 313768 w 732503"/>
              <a:gd name="connsiteY41" fmla="*/ 600636 h 640934"/>
              <a:gd name="connsiteX42" fmla="*/ 291097 w 732503"/>
              <a:gd name="connsiteY42" fmla="*/ 624900 h 640934"/>
              <a:gd name="connsiteX43" fmla="*/ 258043 w 732503"/>
              <a:gd name="connsiteY43" fmla="*/ 620029 h 640934"/>
              <a:gd name="connsiteX44" fmla="*/ 88871 w 732503"/>
              <a:gd name="connsiteY44" fmla="*/ 497078 h 640934"/>
              <a:gd name="connsiteX45" fmla="*/ 78622 w 732503"/>
              <a:gd name="connsiteY45" fmla="*/ 433543 h 640934"/>
              <a:gd name="connsiteX46" fmla="*/ 83377 w 732503"/>
              <a:gd name="connsiteY46" fmla="*/ 427966 h 640934"/>
              <a:gd name="connsiteX47" fmla="*/ 111029 w 732503"/>
              <a:gd name="connsiteY47" fmla="*/ 400296 h 640934"/>
              <a:gd name="connsiteX48" fmla="*/ 143992 w 732503"/>
              <a:gd name="connsiteY48" fmla="*/ 386690 h 640934"/>
              <a:gd name="connsiteX49" fmla="*/ 176991 w 732503"/>
              <a:gd name="connsiteY49" fmla="*/ 400296 h 640934"/>
              <a:gd name="connsiteX50" fmla="*/ 176991 w 732503"/>
              <a:gd name="connsiteY50" fmla="*/ 400333 h 640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732503" h="640934">
                <a:moveTo>
                  <a:pt x="732503" y="159357"/>
                </a:moveTo>
                <a:lnTo>
                  <a:pt x="732503" y="348417"/>
                </a:lnTo>
                <a:cubicBezTo>
                  <a:pt x="732505" y="388872"/>
                  <a:pt x="699712" y="421669"/>
                  <a:pt x="659257" y="421671"/>
                </a:cubicBezTo>
                <a:cubicBezTo>
                  <a:pt x="659011" y="421671"/>
                  <a:pt x="658766" y="421669"/>
                  <a:pt x="658521" y="421667"/>
                </a:cubicBezTo>
                <a:lnTo>
                  <a:pt x="610688" y="421191"/>
                </a:lnTo>
                <a:lnTo>
                  <a:pt x="429430" y="163624"/>
                </a:lnTo>
                <a:cubicBezTo>
                  <a:pt x="409142" y="134800"/>
                  <a:pt x="371201" y="124512"/>
                  <a:pt x="339131" y="139140"/>
                </a:cubicBezTo>
                <a:lnTo>
                  <a:pt x="256376" y="176883"/>
                </a:lnTo>
                <a:cubicBezTo>
                  <a:pt x="247438" y="180959"/>
                  <a:pt x="237445" y="182125"/>
                  <a:pt x="227809" y="180215"/>
                </a:cubicBezTo>
                <a:cubicBezTo>
                  <a:pt x="185690" y="171847"/>
                  <a:pt x="171534" y="157288"/>
                  <a:pt x="185397" y="136485"/>
                </a:cubicBezTo>
                <a:cubicBezTo>
                  <a:pt x="198820" y="116341"/>
                  <a:pt x="255937" y="75852"/>
                  <a:pt x="356784" y="14944"/>
                </a:cubicBezTo>
                <a:cubicBezTo>
                  <a:pt x="359421" y="13333"/>
                  <a:pt x="362150" y="11959"/>
                  <a:pt x="364951" y="10861"/>
                </a:cubicBezTo>
                <a:cubicBezTo>
                  <a:pt x="407309" y="-8844"/>
                  <a:pt x="455635" y="-1738"/>
                  <a:pt x="509932" y="32195"/>
                </a:cubicBezTo>
                <a:cubicBezTo>
                  <a:pt x="534874" y="47816"/>
                  <a:pt x="590617" y="66531"/>
                  <a:pt x="677126" y="88323"/>
                </a:cubicBezTo>
                <a:cubicBezTo>
                  <a:pt x="709682" y="96514"/>
                  <a:pt x="732502" y="125787"/>
                  <a:pt x="732503" y="159357"/>
                </a:cubicBezTo>
                <a:close/>
                <a:moveTo>
                  <a:pt x="0" y="376581"/>
                </a:moveTo>
                <a:lnTo>
                  <a:pt x="0" y="164815"/>
                </a:lnTo>
                <a:cubicBezTo>
                  <a:pt x="0" y="124360"/>
                  <a:pt x="32795" y="91564"/>
                  <a:pt x="73250" y="91564"/>
                </a:cubicBezTo>
                <a:lnTo>
                  <a:pt x="166901" y="91564"/>
                </a:lnTo>
                <a:cubicBezTo>
                  <a:pt x="162433" y="95996"/>
                  <a:pt x="156243" y="102057"/>
                  <a:pt x="148369" y="109749"/>
                </a:cubicBezTo>
                <a:cubicBezTo>
                  <a:pt x="136539" y="121286"/>
                  <a:pt x="132766" y="130185"/>
                  <a:pt x="133242" y="147564"/>
                </a:cubicBezTo>
                <a:cubicBezTo>
                  <a:pt x="133749" y="164981"/>
                  <a:pt x="141918" y="181286"/>
                  <a:pt x="155565" y="192119"/>
                </a:cubicBezTo>
                <a:cubicBezTo>
                  <a:pt x="189690" y="219250"/>
                  <a:pt x="235433" y="226769"/>
                  <a:pt x="276447" y="211988"/>
                </a:cubicBezTo>
                <a:lnTo>
                  <a:pt x="327978" y="193419"/>
                </a:lnTo>
                <a:cubicBezTo>
                  <a:pt x="359112" y="182199"/>
                  <a:pt x="393902" y="193248"/>
                  <a:pt x="412857" y="220375"/>
                </a:cubicBezTo>
                <a:lnTo>
                  <a:pt x="559156" y="429798"/>
                </a:lnTo>
                <a:cubicBezTo>
                  <a:pt x="582327" y="462960"/>
                  <a:pt x="574228" y="508627"/>
                  <a:pt x="541066" y="531798"/>
                </a:cubicBezTo>
                <a:cubicBezTo>
                  <a:pt x="539588" y="532830"/>
                  <a:pt x="538072" y="533808"/>
                  <a:pt x="536522" y="534729"/>
                </a:cubicBezTo>
                <a:lnTo>
                  <a:pt x="365794" y="636181"/>
                </a:lnTo>
                <a:cubicBezTo>
                  <a:pt x="356596" y="640686"/>
                  <a:pt x="346170" y="642038"/>
                  <a:pt x="336127" y="640026"/>
                </a:cubicBezTo>
                <a:lnTo>
                  <a:pt x="343691" y="632445"/>
                </a:lnTo>
                <a:cubicBezTo>
                  <a:pt x="379261" y="597043"/>
                  <a:pt x="379398" y="539510"/>
                  <a:pt x="343996" y="503940"/>
                </a:cubicBezTo>
                <a:cubicBezTo>
                  <a:pt x="343895" y="503838"/>
                  <a:pt x="343793" y="503736"/>
                  <a:pt x="343691" y="503634"/>
                </a:cubicBezTo>
                <a:lnTo>
                  <a:pt x="195359" y="355284"/>
                </a:lnTo>
                <a:cubicBezTo>
                  <a:pt x="182224" y="342187"/>
                  <a:pt x="164426" y="334842"/>
                  <a:pt x="145878" y="334865"/>
                </a:cubicBezTo>
                <a:cubicBezTo>
                  <a:pt x="127339" y="334842"/>
                  <a:pt x="109549" y="342180"/>
                  <a:pt x="96416" y="355265"/>
                </a:cubicBezTo>
                <a:lnTo>
                  <a:pt x="31644" y="420019"/>
                </a:lnTo>
                <a:cubicBezTo>
                  <a:pt x="12831" y="413881"/>
                  <a:pt x="75" y="396370"/>
                  <a:pt x="0" y="376581"/>
                </a:cubicBezTo>
                <a:close/>
                <a:moveTo>
                  <a:pt x="177009" y="400333"/>
                </a:moveTo>
                <a:lnTo>
                  <a:pt x="308585" y="531872"/>
                </a:lnTo>
                <a:cubicBezTo>
                  <a:pt x="320122" y="543409"/>
                  <a:pt x="324627" y="560147"/>
                  <a:pt x="320397" y="575822"/>
                </a:cubicBezTo>
                <a:lnTo>
                  <a:pt x="313768" y="600636"/>
                </a:lnTo>
                <a:cubicBezTo>
                  <a:pt x="310694" y="611979"/>
                  <a:pt x="302205" y="621064"/>
                  <a:pt x="291097" y="624900"/>
                </a:cubicBezTo>
                <a:cubicBezTo>
                  <a:pt x="279945" y="628780"/>
                  <a:pt x="267601" y="626961"/>
                  <a:pt x="258043" y="620029"/>
                </a:cubicBezTo>
                <a:lnTo>
                  <a:pt x="88871" y="497078"/>
                </a:lnTo>
                <a:cubicBezTo>
                  <a:pt x="68496" y="482364"/>
                  <a:pt x="63907" y="453918"/>
                  <a:pt x="78622" y="433543"/>
                </a:cubicBezTo>
                <a:cubicBezTo>
                  <a:pt x="80054" y="431559"/>
                  <a:pt x="81645" y="429694"/>
                  <a:pt x="83377" y="427966"/>
                </a:cubicBezTo>
                <a:lnTo>
                  <a:pt x="111029" y="400296"/>
                </a:lnTo>
                <a:cubicBezTo>
                  <a:pt x="119781" y="391574"/>
                  <a:pt x="131636" y="386680"/>
                  <a:pt x="143992" y="386690"/>
                </a:cubicBezTo>
                <a:cubicBezTo>
                  <a:pt x="156408" y="386690"/>
                  <a:pt x="168274" y="391579"/>
                  <a:pt x="176991" y="400296"/>
                </a:cubicBezTo>
                <a:lnTo>
                  <a:pt x="176991" y="400333"/>
                </a:lnTo>
                <a:close/>
              </a:path>
            </a:pathLst>
          </a:custGeom>
          <a:gradFill flip="none" rotWithShape="1">
            <a:gsLst>
              <a:gs pos="100000">
                <a:srgbClr val="FFFFFF">
                  <a:alpha val="0"/>
                </a:srgbClr>
              </a:gs>
              <a:gs pos="30000">
                <a:srgbClr val="FFFFFF"/>
              </a:gs>
            </a:gsLst>
            <a:lin ang="5400000" scaled="1"/>
            <a:tileRect/>
          </a:gradFill>
          <a:ln w="53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313131"/>
              </a:solidFill>
              <a:effectLst/>
              <a:uLnTx/>
              <a:uFillTx/>
              <a:cs typeface="OPPOSans R" panose="00020600040101010101" pitchFamily="18" charset="-122"/>
            </a:endParaRPr>
          </a:p>
        </p:txBody>
      </p:sp>
      <p:grpSp>
        <p:nvGrpSpPr>
          <p:cNvPr id="143" name="组合 142"/>
          <p:cNvGrpSpPr/>
          <p:nvPr/>
        </p:nvGrpSpPr>
        <p:grpSpPr>
          <a:xfrm>
            <a:off x="8344791" y="1218372"/>
            <a:ext cx="3373038" cy="5267253"/>
            <a:chOff x="8314032" y="1203695"/>
            <a:chExt cx="3373038" cy="5267253"/>
          </a:xfrm>
        </p:grpSpPr>
        <p:grpSp>
          <p:nvGrpSpPr>
            <p:cNvPr id="144" name="组合 143"/>
            <p:cNvGrpSpPr/>
            <p:nvPr/>
          </p:nvGrpSpPr>
          <p:grpSpPr>
            <a:xfrm>
              <a:off x="8314032" y="1203695"/>
              <a:ext cx="3116557" cy="1112228"/>
              <a:chOff x="8314032" y="1203695"/>
              <a:chExt cx="3116557" cy="1112228"/>
            </a:xfrm>
          </p:grpSpPr>
          <p:graphicFrame>
            <p:nvGraphicFramePr>
              <p:cNvPr id="160" name="图表 159"/>
              <p:cNvGraphicFramePr/>
              <p:nvPr/>
            </p:nvGraphicFramePr>
            <p:xfrm>
              <a:off x="8314032" y="1203695"/>
              <a:ext cx="1734828" cy="1112228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1"/>
              </a:graphicData>
            </a:graphic>
          </p:graphicFrame>
          <p:grpSp>
            <p:nvGrpSpPr>
              <p:cNvPr id="161" name="组合 160"/>
              <p:cNvGrpSpPr/>
              <p:nvPr/>
            </p:nvGrpSpPr>
            <p:grpSpPr>
              <a:xfrm>
                <a:off x="10189544" y="1521394"/>
                <a:ext cx="1241045" cy="606628"/>
                <a:chOff x="10226009" y="1476574"/>
                <a:chExt cx="1241045" cy="606628"/>
              </a:xfrm>
            </p:grpSpPr>
            <p:sp>
              <p:nvSpPr>
                <p:cNvPr id="162" name="文本框 161"/>
                <p:cNvSpPr txBox="1"/>
                <p:nvPr/>
              </p:nvSpPr>
              <p:spPr>
                <a:xfrm>
                  <a:off x="10240514" y="1476574"/>
                  <a:ext cx="800219" cy="276999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2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313131">
                          <a:lumMod val="75000"/>
                          <a:lumOff val="25000"/>
                        </a:srgbClr>
                      </a:solidFill>
                      <a:effectLst/>
                      <a:uLnTx/>
                      <a:uFillTx/>
                      <a:cs typeface="OPPOSans R" panose="00020600040101010101" pitchFamily="18" charset="-122"/>
                    </a:rPr>
                    <a:t>项目进度</a:t>
                  </a:r>
                  <a:endParaRPr kumimoji="0" lang="zh-CN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313131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cs typeface="OPPOSans R" panose="00020600040101010101" pitchFamily="18" charset="-122"/>
                  </a:endParaRPr>
                </a:p>
              </p:txBody>
            </p:sp>
            <p:sp>
              <p:nvSpPr>
                <p:cNvPr id="163" name="文本框 162"/>
                <p:cNvSpPr txBox="1"/>
                <p:nvPr/>
              </p:nvSpPr>
              <p:spPr>
                <a:xfrm>
                  <a:off x="10226009" y="1683092"/>
                  <a:ext cx="1241045" cy="400110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313131"/>
                      </a:solidFill>
                      <a:effectLst/>
                      <a:uLnTx/>
                      <a:uFillTx/>
                      <a:latin typeface="OPPOSans M" panose="00020600040101010101" pitchFamily="18" charset="-122"/>
                      <a:ea typeface="OPPOSans M" panose="00020600040101010101" pitchFamily="18" charset="-122"/>
                      <a:cs typeface="OPPOSans M" panose="00020600040101010101" pitchFamily="18" charset="-122"/>
                    </a:rPr>
                    <a:t>完成</a:t>
                  </a:r>
                  <a:r>
                    <a:rPr kumimoji="0" lang="en-US" altLang="zh-CN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313131"/>
                      </a:solidFill>
                      <a:effectLst/>
                      <a:uLnTx/>
                      <a:uFillTx/>
                      <a:latin typeface="OPPOSans M" panose="00020600040101010101" pitchFamily="18" charset="-122"/>
                      <a:ea typeface="OPPOSans M" panose="00020600040101010101" pitchFamily="18" charset="-122"/>
                      <a:cs typeface="OPPOSans M" panose="00020600040101010101" pitchFamily="18" charset="-122"/>
                    </a:rPr>
                    <a:t>37%</a:t>
                  </a:r>
                  <a:endParaRPr kumimoji="0" lang="en-US" altLang="zh-CN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313131"/>
                    </a:solidFill>
                    <a:effectLst/>
                    <a:uLnTx/>
                    <a:uFillTx/>
                    <a:latin typeface="OPPOSans M" panose="00020600040101010101" pitchFamily="18" charset="-122"/>
                    <a:ea typeface="OPPOSans M" panose="00020600040101010101" pitchFamily="18" charset="-122"/>
                    <a:cs typeface="OPPOSans M" panose="00020600040101010101" pitchFamily="18" charset="-122"/>
                  </a:endParaRPr>
                </a:p>
              </p:txBody>
            </p:sp>
          </p:grpSp>
        </p:grpSp>
        <p:grpSp>
          <p:nvGrpSpPr>
            <p:cNvPr id="145" name="组合 144"/>
            <p:cNvGrpSpPr/>
            <p:nvPr/>
          </p:nvGrpSpPr>
          <p:grpSpPr>
            <a:xfrm>
              <a:off x="8314032" y="2588703"/>
              <a:ext cx="3191898" cy="1112228"/>
              <a:chOff x="8314032" y="1203695"/>
              <a:chExt cx="3191898" cy="1112228"/>
            </a:xfrm>
          </p:grpSpPr>
          <p:graphicFrame>
            <p:nvGraphicFramePr>
              <p:cNvPr id="156" name="图表 155"/>
              <p:cNvGraphicFramePr/>
              <p:nvPr/>
            </p:nvGraphicFramePr>
            <p:xfrm>
              <a:off x="8314032" y="1203695"/>
              <a:ext cx="1734828" cy="1112228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2"/>
              </a:graphicData>
            </a:graphic>
          </p:graphicFrame>
          <p:grpSp>
            <p:nvGrpSpPr>
              <p:cNvPr id="157" name="组合 156"/>
              <p:cNvGrpSpPr/>
              <p:nvPr/>
            </p:nvGrpSpPr>
            <p:grpSpPr>
              <a:xfrm>
                <a:off x="10189544" y="1521394"/>
                <a:ext cx="1316386" cy="606628"/>
                <a:chOff x="10226009" y="1476574"/>
                <a:chExt cx="1316386" cy="606628"/>
              </a:xfrm>
            </p:grpSpPr>
            <p:sp>
              <p:nvSpPr>
                <p:cNvPr id="158" name="文本框 157"/>
                <p:cNvSpPr txBox="1"/>
                <p:nvPr/>
              </p:nvSpPr>
              <p:spPr>
                <a:xfrm>
                  <a:off x="10240514" y="1476574"/>
                  <a:ext cx="1107996" cy="276999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2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313131">
                          <a:lumMod val="75000"/>
                          <a:lumOff val="25000"/>
                        </a:srgbClr>
                      </a:solidFill>
                      <a:effectLst/>
                      <a:uLnTx/>
                      <a:uFillTx/>
                      <a:cs typeface="OPPOSans R" panose="00020600040101010101" pitchFamily="18" charset="-122"/>
                    </a:rPr>
                    <a:t>协作贡献占比</a:t>
                  </a:r>
                  <a:endParaRPr kumimoji="0" lang="zh-CN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313131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cs typeface="OPPOSans R" panose="00020600040101010101" pitchFamily="18" charset="-122"/>
                  </a:endParaRPr>
                </a:p>
              </p:txBody>
            </p:sp>
            <p:sp>
              <p:nvSpPr>
                <p:cNvPr id="159" name="文本框 158"/>
                <p:cNvSpPr txBox="1"/>
                <p:nvPr/>
              </p:nvSpPr>
              <p:spPr>
                <a:xfrm>
                  <a:off x="10226009" y="1683092"/>
                  <a:ext cx="1316386" cy="400110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313131"/>
                      </a:solidFill>
                      <a:effectLst/>
                      <a:uLnTx/>
                      <a:uFillTx/>
                      <a:latin typeface="OPPOSans M" panose="00020600040101010101" pitchFamily="18" charset="-122"/>
                      <a:ea typeface="OPPOSans M" panose="00020600040101010101" pitchFamily="18" charset="-122"/>
                      <a:cs typeface="OPPOSans M" panose="00020600040101010101" pitchFamily="18" charset="-122"/>
                    </a:rPr>
                    <a:t>提升 </a:t>
                  </a:r>
                  <a:r>
                    <a:rPr kumimoji="0" lang="en-US" altLang="zh-CN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313131"/>
                      </a:solidFill>
                      <a:effectLst/>
                      <a:uLnTx/>
                      <a:uFillTx/>
                      <a:latin typeface="OPPOSans M" panose="00020600040101010101" pitchFamily="18" charset="-122"/>
                      <a:ea typeface="OPPOSans M" panose="00020600040101010101" pitchFamily="18" charset="-122"/>
                      <a:cs typeface="OPPOSans M" panose="00020600040101010101" pitchFamily="18" charset="-122"/>
                    </a:rPr>
                    <a:t>25%</a:t>
                  </a:r>
                  <a:endParaRPr kumimoji="0" lang="en-US" altLang="zh-CN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313131"/>
                    </a:solidFill>
                    <a:effectLst/>
                    <a:uLnTx/>
                    <a:uFillTx/>
                    <a:latin typeface="OPPOSans M" panose="00020600040101010101" pitchFamily="18" charset="-122"/>
                    <a:ea typeface="OPPOSans M" panose="00020600040101010101" pitchFamily="18" charset="-122"/>
                    <a:cs typeface="OPPOSans M" panose="00020600040101010101" pitchFamily="18" charset="-122"/>
                  </a:endParaRPr>
                </a:p>
              </p:txBody>
            </p:sp>
          </p:grpSp>
        </p:grpSp>
        <p:grpSp>
          <p:nvGrpSpPr>
            <p:cNvPr id="146" name="组合 145"/>
            <p:cNvGrpSpPr/>
            <p:nvPr/>
          </p:nvGrpSpPr>
          <p:grpSpPr>
            <a:xfrm>
              <a:off x="8314032" y="3973711"/>
              <a:ext cx="3116557" cy="1112228"/>
              <a:chOff x="8314032" y="1203695"/>
              <a:chExt cx="3116557" cy="1112228"/>
            </a:xfrm>
          </p:grpSpPr>
          <p:graphicFrame>
            <p:nvGraphicFramePr>
              <p:cNvPr id="152" name="图表 151"/>
              <p:cNvGraphicFramePr/>
              <p:nvPr/>
            </p:nvGraphicFramePr>
            <p:xfrm>
              <a:off x="8314032" y="1203695"/>
              <a:ext cx="1734828" cy="1112228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3"/>
              </a:graphicData>
            </a:graphic>
          </p:graphicFrame>
          <p:grpSp>
            <p:nvGrpSpPr>
              <p:cNvPr id="153" name="组合 152"/>
              <p:cNvGrpSpPr/>
              <p:nvPr/>
            </p:nvGrpSpPr>
            <p:grpSpPr>
              <a:xfrm>
                <a:off x="10189544" y="1521394"/>
                <a:ext cx="1241045" cy="606628"/>
                <a:chOff x="10226009" y="1476574"/>
                <a:chExt cx="1241045" cy="606628"/>
              </a:xfrm>
            </p:grpSpPr>
            <p:sp>
              <p:nvSpPr>
                <p:cNvPr id="154" name="文本框 153"/>
                <p:cNvSpPr txBox="1"/>
                <p:nvPr/>
              </p:nvSpPr>
              <p:spPr>
                <a:xfrm>
                  <a:off x="10240514" y="1476574"/>
                  <a:ext cx="1107996" cy="276999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2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313131">
                          <a:lumMod val="75000"/>
                          <a:lumOff val="25000"/>
                        </a:srgbClr>
                      </a:solidFill>
                      <a:effectLst/>
                      <a:uLnTx/>
                      <a:uFillTx/>
                      <a:cs typeface="OPPOSans R" panose="00020600040101010101" pitchFamily="18" charset="-122"/>
                    </a:rPr>
                    <a:t>工作效率显著</a:t>
                  </a:r>
                  <a:endParaRPr kumimoji="0" lang="zh-CN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313131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cs typeface="OPPOSans R" panose="00020600040101010101" pitchFamily="18" charset="-122"/>
                  </a:endParaRPr>
                </a:p>
              </p:txBody>
            </p:sp>
            <p:sp>
              <p:nvSpPr>
                <p:cNvPr id="155" name="文本框 154"/>
                <p:cNvSpPr txBox="1"/>
                <p:nvPr/>
              </p:nvSpPr>
              <p:spPr>
                <a:xfrm>
                  <a:off x="10226009" y="1683092"/>
                  <a:ext cx="1241045" cy="400110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313131"/>
                      </a:solidFill>
                      <a:effectLst/>
                      <a:uLnTx/>
                      <a:uFillTx/>
                      <a:latin typeface="OPPOSans M" panose="00020600040101010101" pitchFamily="18" charset="-122"/>
                      <a:ea typeface="OPPOSans M" panose="00020600040101010101" pitchFamily="18" charset="-122"/>
                      <a:cs typeface="OPPOSans M" panose="00020600040101010101" pitchFamily="18" charset="-122"/>
                    </a:rPr>
                    <a:t>提高</a:t>
                  </a:r>
                  <a:r>
                    <a:rPr kumimoji="0" lang="en-US" altLang="zh-CN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313131"/>
                      </a:solidFill>
                      <a:effectLst/>
                      <a:uLnTx/>
                      <a:uFillTx/>
                      <a:latin typeface="OPPOSans M" panose="00020600040101010101" pitchFamily="18" charset="-122"/>
                      <a:ea typeface="OPPOSans M" panose="00020600040101010101" pitchFamily="18" charset="-122"/>
                      <a:cs typeface="OPPOSans M" panose="00020600040101010101" pitchFamily="18" charset="-122"/>
                    </a:rPr>
                    <a:t>45%</a:t>
                  </a:r>
                  <a:endParaRPr kumimoji="0" lang="en-US" altLang="zh-CN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313131"/>
                    </a:solidFill>
                    <a:effectLst/>
                    <a:uLnTx/>
                    <a:uFillTx/>
                    <a:latin typeface="OPPOSans M" panose="00020600040101010101" pitchFamily="18" charset="-122"/>
                    <a:ea typeface="OPPOSans M" panose="00020600040101010101" pitchFamily="18" charset="-122"/>
                    <a:cs typeface="OPPOSans M" panose="00020600040101010101" pitchFamily="18" charset="-122"/>
                  </a:endParaRPr>
                </a:p>
              </p:txBody>
            </p:sp>
          </p:grpSp>
        </p:grpSp>
        <p:grpSp>
          <p:nvGrpSpPr>
            <p:cNvPr id="147" name="组合 146"/>
            <p:cNvGrpSpPr/>
            <p:nvPr/>
          </p:nvGrpSpPr>
          <p:grpSpPr>
            <a:xfrm>
              <a:off x="8314032" y="5358720"/>
              <a:ext cx="3373038" cy="1112228"/>
              <a:chOff x="8314032" y="1203695"/>
              <a:chExt cx="3373038" cy="1112228"/>
            </a:xfrm>
          </p:grpSpPr>
          <p:graphicFrame>
            <p:nvGraphicFramePr>
              <p:cNvPr id="148" name="图表 147"/>
              <p:cNvGraphicFramePr/>
              <p:nvPr/>
            </p:nvGraphicFramePr>
            <p:xfrm>
              <a:off x="8314032" y="1203695"/>
              <a:ext cx="1734828" cy="1112228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4"/>
              </a:graphicData>
            </a:graphic>
          </p:graphicFrame>
          <p:grpSp>
            <p:nvGrpSpPr>
              <p:cNvPr id="149" name="组合 148"/>
              <p:cNvGrpSpPr/>
              <p:nvPr/>
            </p:nvGrpSpPr>
            <p:grpSpPr>
              <a:xfrm>
                <a:off x="10189544" y="1521394"/>
                <a:ext cx="1497526" cy="606628"/>
                <a:chOff x="10226009" y="1476574"/>
                <a:chExt cx="1497526" cy="606628"/>
              </a:xfrm>
            </p:grpSpPr>
            <p:sp>
              <p:nvSpPr>
                <p:cNvPr id="150" name="文本框 149"/>
                <p:cNvSpPr txBox="1"/>
                <p:nvPr/>
              </p:nvSpPr>
              <p:spPr>
                <a:xfrm>
                  <a:off x="10240514" y="1476574"/>
                  <a:ext cx="646331" cy="276999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2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313131">
                          <a:lumMod val="75000"/>
                          <a:lumOff val="25000"/>
                        </a:srgbClr>
                      </a:solidFill>
                      <a:effectLst/>
                      <a:uLnTx/>
                      <a:uFillTx/>
                      <a:cs typeface="OPPOSans R" panose="00020600040101010101" pitchFamily="18" charset="-122"/>
                    </a:rPr>
                    <a:t>投诉率</a:t>
                  </a:r>
                  <a:endParaRPr kumimoji="0" lang="zh-CN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313131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cs typeface="OPPOSans R" panose="00020600040101010101" pitchFamily="18" charset="-122"/>
                  </a:endParaRPr>
                </a:p>
              </p:txBody>
            </p:sp>
            <p:sp>
              <p:nvSpPr>
                <p:cNvPr id="151" name="文本框 150"/>
                <p:cNvSpPr txBox="1"/>
                <p:nvPr/>
              </p:nvSpPr>
              <p:spPr>
                <a:xfrm>
                  <a:off x="10226009" y="1683092"/>
                  <a:ext cx="1497526" cy="400110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313131"/>
                      </a:solidFill>
                      <a:effectLst/>
                      <a:uLnTx/>
                      <a:uFillTx/>
                      <a:latin typeface="OPPOSans M" panose="00020600040101010101" pitchFamily="18" charset="-122"/>
                      <a:ea typeface="OPPOSans M" panose="00020600040101010101" pitchFamily="18" charset="-122"/>
                      <a:cs typeface="OPPOSans M" panose="00020600040101010101" pitchFamily="18" charset="-122"/>
                    </a:rPr>
                    <a:t>降低</a:t>
                  </a:r>
                  <a:r>
                    <a:rPr kumimoji="0" lang="en-US" altLang="zh-CN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313131"/>
                      </a:solidFill>
                      <a:effectLst/>
                      <a:uLnTx/>
                      <a:uFillTx/>
                      <a:latin typeface="OPPOSans M" panose="00020600040101010101" pitchFamily="18" charset="-122"/>
                      <a:ea typeface="OPPOSans M" panose="00020600040101010101" pitchFamily="18" charset="-122"/>
                      <a:cs typeface="OPPOSans M" panose="00020600040101010101" pitchFamily="18" charset="-122"/>
                    </a:rPr>
                    <a:t>25%</a:t>
                  </a:r>
                  <a:r>
                    <a:rPr kumimoji="0" lang="zh-CN" alt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313131"/>
                      </a:solidFill>
                      <a:effectLst/>
                      <a:uLnTx/>
                      <a:uFillTx/>
                      <a:latin typeface="OPPOSans M" panose="00020600040101010101" pitchFamily="18" charset="-122"/>
                      <a:ea typeface="OPPOSans M" panose="00020600040101010101" pitchFamily="18" charset="-122"/>
                      <a:cs typeface="OPPOSans M" panose="00020600040101010101" pitchFamily="18" charset="-122"/>
                    </a:rPr>
                    <a:t>。</a:t>
                  </a:r>
                  <a:endParaRPr kumimoji="0" lang="en-US" altLang="zh-CN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313131"/>
                    </a:solidFill>
                    <a:effectLst/>
                    <a:uLnTx/>
                    <a:uFillTx/>
                    <a:latin typeface="OPPOSans M" panose="00020600040101010101" pitchFamily="18" charset="-122"/>
                    <a:ea typeface="OPPOSans M" panose="00020600040101010101" pitchFamily="18" charset="-122"/>
                    <a:cs typeface="OPPOSans M" panose="00020600040101010101" pitchFamily="18" charset="-122"/>
                  </a:endParaRPr>
                </a:p>
              </p:txBody>
            </p:sp>
          </p:grpSp>
        </p:grpSp>
      </p:grpSp>
      <p:grpSp>
        <p:nvGrpSpPr>
          <p:cNvPr id="105" name="组合 104"/>
          <p:cNvGrpSpPr/>
          <p:nvPr/>
        </p:nvGrpSpPr>
        <p:grpSpPr>
          <a:xfrm>
            <a:off x="3649854" y="1392195"/>
            <a:ext cx="3933730" cy="4924227"/>
            <a:chOff x="4340590" y="1391872"/>
            <a:chExt cx="3933730" cy="4924227"/>
          </a:xfrm>
        </p:grpSpPr>
        <p:grpSp>
          <p:nvGrpSpPr>
            <p:cNvPr id="106" name="组合 105"/>
            <p:cNvGrpSpPr/>
            <p:nvPr/>
          </p:nvGrpSpPr>
          <p:grpSpPr>
            <a:xfrm>
              <a:off x="4340590" y="1391872"/>
              <a:ext cx="3933730" cy="750504"/>
              <a:chOff x="4340592" y="1391872"/>
              <a:chExt cx="3933730" cy="750504"/>
            </a:xfrm>
          </p:grpSpPr>
          <p:grpSp>
            <p:nvGrpSpPr>
              <p:cNvPr id="128" name="组合 127"/>
              <p:cNvGrpSpPr/>
              <p:nvPr/>
            </p:nvGrpSpPr>
            <p:grpSpPr>
              <a:xfrm>
                <a:off x="4340592" y="1391872"/>
                <a:ext cx="3933730" cy="750504"/>
                <a:chOff x="4340592" y="1391872"/>
                <a:chExt cx="3933730" cy="750504"/>
              </a:xfrm>
            </p:grpSpPr>
            <p:grpSp>
              <p:nvGrpSpPr>
                <p:cNvPr id="130" name="组合 129"/>
                <p:cNvGrpSpPr/>
                <p:nvPr/>
              </p:nvGrpSpPr>
              <p:grpSpPr>
                <a:xfrm>
                  <a:off x="4340592" y="1391872"/>
                  <a:ext cx="3933730" cy="750504"/>
                  <a:chOff x="4375056" y="1393265"/>
                  <a:chExt cx="5152557" cy="750504"/>
                </a:xfrm>
              </p:grpSpPr>
              <p:sp>
                <p:nvSpPr>
                  <p:cNvPr id="132" name="文本框 131"/>
                  <p:cNvSpPr txBox="1"/>
                  <p:nvPr/>
                </p:nvSpPr>
                <p:spPr>
                  <a:xfrm>
                    <a:off x="4768481" y="1393265"/>
                    <a:ext cx="2535874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lvl="0" indent="0" algn="just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1" lang="zh-CN" altLang="en-US" sz="1800" b="0" i="0" u="none" strike="noStrike" kern="0" cap="none" spc="0" normalizeH="0" baseline="0" noProof="0" dirty="0">
                        <a:ln>
                          <a:noFill/>
                        </a:ln>
                        <a:gradFill>
                          <a:gsLst>
                            <a:gs pos="100000">
                              <a:schemeClr val="accent1">
                                <a:lumMod val="60000"/>
                                <a:lumOff val="40000"/>
                              </a:schemeClr>
                            </a:gs>
                            <a:gs pos="23000">
                              <a:schemeClr val="accent1"/>
                            </a:gs>
                          </a:gsLst>
                          <a:lin ang="16200000" scaled="1"/>
                        </a:gradFill>
                        <a:effectLst/>
                        <a:uLnTx/>
                        <a:uFillTx/>
                        <a:latin typeface="OPPOSans H" panose="00020600040101010101" pitchFamily="18" charset="-122"/>
                        <a:ea typeface="OPPOSans H" panose="00020600040101010101" pitchFamily="18" charset="-122"/>
                        <a:cs typeface="OPPOSans H" panose="00020600040101010101" pitchFamily="18" charset="-122"/>
                      </a:rPr>
                      <a:t>项目进度推进</a:t>
                    </a:r>
                    <a:endParaRPr kumimoji="1" lang="zh-CN" altLang="en-US" sz="1800" b="0" i="0" u="none" strike="noStrike" kern="0" cap="none" spc="0" normalizeH="0" baseline="0" noProof="0" dirty="0">
                      <a:ln>
                        <a:noFill/>
                      </a:ln>
                      <a:gradFill>
                        <a:gsLst>
                          <a:gs pos="100000">
                            <a:schemeClr val="accent1">
                              <a:lumMod val="60000"/>
                              <a:lumOff val="40000"/>
                            </a:schemeClr>
                          </a:gs>
                          <a:gs pos="23000">
                            <a:schemeClr val="accent1"/>
                          </a:gs>
                        </a:gsLst>
                        <a:lin ang="16200000" scaled="1"/>
                      </a:gradFill>
                      <a:effectLst/>
                      <a:uLnTx/>
                      <a:uFillTx/>
                      <a:latin typeface="OPPOSans H" panose="00020600040101010101" pitchFamily="18" charset="-122"/>
                      <a:ea typeface="OPPOSans H" panose="00020600040101010101" pitchFamily="18" charset="-122"/>
                      <a:cs typeface="OPPOSans H" panose="00020600040101010101" pitchFamily="18" charset="-122"/>
                    </a:endParaRPr>
                  </a:p>
                </p:txBody>
              </p:sp>
              <p:sp>
                <p:nvSpPr>
                  <p:cNvPr id="133" name="TextBox 3"/>
                  <p:cNvSpPr txBox="1"/>
                  <p:nvPr/>
                </p:nvSpPr>
                <p:spPr>
                  <a:xfrm>
                    <a:off x="4375056" y="1698839"/>
                    <a:ext cx="5152557" cy="444930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lvl="0" indent="0" algn="just" defTabSz="913765" eaLnBrk="1" fontAlgn="auto" latinLnBrk="0" hangingPunct="1">
                      <a:lnSpc>
                        <a:spcPts val="18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zh-CN" altLang="en-US" sz="1200" b="0" i="0" u="none" strike="noStrike" kern="0" cap="none" spc="-60" normalizeH="0" baseline="0" noProof="0" dirty="0">
                        <a:ln>
                          <a:noFill/>
                        </a:ln>
                        <a:solidFill>
                          <a:srgbClr val="313131">
                            <a:alpha val="60000"/>
                          </a:srgbClr>
                        </a:solidFill>
                        <a:effectLst/>
                        <a:uLnTx/>
                        <a:uFillTx/>
                        <a:cs typeface="OPPOSans R" panose="00020600040101010101" pitchFamily="18" charset="-122"/>
                      </a:rPr>
                      <a:t>制定项目计划，分解任务，跟踪评估，确保项目按计划推进，目前进度达</a:t>
                    </a:r>
                    <a:r>
                      <a:rPr kumimoji="0" lang="en-US" altLang="zh-CN" sz="1200" b="0" i="0" u="none" strike="noStrike" kern="0" cap="none" spc="-60" normalizeH="0" baseline="0" noProof="0" dirty="0">
                        <a:ln>
                          <a:noFill/>
                        </a:ln>
                        <a:solidFill>
                          <a:srgbClr val="313131">
                            <a:alpha val="60000"/>
                          </a:srgbClr>
                        </a:solidFill>
                        <a:effectLst/>
                        <a:uLnTx/>
                        <a:uFillTx/>
                        <a:cs typeface="OPPOSans R" panose="00020600040101010101" pitchFamily="18" charset="-122"/>
                      </a:rPr>
                      <a:t>95%</a:t>
                    </a:r>
                    <a:r>
                      <a:rPr kumimoji="0" lang="zh-CN" altLang="en-US" sz="1200" b="0" i="0" u="none" strike="noStrike" kern="0" cap="none" spc="-60" normalizeH="0" baseline="0" noProof="0" dirty="0">
                        <a:ln>
                          <a:noFill/>
                        </a:ln>
                        <a:solidFill>
                          <a:srgbClr val="313131">
                            <a:alpha val="60000"/>
                          </a:srgbClr>
                        </a:solidFill>
                        <a:effectLst/>
                        <a:uLnTx/>
                        <a:uFillTx/>
                        <a:cs typeface="OPPOSans R" panose="00020600040101010101" pitchFamily="18" charset="-122"/>
                      </a:rPr>
                      <a:t>，无延误，为后续工作奠基。</a:t>
                    </a:r>
                    <a:endParaRPr kumimoji="0" lang="zh-CN" altLang="en-US" sz="1200" b="0" i="0" u="none" strike="noStrike" kern="0" cap="none" spc="-60" normalizeH="0" baseline="0" noProof="0" dirty="0">
                      <a:ln>
                        <a:noFill/>
                      </a:ln>
                      <a:solidFill>
                        <a:srgbClr val="313131">
                          <a:alpha val="60000"/>
                        </a:srgbClr>
                      </a:solidFill>
                      <a:effectLst/>
                      <a:uLnTx/>
                      <a:uFillTx/>
                      <a:cs typeface="OPPOSans R" panose="00020600040101010101" pitchFamily="18" charset="-122"/>
                    </a:endParaRPr>
                  </a:p>
                </p:txBody>
              </p:sp>
            </p:grpSp>
            <p:sp>
              <p:nvSpPr>
                <p:cNvPr id="131" name="椭圆 130"/>
                <p:cNvSpPr/>
                <p:nvPr/>
              </p:nvSpPr>
              <p:spPr>
                <a:xfrm>
                  <a:off x="4360906" y="1411512"/>
                  <a:ext cx="234253" cy="234253"/>
                </a:xfrm>
                <a:prstGeom prst="ellipse">
                  <a:avLst/>
                </a:prstGeom>
                <a:gradFill>
                  <a:gsLst>
                    <a:gs pos="100000">
                      <a:schemeClr val="accent1">
                        <a:lumMod val="60000"/>
                        <a:lumOff val="40000"/>
                      </a:schemeClr>
                    </a:gs>
                    <a:gs pos="23000">
                      <a:schemeClr val="accent1"/>
                    </a:gs>
                  </a:gsLst>
                  <a:lin ang="16200000" scaled="1"/>
                </a:gra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1800" b="0" i="0" u="none" strike="noStrike" kern="0" cap="none" spc="0" normalizeH="0" baseline="0" noProof="0" dirty="0">
                    <a:ln>
                      <a:noFill/>
                    </a:ln>
                    <a:gradFill>
                      <a:gsLst>
                        <a:gs pos="100000">
                          <a:schemeClr val="accent1">
                            <a:lumMod val="60000"/>
                            <a:lumOff val="40000"/>
                          </a:schemeClr>
                        </a:gs>
                        <a:gs pos="23000">
                          <a:schemeClr val="accent1"/>
                        </a:gs>
                      </a:gsLst>
                      <a:lin ang="16200000" scaled="1"/>
                    </a:gradFill>
                    <a:effectLst/>
                    <a:uLnTx/>
                    <a:uFillTx/>
                    <a:latin typeface="OPPOSans R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</a:endParaRPr>
                </a:p>
              </p:txBody>
            </p:sp>
          </p:grpSp>
          <p:sp>
            <p:nvSpPr>
              <p:cNvPr id="129" name="矩形 2"/>
              <p:cNvSpPr/>
              <p:nvPr/>
            </p:nvSpPr>
            <p:spPr>
              <a:xfrm rot="2700000">
                <a:off x="4450144" y="1459818"/>
                <a:ext cx="61355" cy="105138"/>
              </a:xfrm>
              <a:custGeom>
                <a:avLst/>
                <a:gdLst>
                  <a:gd name="connsiteX0" fmla="*/ 0 w 415436"/>
                  <a:gd name="connsiteY0" fmla="*/ 0 h 415436"/>
                  <a:gd name="connsiteX1" fmla="*/ 415436 w 415436"/>
                  <a:gd name="connsiteY1" fmla="*/ 0 h 415436"/>
                  <a:gd name="connsiteX2" fmla="*/ 415436 w 415436"/>
                  <a:gd name="connsiteY2" fmla="*/ 415436 h 415436"/>
                  <a:gd name="connsiteX3" fmla="*/ 0 w 415436"/>
                  <a:gd name="connsiteY3" fmla="*/ 415436 h 415436"/>
                  <a:gd name="connsiteX4" fmla="*/ 0 w 415436"/>
                  <a:gd name="connsiteY4" fmla="*/ 0 h 415436"/>
                  <a:gd name="connsiteX0-1" fmla="*/ 0 w 415436"/>
                  <a:gd name="connsiteY0-2" fmla="*/ 415436 h 415436"/>
                  <a:gd name="connsiteX1-3" fmla="*/ 415436 w 415436"/>
                  <a:gd name="connsiteY1-4" fmla="*/ 0 h 415436"/>
                  <a:gd name="connsiteX2-5" fmla="*/ 415436 w 415436"/>
                  <a:gd name="connsiteY2-6" fmla="*/ 415436 h 415436"/>
                  <a:gd name="connsiteX3-7" fmla="*/ 0 w 415436"/>
                  <a:gd name="connsiteY3-8" fmla="*/ 415436 h 415436"/>
                  <a:gd name="connsiteX0-9" fmla="*/ 0 w 218174"/>
                  <a:gd name="connsiteY0-10" fmla="*/ 415436 h 415436"/>
                  <a:gd name="connsiteX1-11" fmla="*/ 218174 w 218174"/>
                  <a:gd name="connsiteY1-12" fmla="*/ 0 h 415436"/>
                  <a:gd name="connsiteX2-13" fmla="*/ 218174 w 218174"/>
                  <a:gd name="connsiteY2-14" fmla="*/ 415436 h 415436"/>
                  <a:gd name="connsiteX3-15" fmla="*/ 0 w 218174"/>
                  <a:gd name="connsiteY3-16" fmla="*/ 415436 h 415436"/>
                  <a:gd name="connsiteX0-17" fmla="*/ 0 w 218174"/>
                  <a:gd name="connsiteY0-18" fmla="*/ 415436 h 415436"/>
                  <a:gd name="connsiteX1-19" fmla="*/ 118424 w 218174"/>
                  <a:gd name="connsiteY1-20" fmla="*/ 208567 h 415436"/>
                  <a:gd name="connsiteX2-21" fmla="*/ 218174 w 218174"/>
                  <a:gd name="connsiteY2-22" fmla="*/ 0 h 415436"/>
                  <a:gd name="connsiteX3-23" fmla="*/ 218174 w 218174"/>
                  <a:gd name="connsiteY3-24" fmla="*/ 415436 h 415436"/>
                  <a:gd name="connsiteX4-25" fmla="*/ 0 w 218174"/>
                  <a:gd name="connsiteY4-26" fmla="*/ 415436 h 415436"/>
                  <a:gd name="connsiteX0-27" fmla="*/ 27697 w 245871"/>
                  <a:gd name="connsiteY0-28" fmla="*/ 415436 h 415436"/>
                  <a:gd name="connsiteX1-29" fmla="*/ 0 w 245871"/>
                  <a:gd name="connsiteY1-30" fmla="*/ 120895 h 415436"/>
                  <a:gd name="connsiteX2-31" fmla="*/ 245871 w 245871"/>
                  <a:gd name="connsiteY2-32" fmla="*/ 0 h 415436"/>
                  <a:gd name="connsiteX3-33" fmla="*/ 245871 w 245871"/>
                  <a:gd name="connsiteY3-34" fmla="*/ 415436 h 415436"/>
                  <a:gd name="connsiteX4-35" fmla="*/ 27697 w 245871"/>
                  <a:gd name="connsiteY4-36" fmla="*/ 415436 h 415436"/>
                  <a:gd name="connsiteX0-37" fmla="*/ 0 w 245871"/>
                  <a:gd name="connsiteY0-38" fmla="*/ 120895 h 415436"/>
                  <a:gd name="connsiteX1-39" fmla="*/ 245871 w 245871"/>
                  <a:gd name="connsiteY1-40" fmla="*/ 0 h 415436"/>
                  <a:gd name="connsiteX2-41" fmla="*/ 245871 w 245871"/>
                  <a:gd name="connsiteY2-42" fmla="*/ 415436 h 415436"/>
                  <a:gd name="connsiteX3-43" fmla="*/ 27697 w 245871"/>
                  <a:gd name="connsiteY3-44" fmla="*/ 415436 h 415436"/>
                  <a:gd name="connsiteX4-45" fmla="*/ 91440 w 245871"/>
                  <a:gd name="connsiteY4-46" fmla="*/ 212335 h 415436"/>
                  <a:gd name="connsiteX0-47" fmla="*/ 0 w 245871"/>
                  <a:gd name="connsiteY0-48" fmla="*/ 120895 h 415436"/>
                  <a:gd name="connsiteX1-49" fmla="*/ 245871 w 245871"/>
                  <a:gd name="connsiteY1-50" fmla="*/ 0 h 415436"/>
                  <a:gd name="connsiteX2-51" fmla="*/ 245871 w 245871"/>
                  <a:gd name="connsiteY2-52" fmla="*/ 415436 h 415436"/>
                  <a:gd name="connsiteX3-53" fmla="*/ 27697 w 245871"/>
                  <a:gd name="connsiteY3-54" fmla="*/ 415436 h 415436"/>
                  <a:gd name="connsiteX0-55" fmla="*/ 218174 w 218174"/>
                  <a:gd name="connsiteY0-56" fmla="*/ 0 h 415436"/>
                  <a:gd name="connsiteX1-57" fmla="*/ 218174 w 218174"/>
                  <a:gd name="connsiteY1-58" fmla="*/ 415436 h 415436"/>
                  <a:gd name="connsiteX2-59" fmla="*/ 0 w 218174"/>
                  <a:gd name="connsiteY2-60" fmla="*/ 415436 h 415436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</a:cxnLst>
                <a:rect l="l" t="t" r="r" b="b"/>
                <a:pathLst>
                  <a:path w="218174" h="415436">
                    <a:moveTo>
                      <a:pt x="218174" y="0"/>
                    </a:moveTo>
                    <a:lnTo>
                      <a:pt x="218174" y="415436"/>
                    </a:lnTo>
                    <a:lnTo>
                      <a:pt x="0" y="415436"/>
                    </a:lnTo>
                  </a:path>
                </a:pathLst>
              </a:custGeom>
              <a:noFill/>
              <a:ln w="34925" cap="rnd" cmpd="sng" algn="ctr">
                <a:solidFill>
                  <a:srgbClr val="FFFFFF"/>
                </a:solidFill>
                <a:prstDash val="solid"/>
                <a:round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POSans R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</a:endParaRPr>
              </a:p>
            </p:txBody>
          </p:sp>
        </p:grpSp>
        <p:grpSp>
          <p:nvGrpSpPr>
            <p:cNvPr id="107" name="组合 106"/>
            <p:cNvGrpSpPr/>
            <p:nvPr/>
          </p:nvGrpSpPr>
          <p:grpSpPr>
            <a:xfrm>
              <a:off x="4340590" y="5565595"/>
              <a:ext cx="3933730" cy="750504"/>
              <a:chOff x="4340592" y="1391872"/>
              <a:chExt cx="3933730" cy="750504"/>
            </a:xfrm>
          </p:grpSpPr>
          <p:grpSp>
            <p:nvGrpSpPr>
              <p:cNvPr id="122" name="组合 121"/>
              <p:cNvGrpSpPr/>
              <p:nvPr/>
            </p:nvGrpSpPr>
            <p:grpSpPr>
              <a:xfrm>
                <a:off x="4340592" y="1391872"/>
                <a:ext cx="3933730" cy="750504"/>
                <a:chOff x="4340592" y="1391872"/>
                <a:chExt cx="3933730" cy="750504"/>
              </a:xfrm>
            </p:grpSpPr>
            <p:grpSp>
              <p:nvGrpSpPr>
                <p:cNvPr id="124" name="组合 123"/>
                <p:cNvGrpSpPr/>
                <p:nvPr/>
              </p:nvGrpSpPr>
              <p:grpSpPr>
                <a:xfrm>
                  <a:off x="4340592" y="1391872"/>
                  <a:ext cx="3933730" cy="750504"/>
                  <a:chOff x="4375056" y="1393265"/>
                  <a:chExt cx="5152557" cy="750504"/>
                </a:xfrm>
              </p:grpSpPr>
              <p:sp>
                <p:nvSpPr>
                  <p:cNvPr id="126" name="文本框 125"/>
                  <p:cNvSpPr txBox="1"/>
                  <p:nvPr/>
                </p:nvSpPr>
                <p:spPr>
                  <a:xfrm>
                    <a:off x="4768481" y="1393265"/>
                    <a:ext cx="2535874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lvl="0" indent="0" algn="just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1" lang="zh-CN" altLang="en-US" sz="1800" b="0" i="0" u="none" strike="noStrike" kern="0" cap="none" spc="0" normalizeH="0" baseline="0" noProof="0" dirty="0">
                        <a:ln>
                          <a:noFill/>
                        </a:ln>
                        <a:gradFill>
                          <a:gsLst>
                            <a:gs pos="100000">
                              <a:schemeClr val="accent1">
                                <a:lumMod val="60000"/>
                                <a:lumOff val="40000"/>
                              </a:schemeClr>
                            </a:gs>
                            <a:gs pos="23000">
                              <a:schemeClr val="accent1"/>
                            </a:gs>
                          </a:gsLst>
                          <a:lin ang="16200000" scaled="1"/>
                        </a:gradFill>
                        <a:effectLst/>
                        <a:uLnTx/>
                        <a:uFillTx/>
                        <a:latin typeface="OPPOSans H" panose="00020600040101010101" pitchFamily="18" charset="-122"/>
                        <a:ea typeface="OPPOSans H" panose="00020600040101010101" pitchFamily="18" charset="-122"/>
                        <a:cs typeface="OPPOSans H" panose="00020600040101010101" pitchFamily="18" charset="-122"/>
                      </a:rPr>
                      <a:t>客户满意度提升</a:t>
                    </a:r>
                    <a:endParaRPr kumimoji="1" lang="zh-CN" altLang="en-US" sz="1800" b="0" i="0" u="none" strike="noStrike" kern="0" cap="none" spc="0" normalizeH="0" baseline="0" noProof="0" dirty="0">
                      <a:ln>
                        <a:noFill/>
                      </a:ln>
                      <a:gradFill>
                        <a:gsLst>
                          <a:gs pos="100000">
                            <a:schemeClr val="accent1">
                              <a:lumMod val="60000"/>
                              <a:lumOff val="40000"/>
                            </a:schemeClr>
                          </a:gs>
                          <a:gs pos="23000">
                            <a:schemeClr val="accent1"/>
                          </a:gs>
                        </a:gsLst>
                        <a:lin ang="16200000" scaled="1"/>
                      </a:gradFill>
                      <a:effectLst/>
                      <a:uLnTx/>
                      <a:uFillTx/>
                      <a:latin typeface="OPPOSans H" panose="00020600040101010101" pitchFamily="18" charset="-122"/>
                      <a:ea typeface="OPPOSans H" panose="00020600040101010101" pitchFamily="18" charset="-122"/>
                      <a:cs typeface="OPPOSans H" panose="00020600040101010101" pitchFamily="18" charset="-122"/>
                    </a:endParaRPr>
                  </a:p>
                </p:txBody>
              </p:sp>
              <p:sp>
                <p:nvSpPr>
                  <p:cNvPr id="127" name="TextBox 3"/>
                  <p:cNvSpPr txBox="1"/>
                  <p:nvPr/>
                </p:nvSpPr>
                <p:spPr>
                  <a:xfrm>
                    <a:off x="4375056" y="1698839"/>
                    <a:ext cx="5152557" cy="444930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lvl="0" indent="0" algn="just" defTabSz="913765" eaLnBrk="1" fontAlgn="auto" latinLnBrk="0" hangingPunct="1">
                      <a:lnSpc>
                        <a:spcPts val="18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zh-CN" altLang="en-US" sz="1200" b="0" i="0" u="none" strike="noStrike" kern="0" cap="none" spc="-60" normalizeH="0" baseline="0" noProof="0" dirty="0">
                        <a:ln>
                          <a:noFill/>
                        </a:ln>
                        <a:solidFill>
                          <a:srgbClr val="313131">
                            <a:alpha val="60000"/>
                          </a:srgbClr>
                        </a:solidFill>
                        <a:effectLst/>
                        <a:uLnTx/>
                        <a:uFillTx/>
                        <a:cs typeface="OPPOSans R" panose="00020600040101010101" pitchFamily="18" charset="-122"/>
                      </a:rPr>
                      <a:t>建立反馈机制，优化产品服务，提高客户体验，客户满意度显著提升，投诉率降低</a:t>
                    </a:r>
                    <a:r>
                      <a:rPr kumimoji="0" lang="en-US" altLang="zh-CN" sz="1200" b="0" i="0" u="none" strike="noStrike" kern="0" cap="none" spc="-60" normalizeH="0" baseline="0" noProof="0" dirty="0">
                        <a:ln>
                          <a:noFill/>
                        </a:ln>
                        <a:solidFill>
                          <a:srgbClr val="313131">
                            <a:alpha val="60000"/>
                          </a:srgbClr>
                        </a:solidFill>
                        <a:effectLst/>
                        <a:uLnTx/>
                        <a:uFillTx/>
                        <a:cs typeface="OPPOSans R" panose="00020600040101010101" pitchFamily="18" charset="-122"/>
                      </a:rPr>
                      <a:t>25%</a:t>
                    </a:r>
                    <a:r>
                      <a:rPr kumimoji="0" lang="zh-CN" altLang="en-US" sz="1200" b="0" i="0" u="none" strike="noStrike" kern="0" cap="none" spc="-60" normalizeH="0" baseline="0" noProof="0" dirty="0">
                        <a:ln>
                          <a:noFill/>
                        </a:ln>
                        <a:solidFill>
                          <a:srgbClr val="313131">
                            <a:alpha val="60000"/>
                          </a:srgbClr>
                        </a:solidFill>
                        <a:effectLst/>
                        <a:uLnTx/>
                        <a:uFillTx/>
                        <a:cs typeface="OPPOSans R" panose="00020600040101010101" pitchFamily="18" charset="-122"/>
                      </a:rPr>
                      <a:t>。</a:t>
                    </a:r>
                    <a:endParaRPr kumimoji="0" lang="zh-CN" altLang="en-US" sz="1200" b="0" i="0" u="none" strike="noStrike" kern="0" cap="none" spc="-60" normalizeH="0" baseline="0" noProof="0" dirty="0">
                      <a:ln>
                        <a:noFill/>
                      </a:ln>
                      <a:solidFill>
                        <a:srgbClr val="313131">
                          <a:alpha val="60000"/>
                        </a:srgbClr>
                      </a:solidFill>
                      <a:effectLst/>
                      <a:uLnTx/>
                      <a:uFillTx/>
                      <a:cs typeface="OPPOSans R" panose="00020600040101010101" pitchFamily="18" charset="-122"/>
                    </a:endParaRPr>
                  </a:p>
                </p:txBody>
              </p:sp>
            </p:grpSp>
            <p:sp>
              <p:nvSpPr>
                <p:cNvPr id="125" name="椭圆 124"/>
                <p:cNvSpPr/>
                <p:nvPr/>
              </p:nvSpPr>
              <p:spPr>
                <a:xfrm>
                  <a:off x="4360906" y="1411512"/>
                  <a:ext cx="234253" cy="234253"/>
                </a:xfrm>
                <a:prstGeom prst="ellipse">
                  <a:avLst/>
                </a:prstGeom>
                <a:gradFill>
                  <a:gsLst>
                    <a:gs pos="100000">
                      <a:schemeClr val="accent1">
                        <a:lumMod val="60000"/>
                        <a:lumOff val="40000"/>
                      </a:schemeClr>
                    </a:gs>
                    <a:gs pos="23000">
                      <a:schemeClr val="accent1"/>
                    </a:gs>
                  </a:gsLst>
                  <a:lin ang="16200000" scaled="1"/>
                </a:gra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1800" b="0" i="0" u="none" strike="noStrike" kern="0" cap="none" spc="0" normalizeH="0" baseline="0" noProof="0" dirty="0">
                    <a:ln>
                      <a:noFill/>
                    </a:ln>
                    <a:gradFill>
                      <a:gsLst>
                        <a:gs pos="100000">
                          <a:schemeClr val="accent1">
                            <a:lumMod val="60000"/>
                            <a:lumOff val="40000"/>
                          </a:schemeClr>
                        </a:gs>
                        <a:gs pos="23000">
                          <a:schemeClr val="accent1"/>
                        </a:gs>
                      </a:gsLst>
                      <a:lin ang="16200000" scaled="1"/>
                    </a:gradFill>
                    <a:effectLst/>
                    <a:uLnTx/>
                    <a:uFillTx/>
                    <a:latin typeface="OPPOSans R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</a:endParaRPr>
                </a:p>
              </p:txBody>
            </p:sp>
          </p:grpSp>
          <p:sp>
            <p:nvSpPr>
              <p:cNvPr id="123" name="矩形 2"/>
              <p:cNvSpPr/>
              <p:nvPr/>
            </p:nvSpPr>
            <p:spPr>
              <a:xfrm rot="2700000">
                <a:off x="4450144" y="1459818"/>
                <a:ext cx="61355" cy="105138"/>
              </a:xfrm>
              <a:custGeom>
                <a:avLst/>
                <a:gdLst>
                  <a:gd name="connsiteX0" fmla="*/ 0 w 415436"/>
                  <a:gd name="connsiteY0" fmla="*/ 0 h 415436"/>
                  <a:gd name="connsiteX1" fmla="*/ 415436 w 415436"/>
                  <a:gd name="connsiteY1" fmla="*/ 0 h 415436"/>
                  <a:gd name="connsiteX2" fmla="*/ 415436 w 415436"/>
                  <a:gd name="connsiteY2" fmla="*/ 415436 h 415436"/>
                  <a:gd name="connsiteX3" fmla="*/ 0 w 415436"/>
                  <a:gd name="connsiteY3" fmla="*/ 415436 h 415436"/>
                  <a:gd name="connsiteX4" fmla="*/ 0 w 415436"/>
                  <a:gd name="connsiteY4" fmla="*/ 0 h 415436"/>
                  <a:gd name="connsiteX0-1" fmla="*/ 0 w 415436"/>
                  <a:gd name="connsiteY0-2" fmla="*/ 415436 h 415436"/>
                  <a:gd name="connsiteX1-3" fmla="*/ 415436 w 415436"/>
                  <a:gd name="connsiteY1-4" fmla="*/ 0 h 415436"/>
                  <a:gd name="connsiteX2-5" fmla="*/ 415436 w 415436"/>
                  <a:gd name="connsiteY2-6" fmla="*/ 415436 h 415436"/>
                  <a:gd name="connsiteX3-7" fmla="*/ 0 w 415436"/>
                  <a:gd name="connsiteY3-8" fmla="*/ 415436 h 415436"/>
                  <a:gd name="connsiteX0-9" fmla="*/ 0 w 218174"/>
                  <a:gd name="connsiteY0-10" fmla="*/ 415436 h 415436"/>
                  <a:gd name="connsiteX1-11" fmla="*/ 218174 w 218174"/>
                  <a:gd name="connsiteY1-12" fmla="*/ 0 h 415436"/>
                  <a:gd name="connsiteX2-13" fmla="*/ 218174 w 218174"/>
                  <a:gd name="connsiteY2-14" fmla="*/ 415436 h 415436"/>
                  <a:gd name="connsiteX3-15" fmla="*/ 0 w 218174"/>
                  <a:gd name="connsiteY3-16" fmla="*/ 415436 h 415436"/>
                  <a:gd name="connsiteX0-17" fmla="*/ 0 w 218174"/>
                  <a:gd name="connsiteY0-18" fmla="*/ 415436 h 415436"/>
                  <a:gd name="connsiteX1-19" fmla="*/ 118424 w 218174"/>
                  <a:gd name="connsiteY1-20" fmla="*/ 208567 h 415436"/>
                  <a:gd name="connsiteX2-21" fmla="*/ 218174 w 218174"/>
                  <a:gd name="connsiteY2-22" fmla="*/ 0 h 415436"/>
                  <a:gd name="connsiteX3-23" fmla="*/ 218174 w 218174"/>
                  <a:gd name="connsiteY3-24" fmla="*/ 415436 h 415436"/>
                  <a:gd name="connsiteX4-25" fmla="*/ 0 w 218174"/>
                  <a:gd name="connsiteY4-26" fmla="*/ 415436 h 415436"/>
                  <a:gd name="connsiteX0-27" fmla="*/ 27697 w 245871"/>
                  <a:gd name="connsiteY0-28" fmla="*/ 415436 h 415436"/>
                  <a:gd name="connsiteX1-29" fmla="*/ 0 w 245871"/>
                  <a:gd name="connsiteY1-30" fmla="*/ 120895 h 415436"/>
                  <a:gd name="connsiteX2-31" fmla="*/ 245871 w 245871"/>
                  <a:gd name="connsiteY2-32" fmla="*/ 0 h 415436"/>
                  <a:gd name="connsiteX3-33" fmla="*/ 245871 w 245871"/>
                  <a:gd name="connsiteY3-34" fmla="*/ 415436 h 415436"/>
                  <a:gd name="connsiteX4-35" fmla="*/ 27697 w 245871"/>
                  <a:gd name="connsiteY4-36" fmla="*/ 415436 h 415436"/>
                  <a:gd name="connsiteX0-37" fmla="*/ 0 w 245871"/>
                  <a:gd name="connsiteY0-38" fmla="*/ 120895 h 415436"/>
                  <a:gd name="connsiteX1-39" fmla="*/ 245871 w 245871"/>
                  <a:gd name="connsiteY1-40" fmla="*/ 0 h 415436"/>
                  <a:gd name="connsiteX2-41" fmla="*/ 245871 w 245871"/>
                  <a:gd name="connsiteY2-42" fmla="*/ 415436 h 415436"/>
                  <a:gd name="connsiteX3-43" fmla="*/ 27697 w 245871"/>
                  <a:gd name="connsiteY3-44" fmla="*/ 415436 h 415436"/>
                  <a:gd name="connsiteX4-45" fmla="*/ 91440 w 245871"/>
                  <a:gd name="connsiteY4-46" fmla="*/ 212335 h 415436"/>
                  <a:gd name="connsiteX0-47" fmla="*/ 0 w 245871"/>
                  <a:gd name="connsiteY0-48" fmla="*/ 120895 h 415436"/>
                  <a:gd name="connsiteX1-49" fmla="*/ 245871 w 245871"/>
                  <a:gd name="connsiteY1-50" fmla="*/ 0 h 415436"/>
                  <a:gd name="connsiteX2-51" fmla="*/ 245871 w 245871"/>
                  <a:gd name="connsiteY2-52" fmla="*/ 415436 h 415436"/>
                  <a:gd name="connsiteX3-53" fmla="*/ 27697 w 245871"/>
                  <a:gd name="connsiteY3-54" fmla="*/ 415436 h 415436"/>
                  <a:gd name="connsiteX0-55" fmla="*/ 218174 w 218174"/>
                  <a:gd name="connsiteY0-56" fmla="*/ 0 h 415436"/>
                  <a:gd name="connsiteX1-57" fmla="*/ 218174 w 218174"/>
                  <a:gd name="connsiteY1-58" fmla="*/ 415436 h 415436"/>
                  <a:gd name="connsiteX2-59" fmla="*/ 0 w 218174"/>
                  <a:gd name="connsiteY2-60" fmla="*/ 415436 h 415436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</a:cxnLst>
                <a:rect l="l" t="t" r="r" b="b"/>
                <a:pathLst>
                  <a:path w="218174" h="415436">
                    <a:moveTo>
                      <a:pt x="218174" y="0"/>
                    </a:moveTo>
                    <a:lnTo>
                      <a:pt x="218174" y="415436"/>
                    </a:lnTo>
                    <a:lnTo>
                      <a:pt x="0" y="415436"/>
                    </a:lnTo>
                  </a:path>
                </a:pathLst>
              </a:custGeom>
              <a:noFill/>
              <a:ln w="34925" cap="rnd" cmpd="sng" algn="ctr">
                <a:solidFill>
                  <a:srgbClr val="FFFFFF"/>
                </a:solidFill>
                <a:prstDash val="solid"/>
                <a:round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POSans R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</a:endParaRPr>
              </a:p>
            </p:txBody>
          </p:sp>
        </p:grpSp>
        <p:grpSp>
          <p:nvGrpSpPr>
            <p:cNvPr id="108" name="组合 107"/>
            <p:cNvGrpSpPr/>
            <p:nvPr/>
          </p:nvGrpSpPr>
          <p:grpSpPr>
            <a:xfrm>
              <a:off x="4340590" y="4174354"/>
              <a:ext cx="3933730" cy="750504"/>
              <a:chOff x="4340592" y="1391872"/>
              <a:chExt cx="3933730" cy="750504"/>
            </a:xfrm>
          </p:grpSpPr>
          <p:grpSp>
            <p:nvGrpSpPr>
              <p:cNvPr id="116" name="组合 115"/>
              <p:cNvGrpSpPr/>
              <p:nvPr/>
            </p:nvGrpSpPr>
            <p:grpSpPr>
              <a:xfrm>
                <a:off x="4340592" y="1391872"/>
                <a:ext cx="3933730" cy="750504"/>
                <a:chOff x="4340592" y="1391872"/>
                <a:chExt cx="3933730" cy="750504"/>
              </a:xfrm>
            </p:grpSpPr>
            <p:grpSp>
              <p:nvGrpSpPr>
                <p:cNvPr id="118" name="组合 117"/>
                <p:cNvGrpSpPr/>
                <p:nvPr/>
              </p:nvGrpSpPr>
              <p:grpSpPr>
                <a:xfrm>
                  <a:off x="4340592" y="1391872"/>
                  <a:ext cx="3933730" cy="750504"/>
                  <a:chOff x="4375056" y="1393265"/>
                  <a:chExt cx="5152557" cy="750504"/>
                </a:xfrm>
              </p:grpSpPr>
              <p:sp>
                <p:nvSpPr>
                  <p:cNvPr id="120" name="文本框 119"/>
                  <p:cNvSpPr txBox="1"/>
                  <p:nvPr/>
                </p:nvSpPr>
                <p:spPr>
                  <a:xfrm>
                    <a:off x="4768481" y="1393265"/>
                    <a:ext cx="2535874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lvl="0" indent="0" algn="just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1" lang="zh-CN" altLang="en-US" sz="1800" b="0" i="0" u="none" strike="noStrike" kern="0" cap="none" spc="0" normalizeH="0" baseline="0" noProof="0" dirty="0">
                        <a:ln>
                          <a:noFill/>
                        </a:ln>
                        <a:gradFill>
                          <a:gsLst>
                            <a:gs pos="100000">
                              <a:schemeClr val="accent1">
                                <a:lumMod val="60000"/>
                                <a:lumOff val="40000"/>
                              </a:schemeClr>
                            </a:gs>
                            <a:gs pos="23000">
                              <a:schemeClr val="accent1"/>
                            </a:gs>
                          </a:gsLst>
                          <a:lin ang="16200000" scaled="1"/>
                        </a:gradFill>
                        <a:effectLst/>
                        <a:uLnTx/>
                        <a:uFillTx/>
                        <a:latin typeface="OPPOSans H" panose="00020600040101010101" pitchFamily="18" charset="-122"/>
                        <a:ea typeface="OPPOSans H" panose="00020600040101010101" pitchFamily="18" charset="-122"/>
                        <a:cs typeface="OPPOSans H" panose="00020600040101010101" pitchFamily="18" charset="-122"/>
                      </a:rPr>
                      <a:t>业务能力进阶</a:t>
                    </a:r>
                    <a:endParaRPr kumimoji="1" lang="zh-CN" altLang="en-US" sz="1800" b="0" i="0" u="none" strike="noStrike" kern="0" cap="none" spc="0" normalizeH="0" baseline="0" noProof="0" dirty="0">
                      <a:ln>
                        <a:noFill/>
                      </a:ln>
                      <a:gradFill>
                        <a:gsLst>
                          <a:gs pos="100000">
                            <a:schemeClr val="accent1">
                              <a:lumMod val="60000"/>
                              <a:lumOff val="40000"/>
                            </a:schemeClr>
                          </a:gs>
                          <a:gs pos="23000">
                            <a:schemeClr val="accent1"/>
                          </a:gs>
                        </a:gsLst>
                        <a:lin ang="16200000" scaled="1"/>
                      </a:gradFill>
                      <a:effectLst/>
                      <a:uLnTx/>
                      <a:uFillTx/>
                      <a:latin typeface="OPPOSans H" panose="00020600040101010101" pitchFamily="18" charset="-122"/>
                      <a:ea typeface="OPPOSans H" panose="00020600040101010101" pitchFamily="18" charset="-122"/>
                      <a:cs typeface="OPPOSans H" panose="00020600040101010101" pitchFamily="18" charset="-122"/>
                    </a:endParaRPr>
                  </a:p>
                </p:txBody>
              </p:sp>
              <p:sp>
                <p:nvSpPr>
                  <p:cNvPr id="121" name="TextBox 3"/>
                  <p:cNvSpPr txBox="1"/>
                  <p:nvPr/>
                </p:nvSpPr>
                <p:spPr>
                  <a:xfrm>
                    <a:off x="4375056" y="1698839"/>
                    <a:ext cx="5152557" cy="444930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lvl="0" indent="0" algn="just" defTabSz="913765" eaLnBrk="1" fontAlgn="auto" latinLnBrk="0" hangingPunct="1">
                      <a:lnSpc>
                        <a:spcPts val="18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zh-CN" altLang="en-US" sz="1200" b="0" i="0" u="none" strike="noStrike" kern="0" cap="none" spc="-60" normalizeH="0" baseline="0" noProof="0" dirty="0">
                        <a:ln>
                          <a:noFill/>
                        </a:ln>
                        <a:solidFill>
                          <a:srgbClr val="313131">
                            <a:alpha val="60000"/>
                          </a:srgbClr>
                        </a:solidFill>
                        <a:effectLst/>
                        <a:uLnTx/>
                        <a:uFillTx/>
                        <a:cs typeface="OPPOSans R" panose="00020600040101010101" pitchFamily="18" charset="-122"/>
                      </a:rPr>
                      <a:t>利用业余学习新知识，参加培训研讨，总结经验，提升专业技能，解决实际问题，工作效率显著提高</a:t>
                    </a:r>
                    <a:r>
                      <a:rPr kumimoji="0" lang="en-US" altLang="zh-CN" sz="1200" b="0" i="0" u="none" strike="noStrike" kern="0" cap="none" spc="-60" normalizeH="0" baseline="0" noProof="0" dirty="0">
                        <a:ln>
                          <a:noFill/>
                        </a:ln>
                        <a:solidFill>
                          <a:srgbClr val="313131">
                            <a:alpha val="60000"/>
                          </a:srgbClr>
                        </a:solidFill>
                        <a:effectLst/>
                        <a:uLnTx/>
                        <a:uFillTx/>
                        <a:cs typeface="OPPOSans R" panose="00020600040101010101" pitchFamily="18" charset="-122"/>
                      </a:rPr>
                      <a:t>45%</a:t>
                    </a:r>
                    <a:r>
                      <a:rPr kumimoji="0" lang="zh-CN" altLang="en-US" sz="1200" b="0" i="0" u="none" strike="noStrike" kern="0" cap="none" spc="-60" normalizeH="0" baseline="0" noProof="0" dirty="0">
                        <a:ln>
                          <a:noFill/>
                        </a:ln>
                        <a:solidFill>
                          <a:srgbClr val="313131">
                            <a:alpha val="60000"/>
                          </a:srgbClr>
                        </a:solidFill>
                        <a:effectLst/>
                        <a:uLnTx/>
                        <a:uFillTx/>
                        <a:cs typeface="OPPOSans R" panose="00020600040101010101" pitchFamily="18" charset="-122"/>
                      </a:rPr>
                      <a:t>。</a:t>
                    </a:r>
                    <a:endParaRPr kumimoji="0" lang="zh-CN" altLang="en-US" sz="1200" b="0" i="0" u="none" strike="noStrike" kern="0" cap="none" spc="-60" normalizeH="0" baseline="0" noProof="0" dirty="0">
                      <a:ln>
                        <a:noFill/>
                      </a:ln>
                      <a:solidFill>
                        <a:srgbClr val="313131">
                          <a:alpha val="60000"/>
                        </a:srgbClr>
                      </a:solidFill>
                      <a:effectLst/>
                      <a:uLnTx/>
                      <a:uFillTx/>
                      <a:cs typeface="OPPOSans R" panose="00020600040101010101" pitchFamily="18" charset="-122"/>
                    </a:endParaRPr>
                  </a:p>
                </p:txBody>
              </p:sp>
            </p:grpSp>
            <p:sp>
              <p:nvSpPr>
                <p:cNvPr id="119" name="椭圆 118"/>
                <p:cNvSpPr/>
                <p:nvPr/>
              </p:nvSpPr>
              <p:spPr>
                <a:xfrm>
                  <a:off x="4360906" y="1411512"/>
                  <a:ext cx="234253" cy="234253"/>
                </a:xfrm>
                <a:prstGeom prst="ellipse">
                  <a:avLst/>
                </a:prstGeom>
                <a:gradFill>
                  <a:gsLst>
                    <a:gs pos="100000">
                      <a:schemeClr val="accent1">
                        <a:lumMod val="60000"/>
                        <a:lumOff val="40000"/>
                      </a:schemeClr>
                    </a:gs>
                    <a:gs pos="23000">
                      <a:schemeClr val="accent1"/>
                    </a:gs>
                  </a:gsLst>
                  <a:lin ang="16200000" scaled="1"/>
                </a:gra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1800" b="0" i="0" u="none" strike="noStrike" kern="0" cap="none" spc="0" normalizeH="0" baseline="0" noProof="0" dirty="0">
                    <a:ln>
                      <a:noFill/>
                    </a:ln>
                    <a:gradFill>
                      <a:gsLst>
                        <a:gs pos="100000">
                          <a:schemeClr val="accent1">
                            <a:lumMod val="60000"/>
                            <a:lumOff val="40000"/>
                          </a:schemeClr>
                        </a:gs>
                        <a:gs pos="23000">
                          <a:schemeClr val="accent1"/>
                        </a:gs>
                      </a:gsLst>
                      <a:lin ang="16200000" scaled="1"/>
                    </a:gradFill>
                    <a:effectLst/>
                    <a:uLnTx/>
                    <a:uFillTx/>
                    <a:latin typeface="OPPOSans R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</a:endParaRPr>
                </a:p>
              </p:txBody>
            </p:sp>
          </p:grpSp>
          <p:sp>
            <p:nvSpPr>
              <p:cNvPr id="117" name="矩形 2"/>
              <p:cNvSpPr/>
              <p:nvPr/>
            </p:nvSpPr>
            <p:spPr>
              <a:xfrm rot="2700000">
                <a:off x="4450144" y="1459818"/>
                <a:ext cx="61355" cy="105138"/>
              </a:xfrm>
              <a:custGeom>
                <a:avLst/>
                <a:gdLst>
                  <a:gd name="connsiteX0" fmla="*/ 0 w 415436"/>
                  <a:gd name="connsiteY0" fmla="*/ 0 h 415436"/>
                  <a:gd name="connsiteX1" fmla="*/ 415436 w 415436"/>
                  <a:gd name="connsiteY1" fmla="*/ 0 h 415436"/>
                  <a:gd name="connsiteX2" fmla="*/ 415436 w 415436"/>
                  <a:gd name="connsiteY2" fmla="*/ 415436 h 415436"/>
                  <a:gd name="connsiteX3" fmla="*/ 0 w 415436"/>
                  <a:gd name="connsiteY3" fmla="*/ 415436 h 415436"/>
                  <a:gd name="connsiteX4" fmla="*/ 0 w 415436"/>
                  <a:gd name="connsiteY4" fmla="*/ 0 h 415436"/>
                  <a:gd name="connsiteX0-1" fmla="*/ 0 w 415436"/>
                  <a:gd name="connsiteY0-2" fmla="*/ 415436 h 415436"/>
                  <a:gd name="connsiteX1-3" fmla="*/ 415436 w 415436"/>
                  <a:gd name="connsiteY1-4" fmla="*/ 0 h 415436"/>
                  <a:gd name="connsiteX2-5" fmla="*/ 415436 w 415436"/>
                  <a:gd name="connsiteY2-6" fmla="*/ 415436 h 415436"/>
                  <a:gd name="connsiteX3-7" fmla="*/ 0 w 415436"/>
                  <a:gd name="connsiteY3-8" fmla="*/ 415436 h 415436"/>
                  <a:gd name="connsiteX0-9" fmla="*/ 0 w 218174"/>
                  <a:gd name="connsiteY0-10" fmla="*/ 415436 h 415436"/>
                  <a:gd name="connsiteX1-11" fmla="*/ 218174 w 218174"/>
                  <a:gd name="connsiteY1-12" fmla="*/ 0 h 415436"/>
                  <a:gd name="connsiteX2-13" fmla="*/ 218174 w 218174"/>
                  <a:gd name="connsiteY2-14" fmla="*/ 415436 h 415436"/>
                  <a:gd name="connsiteX3-15" fmla="*/ 0 w 218174"/>
                  <a:gd name="connsiteY3-16" fmla="*/ 415436 h 415436"/>
                  <a:gd name="connsiteX0-17" fmla="*/ 0 w 218174"/>
                  <a:gd name="connsiteY0-18" fmla="*/ 415436 h 415436"/>
                  <a:gd name="connsiteX1-19" fmla="*/ 118424 w 218174"/>
                  <a:gd name="connsiteY1-20" fmla="*/ 208567 h 415436"/>
                  <a:gd name="connsiteX2-21" fmla="*/ 218174 w 218174"/>
                  <a:gd name="connsiteY2-22" fmla="*/ 0 h 415436"/>
                  <a:gd name="connsiteX3-23" fmla="*/ 218174 w 218174"/>
                  <a:gd name="connsiteY3-24" fmla="*/ 415436 h 415436"/>
                  <a:gd name="connsiteX4-25" fmla="*/ 0 w 218174"/>
                  <a:gd name="connsiteY4-26" fmla="*/ 415436 h 415436"/>
                  <a:gd name="connsiteX0-27" fmla="*/ 27697 w 245871"/>
                  <a:gd name="connsiteY0-28" fmla="*/ 415436 h 415436"/>
                  <a:gd name="connsiteX1-29" fmla="*/ 0 w 245871"/>
                  <a:gd name="connsiteY1-30" fmla="*/ 120895 h 415436"/>
                  <a:gd name="connsiteX2-31" fmla="*/ 245871 w 245871"/>
                  <a:gd name="connsiteY2-32" fmla="*/ 0 h 415436"/>
                  <a:gd name="connsiteX3-33" fmla="*/ 245871 w 245871"/>
                  <a:gd name="connsiteY3-34" fmla="*/ 415436 h 415436"/>
                  <a:gd name="connsiteX4-35" fmla="*/ 27697 w 245871"/>
                  <a:gd name="connsiteY4-36" fmla="*/ 415436 h 415436"/>
                  <a:gd name="connsiteX0-37" fmla="*/ 0 w 245871"/>
                  <a:gd name="connsiteY0-38" fmla="*/ 120895 h 415436"/>
                  <a:gd name="connsiteX1-39" fmla="*/ 245871 w 245871"/>
                  <a:gd name="connsiteY1-40" fmla="*/ 0 h 415436"/>
                  <a:gd name="connsiteX2-41" fmla="*/ 245871 w 245871"/>
                  <a:gd name="connsiteY2-42" fmla="*/ 415436 h 415436"/>
                  <a:gd name="connsiteX3-43" fmla="*/ 27697 w 245871"/>
                  <a:gd name="connsiteY3-44" fmla="*/ 415436 h 415436"/>
                  <a:gd name="connsiteX4-45" fmla="*/ 91440 w 245871"/>
                  <a:gd name="connsiteY4-46" fmla="*/ 212335 h 415436"/>
                  <a:gd name="connsiteX0-47" fmla="*/ 0 w 245871"/>
                  <a:gd name="connsiteY0-48" fmla="*/ 120895 h 415436"/>
                  <a:gd name="connsiteX1-49" fmla="*/ 245871 w 245871"/>
                  <a:gd name="connsiteY1-50" fmla="*/ 0 h 415436"/>
                  <a:gd name="connsiteX2-51" fmla="*/ 245871 w 245871"/>
                  <a:gd name="connsiteY2-52" fmla="*/ 415436 h 415436"/>
                  <a:gd name="connsiteX3-53" fmla="*/ 27697 w 245871"/>
                  <a:gd name="connsiteY3-54" fmla="*/ 415436 h 415436"/>
                  <a:gd name="connsiteX0-55" fmla="*/ 218174 w 218174"/>
                  <a:gd name="connsiteY0-56" fmla="*/ 0 h 415436"/>
                  <a:gd name="connsiteX1-57" fmla="*/ 218174 w 218174"/>
                  <a:gd name="connsiteY1-58" fmla="*/ 415436 h 415436"/>
                  <a:gd name="connsiteX2-59" fmla="*/ 0 w 218174"/>
                  <a:gd name="connsiteY2-60" fmla="*/ 415436 h 415436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</a:cxnLst>
                <a:rect l="l" t="t" r="r" b="b"/>
                <a:pathLst>
                  <a:path w="218174" h="415436">
                    <a:moveTo>
                      <a:pt x="218174" y="0"/>
                    </a:moveTo>
                    <a:lnTo>
                      <a:pt x="218174" y="415436"/>
                    </a:lnTo>
                    <a:lnTo>
                      <a:pt x="0" y="415436"/>
                    </a:lnTo>
                  </a:path>
                </a:pathLst>
              </a:custGeom>
              <a:noFill/>
              <a:ln w="34925" cap="rnd" cmpd="sng" algn="ctr">
                <a:solidFill>
                  <a:srgbClr val="FFFFFF"/>
                </a:solidFill>
                <a:prstDash val="solid"/>
                <a:round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POSans R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</a:endParaRPr>
              </a:p>
            </p:txBody>
          </p:sp>
        </p:grpSp>
        <p:grpSp>
          <p:nvGrpSpPr>
            <p:cNvPr id="109" name="组合 108"/>
            <p:cNvGrpSpPr/>
            <p:nvPr/>
          </p:nvGrpSpPr>
          <p:grpSpPr>
            <a:xfrm>
              <a:off x="4340590" y="2783113"/>
              <a:ext cx="3933730" cy="750504"/>
              <a:chOff x="4340592" y="1391872"/>
              <a:chExt cx="3933730" cy="750504"/>
            </a:xfrm>
          </p:grpSpPr>
          <p:grpSp>
            <p:nvGrpSpPr>
              <p:cNvPr id="110" name="组合 109"/>
              <p:cNvGrpSpPr/>
              <p:nvPr/>
            </p:nvGrpSpPr>
            <p:grpSpPr>
              <a:xfrm>
                <a:off x="4340592" y="1391872"/>
                <a:ext cx="3933730" cy="750504"/>
                <a:chOff x="4340592" y="1391872"/>
                <a:chExt cx="3933730" cy="750504"/>
              </a:xfrm>
            </p:grpSpPr>
            <p:grpSp>
              <p:nvGrpSpPr>
                <p:cNvPr id="112" name="组合 111"/>
                <p:cNvGrpSpPr/>
                <p:nvPr/>
              </p:nvGrpSpPr>
              <p:grpSpPr>
                <a:xfrm>
                  <a:off x="4340592" y="1391872"/>
                  <a:ext cx="3933730" cy="750504"/>
                  <a:chOff x="4375056" y="1393265"/>
                  <a:chExt cx="5152557" cy="750504"/>
                </a:xfrm>
              </p:grpSpPr>
              <p:sp>
                <p:nvSpPr>
                  <p:cNvPr id="114" name="文本框 113"/>
                  <p:cNvSpPr txBox="1"/>
                  <p:nvPr/>
                </p:nvSpPr>
                <p:spPr>
                  <a:xfrm>
                    <a:off x="4768481" y="1393265"/>
                    <a:ext cx="2535874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lvl="0" indent="0" algn="just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1" lang="zh-CN" altLang="en-US" sz="1800" b="0" i="0" u="none" strike="noStrike" kern="0" cap="none" spc="0" normalizeH="0" baseline="0" noProof="0" dirty="0">
                        <a:ln>
                          <a:noFill/>
                        </a:ln>
                        <a:gradFill>
                          <a:gsLst>
                            <a:gs pos="100000">
                              <a:schemeClr val="accent1">
                                <a:lumMod val="60000"/>
                                <a:lumOff val="40000"/>
                              </a:schemeClr>
                            </a:gs>
                            <a:gs pos="23000">
                              <a:schemeClr val="accent1"/>
                            </a:gs>
                          </a:gsLst>
                          <a:lin ang="16200000" scaled="1"/>
                        </a:gradFill>
                        <a:effectLst/>
                        <a:uLnTx/>
                        <a:uFillTx/>
                        <a:latin typeface="OPPOSans H" panose="00020600040101010101" pitchFamily="18" charset="-122"/>
                        <a:ea typeface="OPPOSans H" panose="00020600040101010101" pitchFamily="18" charset="-122"/>
                        <a:cs typeface="OPPOSans H" panose="00020600040101010101" pitchFamily="18" charset="-122"/>
                      </a:rPr>
                      <a:t>团队协作提升</a:t>
                    </a:r>
                    <a:endParaRPr kumimoji="1" lang="zh-CN" altLang="en-US" sz="1800" b="0" i="0" u="none" strike="noStrike" kern="0" cap="none" spc="0" normalizeH="0" baseline="0" noProof="0" dirty="0">
                      <a:ln>
                        <a:noFill/>
                      </a:ln>
                      <a:gradFill>
                        <a:gsLst>
                          <a:gs pos="100000">
                            <a:schemeClr val="accent1">
                              <a:lumMod val="60000"/>
                              <a:lumOff val="40000"/>
                            </a:schemeClr>
                          </a:gs>
                          <a:gs pos="23000">
                            <a:schemeClr val="accent1"/>
                          </a:gs>
                        </a:gsLst>
                        <a:lin ang="16200000" scaled="1"/>
                      </a:gradFill>
                      <a:effectLst/>
                      <a:uLnTx/>
                      <a:uFillTx/>
                      <a:latin typeface="OPPOSans H" panose="00020600040101010101" pitchFamily="18" charset="-122"/>
                      <a:ea typeface="OPPOSans H" panose="00020600040101010101" pitchFamily="18" charset="-122"/>
                      <a:cs typeface="OPPOSans H" panose="00020600040101010101" pitchFamily="18" charset="-122"/>
                    </a:endParaRPr>
                  </a:p>
                </p:txBody>
              </p:sp>
              <p:sp>
                <p:nvSpPr>
                  <p:cNvPr id="115" name="TextBox 3"/>
                  <p:cNvSpPr txBox="1"/>
                  <p:nvPr/>
                </p:nvSpPr>
                <p:spPr>
                  <a:xfrm>
                    <a:off x="4375056" y="1698839"/>
                    <a:ext cx="5152557" cy="444930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lvl="0" indent="0" algn="just" defTabSz="913765" eaLnBrk="1" fontAlgn="auto" latinLnBrk="0" hangingPunct="1">
                      <a:lnSpc>
                        <a:spcPts val="18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zh-CN" altLang="en-US" sz="1200" b="0" i="0" u="none" strike="noStrike" kern="0" cap="none" spc="-60" normalizeH="0" baseline="0" noProof="0" dirty="0">
                        <a:ln>
                          <a:noFill/>
                        </a:ln>
                        <a:solidFill>
                          <a:srgbClr val="313131">
                            <a:alpha val="60000"/>
                          </a:srgbClr>
                        </a:solidFill>
                        <a:effectLst/>
                        <a:uLnTx/>
                        <a:uFillTx/>
                        <a:cs typeface="OPPOSans R" panose="00020600040101010101" pitchFamily="18" charset="-122"/>
                      </a:rPr>
                      <a:t>组织沟通会议，建立沟通机制，开展团建活动，增强团队凝聚力，提高跨部门合作效率，协作贡献占比提升 </a:t>
                    </a:r>
                    <a:r>
                      <a:rPr kumimoji="0" lang="en-US" altLang="zh-CN" sz="1200" b="0" i="0" u="none" strike="noStrike" kern="0" cap="none" spc="-60" normalizeH="0" baseline="0" noProof="0" dirty="0">
                        <a:ln>
                          <a:noFill/>
                        </a:ln>
                        <a:solidFill>
                          <a:srgbClr val="313131">
                            <a:alpha val="60000"/>
                          </a:srgbClr>
                        </a:solidFill>
                        <a:effectLst/>
                        <a:uLnTx/>
                        <a:uFillTx/>
                        <a:cs typeface="OPPOSans R" panose="00020600040101010101" pitchFamily="18" charset="-122"/>
                      </a:rPr>
                      <a:t>25%</a:t>
                    </a:r>
                    <a:r>
                      <a:rPr kumimoji="0" lang="zh-CN" altLang="en-US" sz="1200" b="0" i="0" u="none" strike="noStrike" kern="0" cap="none" spc="-60" normalizeH="0" baseline="0" noProof="0" dirty="0">
                        <a:ln>
                          <a:noFill/>
                        </a:ln>
                        <a:solidFill>
                          <a:srgbClr val="313131">
                            <a:alpha val="60000"/>
                          </a:srgbClr>
                        </a:solidFill>
                        <a:effectLst/>
                        <a:uLnTx/>
                        <a:uFillTx/>
                        <a:cs typeface="OPPOSans R" panose="00020600040101010101" pitchFamily="18" charset="-122"/>
                      </a:rPr>
                      <a:t>。</a:t>
                    </a:r>
                    <a:endParaRPr kumimoji="0" lang="zh-CN" altLang="en-US" sz="1200" b="0" i="0" u="none" strike="noStrike" kern="0" cap="none" spc="-60" normalizeH="0" baseline="0" noProof="0" dirty="0">
                      <a:ln>
                        <a:noFill/>
                      </a:ln>
                      <a:solidFill>
                        <a:srgbClr val="313131">
                          <a:alpha val="60000"/>
                        </a:srgbClr>
                      </a:solidFill>
                      <a:effectLst/>
                      <a:uLnTx/>
                      <a:uFillTx/>
                      <a:cs typeface="OPPOSans R" panose="00020600040101010101" pitchFamily="18" charset="-122"/>
                    </a:endParaRPr>
                  </a:p>
                </p:txBody>
              </p:sp>
            </p:grpSp>
            <p:sp>
              <p:nvSpPr>
                <p:cNvPr id="113" name="椭圆 112"/>
                <p:cNvSpPr/>
                <p:nvPr/>
              </p:nvSpPr>
              <p:spPr>
                <a:xfrm>
                  <a:off x="4360906" y="1411512"/>
                  <a:ext cx="234253" cy="234253"/>
                </a:xfrm>
                <a:prstGeom prst="ellipse">
                  <a:avLst/>
                </a:prstGeom>
                <a:gradFill>
                  <a:gsLst>
                    <a:gs pos="100000">
                      <a:schemeClr val="accent1">
                        <a:lumMod val="60000"/>
                        <a:lumOff val="40000"/>
                      </a:schemeClr>
                    </a:gs>
                    <a:gs pos="23000">
                      <a:schemeClr val="accent1"/>
                    </a:gs>
                  </a:gsLst>
                  <a:lin ang="16200000" scaled="1"/>
                </a:gra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1800" b="0" i="0" u="none" strike="noStrike" kern="0" cap="none" spc="0" normalizeH="0" baseline="0" noProof="0" dirty="0">
                    <a:ln>
                      <a:noFill/>
                    </a:ln>
                    <a:gradFill>
                      <a:gsLst>
                        <a:gs pos="100000">
                          <a:schemeClr val="accent1">
                            <a:lumMod val="60000"/>
                            <a:lumOff val="40000"/>
                          </a:schemeClr>
                        </a:gs>
                        <a:gs pos="23000">
                          <a:schemeClr val="accent1"/>
                        </a:gs>
                      </a:gsLst>
                      <a:lin ang="16200000" scaled="1"/>
                    </a:gradFill>
                    <a:effectLst/>
                    <a:uLnTx/>
                    <a:uFillTx/>
                    <a:latin typeface="OPPOSans R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</a:endParaRPr>
                </a:p>
              </p:txBody>
            </p:sp>
          </p:grpSp>
          <p:sp>
            <p:nvSpPr>
              <p:cNvPr id="111" name="矩形 2"/>
              <p:cNvSpPr/>
              <p:nvPr/>
            </p:nvSpPr>
            <p:spPr>
              <a:xfrm rot="2700000">
                <a:off x="4450144" y="1459818"/>
                <a:ext cx="61355" cy="105138"/>
              </a:xfrm>
              <a:custGeom>
                <a:avLst/>
                <a:gdLst>
                  <a:gd name="connsiteX0" fmla="*/ 0 w 415436"/>
                  <a:gd name="connsiteY0" fmla="*/ 0 h 415436"/>
                  <a:gd name="connsiteX1" fmla="*/ 415436 w 415436"/>
                  <a:gd name="connsiteY1" fmla="*/ 0 h 415436"/>
                  <a:gd name="connsiteX2" fmla="*/ 415436 w 415436"/>
                  <a:gd name="connsiteY2" fmla="*/ 415436 h 415436"/>
                  <a:gd name="connsiteX3" fmla="*/ 0 w 415436"/>
                  <a:gd name="connsiteY3" fmla="*/ 415436 h 415436"/>
                  <a:gd name="connsiteX4" fmla="*/ 0 w 415436"/>
                  <a:gd name="connsiteY4" fmla="*/ 0 h 415436"/>
                  <a:gd name="connsiteX0-1" fmla="*/ 0 w 415436"/>
                  <a:gd name="connsiteY0-2" fmla="*/ 415436 h 415436"/>
                  <a:gd name="connsiteX1-3" fmla="*/ 415436 w 415436"/>
                  <a:gd name="connsiteY1-4" fmla="*/ 0 h 415436"/>
                  <a:gd name="connsiteX2-5" fmla="*/ 415436 w 415436"/>
                  <a:gd name="connsiteY2-6" fmla="*/ 415436 h 415436"/>
                  <a:gd name="connsiteX3-7" fmla="*/ 0 w 415436"/>
                  <a:gd name="connsiteY3-8" fmla="*/ 415436 h 415436"/>
                  <a:gd name="connsiteX0-9" fmla="*/ 0 w 218174"/>
                  <a:gd name="connsiteY0-10" fmla="*/ 415436 h 415436"/>
                  <a:gd name="connsiteX1-11" fmla="*/ 218174 w 218174"/>
                  <a:gd name="connsiteY1-12" fmla="*/ 0 h 415436"/>
                  <a:gd name="connsiteX2-13" fmla="*/ 218174 w 218174"/>
                  <a:gd name="connsiteY2-14" fmla="*/ 415436 h 415436"/>
                  <a:gd name="connsiteX3-15" fmla="*/ 0 w 218174"/>
                  <a:gd name="connsiteY3-16" fmla="*/ 415436 h 415436"/>
                  <a:gd name="connsiteX0-17" fmla="*/ 0 w 218174"/>
                  <a:gd name="connsiteY0-18" fmla="*/ 415436 h 415436"/>
                  <a:gd name="connsiteX1-19" fmla="*/ 118424 w 218174"/>
                  <a:gd name="connsiteY1-20" fmla="*/ 208567 h 415436"/>
                  <a:gd name="connsiteX2-21" fmla="*/ 218174 w 218174"/>
                  <a:gd name="connsiteY2-22" fmla="*/ 0 h 415436"/>
                  <a:gd name="connsiteX3-23" fmla="*/ 218174 w 218174"/>
                  <a:gd name="connsiteY3-24" fmla="*/ 415436 h 415436"/>
                  <a:gd name="connsiteX4-25" fmla="*/ 0 w 218174"/>
                  <a:gd name="connsiteY4-26" fmla="*/ 415436 h 415436"/>
                  <a:gd name="connsiteX0-27" fmla="*/ 27697 w 245871"/>
                  <a:gd name="connsiteY0-28" fmla="*/ 415436 h 415436"/>
                  <a:gd name="connsiteX1-29" fmla="*/ 0 w 245871"/>
                  <a:gd name="connsiteY1-30" fmla="*/ 120895 h 415436"/>
                  <a:gd name="connsiteX2-31" fmla="*/ 245871 w 245871"/>
                  <a:gd name="connsiteY2-32" fmla="*/ 0 h 415436"/>
                  <a:gd name="connsiteX3-33" fmla="*/ 245871 w 245871"/>
                  <a:gd name="connsiteY3-34" fmla="*/ 415436 h 415436"/>
                  <a:gd name="connsiteX4-35" fmla="*/ 27697 w 245871"/>
                  <a:gd name="connsiteY4-36" fmla="*/ 415436 h 415436"/>
                  <a:gd name="connsiteX0-37" fmla="*/ 0 w 245871"/>
                  <a:gd name="connsiteY0-38" fmla="*/ 120895 h 415436"/>
                  <a:gd name="connsiteX1-39" fmla="*/ 245871 w 245871"/>
                  <a:gd name="connsiteY1-40" fmla="*/ 0 h 415436"/>
                  <a:gd name="connsiteX2-41" fmla="*/ 245871 w 245871"/>
                  <a:gd name="connsiteY2-42" fmla="*/ 415436 h 415436"/>
                  <a:gd name="connsiteX3-43" fmla="*/ 27697 w 245871"/>
                  <a:gd name="connsiteY3-44" fmla="*/ 415436 h 415436"/>
                  <a:gd name="connsiteX4-45" fmla="*/ 91440 w 245871"/>
                  <a:gd name="connsiteY4-46" fmla="*/ 212335 h 415436"/>
                  <a:gd name="connsiteX0-47" fmla="*/ 0 w 245871"/>
                  <a:gd name="connsiteY0-48" fmla="*/ 120895 h 415436"/>
                  <a:gd name="connsiteX1-49" fmla="*/ 245871 w 245871"/>
                  <a:gd name="connsiteY1-50" fmla="*/ 0 h 415436"/>
                  <a:gd name="connsiteX2-51" fmla="*/ 245871 w 245871"/>
                  <a:gd name="connsiteY2-52" fmla="*/ 415436 h 415436"/>
                  <a:gd name="connsiteX3-53" fmla="*/ 27697 w 245871"/>
                  <a:gd name="connsiteY3-54" fmla="*/ 415436 h 415436"/>
                  <a:gd name="connsiteX0-55" fmla="*/ 218174 w 218174"/>
                  <a:gd name="connsiteY0-56" fmla="*/ 0 h 415436"/>
                  <a:gd name="connsiteX1-57" fmla="*/ 218174 w 218174"/>
                  <a:gd name="connsiteY1-58" fmla="*/ 415436 h 415436"/>
                  <a:gd name="connsiteX2-59" fmla="*/ 0 w 218174"/>
                  <a:gd name="connsiteY2-60" fmla="*/ 415436 h 415436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</a:cxnLst>
                <a:rect l="l" t="t" r="r" b="b"/>
                <a:pathLst>
                  <a:path w="218174" h="415436">
                    <a:moveTo>
                      <a:pt x="218174" y="0"/>
                    </a:moveTo>
                    <a:lnTo>
                      <a:pt x="218174" y="415436"/>
                    </a:lnTo>
                    <a:lnTo>
                      <a:pt x="0" y="415436"/>
                    </a:lnTo>
                  </a:path>
                </a:pathLst>
              </a:custGeom>
              <a:noFill/>
              <a:ln w="34925" cap="rnd" cmpd="sng" algn="ctr">
                <a:solidFill>
                  <a:srgbClr val="FFFFFF"/>
                </a:solidFill>
                <a:prstDash val="solid"/>
                <a:round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POSans R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</a:endParaRPr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任意多边形: 形状 66"/>
          <p:cNvSpPr/>
          <p:nvPr/>
        </p:nvSpPr>
        <p:spPr>
          <a:xfrm>
            <a:off x="371933" y="1027196"/>
            <a:ext cx="4780506" cy="2761839"/>
          </a:xfrm>
          <a:custGeom>
            <a:avLst/>
            <a:gdLst>
              <a:gd name="connsiteX0" fmla="*/ 0 w 4780506"/>
              <a:gd name="connsiteY0" fmla="*/ 0 h 2761839"/>
              <a:gd name="connsiteX1" fmla="*/ 4780506 w 4780506"/>
              <a:gd name="connsiteY1" fmla="*/ 0 h 2761839"/>
              <a:gd name="connsiteX2" fmla="*/ 4554374 w 4780506"/>
              <a:gd name="connsiteY2" fmla="*/ 82765 h 2761839"/>
              <a:gd name="connsiteX3" fmla="*/ 2779403 w 4780506"/>
              <a:gd name="connsiteY3" fmla="*/ 2616422 h 2761839"/>
              <a:gd name="connsiteX4" fmla="*/ 2775726 w 4780506"/>
              <a:gd name="connsiteY4" fmla="*/ 2761839 h 2761839"/>
              <a:gd name="connsiteX5" fmla="*/ 0 w 4780506"/>
              <a:gd name="connsiteY5" fmla="*/ 2761839 h 2761839"/>
              <a:gd name="connsiteX6" fmla="*/ 0 w 4780506"/>
              <a:gd name="connsiteY6" fmla="*/ 0 h 2761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80506" h="2761839">
                <a:moveTo>
                  <a:pt x="0" y="0"/>
                </a:moveTo>
                <a:lnTo>
                  <a:pt x="4780506" y="0"/>
                </a:lnTo>
                <a:lnTo>
                  <a:pt x="4554374" y="82765"/>
                </a:lnTo>
                <a:cubicBezTo>
                  <a:pt x="3552625" y="506469"/>
                  <a:pt x="2837276" y="1474714"/>
                  <a:pt x="2779403" y="2616422"/>
                </a:cubicBezTo>
                <a:lnTo>
                  <a:pt x="2775726" y="2761839"/>
                </a:lnTo>
                <a:lnTo>
                  <a:pt x="0" y="2761839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outerShdw blurRad="469900" sx="102000" sy="102000" algn="ctr" rotWithShape="0">
              <a:schemeClr val="accent1">
                <a:lumMod val="20000"/>
                <a:lumOff val="80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000">
              <a:cs typeface="OPPOSans R" panose="00020600040101010101" pitchFamily="18" charset="-122"/>
            </a:endParaRPr>
          </a:p>
        </p:txBody>
      </p:sp>
      <p:sp>
        <p:nvSpPr>
          <p:cNvPr id="68" name="任意多边形: 形状 67"/>
          <p:cNvSpPr/>
          <p:nvPr/>
        </p:nvSpPr>
        <p:spPr>
          <a:xfrm>
            <a:off x="6967450" y="1027195"/>
            <a:ext cx="4852616" cy="2761839"/>
          </a:xfrm>
          <a:custGeom>
            <a:avLst/>
            <a:gdLst>
              <a:gd name="connsiteX0" fmla="*/ 0 w 4852616"/>
              <a:gd name="connsiteY0" fmla="*/ 0 h 2761839"/>
              <a:gd name="connsiteX1" fmla="*/ 4852616 w 4852616"/>
              <a:gd name="connsiteY1" fmla="*/ 0 h 2761839"/>
              <a:gd name="connsiteX2" fmla="*/ 4852616 w 4852616"/>
              <a:gd name="connsiteY2" fmla="*/ 2761839 h 2761839"/>
              <a:gd name="connsiteX3" fmla="*/ 2004779 w 4852616"/>
              <a:gd name="connsiteY3" fmla="*/ 2761839 h 2761839"/>
              <a:gd name="connsiteX4" fmla="*/ 2001102 w 4852616"/>
              <a:gd name="connsiteY4" fmla="*/ 2616422 h 2761839"/>
              <a:gd name="connsiteX5" fmla="*/ 226131 w 4852616"/>
              <a:gd name="connsiteY5" fmla="*/ 82765 h 2761839"/>
              <a:gd name="connsiteX6" fmla="*/ 0 w 4852616"/>
              <a:gd name="connsiteY6" fmla="*/ 0 h 2761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52616" h="2761839">
                <a:moveTo>
                  <a:pt x="0" y="0"/>
                </a:moveTo>
                <a:lnTo>
                  <a:pt x="4852616" y="0"/>
                </a:lnTo>
                <a:lnTo>
                  <a:pt x="4852616" y="2761839"/>
                </a:lnTo>
                <a:lnTo>
                  <a:pt x="2004779" y="2761839"/>
                </a:lnTo>
                <a:lnTo>
                  <a:pt x="2001102" y="2616422"/>
                </a:lnTo>
                <a:cubicBezTo>
                  <a:pt x="1943229" y="1474714"/>
                  <a:pt x="1227880" y="506469"/>
                  <a:pt x="226131" y="82765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outerShdw blurRad="469900" sx="102000" sy="102000" algn="ctr" rotWithShape="0">
              <a:schemeClr val="accent1">
                <a:lumMod val="20000"/>
                <a:lumOff val="80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000">
              <a:cs typeface="OPPOSans R" panose="00020600040101010101" pitchFamily="18" charset="-122"/>
            </a:endParaRPr>
          </a:p>
        </p:txBody>
      </p:sp>
      <p:sp>
        <p:nvSpPr>
          <p:cNvPr id="69" name="任意多边形: 形状 68"/>
          <p:cNvSpPr/>
          <p:nvPr/>
        </p:nvSpPr>
        <p:spPr>
          <a:xfrm>
            <a:off x="371933" y="3893535"/>
            <a:ext cx="5157770" cy="2761840"/>
          </a:xfrm>
          <a:custGeom>
            <a:avLst/>
            <a:gdLst>
              <a:gd name="connsiteX0" fmla="*/ 0 w 5157770"/>
              <a:gd name="connsiteY0" fmla="*/ 0 h 2761840"/>
              <a:gd name="connsiteX1" fmla="*/ 2778143 w 5157770"/>
              <a:gd name="connsiteY1" fmla="*/ 0 h 2761840"/>
              <a:gd name="connsiteX2" fmla="*/ 2779403 w 5157770"/>
              <a:gd name="connsiteY2" fmla="*/ 49827 h 2761840"/>
              <a:gd name="connsiteX3" fmla="*/ 5101061 w 5157770"/>
              <a:gd name="connsiteY3" fmla="*/ 2753185 h 2761840"/>
              <a:gd name="connsiteX4" fmla="*/ 5157770 w 5157770"/>
              <a:gd name="connsiteY4" fmla="*/ 2761840 h 2761840"/>
              <a:gd name="connsiteX5" fmla="*/ 0 w 5157770"/>
              <a:gd name="connsiteY5" fmla="*/ 2761840 h 2761840"/>
              <a:gd name="connsiteX6" fmla="*/ 0 w 5157770"/>
              <a:gd name="connsiteY6" fmla="*/ 0 h 2761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57770" h="2761840">
                <a:moveTo>
                  <a:pt x="0" y="0"/>
                </a:moveTo>
                <a:lnTo>
                  <a:pt x="2778143" y="0"/>
                </a:lnTo>
                <a:lnTo>
                  <a:pt x="2779403" y="49827"/>
                </a:lnTo>
                <a:cubicBezTo>
                  <a:pt x="2847341" y="1390093"/>
                  <a:pt x="3821328" y="2491314"/>
                  <a:pt x="5101061" y="2753185"/>
                </a:cubicBezTo>
                <a:lnTo>
                  <a:pt x="5157770" y="2761840"/>
                </a:lnTo>
                <a:lnTo>
                  <a:pt x="0" y="276184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outerShdw blurRad="469900" sx="102000" sy="102000" algn="ctr" rotWithShape="0">
              <a:schemeClr val="accent1">
                <a:lumMod val="20000"/>
                <a:lumOff val="80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000">
              <a:cs typeface="OPPOSans R" panose="00020600040101010101" pitchFamily="18" charset="-122"/>
            </a:endParaRPr>
          </a:p>
        </p:txBody>
      </p:sp>
      <p:sp>
        <p:nvSpPr>
          <p:cNvPr id="70" name="任意多边形: 形状 69"/>
          <p:cNvSpPr/>
          <p:nvPr/>
        </p:nvSpPr>
        <p:spPr>
          <a:xfrm>
            <a:off x="6590185" y="3893535"/>
            <a:ext cx="5229881" cy="2761840"/>
          </a:xfrm>
          <a:custGeom>
            <a:avLst/>
            <a:gdLst>
              <a:gd name="connsiteX0" fmla="*/ 2379627 w 5229881"/>
              <a:gd name="connsiteY0" fmla="*/ 0 h 2761840"/>
              <a:gd name="connsiteX1" fmla="*/ 5229881 w 5229881"/>
              <a:gd name="connsiteY1" fmla="*/ 0 h 2761840"/>
              <a:gd name="connsiteX2" fmla="*/ 5229881 w 5229881"/>
              <a:gd name="connsiteY2" fmla="*/ 2761840 h 2761840"/>
              <a:gd name="connsiteX3" fmla="*/ 0 w 5229881"/>
              <a:gd name="connsiteY3" fmla="*/ 2761840 h 2761840"/>
              <a:gd name="connsiteX4" fmla="*/ 56709 w 5229881"/>
              <a:gd name="connsiteY4" fmla="*/ 2753185 h 2761840"/>
              <a:gd name="connsiteX5" fmla="*/ 2378367 w 5229881"/>
              <a:gd name="connsiteY5" fmla="*/ 49827 h 2761840"/>
              <a:gd name="connsiteX6" fmla="*/ 2379627 w 5229881"/>
              <a:gd name="connsiteY6" fmla="*/ 0 h 2761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229881" h="2761840">
                <a:moveTo>
                  <a:pt x="2379627" y="0"/>
                </a:moveTo>
                <a:lnTo>
                  <a:pt x="5229881" y="0"/>
                </a:lnTo>
                <a:lnTo>
                  <a:pt x="5229881" y="2761840"/>
                </a:lnTo>
                <a:lnTo>
                  <a:pt x="0" y="2761840"/>
                </a:lnTo>
                <a:lnTo>
                  <a:pt x="56709" y="2753185"/>
                </a:lnTo>
                <a:cubicBezTo>
                  <a:pt x="1336442" y="2491314"/>
                  <a:pt x="2310429" y="1390093"/>
                  <a:pt x="2378367" y="49827"/>
                </a:cubicBezTo>
                <a:lnTo>
                  <a:pt x="2379627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outerShdw blurRad="469900" sx="102000" sy="102000" algn="ctr" rotWithShape="0">
              <a:schemeClr val="accent1">
                <a:lumMod val="20000"/>
                <a:lumOff val="80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000">
              <a:cs typeface="OPPOSans R" panose="00020600040101010101" pitchFamily="18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服务效率提升分析</a:t>
            </a:r>
            <a:r>
              <a:rPr lang="en-US" altLang="zh-CN" dirty="0"/>
              <a:t>/</a:t>
            </a:r>
            <a:r>
              <a:rPr lang="zh-CN" altLang="en-US" dirty="0"/>
              <a:t>成果展示</a:t>
            </a:r>
            <a:endParaRPr lang="zh-CN" altLang="en-US" dirty="0"/>
          </a:p>
        </p:txBody>
      </p:sp>
      <p:sp>
        <p:nvSpPr>
          <p:cNvPr id="4" name="椭圆 3"/>
          <p:cNvSpPr/>
          <p:nvPr/>
        </p:nvSpPr>
        <p:spPr>
          <a:xfrm>
            <a:off x="4206553" y="1962150"/>
            <a:ext cx="3662678" cy="3662680"/>
          </a:xfrm>
          <a:prstGeom prst="ellipse">
            <a:avLst/>
          </a:prstGeom>
          <a:solidFill>
            <a:schemeClr val="bg2"/>
          </a:solidFill>
          <a:ln w="12700" cap="flat" cmpd="sng" algn="ctr">
            <a:solidFill>
              <a:srgbClr val="4472C4">
                <a:lumMod val="75000"/>
                <a:alpha val="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Sans R" panose="00020600040101010101" pitchFamily="18" charset="-122"/>
              <a:ea typeface="OPPOSans R" panose="00020600040101010101" pitchFamily="18" charset="-122"/>
              <a:cs typeface="+mn-cs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3479800" y="1208243"/>
            <a:ext cx="5170494" cy="5170494"/>
            <a:chOff x="4572000" y="2269490"/>
            <a:chExt cx="3048000" cy="3048000"/>
          </a:xfrm>
        </p:grpSpPr>
        <p:sp>
          <p:nvSpPr>
            <p:cNvPr id="6" name="圆: 空心 5"/>
            <p:cNvSpPr/>
            <p:nvPr/>
          </p:nvSpPr>
          <p:spPr>
            <a:xfrm>
              <a:off x="4572000" y="2269490"/>
              <a:ext cx="3048000" cy="3048000"/>
            </a:xfrm>
            <a:prstGeom prst="donut">
              <a:avLst>
                <a:gd name="adj" fmla="val 833"/>
              </a:avLst>
            </a:prstGeom>
            <a:gradFill flip="none" rotWithShape="1">
              <a:gsLst>
                <a:gs pos="0">
                  <a:schemeClr val="accent1"/>
                </a:gs>
                <a:gs pos="30000">
                  <a:schemeClr val="accent1">
                    <a:alpha val="0"/>
                  </a:schemeClr>
                </a:gs>
                <a:gs pos="7000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4762500" y="2459990"/>
              <a:ext cx="2667000" cy="266700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椭圆 7"/>
            <p:cNvSpPr/>
            <p:nvPr/>
          </p:nvSpPr>
          <p:spPr>
            <a:xfrm>
              <a:off x="4953000" y="2650490"/>
              <a:ext cx="2286000" cy="22860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4083384" y="2061400"/>
            <a:ext cx="4003040" cy="3464180"/>
            <a:chOff x="3870212" y="1883853"/>
            <a:chExt cx="4538143" cy="3927250"/>
          </a:xfrm>
        </p:grpSpPr>
        <p:grpSp>
          <p:nvGrpSpPr>
            <p:cNvPr id="10" name="组合 9"/>
            <p:cNvGrpSpPr/>
            <p:nvPr/>
          </p:nvGrpSpPr>
          <p:grpSpPr>
            <a:xfrm>
              <a:off x="4147365" y="1883853"/>
              <a:ext cx="3927250" cy="3927250"/>
              <a:chOff x="4144782" y="1881270"/>
              <a:chExt cx="3932416" cy="3932416"/>
            </a:xfrm>
          </p:grpSpPr>
          <p:grpSp>
            <p:nvGrpSpPr>
              <p:cNvPr id="13" name="组合 12"/>
              <p:cNvGrpSpPr/>
              <p:nvPr/>
            </p:nvGrpSpPr>
            <p:grpSpPr>
              <a:xfrm>
                <a:off x="4144782" y="1881270"/>
                <a:ext cx="3932416" cy="3932416"/>
                <a:chOff x="4503421" y="2113338"/>
                <a:chExt cx="3215141" cy="3215140"/>
              </a:xfrm>
            </p:grpSpPr>
            <p:sp>
              <p:nvSpPr>
                <p:cNvPr id="15" name="椭圆 14"/>
                <p:cNvSpPr/>
                <p:nvPr/>
              </p:nvSpPr>
              <p:spPr>
                <a:xfrm>
                  <a:off x="4503421" y="2113338"/>
                  <a:ext cx="3215139" cy="3215140"/>
                </a:xfrm>
                <a:prstGeom prst="ellipse">
                  <a:avLst/>
                </a:prstGeom>
                <a:gradFill flip="none" rotWithShape="1">
                  <a:gsLst>
                    <a:gs pos="86000">
                      <a:schemeClr val="accent1">
                        <a:lumMod val="40000"/>
                        <a:lumOff val="60000"/>
                        <a:alpha val="29000"/>
                      </a:schemeClr>
                    </a:gs>
                    <a:gs pos="48000">
                      <a:schemeClr val="bg2"/>
                    </a:gs>
                    <a:gs pos="100000">
                      <a:schemeClr val="accent1">
                        <a:lumMod val="40000"/>
                        <a:lumOff val="6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12700" cap="flat" cmpd="sng" algn="ctr">
                  <a:solidFill>
                    <a:srgbClr val="4472C4">
                      <a:lumMod val="75000"/>
                      <a:alpha val="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OPPOSans R" panose="00020600040101010101" pitchFamily="18" charset="-122"/>
                    <a:ea typeface="OPPOSans R" panose="00020600040101010101" pitchFamily="18" charset="-122"/>
                    <a:cs typeface="+mn-cs"/>
                  </a:endParaRPr>
                </a:p>
              </p:txBody>
            </p:sp>
            <p:sp>
              <p:nvSpPr>
                <p:cNvPr id="16" name="任意多边形: 形状 76"/>
                <p:cNvSpPr/>
                <p:nvPr/>
              </p:nvSpPr>
              <p:spPr>
                <a:xfrm>
                  <a:off x="4503422" y="3352595"/>
                  <a:ext cx="3215137" cy="749821"/>
                </a:xfrm>
                <a:custGeom>
                  <a:avLst/>
                  <a:gdLst>
                    <a:gd name="connsiteX0" fmla="*/ 975101 w 1950202"/>
                    <a:gd name="connsiteY0" fmla="*/ 0 h 454818"/>
                    <a:gd name="connsiteX1" fmla="*/ 1950202 w 1950202"/>
                    <a:gd name="connsiteY1" fmla="*/ 227409 h 454818"/>
                    <a:gd name="connsiteX2" fmla="*/ 975101 w 1950202"/>
                    <a:gd name="connsiteY2" fmla="*/ 454818 h 454818"/>
                    <a:gd name="connsiteX3" fmla="*/ 5034 w 1950202"/>
                    <a:gd name="connsiteY3" fmla="*/ 250660 h 454818"/>
                    <a:gd name="connsiteX4" fmla="*/ 0 w 1950202"/>
                    <a:gd name="connsiteY4" fmla="*/ 227409 h 454818"/>
                    <a:gd name="connsiteX5" fmla="*/ 0 w 1950202"/>
                    <a:gd name="connsiteY5" fmla="*/ 227409 h 454818"/>
                    <a:gd name="connsiteX6" fmla="*/ 5034 w 1950202"/>
                    <a:gd name="connsiteY6" fmla="*/ 204158 h 454818"/>
                    <a:gd name="connsiteX7" fmla="*/ 975101 w 1950202"/>
                    <a:gd name="connsiteY7" fmla="*/ 0 h 4548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950202" h="454818">
                      <a:moveTo>
                        <a:pt x="975101" y="0"/>
                      </a:moveTo>
                      <a:cubicBezTo>
                        <a:pt x="1513634" y="0"/>
                        <a:pt x="1950202" y="101814"/>
                        <a:pt x="1950202" y="227409"/>
                      </a:cubicBezTo>
                      <a:cubicBezTo>
                        <a:pt x="1950202" y="353004"/>
                        <a:pt x="1513634" y="454818"/>
                        <a:pt x="975101" y="454818"/>
                      </a:cubicBezTo>
                      <a:cubicBezTo>
                        <a:pt x="470226" y="454818"/>
                        <a:pt x="54969" y="365333"/>
                        <a:pt x="5034" y="250660"/>
                      </a:cubicBezTo>
                      <a:lnTo>
                        <a:pt x="0" y="227409"/>
                      </a:lnTo>
                      <a:lnTo>
                        <a:pt x="0" y="227409"/>
                      </a:lnTo>
                      <a:lnTo>
                        <a:pt x="5034" y="204158"/>
                      </a:lnTo>
                      <a:cubicBezTo>
                        <a:pt x="54969" y="89485"/>
                        <a:pt x="470226" y="0"/>
                        <a:pt x="975101" y="0"/>
                      </a:cubicBez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 w="254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OPPOSans R" panose="00020600040101010101" pitchFamily="18" charset="-122"/>
                    <a:ea typeface="OPPOSans R" panose="00020600040101010101" pitchFamily="18" charset="-122"/>
                    <a:cs typeface="+mn-cs"/>
                  </a:endParaRPr>
                </a:p>
              </p:txBody>
            </p:sp>
            <p:sp>
              <p:nvSpPr>
                <p:cNvPr id="17" name="任意多边形: 形状 77"/>
                <p:cNvSpPr/>
                <p:nvPr/>
              </p:nvSpPr>
              <p:spPr>
                <a:xfrm>
                  <a:off x="4503422" y="3716296"/>
                  <a:ext cx="3215140" cy="1612182"/>
                </a:xfrm>
                <a:custGeom>
                  <a:avLst/>
                  <a:gdLst>
                    <a:gd name="connsiteX0" fmla="*/ 1949597 w 1950204"/>
                    <a:gd name="connsiteY0" fmla="*/ 0 h 977899"/>
                    <a:gd name="connsiteX1" fmla="*/ 1950063 w 1950204"/>
                    <a:gd name="connsiteY1" fmla="*/ 0 h 977899"/>
                    <a:gd name="connsiteX2" fmla="*/ 1950204 w 1950204"/>
                    <a:gd name="connsiteY2" fmla="*/ 2797 h 977899"/>
                    <a:gd name="connsiteX3" fmla="*/ 975102 w 1950204"/>
                    <a:gd name="connsiteY3" fmla="*/ 977899 h 977899"/>
                    <a:gd name="connsiteX4" fmla="*/ 0 w 1950204"/>
                    <a:gd name="connsiteY4" fmla="*/ 2797 h 977899"/>
                    <a:gd name="connsiteX5" fmla="*/ 0 w 1950204"/>
                    <a:gd name="connsiteY5" fmla="*/ 2796 h 977899"/>
                    <a:gd name="connsiteX6" fmla="*/ 5034 w 1950204"/>
                    <a:gd name="connsiteY6" fmla="*/ 26047 h 977899"/>
                    <a:gd name="connsiteX7" fmla="*/ 975101 w 1950204"/>
                    <a:gd name="connsiteY7" fmla="*/ 230205 h 977899"/>
                    <a:gd name="connsiteX8" fmla="*/ 1950202 w 1950204"/>
                    <a:gd name="connsiteY8" fmla="*/ 2796 h 977899"/>
                    <a:gd name="connsiteX9" fmla="*/ 141 w 1950204"/>
                    <a:gd name="connsiteY9" fmla="*/ 0 h 977899"/>
                    <a:gd name="connsiteX10" fmla="*/ 606 w 1950204"/>
                    <a:gd name="connsiteY10" fmla="*/ 0 h 977899"/>
                    <a:gd name="connsiteX11" fmla="*/ 0 w 1950204"/>
                    <a:gd name="connsiteY11" fmla="*/ 2796 h 9778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1950204" h="977899">
                      <a:moveTo>
                        <a:pt x="1949597" y="0"/>
                      </a:moveTo>
                      <a:lnTo>
                        <a:pt x="1950063" y="0"/>
                      </a:lnTo>
                      <a:lnTo>
                        <a:pt x="1950204" y="2797"/>
                      </a:lnTo>
                      <a:cubicBezTo>
                        <a:pt x="1950204" y="541331"/>
                        <a:pt x="1513636" y="977899"/>
                        <a:pt x="975102" y="977899"/>
                      </a:cubicBezTo>
                      <a:cubicBezTo>
                        <a:pt x="436568" y="977899"/>
                        <a:pt x="0" y="541331"/>
                        <a:pt x="0" y="2797"/>
                      </a:cubicBezTo>
                      <a:lnTo>
                        <a:pt x="0" y="2796"/>
                      </a:lnTo>
                      <a:lnTo>
                        <a:pt x="5034" y="26047"/>
                      </a:lnTo>
                      <a:cubicBezTo>
                        <a:pt x="54969" y="140720"/>
                        <a:pt x="470226" y="230205"/>
                        <a:pt x="975101" y="230205"/>
                      </a:cubicBezTo>
                      <a:cubicBezTo>
                        <a:pt x="1513634" y="230205"/>
                        <a:pt x="1950202" y="128391"/>
                        <a:pt x="1950202" y="2796"/>
                      </a:cubicBezTo>
                      <a:close/>
                      <a:moveTo>
                        <a:pt x="141" y="0"/>
                      </a:moveTo>
                      <a:lnTo>
                        <a:pt x="606" y="0"/>
                      </a:lnTo>
                      <a:lnTo>
                        <a:pt x="0" y="2796"/>
                      </a:lnTo>
                      <a:close/>
                    </a:path>
                  </a:pathLst>
                </a:custGeom>
                <a:gradFill>
                  <a:gsLst>
                    <a:gs pos="73000">
                      <a:schemeClr val="accent1"/>
                    </a:gs>
                    <a:gs pos="35000">
                      <a:schemeClr val="accent1"/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5400000" scaled="1"/>
                </a:gra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OPPOSans R" panose="00020600040101010101" pitchFamily="18" charset="-122"/>
                    <a:ea typeface="OPPOSans R" panose="00020600040101010101" pitchFamily="18" charset="-122"/>
                    <a:cs typeface="+mn-cs"/>
                  </a:endParaRPr>
                </a:p>
              </p:txBody>
            </p:sp>
          </p:grpSp>
          <p:sp>
            <p:nvSpPr>
              <p:cNvPr id="14" name="任意多边形: 形状 76"/>
              <p:cNvSpPr/>
              <p:nvPr/>
            </p:nvSpPr>
            <p:spPr>
              <a:xfrm>
                <a:off x="5195209" y="3643809"/>
                <a:ext cx="1832083" cy="384833"/>
              </a:xfrm>
              <a:custGeom>
                <a:avLst/>
                <a:gdLst>
                  <a:gd name="connsiteX0" fmla="*/ 975101 w 1950202"/>
                  <a:gd name="connsiteY0" fmla="*/ 0 h 454818"/>
                  <a:gd name="connsiteX1" fmla="*/ 1950202 w 1950202"/>
                  <a:gd name="connsiteY1" fmla="*/ 227409 h 454818"/>
                  <a:gd name="connsiteX2" fmla="*/ 975101 w 1950202"/>
                  <a:gd name="connsiteY2" fmla="*/ 454818 h 454818"/>
                  <a:gd name="connsiteX3" fmla="*/ 5034 w 1950202"/>
                  <a:gd name="connsiteY3" fmla="*/ 250660 h 454818"/>
                  <a:gd name="connsiteX4" fmla="*/ 0 w 1950202"/>
                  <a:gd name="connsiteY4" fmla="*/ 227409 h 454818"/>
                  <a:gd name="connsiteX5" fmla="*/ 0 w 1950202"/>
                  <a:gd name="connsiteY5" fmla="*/ 227409 h 454818"/>
                  <a:gd name="connsiteX6" fmla="*/ 5034 w 1950202"/>
                  <a:gd name="connsiteY6" fmla="*/ 204158 h 454818"/>
                  <a:gd name="connsiteX7" fmla="*/ 975101 w 1950202"/>
                  <a:gd name="connsiteY7" fmla="*/ 0 h 454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950202" h="454818">
                    <a:moveTo>
                      <a:pt x="975101" y="0"/>
                    </a:moveTo>
                    <a:cubicBezTo>
                      <a:pt x="1513634" y="0"/>
                      <a:pt x="1950202" y="101814"/>
                      <a:pt x="1950202" y="227409"/>
                    </a:cubicBezTo>
                    <a:cubicBezTo>
                      <a:pt x="1950202" y="353004"/>
                      <a:pt x="1513634" y="454818"/>
                      <a:pt x="975101" y="454818"/>
                    </a:cubicBezTo>
                    <a:cubicBezTo>
                      <a:pt x="470226" y="454818"/>
                      <a:pt x="54969" y="365333"/>
                      <a:pt x="5034" y="250660"/>
                    </a:cubicBezTo>
                    <a:lnTo>
                      <a:pt x="0" y="227409"/>
                    </a:lnTo>
                    <a:lnTo>
                      <a:pt x="0" y="227409"/>
                    </a:lnTo>
                    <a:lnTo>
                      <a:pt x="5034" y="204158"/>
                    </a:lnTo>
                    <a:cubicBezTo>
                      <a:pt x="54969" y="89485"/>
                      <a:pt x="470226" y="0"/>
                      <a:pt x="975101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w="254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POSans R" panose="00020600040101010101" pitchFamily="18" charset="-122"/>
                  <a:ea typeface="OPPOSans R" panose="00020600040101010101" pitchFamily="18" charset="-122"/>
                  <a:cs typeface="+mn-cs"/>
                </a:endParaRPr>
              </a:p>
            </p:txBody>
          </p:sp>
        </p:grpSp>
        <p:sp>
          <p:nvSpPr>
            <p:cNvPr id="11" name="任意形状 4"/>
            <p:cNvSpPr/>
            <p:nvPr/>
          </p:nvSpPr>
          <p:spPr>
            <a:xfrm>
              <a:off x="4370720" y="2870108"/>
              <a:ext cx="3634406" cy="2073003"/>
            </a:xfrm>
            <a:custGeom>
              <a:avLst/>
              <a:gdLst>
                <a:gd name="connsiteX0" fmla="*/ 1249732 w 4395559"/>
                <a:gd name="connsiteY0" fmla="*/ 2486912 h 4190933"/>
                <a:gd name="connsiteX1" fmla="*/ 0 w 4395559"/>
                <a:gd name="connsiteY1" fmla="*/ 4190925 h 4190933"/>
                <a:gd name="connsiteX2" fmla="*/ 4395560 w 4395559"/>
                <a:gd name="connsiteY2" fmla="*/ 4190933 h 4190933"/>
                <a:gd name="connsiteX3" fmla="*/ 3053254 w 4395559"/>
                <a:gd name="connsiteY3" fmla="*/ 2486912 h 4190933"/>
                <a:gd name="connsiteX4" fmla="*/ 2566721 w 4395559"/>
                <a:gd name="connsiteY4" fmla="*/ 834686 h 4190933"/>
                <a:gd name="connsiteX5" fmla="*/ 2781042 w 4395559"/>
                <a:gd name="connsiteY5" fmla="*/ 834686 h 4190933"/>
                <a:gd name="connsiteX6" fmla="*/ 2139599 w 4395559"/>
                <a:gd name="connsiteY6" fmla="*/ 0 h 4190933"/>
                <a:gd name="connsiteX7" fmla="*/ 1498155 w 4395559"/>
                <a:gd name="connsiteY7" fmla="*/ 834686 h 4190933"/>
                <a:gd name="connsiteX8" fmla="*/ 1719824 w 4395559"/>
                <a:gd name="connsiteY8" fmla="*/ 834686 h 4190933"/>
                <a:gd name="connsiteX9" fmla="*/ 1249732 w 4395559"/>
                <a:gd name="connsiteY9" fmla="*/ 2486912 h 4190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395559" h="4190933">
                  <a:moveTo>
                    <a:pt x="1249732" y="2486912"/>
                  </a:moveTo>
                  <a:cubicBezTo>
                    <a:pt x="908028" y="3176944"/>
                    <a:pt x="0" y="4190925"/>
                    <a:pt x="0" y="4190925"/>
                  </a:cubicBezTo>
                  <a:lnTo>
                    <a:pt x="4395560" y="4190933"/>
                  </a:lnTo>
                  <a:cubicBezTo>
                    <a:pt x="4395560" y="4190933"/>
                    <a:pt x="3418629" y="3178565"/>
                    <a:pt x="3053254" y="2486912"/>
                  </a:cubicBezTo>
                  <a:cubicBezTo>
                    <a:pt x="2733567" y="1881771"/>
                    <a:pt x="2584200" y="949271"/>
                    <a:pt x="2566721" y="834686"/>
                  </a:cubicBezTo>
                  <a:lnTo>
                    <a:pt x="2781042" y="834686"/>
                  </a:lnTo>
                  <a:lnTo>
                    <a:pt x="2139599" y="0"/>
                  </a:lnTo>
                  <a:lnTo>
                    <a:pt x="1498155" y="834686"/>
                  </a:lnTo>
                  <a:lnTo>
                    <a:pt x="1719824" y="834686"/>
                  </a:lnTo>
                  <a:cubicBezTo>
                    <a:pt x="1701930" y="949205"/>
                    <a:pt x="1549970" y="1880623"/>
                    <a:pt x="1249732" y="2486912"/>
                  </a:cubicBezTo>
                  <a:close/>
                </a:path>
              </a:pathLst>
            </a:custGeom>
            <a:gradFill>
              <a:gsLst>
                <a:gs pos="31000">
                  <a:schemeClr val="accent1"/>
                </a:gs>
                <a:gs pos="48000">
                  <a:schemeClr val="accent1">
                    <a:alpha val="39000"/>
                  </a:schemeClr>
                </a:gs>
                <a:gs pos="57000">
                  <a:schemeClr val="accent1">
                    <a:lumMod val="75000"/>
                    <a:alpha val="0"/>
                  </a:schemeClr>
                </a:gs>
              </a:gsLst>
              <a:lin ang="5400000" scaled="1"/>
            </a:gradFill>
            <a:ln w="83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POSans R" panose="00020600040101010101" pitchFamily="18" charset="-122"/>
                <a:ea typeface="OPPOSans R" panose="00020600040101010101" pitchFamily="18" charset="-122"/>
                <a:cs typeface="+mn-cs"/>
              </a:endParaRPr>
            </a:p>
          </p:txBody>
        </p:sp>
        <p:sp>
          <p:nvSpPr>
            <p:cNvPr id="12" name="不完整圆 235"/>
            <p:cNvSpPr/>
            <p:nvPr/>
          </p:nvSpPr>
          <p:spPr>
            <a:xfrm>
              <a:off x="3870212" y="3397588"/>
              <a:ext cx="4538143" cy="1165403"/>
            </a:xfrm>
            <a:custGeom>
              <a:avLst/>
              <a:gdLst>
                <a:gd name="connsiteX0" fmla="*/ 5903762 w 7865462"/>
                <a:gd name="connsiteY0" fmla="*/ 108533 h 1611954"/>
                <a:gd name="connsiteX1" fmla="*/ 4523377 w 7865462"/>
                <a:gd name="connsiteY1" fmla="*/ 1602812 h 1611954"/>
                <a:gd name="connsiteX2" fmla="*/ 3345359 w 7865462"/>
                <a:gd name="connsiteY2" fmla="*/ 1602914 h 1611954"/>
                <a:gd name="connsiteX3" fmla="*/ 1948886 w 7865462"/>
                <a:gd name="connsiteY3" fmla="*/ 110061 h 1611954"/>
                <a:gd name="connsiteX4" fmla="*/ 3932731 w 7865462"/>
                <a:gd name="connsiteY4" fmla="*/ 805977 h 1611954"/>
                <a:gd name="connsiteX5" fmla="*/ 5903762 w 7865462"/>
                <a:gd name="connsiteY5" fmla="*/ 108533 h 1611954"/>
                <a:gd name="connsiteX0-1" fmla="*/ 3935506 w 7870963"/>
                <a:gd name="connsiteY0-2" fmla="*/ 697444 h 1503420"/>
                <a:gd name="connsiteX1-3" fmla="*/ 5906537 w 7870963"/>
                <a:gd name="connsiteY1-4" fmla="*/ 0 h 1503420"/>
                <a:gd name="connsiteX2-5" fmla="*/ 4526152 w 7870963"/>
                <a:gd name="connsiteY2-6" fmla="*/ 1494279 h 1503420"/>
                <a:gd name="connsiteX3-7" fmla="*/ 3348134 w 7870963"/>
                <a:gd name="connsiteY3-8" fmla="*/ 1494381 h 1503420"/>
                <a:gd name="connsiteX4-9" fmla="*/ 1951661 w 7870963"/>
                <a:gd name="connsiteY4-10" fmla="*/ 1528 h 1503420"/>
                <a:gd name="connsiteX5-11" fmla="*/ 4026946 w 7870963"/>
                <a:gd name="connsiteY5-12" fmla="*/ 788884 h 1503420"/>
                <a:gd name="connsiteX0-13" fmla="*/ 3935506 w 7870963"/>
                <a:gd name="connsiteY0-14" fmla="*/ 697444 h 1503420"/>
                <a:gd name="connsiteX1-15" fmla="*/ 5906537 w 7870963"/>
                <a:gd name="connsiteY1-16" fmla="*/ 0 h 1503420"/>
                <a:gd name="connsiteX2-17" fmla="*/ 4526152 w 7870963"/>
                <a:gd name="connsiteY2-18" fmla="*/ 1494279 h 1503420"/>
                <a:gd name="connsiteX3-19" fmla="*/ 3348134 w 7870963"/>
                <a:gd name="connsiteY3-20" fmla="*/ 1494381 h 1503420"/>
                <a:gd name="connsiteX4-21" fmla="*/ 1951661 w 7870963"/>
                <a:gd name="connsiteY4-22" fmla="*/ 1528 h 1503420"/>
                <a:gd name="connsiteX0-23" fmla="*/ 5906537 w 7870963"/>
                <a:gd name="connsiteY0-24" fmla="*/ 0 h 1503420"/>
                <a:gd name="connsiteX1-25" fmla="*/ 4526152 w 7870963"/>
                <a:gd name="connsiteY1-26" fmla="*/ 1494279 h 1503420"/>
                <a:gd name="connsiteX2-27" fmla="*/ 3348134 w 7870963"/>
                <a:gd name="connsiteY2-28" fmla="*/ 1494381 h 1503420"/>
                <a:gd name="connsiteX3-29" fmla="*/ 1951661 w 7870963"/>
                <a:gd name="connsiteY3-30" fmla="*/ 1528 h 150342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7870963" h="1503420">
                  <a:moveTo>
                    <a:pt x="5906537" y="0"/>
                  </a:moveTo>
                  <a:cubicBezTo>
                    <a:pt x="9121776" y="381640"/>
                    <a:pt x="8199590" y="1379915"/>
                    <a:pt x="4526152" y="1494279"/>
                  </a:cubicBezTo>
                  <a:cubicBezTo>
                    <a:pt x="4135731" y="1506434"/>
                    <a:pt x="3738605" y="1506468"/>
                    <a:pt x="3348134" y="1494381"/>
                  </a:cubicBezTo>
                  <a:cubicBezTo>
                    <a:pt x="-320076" y="1380828"/>
                    <a:pt x="-1251561" y="385054"/>
                    <a:pt x="1951661" y="1528"/>
                  </a:cubicBezTo>
                </a:path>
              </a:pathLst>
            </a:custGeom>
            <a:noFill/>
            <a:ln w="88900">
              <a:gradFill flip="none" rotWithShape="1">
                <a:gsLst>
                  <a:gs pos="0">
                    <a:schemeClr val="accent1">
                      <a:lumMod val="60000"/>
                      <a:lumOff val="40000"/>
                      <a:alpha val="0"/>
                    </a:schemeClr>
                  </a:gs>
                  <a:gs pos="100000">
                    <a:schemeClr val="accent1">
                      <a:lumMod val="60000"/>
                      <a:lumOff val="40000"/>
                    </a:schemeClr>
                  </a:gs>
                </a:gsLst>
                <a:lin ang="5400000" scaled="1"/>
                <a:tileRect/>
              </a:gra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  <a:latin typeface="OPPOSans R" panose="00020600040101010101" pitchFamily="18" charset="-122"/>
                <a:ea typeface="OPPOSans R" panose="00020600040101010101" pitchFamily="18" charset="-122"/>
                <a:cs typeface="+mn-cs"/>
              </a:endParaRPr>
            </a:p>
          </p:txBody>
        </p:sp>
      </p:grpSp>
      <p:sp>
        <p:nvSpPr>
          <p:cNvPr id="23" name="椭圆 22"/>
          <p:cNvSpPr/>
          <p:nvPr/>
        </p:nvSpPr>
        <p:spPr>
          <a:xfrm>
            <a:off x="3745042" y="2247497"/>
            <a:ext cx="261854" cy="261854"/>
          </a:xfrm>
          <a:prstGeom prst="ellipse">
            <a:avLst/>
          </a:prstGeom>
          <a:gradFill>
            <a:gsLst>
              <a:gs pos="2500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</a:gradFill>
          <a:ln w="19050">
            <a:solidFill>
              <a:schemeClr val="accent2">
                <a:lumMod val="0"/>
                <a:lumOff val="100000"/>
              </a:schemeClr>
            </a:solidFill>
          </a:ln>
          <a:effectLst>
            <a:outerShdw blurRad="165100" dist="76200" dir="5400000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椭圆 23"/>
          <p:cNvSpPr/>
          <p:nvPr/>
        </p:nvSpPr>
        <p:spPr>
          <a:xfrm>
            <a:off x="8112993" y="2247497"/>
            <a:ext cx="261854" cy="261854"/>
          </a:xfrm>
          <a:prstGeom prst="ellipse">
            <a:avLst/>
          </a:prstGeom>
          <a:gradFill>
            <a:gsLst>
              <a:gs pos="2500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</a:gradFill>
          <a:ln w="19050">
            <a:solidFill>
              <a:schemeClr val="accent2">
                <a:lumMod val="0"/>
                <a:lumOff val="100000"/>
              </a:schemeClr>
            </a:solidFill>
          </a:ln>
          <a:effectLst>
            <a:outerShdw blurRad="165100" dist="76200" dir="5400000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椭圆 24"/>
          <p:cNvSpPr/>
          <p:nvPr/>
        </p:nvSpPr>
        <p:spPr>
          <a:xfrm>
            <a:off x="3745042" y="5091844"/>
            <a:ext cx="261854" cy="261854"/>
          </a:xfrm>
          <a:prstGeom prst="ellipse">
            <a:avLst/>
          </a:prstGeom>
          <a:gradFill>
            <a:gsLst>
              <a:gs pos="25000">
                <a:schemeClr val="accent3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0" scaled="1"/>
          </a:gradFill>
          <a:ln w="19050">
            <a:solidFill>
              <a:schemeClr val="accent2">
                <a:lumMod val="0"/>
                <a:lumOff val="100000"/>
              </a:schemeClr>
            </a:solidFill>
          </a:ln>
          <a:effectLst>
            <a:outerShdw blurRad="165100" dist="76200" dir="5400000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椭圆 25"/>
          <p:cNvSpPr/>
          <p:nvPr/>
        </p:nvSpPr>
        <p:spPr>
          <a:xfrm>
            <a:off x="8112993" y="5091844"/>
            <a:ext cx="261854" cy="261854"/>
          </a:xfrm>
          <a:prstGeom prst="ellipse">
            <a:avLst/>
          </a:prstGeom>
          <a:gradFill>
            <a:gsLst>
              <a:gs pos="25000">
                <a:schemeClr val="accent3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0" scaled="1"/>
          </a:gradFill>
          <a:ln w="19050">
            <a:solidFill>
              <a:schemeClr val="accent2">
                <a:lumMod val="0"/>
                <a:lumOff val="100000"/>
              </a:schemeClr>
            </a:solidFill>
          </a:ln>
          <a:effectLst>
            <a:outerShdw blurRad="165100" dist="76200" dir="5400000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" name="矩形: 圆角 26"/>
          <p:cNvSpPr/>
          <p:nvPr>
            <p:custDataLst>
              <p:tags r:id="rId1"/>
            </p:custDataLst>
          </p:nvPr>
        </p:nvSpPr>
        <p:spPr>
          <a:xfrm>
            <a:off x="5168707" y="4716624"/>
            <a:ext cx="1823458" cy="358109"/>
          </a:xfrm>
          <a:prstGeom prst="roundRect">
            <a:avLst>
              <a:gd name="adj" fmla="val 50000"/>
            </a:avLst>
          </a:prstGeom>
          <a:solidFill>
            <a:schemeClr val="bg2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400" dirty="0">
                <a:solidFill>
                  <a:schemeClr val="bg2"/>
                </a:solidFill>
                <a:latin typeface="OPPOSans M" panose="00020600040101010101" pitchFamily="18" charset="-122"/>
                <a:ea typeface="OPPOSans M" panose="00020600040101010101" pitchFamily="18" charset="-122"/>
                <a:cs typeface="OPPOSans M" panose="00020600040101010101" pitchFamily="18" charset="-122"/>
              </a:rPr>
              <a:t>整体服务效率提升</a:t>
            </a:r>
            <a:endParaRPr lang="zh-CN" altLang="en-US" sz="1400" dirty="0">
              <a:solidFill>
                <a:schemeClr val="bg2"/>
              </a:solidFill>
              <a:latin typeface="OPPOSans M" panose="00020600040101010101" pitchFamily="18" charset="-122"/>
              <a:ea typeface="OPPOSans M" panose="00020600040101010101" pitchFamily="18" charset="-122"/>
              <a:cs typeface="OPPOSans M" panose="00020600040101010101" pitchFamily="18" charset="-122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644653" y="1754284"/>
            <a:ext cx="2374389" cy="1674716"/>
            <a:chOff x="643878" y="1780856"/>
            <a:chExt cx="2374389" cy="1674716"/>
          </a:xfrm>
        </p:grpSpPr>
        <p:grpSp>
          <p:nvGrpSpPr>
            <p:cNvPr id="29" name="组合 28"/>
            <p:cNvGrpSpPr/>
            <p:nvPr/>
          </p:nvGrpSpPr>
          <p:grpSpPr>
            <a:xfrm>
              <a:off x="643878" y="2725885"/>
              <a:ext cx="2093324" cy="729687"/>
              <a:chOff x="715656" y="2746498"/>
              <a:chExt cx="2093324" cy="729687"/>
            </a:xfrm>
          </p:grpSpPr>
          <p:sp>
            <p:nvSpPr>
              <p:cNvPr id="33" name="矩形 32"/>
              <p:cNvSpPr/>
              <p:nvPr/>
            </p:nvSpPr>
            <p:spPr>
              <a:xfrm>
                <a:off x="715656" y="2746498"/>
                <a:ext cx="2093324" cy="729687"/>
              </a:xfrm>
              <a:prstGeom prst="rect">
                <a:avLst/>
              </a:prstGeom>
              <a:gradFill flip="none" rotWithShape="1">
                <a:gsLst>
                  <a:gs pos="13000">
                    <a:schemeClr val="accent1"/>
                  </a:gs>
                  <a:gs pos="100000">
                    <a:schemeClr val="accent1">
                      <a:lumMod val="60000"/>
                      <a:lumOff val="40000"/>
                    </a:schemeClr>
                  </a:gs>
                </a:gsLst>
                <a:lin ang="18900000" scaled="1"/>
                <a:tileRect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OPPOSans R" panose="00020600040101010101" pitchFamily="18" charset="-122"/>
                  <a:ea typeface="OPPOSans R" panose="00020600040101010101" pitchFamily="18" charset="-122"/>
                </a:endParaRPr>
              </a:p>
            </p:txBody>
          </p:sp>
          <p:grpSp>
            <p:nvGrpSpPr>
              <p:cNvPr id="34" name="组合 33"/>
              <p:cNvGrpSpPr/>
              <p:nvPr/>
            </p:nvGrpSpPr>
            <p:grpSpPr>
              <a:xfrm>
                <a:off x="1347030" y="2847625"/>
                <a:ext cx="1362835" cy="527431"/>
                <a:chOff x="1080900" y="2847625"/>
                <a:chExt cx="1362835" cy="527431"/>
              </a:xfrm>
            </p:grpSpPr>
            <p:sp>
              <p:nvSpPr>
                <p:cNvPr id="36" name="文本框 35"/>
                <p:cNvSpPr txBox="1"/>
                <p:nvPr/>
              </p:nvSpPr>
              <p:spPr>
                <a:xfrm>
                  <a:off x="1263795" y="2847625"/>
                  <a:ext cx="99704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altLang="zh-CN" dirty="0">
                      <a:solidFill>
                        <a:schemeClr val="bg2"/>
                      </a:solidFill>
                      <a:latin typeface="OPPOSans M" panose="00020600040101010101" pitchFamily="18" charset="-122"/>
                      <a:ea typeface="OPPOSans M" panose="00020600040101010101" pitchFamily="18" charset="-122"/>
                      <a:cs typeface="OPPOSans M" panose="00020600040101010101" pitchFamily="18" charset="-122"/>
                    </a:rPr>
                    <a:t>11</a:t>
                  </a:r>
                  <a:r>
                    <a:rPr lang="en-US" altLang="zh-CN" b="0" i="0" dirty="0">
                      <a:solidFill>
                        <a:schemeClr val="bg2"/>
                      </a:solidFill>
                      <a:effectLst/>
                      <a:latin typeface="OPPOSans M" panose="00020600040101010101" pitchFamily="18" charset="-122"/>
                      <a:ea typeface="OPPOSans M" panose="00020600040101010101" pitchFamily="18" charset="-122"/>
                      <a:cs typeface="OPPOSans M" panose="00020600040101010101" pitchFamily="18" charset="-122"/>
                    </a:rPr>
                    <a:t>%</a:t>
                  </a:r>
                  <a:r>
                    <a:rPr lang="en-US" altLang="zh-CN" sz="1400" b="0" i="0" dirty="0">
                      <a:solidFill>
                        <a:schemeClr val="bg2"/>
                      </a:solidFill>
                      <a:effectLst/>
                      <a:latin typeface="OPPOSans M" panose="00020600040101010101" pitchFamily="18" charset="-122"/>
                      <a:ea typeface="OPPOSans M" panose="00020600040101010101" pitchFamily="18" charset="-122"/>
                      <a:cs typeface="OPPOSans M" panose="00020600040101010101" pitchFamily="18" charset="-122"/>
                    </a:rPr>
                    <a:t>▲</a:t>
                  </a:r>
                  <a:endParaRPr lang="zh-CN" altLang="en-US" dirty="0">
                    <a:solidFill>
                      <a:schemeClr val="bg2"/>
                    </a:solidFill>
                    <a:latin typeface="OPPOSans M" panose="00020600040101010101" pitchFamily="18" charset="-122"/>
                    <a:ea typeface="OPPOSans M" panose="00020600040101010101" pitchFamily="18" charset="-122"/>
                    <a:cs typeface="OPPOSans M" panose="00020600040101010101" pitchFamily="18" charset="-122"/>
                  </a:endParaRPr>
                </a:p>
              </p:txBody>
            </p:sp>
            <p:sp>
              <p:nvSpPr>
                <p:cNvPr id="37" name="文本框 36"/>
                <p:cNvSpPr txBox="1"/>
                <p:nvPr/>
              </p:nvSpPr>
              <p:spPr>
                <a:xfrm>
                  <a:off x="1080900" y="3107034"/>
                  <a:ext cx="1362835" cy="26802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>
                  <a:defPPr>
                    <a:defRPr lang="zh-CN"/>
                  </a:defPPr>
                  <a:lvl1pPr>
                    <a:defRPr sz="900">
                      <a:solidFill>
                        <a:schemeClr val="tx2"/>
                      </a:solidFill>
                      <a:latin typeface="+mn-ea"/>
                    </a:defRPr>
                  </a:lvl1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bg2"/>
                      </a:solidFill>
                      <a:effectLst/>
                      <a:uLnTx/>
                      <a:uFillTx/>
                      <a:latin typeface="OPPOSans R" panose="00020600040101010101" pitchFamily="18" charset="-122"/>
                      <a:ea typeface="OPPOSans R" panose="00020600040101010101" pitchFamily="18" charset="-122"/>
                      <a:cs typeface="OPPOSans R" panose="00020600040101010101" pitchFamily="18" charset="-122"/>
                    </a:rPr>
                    <a:t>客户满意度提升</a:t>
                  </a:r>
                  <a:endParaRPr kumimoji="0" lang="en-US" altLang="zh-CN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2"/>
                    </a:solidFill>
                    <a:effectLst/>
                    <a:uLnTx/>
                    <a:uFillTx/>
                    <a:latin typeface="OPPOSans R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</a:endParaRPr>
                </a:p>
              </p:txBody>
            </p:sp>
          </p:grpSp>
          <p:pic>
            <p:nvPicPr>
              <p:cNvPr id="35" name="图形 34"/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957978" y="2911417"/>
                <a:ext cx="387324" cy="387324"/>
              </a:xfrm>
              <a:prstGeom prst="rect">
                <a:avLst/>
              </a:prstGeom>
            </p:spPr>
          </p:pic>
        </p:grpSp>
        <p:sp>
          <p:nvSpPr>
            <p:cNvPr id="31" name="文本框 30"/>
            <p:cNvSpPr txBox="1"/>
            <p:nvPr/>
          </p:nvSpPr>
          <p:spPr>
            <a:xfrm flipH="1">
              <a:off x="676054" y="1780856"/>
              <a:ext cx="2342213" cy="57176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4000"/>
                </a:lnSpc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alpha val="65000"/>
                    </a:schemeClr>
                  </a:solidFill>
                  <a:effectLst/>
                  <a:uLnTx/>
                  <a:uFillTx/>
                  <a:latin typeface="OPPOSans R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</a:rPr>
                <a:t>通过优化服务流程，客户满意度从 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alpha val="65000"/>
                    </a:schemeClr>
                  </a:solidFill>
                  <a:effectLst/>
                  <a:uLnTx/>
                  <a:uFillTx/>
                  <a:latin typeface="OPPOSans R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</a:rPr>
                <a:t>81% 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alpha val="65000"/>
                    </a:schemeClr>
                  </a:solidFill>
                  <a:effectLst/>
                  <a:uLnTx/>
                  <a:uFillTx/>
                  <a:latin typeface="OPPOSans R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</a:rPr>
                <a:t>提升至 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alpha val="65000"/>
                    </a:schemeClr>
                  </a:solidFill>
                  <a:effectLst/>
                  <a:uLnTx/>
                  <a:uFillTx/>
                  <a:latin typeface="OPPOSans R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</a:rPr>
                <a:t>92%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alpha val="65000"/>
                    </a:schemeClr>
                  </a:solidFill>
                  <a:effectLst/>
                  <a:uLnTx/>
                  <a:uFillTx/>
                  <a:latin typeface="OPPOSans R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</a:rPr>
                <a:t>，每月收到的客户好评数量增加了 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alpha val="65000"/>
                    </a:schemeClr>
                  </a:solidFill>
                  <a:effectLst/>
                  <a:uLnTx/>
                  <a:uFillTx/>
                  <a:latin typeface="OPPOSans R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</a:rPr>
                <a:t>35 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alpha val="65000"/>
                    </a:schemeClr>
                  </a:solidFill>
                  <a:effectLst/>
                  <a:uLnTx/>
                  <a:uFillTx/>
                  <a:latin typeface="OPPOSans R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</a:rPr>
                <a:t>条。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65000"/>
                  </a:schemeClr>
                </a:solidFill>
                <a:effectLst/>
                <a:uLnTx/>
                <a:uFillTx/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</a:endParaRP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9181595" y="1754284"/>
            <a:ext cx="2374389" cy="1674716"/>
            <a:chOff x="9201915" y="1754284"/>
            <a:chExt cx="2374389" cy="1674716"/>
          </a:xfrm>
        </p:grpSpPr>
        <p:grpSp>
          <p:nvGrpSpPr>
            <p:cNvPr id="39" name="组合 38"/>
            <p:cNvGrpSpPr/>
            <p:nvPr/>
          </p:nvGrpSpPr>
          <p:grpSpPr>
            <a:xfrm>
              <a:off x="9482980" y="2699313"/>
              <a:ext cx="2093324" cy="729687"/>
              <a:chOff x="715656" y="2746498"/>
              <a:chExt cx="2093324" cy="729687"/>
            </a:xfrm>
          </p:grpSpPr>
          <p:sp>
            <p:nvSpPr>
              <p:cNvPr id="42" name="矩形 41"/>
              <p:cNvSpPr/>
              <p:nvPr/>
            </p:nvSpPr>
            <p:spPr>
              <a:xfrm>
                <a:off x="715656" y="2746498"/>
                <a:ext cx="2093324" cy="729687"/>
              </a:xfrm>
              <a:prstGeom prst="rect">
                <a:avLst/>
              </a:prstGeom>
              <a:gradFill flip="none" rotWithShape="1">
                <a:gsLst>
                  <a:gs pos="13000">
                    <a:schemeClr val="accent1"/>
                  </a:gs>
                  <a:gs pos="100000">
                    <a:schemeClr val="accent1">
                      <a:lumMod val="60000"/>
                      <a:lumOff val="40000"/>
                    </a:schemeClr>
                  </a:gs>
                </a:gsLst>
                <a:lin ang="18900000" scaled="1"/>
                <a:tileRect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OPPOSans R" panose="00020600040101010101" pitchFamily="18" charset="-122"/>
                  <a:ea typeface="OPPOSans R" panose="00020600040101010101" pitchFamily="18" charset="-122"/>
                </a:endParaRPr>
              </a:p>
            </p:txBody>
          </p:sp>
          <p:grpSp>
            <p:nvGrpSpPr>
              <p:cNvPr id="43" name="组合 42"/>
              <p:cNvGrpSpPr/>
              <p:nvPr/>
            </p:nvGrpSpPr>
            <p:grpSpPr>
              <a:xfrm>
                <a:off x="1347030" y="2847625"/>
                <a:ext cx="1362835" cy="527431"/>
                <a:chOff x="1080900" y="2847625"/>
                <a:chExt cx="1362835" cy="527431"/>
              </a:xfrm>
            </p:grpSpPr>
            <p:sp>
              <p:nvSpPr>
                <p:cNvPr id="45" name="文本框 44"/>
                <p:cNvSpPr txBox="1"/>
                <p:nvPr/>
              </p:nvSpPr>
              <p:spPr>
                <a:xfrm>
                  <a:off x="1263795" y="2847625"/>
                  <a:ext cx="99704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altLang="zh-CN" b="0" i="0" dirty="0">
                      <a:solidFill>
                        <a:schemeClr val="bg2"/>
                      </a:solidFill>
                      <a:effectLst/>
                      <a:latin typeface="OPPOSans M" panose="00020600040101010101" pitchFamily="18" charset="-122"/>
                      <a:ea typeface="OPPOSans M" panose="00020600040101010101" pitchFamily="18" charset="-122"/>
                      <a:cs typeface="OPPOSans M" panose="00020600040101010101" pitchFamily="18" charset="-122"/>
                    </a:rPr>
                    <a:t>95%</a:t>
                  </a:r>
                  <a:r>
                    <a:rPr lang="en-US" altLang="zh-CN" sz="1400" b="0" i="0" dirty="0">
                      <a:solidFill>
                        <a:schemeClr val="bg2"/>
                      </a:solidFill>
                      <a:effectLst/>
                      <a:latin typeface="OPPOSans M" panose="00020600040101010101" pitchFamily="18" charset="-122"/>
                      <a:ea typeface="OPPOSans M" panose="00020600040101010101" pitchFamily="18" charset="-122"/>
                      <a:cs typeface="OPPOSans M" panose="00020600040101010101" pitchFamily="18" charset="-122"/>
                    </a:rPr>
                    <a:t>▲</a:t>
                  </a:r>
                  <a:endParaRPr lang="zh-CN" altLang="en-US" dirty="0">
                    <a:solidFill>
                      <a:schemeClr val="bg2"/>
                    </a:solidFill>
                    <a:latin typeface="OPPOSans M" panose="00020600040101010101" pitchFamily="18" charset="-122"/>
                    <a:ea typeface="OPPOSans M" panose="00020600040101010101" pitchFamily="18" charset="-122"/>
                    <a:cs typeface="OPPOSans M" panose="00020600040101010101" pitchFamily="18" charset="-122"/>
                  </a:endParaRPr>
                </a:p>
              </p:txBody>
            </p:sp>
            <p:sp>
              <p:nvSpPr>
                <p:cNvPr id="46" name="文本框 45"/>
                <p:cNvSpPr txBox="1"/>
                <p:nvPr/>
              </p:nvSpPr>
              <p:spPr>
                <a:xfrm>
                  <a:off x="1080900" y="3107034"/>
                  <a:ext cx="1362835" cy="26802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>
                  <a:defPPr>
                    <a:defRPr lang="zh-CN"/>
                  </a:defPPr>
                  <a:lvl1pPr>
                    <a:defRPr sz="900">
                      <a:solidFill>
                        <a:schemeClr val="tx2"/>
                      </a:solidFill>
                      <a:latin typeface="+mn-ea"/>
                    </a:defRPr>
                  </a:lvl1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bg2"/>
                      </a:solidFill>
                      <a:effectLst/>
                      <a:uLnTx/>
                      <a:uFillTx/>
                      <a:latin typeface="OPPOSans R" panose="00020600040101010101" pitchFamily="18" charset="-122"/>
                      <a:ea typeface="OPPOSans R" panose="00020600040101010101" pitchFamily="18" charset="-122"/>
                      <a:cs typeface="OPPOSans R" panose="00020600040101010101" pitchFamily="18" charset="-122"/>
                    </a:rPr>
                    <a:t>工单处理及时率达</a:t>
                  </a:r>
                  <a:endParaRPr kumimoji="0" lang="en-US" altLang="zh-CN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2"/>
                    </a:solidFill>
                    <a:effectLst/>
                    <a:uLnTx/>
                    <a:uFillTx/>
                    <a:latin typeface="OPPOSans R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</a:endParaRPr>
                </a:p>
              </p:txBody>
            </p:sp>
          </p:grpSp>
          <p:pic>
            <p:nvPicPr>
              <p:cNvPr id="44" name="图形 43"/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957978" y="2911417"/>
                <a:ext cx="387324" cy="387324"/>
              </a:xfrm>
              <a:prstGeom prst="rect">
                <a:avLst/>
              </a:prstGeom>
            </p:spPr>
          </p:pic>
        </p:grpSp>
        <p:sp>
          <p:nvSpPr>
            <p:cNvPr id="40" name="文本框 39"/>
            <p:cNvSpPr txBox="1"/>
            <p:nvPr/>
          </p:nvSpPr>
          <p:spPr>
            <a:xfrm flipH="1">
              <a:off x="9201915" y="1754284"/>
              <a:ext cx="2342213" cy="57176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>
                <a:lnSpc>
                  <a:spcPct val="114000"/>
                </a:lnSpc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alpha val="65000"/>
                    </a:schemeClr>
                  </a:solidFill>
                  <a:effectLst/>
                  <a:uLnTx/>
                  <a:uFillTx/>
                  <a:latin typeface="OPPOSans R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</a:rPr>
                <a:t>将服务响应时间从平均 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alpha val="65000"/>
                    </a:schemeClr>
                  </a:solidFill>
                  <a:effectLst/>
                  <a:uLnTx/>
                  <a:uFillTx/>
                  <a:latin typeface="OPPOSans R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</a:rPr>
                <a:t>30 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alpha val="65000"/>
                    </a:schemeClr>
                  </a:solidFill>
                  <a:effectLst/>
                  <a:uLnTx/>
                  <a:uFillTx/>
                  <a:latin typeface="OPPOSans R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</a:rPr>
                <a:t>分钟缩短至 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alpha val="65000"/>
                    </a:schemeClr>
                  </a:solidFill>
                  <a:effectLst/>
                  <a:uLnTx/>
                  <a:uFillTx/>
                  <a:latin typeface="OPPOSans R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</a:rPr>
                <a:t>15 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alpha val="65000"/>
                    </a:schemeClr>
                  </a:solidFill>
                  <a:effectLst/>
                  <a:uLnTx/>
                  <a:uFillTx/>
                  <a:latin typeface="OPPOSans R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</a:rPr>
                <a:t>分钟，客户等待时间减少 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alpha val="65000"/>
                    </a:schemeClr>
                  </a:solidFill>
                  <a:effectLst/>
                  <a:uLnTx/>
                  <a:uFillTx/>
                  <a:latin typeface="OPPOSans R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</a:rPr>
                <a:t>50%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alpha val="65000"/>
                    </a:schemeClr>
                  </a:solidFill>
                  <a:effectLst/>
                  <a:uLnTx/>
                  <a:uFillTx/>
                  <a:latin typeface="OPPOSans R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</a:rPr>
                <a:t>，接到工单处理的及时率达到了 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alpha val="65000"/>
                    </a:schemeClr>
                  </a:solidFill>
                  <a:effectLst/>
                  <a:uLnTx/>
                  <a:uFillTx/>
                  <a:latin typeface="OPPOSans R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</a:rPr>
                <a:t>95%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65000"/>
                  </a:schemeClr>
                </a:solidFill>
                <a:effectLst/>
                <a:uLnTx/>
                <a:uFillTx/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650075" y="4585515"/>
            <a:ext cx="2374389" cy="1674717"/>
            <a:chOff x="643878" y="1780855"/>
            <a:chExt cx="2374389" cy="1674717"/>
          </a:xfrm>
        </p:grpSpPr>
        <p:grpSp>
          <p:nvGrpSpPr>
            <p:cNvPr id="48" name="组合 47"/>
            <p:cNvGrpSpPr/>
            <p:nvPr/>
          </p:nvGrpSpPr>
          <p:grpSpPr>
            <a:xfrm>
              <a:off x="643878" y="2725885"/>
              <a:ext cx="2093324" cy="729687"/>
              <a:chOff x="715656" y="2746498"/>
              <a:chExt cx="2093324" cy="729687"/>
            </a:xfrm>
          </p:grpSpPr>
          <p:sp>
            <p:nvSpPr>
              <p:cNvPr id="52" name="矩形 51"/>
              <p:cNvSpPr/>
              <p:nvPr/>
            </p:nvSpPr>
            <p:spPr>
              <a:xfrm>
                <a:off x="715656" y="2746498"/>
                <a:ext cx="2093324" cy="729687"/>
              </a:xfrm>
              <a:prstGeom prst="rect">
                <a:avLst/>
              </a:prstGeom>
              <a:gradFill>
                <a:gsLst>
                  <a:gs pos="13000">
                    <a:schemeClr val="accent3"/>
                  </a:gs>
                  <a:gs pos="100000">
                    <a:schemeClr val="accent3">
                      <a:lumMod val="60000"/>
                      <a:lumOff val="40000"/>
                    </a:schemeClr>
                  </a:gs>
                </a:gsLst>
                <a:lin ang="18900000" scaled="1"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OPPOSans R" panose="00020600040101010101" pitchFamily="18" charset="-122"/>
                  <a:ea typeface="OPPOSans R" panose="00020600040101010101" pitchFamily="18" charset="-122"/>
                </a:endParaRPr>
              </a:p>
            </p:txBody>
          </p:sp>
          <p:grpSp>
            <p:nvGrpSpPr>
              <p:cNvPr id="53" name="组合 52"/>
              <p:cNvGrpSpPr/>
              <p:nvPr/>
            </p:nvGrpSpPr>
            <p:grpSpPr>
              <a:xfrm>
                <a:off x="1347030" y="2847625"/>
                <a:ext cx="1362835" cy="527431"/>
                <a:chOff x="1080900" y="2847625"/>
                <a:chExt cx="1362835" cy="527431"/>
              </a:xfrm>
            </p:grpSpPr>
            <p:sp>
              <p:nvSpPr>
                <p:cNvPr id="55" name="文本框 54"/>
                <p:cNvSpPr txBox="1"/>
                <p:nvPr/>
              </p:nvSpPr>
              <p:spPr>
                <a:xfrm>
                  <a:off x="1263795" y="2847625"/>
                  <a:ext cx="99704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altLang="zh-CN" dirty="0">
                      <a:solidFill>
                        <a:schemeClr val="bg2"/>
                      </a:solidFill>
                      <a:latin typeface="OPPOSans M" panose="00020600040101010101" pitchFamily="18" charset="-122"/>
                      <a:ea typeface="OPPOSans M" panose="00020600040101010101" pitchFamily="18" charset="-122"/>
                      <a:cs typeface="OPPOSans M" panose="00020600040101010101" pitchFamily="18" charset="-122"/>
                    </a:rPr>
                    <a:t>18%</a:t>
                  </a:r>
                  <a:r>
                    <a:rPr lang="en-US" altLang="zh-CN" sz="1400" b="0" i="0" dirty="0">
                      <a:solidFill>
                        <a:schemeClr val="bg2"/>
                      </a:solidFill>
                      <a:effectLst/>
                      <a:latin typeface="OPPOSans M" panose="00020600040101010101" pitchFamily="18" charset="-122"/>
                      <a:ea typeface="OPPOSans M" panose="00020600040101010101" pitchFamily="18" charset="-122"/>
                      <a:cs typeface="OPPOSans M" panose="00020600040101010101" pitchFamily="18" charset="-122"/>
                    </a:rPr>
                    <a:t>▲</a:t>
                  </a:r>
                  <a:endParaRPr lang="zh-CN" altLang="en-US" dirty="0">
                    <a:solidFill>
                      <a:schemeClr val="bg2"/>
                    </a:solidFill>
                    <a:latin typeface="OPPOSans M" panose="00020600040101010101" pitchFamily="18" charset="-122"/>
                    <a:ea typeface="OPPOSans M" panose="00020600040101010101" pitchFamily="18" charset="-122"/>
                    <a:cs typeface="OPPOSans M" panose="00020600040101010101" pitchFamily="18" charset="-122"/>
                  </a:endParaRPr>
                </a:p>
              </p:txBody>
            </p:sp>
            <p:sp>
              <p:nvSpPr>
                <p:cNvPr id="56" name="文本框 55"/>
                <p:cNvSpPr txBox="1"/>
                <p:nvPr/>
              </p:nvSpPr>
              <p:spPr>
                <a:xfrm>
                  <a:off x="1080900" y="3107034"/>
                  <a:ext cx="1362835" cy="26802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>
                  <a:defPPr>
                    <a:defRPr lang="zh-CN"/>
                  </a:defPPr>
                  <a:lvl1pPr>
                    <a:defRPr sz="900">
                      <a:solidFill>
                        <a:schemeClr val="tx2"/>
                      </a:solidFill>
                      <a:latin typeface="+mn-ea"/>
                    </a:defRPr>
                  </a:lvl1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bg2"/>
                      </a:solidFill>
                      <a:effectLst/>
                      <a:uLnTx/>
                      <a:uFillTx/>
                      <a:latin typeface="OPPOSans R" panose="00020600040101010101" pitchFamily="18" charset="-122"/>
                      <a:ea typeface="OPPOSans R" panose="00020600040101010101" pitchFamily="18" charset="-122"/>
                      <a:cs typeface="OPPOSans R" panose="00020600040101010101" pitchFamily="18" charset="-122"/>
                    </a:rPr>
                    <a:t>服务覆盖范围扩大</a:t>
                  </a:r>
                  <a:endParaRPr kumimoji="0" lang="en-US" altLang="zh-CN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2"/>
                    </a:solidFill>
                    <a:effectLst/>
                    <a:uLnTx/>
                    <a:uFillTx/>
                    <a:latin typeface="OPPOSans R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</a:endParaRPr>
                </a:p>
              </p:txBody>
            </p:sp>
          </p:grpSp>
          <p:pic>
            <p:nvPicPr>
              <p:cNvPr id="54" name="图形 53"/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957978" y="2911417"/>
                <a:ext cx="387324" cy="387324"/>
              </a:xfrm>
              <a:prstGeom prst="rect">
                <a:avLst/>
              </a:prstGeom>
            </p:spPr>
          </p:pic>
        </p:grpSp>
        <p:sp>
          <p:nvSpPr>
            <p:cNvPr id="50" name="文本框 49"/>
            <p:cNvSpPr txBox="1"/>
            <p:nvPr/>
          </p:nvSpPr>
          <p:spPr>
            <a:xfrm flipH="1">
              <a:off x="676054" y="1780855"/>
              <a:ext cx="2342213" cy="57176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4000"/>
                </a:lnSpc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alpha val="65000"/>
                    </a:schemeClr>
                  </a:solidFill>
                  <a:effectLst/>
                  <a:uLnTx/>
                  <a:uFillTx/>
                  <a:latin typeface="OPPOSans R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</a:rPr>
                <a:t>合理调配服务资源，设备利用率提高了 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alpha val="65000"/>
                    </a:schemeClr>
                  </a:solidFill>
                  <a:effectLst/>
                  <a:uLnTx/>
                  <a:uFillTx/>
                  <a:latin typeface="OPPOSans R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</a:rPr>
                <a:t>25%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alpha val="65000"/>
                    </a:schemeClr>
                  </a:solidFill>
                  <a:effectLst/>
                  <a:uLnTx/>
                  <a:uFillTx/>
                  <a:latin typeface="OPPOSans R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</a:rPr>
                <a:t>，人力成本降低了 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alpha val="65000"/>
                    </a:schemeClr>
                  </a:solidFill>
                  <a:effectLst/>
                  <a:uLnTx/>
                  <a:uFillTx/>
                  <a:latin typeface="OPPOSans R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</a:rPr>
                <a:t>10%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alpha val="65000"/>
                    </a:schemeClr>
                  </a:solidFill>
                  <a:effectLst/>
                  <a:uLnTx/>
                  <a:uFillTx/>
                  <a:latin typeface="OPPOSans R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</a:rPr>
                <a:t>，同时服务覆盖范围扩大了 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alpha val="65000"/>
                    </a:schemeClr>
                  </a:solidFill>
                  <a:effectLst/>
                  <a:uLnTx/>
                  <a:uFillTx/>
                  <a:latin typeface="OPPOSans R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</a:rPr>
                <a:t>18%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65000"/>
                  </a:schemeClr>
                </a:solidFill>
                <a:effectLst/>
                <a:uLnTx/>
                <a:uFillTx/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</a:endParaRPr>
            </a:p>
          </p:txBody>
        </p:sp>
      </p:grpSp>
      <p:grpSp>
        <p:nvGrpSpPr>
          <p:cNvPr id="57" name="组合 56"/>
          <p:cNvGrpSpPr/>
          <p:nvPr/>
        </p:nvGrpSpPr>
        <p:grpSpPr>
          <a:xfrm>
            <a:off x="9187017" y="4585516"/>
            <a:ext cx="2374389" cy="1674716"/>
            <a:chOff x="9201915" y="1754284"/>
            <a:chExt cx="2374389" cy="1674716"/>
          </a:xfrm>
        </p:grpSpPr>
        <p:grpSp>
          <p:nvGrpSpPr>
            <p:cNvPr id="58" name="组合 57"/>
            <p:cNvGrpSpPr/>
            <p:nvPr/>
          </p:nvGrpSpPr>
          <p:grpSpPr>
            <a:xfrm>
              <a:off x="9482980" y="2699313"/>
              <a:ext cx="2093324" cy="729687"/>
              <a:chOff x="715656" y="2746498"/>
              <a:chExt cx="2093324" cy="729687"/>
            </a:xfrm>
          </p:grpSpPr>
          <p:sp>
            <p:nvSpPr>
              <p:cNvPr id="61" name="矩形 60"/>
              <p:cNvSpPr/>
              <p:nvPr/>
            </p:nvSpPr>
            <p:spPr>
              <a:xfrm>
                <a:off x="715656" y="2746498"/>
                <a:ext cx="2093324" cy="729687"/>
              </a:xfrm>
              <a:prstGeom prst="rect">
                <a:avLst/>
              </a:prstGeom>
              <a:gradFill>
                <a:gsLst>
                  <a:gs pos="13000">
                    <a:schemeClr val="accent3"/>
                  </a:gs>
                  <a:gs pos="100000">
                    <a:schemeClr val="accent3">
                      <a:lumMod val="60000"/>
                      <a:lumOff val="40000"/>
                    </a:schemeClr>
                  </a:gs>
                </a:gsLst>
                <a:lin ang="18900000" scaled="1"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OPPOSans R" panose="00020600040101010101" pitchFamily="18" charset="-122"/>
                  <a:ea typeface="OPPOSans R" panose="00020600040101010101" pitchFamily="18" charset="-122"/>
                </a:endParaRPr>
              </a:p>
            </p:txBody>
          </p:sp>
          <p:grpSp>
            <p:nvGrpSpPr>
              <p:cNvPr id="62" name="组合 61"/>
              <p:cNvGrpSpPr/>
              <p:nvPr/>
            </p:nvGrpSpPr>
            <p:grpSpPr>
              <a:xfrm>
                <a:off x="1347030" y="2847625"/>
                <a:ext cx="1362835" cy="527431"/>
                <a:chOff x="1080900" y="2847625"/>
                <a:chExt cx="1362835" cy="527431"/>
              </a:xfrm>
            </p:grpSpPr>
            <p:sp>
              <p:nvSpPr>
                <p:cNvPr id="64" name="文本框 63"/>
                <p:cNvSpPr txBox="1"/>
                <p:nvPr/>
              </p:nvSpPr>
              <p:spPr>
                <a:xfrm>
                  <a:off x="1263795" y="2847625"/>
                  <a:ext cx="99704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altLang="zh-CN" b="0" i="0" dirty="0">
                      <a:solidFill>
                        <a:schemeClr val="bg2"/>
                      </a:solidFill>
                      <a:effectLst/>
                      <a:latin typeface="OPPOSans M" panose="00020600040101010101" pitchFamily="18" charset="-122"/>
                      <a:ea typeface="OPPOSans M" panose="00020600040101010101" pitchFamily="18" charset="-122"/>
                      <a:cs typeface="OPPOSans M" panose="00020600040101010101" pitchFamily="18" charset="-122"/>
                    </a:rPr>
                    <a:t>13%</a:t>
                  </a:r>
                  <a:r>
                    <a:rPr lang="en-US" altLang="zh-CN" sz="1400" b="0" i="0" dirty="0">
                      <a:solidFill>
                        <a:schemeClr val="bg2"/>
                      </a:solidFill>
                      <a:effectLst/>
                      <a:latin typeface="OPPOSans M" panose="00020600040101010101" pitchFamily="18" charset="-122"/>
                      <a:ea typeface="OPPOSans M" panose="00020600040101010101" pitchFamily="18" charset="-122"/>
                      <a:cs typeface="OPPOSans M" panose="00020600040101010101" pitchFamily="18" charset="-122"/>
                    </a:rPr>
                    <a:t>▲</a:t>
                  </a:r>
                  <a:endParaRPr lang="zh-CN" altLang="en-US" dirty="0">
                    <a:solidFill>
                      <a:schemeClr val="bg2"/>
                    </a:solidFill>
                    <a:latin typeface="OPPOSans M" panose="00020600040101010101" pitchFamily="18" charset="-122"/>
                    <a:ea typeface="OPPOSans M" panose="00020600040101010101" pitchFamily="18" charset="-122"/>
                    <a:cs typeface="OPPOSans M" panose="00020600040101010101" pitchFamily="18" charset="-122"/>
                  </a:endParaRPr>
                </a:p>
              </p:txBody>
            </p:sp>
            <p:sp>
              <p:nvSpPr>
                <p:cNvPr id="65" name="文本框 64"/>
                <p:cNvSpPr txBox="1"/>
                <p:nvPr/>
              </p:nvSpPr>
              <p:spPr>
                <a:xfrm>
                  <a:off x="1080900" y="3107034"/>
                  <a:ext cx="1362835" cy="26802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>
                  <a:defPPr>
                    <a:defRPr lang="zh-CN"/>
                  </a:defPPr>
                  <a:lvl1pPr>
                    <a:defRPr sz="900">
                      <a:solidFill>
                        <a:schemeClr val="tx2"/>
                      </a:solidFill>
                      <a:latin typeface="+mn-ea"/>
                    </a:defRPr>
                  </a:lvl1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bg2"/>
                      </a:solidFill>
                      <a:effectLst/>
                      <a:uLnTx/>
                      <a:uFillTx/>
                      <a:latin typeface="OPPOSans R" panose="00020600040101010101" pitchFamily="18" charset="-122"/>
                      <a:ea typeface="OPPOSans R" panose="00020600040101010101" pitchFamily="18" charset="-122"/>
                      <a:cs typeface="OPPOSans R" panose="00020600040101010101" pitchFamily="18" charset="-122"/>
                    </a:rPr>
                    <a:t>问题解决准确率提升</a:t>
                  </a:r>
                  <a:endParaRPr kumimoji="0" lang="en-US" altLang="zh-CN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2"/>
                    </a:solidFill>
                    <a:effectLst/>
                    <a:uLnTx/>
                    <a:uFillTx/>
                    <a:latin typeface="OPPOSans R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</a:endParaRPr>
                </a:p>
              </p:txBody>
            </p:sp>
          </p:grpSp>
          <p:pic>
            <p:nvPicPr>
              <p:cNvPr id="63" name="图形 62"/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957978" y="2911417"/>
                <a:ext cx="387324" cy="387324"/>
              </a:xfrm>
              <a:prstGeom prst="rect">
                <a:avLst/>
              </a:prstGeom>
            </p:spPr>
          </p:pic>
        </p:grpSp>
        <p:sp>
          <p:nvSpPr>
            <p:cNvPr id="59" name="文本框 58"/>
            <p:cNvSpPr txBox="1"/>
            <p:nvPr/>
          </p:nvSpPr>
          <p:spPr>
            <a:xfrm flipH="1">
              <a:off x="9201915" y="1754284"/>
              <a:ext cx="2342213" cy="57176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>
                <a:lnSpc>
                  <a:spcPct val="114000"/>
                </a:lnSpc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alpha val="65000"/>
                    </a:schemeClr>
                  </a:solidFill>
                  <a:effectLst/>
                  <a:uLnTx/>
                  <a:uFillTx/>
                  <a:latin typeface="OPPOSans R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</a:rPr>
                <a:t>借助数据分析，精准定位客户需求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65000"/>
                  </a:schemeClr>
                </a:solidFill>
                <a:effectLst/>
                <a:uLnTx/>
                <a:uFillTx/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</a:endParaRPr>
            </a:p>
            <a:p>
              <a:pPr algn="r">
                <a:lnSpc>
                  <a:spcPct val="114000"/>
                </a:lnSpc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alpha val="65000"/>
                    </a:schemeClr>
                  </a:solidFill>
                  <a:effectLst/>
                  <a:uLnTx/>
                  <a:uFillTx/>
                  <a:latin typeface="OPPOSans R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</a:rPr>
                <a:t>问题解决准确率从 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alpha val="65000"/>
                    </a:schemeClr>
                  </a:solidFill>
                  <a:effectLst/>
                  <a:uLnTx/>
                  <a:uFillTx/>
                  <a:latin typeface="OPPOSans R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</a:rPr>
                <a:t>75% 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alpha val="65000"/>
                    </a:schemeClr>
                  </a:solidFill>
                  <a:effectLst/>
                  <a:uLnTx/>
                  <a:uFillTx/>
                  <a:latin typeface="OPPOSans R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</a:rPr>
                <a:t>上升到 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alpha val="65000"/>
                    </a:schemeClr>
                  </a:solidFill>
                  <a:effectLst/>
                  <a:uLnTx/>
                  <a:uFillTx/>
                  <a:latin typeface="OPPOSans R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</a:rPr>
                <a:t>88%</a:t>
              </a:r>
              <a:endParaRPr lang="en-US" altLang="zh-CN" sz="1100" dirty="0">
                <a:solidFill>
                  <a:schemeClr val="tx1">
                    <a:alpha val="65000"/>
                  </a:schemeClr>
                </a:solidFill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</a:endParaRPr>
            </a:p>
            <a:p>
              <a:pPr algn="r">
                <a:lnSpc>
                  <a:spcPct val="114000"/>
                </a:lnSpc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alpha val="65000"/>
                    </a:schemeClr>
                  </a:solidFill>
                  <a:effectLst/>
                  <a:uLnTx/>
                  <a:uFillTx/>
                  <a:latin typeface="OPPOSans R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</a:rPr>
                <a:t>二次服务的需求率下降了 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alpha val="65000"/>
                    </a:schemeClr>
                  </a:solidFill>
                  <a:effectLst/>
                  <a:uLnTx/>
                  <a:uFillTx/>
                  <a:latin typeface="OPPOSans R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</a:rPr>
                <a:t>20%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65000"/>
                  </a:schemeClr>
                </a:solidFill>
                <a:effectLst/>
                <a:uLnTx/>
                <a:uFillTx/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</a:endParaRPr>
            </a:p>
          </p:txBody>
        </p:sp>
      </p:grpSp>
      <p:sp>
        <p:nvSpPr>
          <p:cNvPr id="66" name="文本框 65"/>
          <p:cNvSpPr txBox="1"/>
          <p:nvPr/>
        </p:nvSpPr>
        <p:spPr>
          <a:xfrm flipH="1">
            <a:off x="4888837" y="2560813"/>
            <a:ext cx="2342215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dirty="0">
                <a:gradFill flip="none" rotWithShape="1">
                  <a:gsLst>
                    <a:gs pos="48000">
                      <a:schemeClr val="accent1"/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16200000" scaled="1"/>
                  <a:tileRect/>
                </a:gradFill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rPr>
              <a:t>提升</a:t>
            </a:r>
            <a:r>
              <a:rPr lang="en-US" altLang="zh-CN" sz="2400" dirty="0">
                <a:gradFill flip="none" rotWithShape="1">
                  <a:gsLst>
                    <a:gs pos="48000">
                      <a:schemeClr val="accent1"/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16200000" scaled="1"/>
                  <a:tileRect/>
                </a:gradFill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rPr>
              <a:t>20%</a:t>
            </a:r>
            <a:endParaRPr lang="en-US" altLang="zh-CN" sz="2400" dirty="0">
              <a:gradFill flip="none" rotWithShape="1">
                <a:gsLst>
                  <a:gs pos="48000">
                    <a:schemeClr val="accent1"/>
                  </a:gs>
                  <a:gs pos="100000">
                    <a:schemeClr val="accent1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  <a:latin typeface="OPPOSans H" panose="00020600040101010101" pitchFamily="18" charset="-122"/>
              <a:ea typeface="OPPOSans H" panose="00020600040101010101" pitchFamily="18" charset="-122"/>
              <a:cs typeface="OPPOSans H" panose="00020600040101010101" pitchFamily="18" charset="-122"/>
            </a:endParaRPr>
          </a:p>
        </p:txBody>
      </p:sp>
      <p:sp>
        <p:nvSpPr>
          <p:cNvPr id="73" name="文本框 72"/>
          <p:cNvSpPr txBox="1"/>
          <p:nvPr/>
        </p:nvSpPr>
        <p:spPr>
          <a:xfrm flipH="1">
            <a:off x="676828" y="1424327"/>
            <a:ext cx="2342215" cy="2770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13000">
                      <a:schemeClr val="accent1"/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18900000" scaled="1"/>
                </a:gradFill>
                <a:effectLst/>
                <a:uLnTx/>
                <a:uFillTx/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rPr>
              <a:t>客户满意度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gradFill>
                <a:gsLst>
                  <a:gs pos="13000">
                    <a:schemeClr val="accent1"/>
                  </a:gs>
                  <a:gs pos="100000">
                    <a:schemeClr val="accent1">
                      <a:lumMod val="60000"/>
                      <a:lumOff val="40000"/>
                    </a:schemeClr>
                  </a:gs>
                </a:gsLst>
                <a:lin ang="18900000" scaled="1"/>
              </a:gradFill>
              <a:effectLst/>
              <a:uLnTx/>
              <a:uFillTx/>
              <a:latin typeface="OPPOSans H" panose="00020600040101010101" pitchFamily="18" charset="-122"/>
              <a:ea typeface="OPPOSans H" panose="00020600040101010101" pitchFamily="18" charset="-122"/>
              <a:cs typeface="OPPOSans H" panose="00020600040101010101" pitchFamily="18" charset="-122"/>
            </a:endParaRPr>
          </a:p>
        </p:txBody>
      </p:sp>
      <p:sp>
        <p:nvSpPr>
          <p:cNvPr id="74" name="文本框 73"/>
          <p:cNvSpPr txBox="1"/>
          <p:nvPr/>
        </p:nvSpPr>
        <p:spPr>
          <a:xfrm flipH="1">
            <a:off x="9181594" y="1424327"/>
            <a:ext cx="234221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gradFill>
                  <a:gsLst>
                    <a:gs pos="13000">
                      <a:schemeClr val="accent1"/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18900000" scaled="1"/>
                </a:gradFill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rPr>
              <a:t>响应速度</a:t>
            </a:r>
            <a:endParaRPr lang="en-US" altLang="zh-CN" dirty="0">
              <a:gradFill>
                <a:gsLst>
                  <a:gs pos="13000">
                    <a:schemeClr val="accent1"/>
                  </a:gs>
                  <a:gs pos="100000">
                    <a:schemeClr val="accent1">
                      <a:lumMod val="60000"/>
                      <a:lumOff val="40000"/>
                    </a:schemeClr>
                  </a:gs>
                </a:gsLst>
                <a:lin ang="18900000" scaled="1"/>
              </a:gradFill>
              <a:latin typeface="OPPOSans H" panose="00020600040101010101" pitchFamily="18" charset="-122"/>
              <a:ea typeface="OPPOSans H" panose="00020600040101010101" pitchFamily="18" charset="-122"/>
              <a:cs typeface="OPPOSans H" panose="00020600040101010101" pitchFamily="18" charset="-122"/>
            </a:endParaRPr>
          </a:p>
        </p:txBody>
      </p:sp>
      <p:sp>
        <p:nvSpPr>
          <p:cNvPr id="75" name="文本框 74"/>
          <p:cNvSpPr txBox="1"/>
          <p:nvPr/>
        </p:nvSpPr>
        <p:spPr>
          <a:xfrm flipH="1">
            <a:off x="9187016" y="4255559"/>
            <a:ext cx="234221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gradFill>
                  <a:gsLst>
                    <a:gs pos="13000">
                      <a:schemeClr val="accent3"/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18900000" scaled="1"/>
                </a:gradFill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rPr>
              <a:t>服务精准度</a:t>
            </a:r>
            <a:endParaRPr lang="en-US" altLang="zh-CN" dirty="0">
              <a:gradFill>
                <a:gsLst>
                  <a:gs pos="13000">
                    <a:schemeClr val="accent3"/>
                  </a:gs>
                  <a:gs pos="100000">
                    <a:schemeClr val="accent3">
                      <a:lumMod val="60000"/>
                      <a:lumOff val="40000"/>
                    </a:schemeClr>
                  </a:gs>
                </a:gsLst>
                <a:lin ang="18900000" scaled="1"/>
              </a:gradFill>
              <a:latin typeface="OPPOSans H" panose="00020600040101010101" pitchFamily="18" charset="-122"/>
              <a:ea typeface="OPPOSans H" panose="00020600040101010101" pitchFamily="18" charset="-122"/>
              <a:cs typeface="OPPOSans H" panose="00020600040101010101" pitchFamily="18" charset="-122"/>
            </a:endParaRPr>
          </a:p>
        </p:txBody>
      </p:sp>
      <p:sp>
        <p:nvSpPr>
          <p:cNvPr id="76" name="文本框 75"/>
          <p:cNvSpPr txBox="1"/>
          <p:nvPr/>
        </p:nvSpPr>
        <p:spPr>
          <a:xfrm flipH="1">
            <a:off x="682250" y="4255558"/>
            <a:ext cx="234221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13000">
                      <a:schemeClr val="accent3"/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18900000" scaled="1"/>
                </a:gradFill>
                <a:effectLst/>
                <a:uLnTx/>
                <a:uFillTx/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rPr>
              <a:t>资源利用率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gradFill>
                <a:gsLst>
                  <a:gs pos="13000">
                    <a:schemeClr val="accent3"/>
                  </a:gs>
                  <a:gs pos="100000">
                    <a:schemeClr val="accent3">
                      <a:lumMod val="60000"/>
                      <a:lumOff val="40000"/>
                    </a:schemeClr>
                  </a:gs>
                </a:gsLst>
                <a:lin ang="18900000" scaled="1"/>
              </a:gradFill>
              <a:effectLst/>
              <a:uLnTx/>
              <a:uFillTx/>
              <a:latin typeface="OPPOSans H" panose="00020600040101010101" pitchFamily="18" charset="-122"/>
              <a:ea typeface="OPPOSans H" panose="00020600040101010101" pitchFamily="18" charset="-122"/>
              <a:cs typeface="OPPOSans H" panose="00020600040101010101" pitchFamily="18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: 圆角 10"/>
          <p:cNvSpPr/>
          <p:nvPr/>
        </p:nvSpPr>
        <p:spPr>
          <a:xfrm>
            <a:off x="1452880" y="1021334"/>
            <a:ext cx="10383519" cy="1219200"/>
          </a:xfrm>
          <a:prstGeom prst="roundRect">
            <a:avLst>
              <a:gd name="adj" fmla="val 12370"/>
            </a:avLst>
          </a:prstGeom>
          <a:solidFill>
            <a:schemeClr val="bg2"/>
          </a:solidFill>
          <a:ln>
            <a:noFill/>
          </a:ln>
          <a:effectLst>
            <a:outerShdw blurRad="241300" sx="102000" sy="102000" algn="ctr" rotWithShape="0">
              <a:schemeClr val="accent1">
                <a:lumMod val="60000"/>
                <a:lumOff val="40000"/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工作回顾与情况分析</a:t>
            </a:r>
            <a:endParaRPr lang="zh-CN" altLang="en-US" dirty="0"/>
          </a:p>
        </p:txBody>
      </p:sp>
      <p:grpSp>
        <p:nvGrpSpPr>
          <p:cNvPr id="259" name="组合 258"/>
          <p:cNvGrpSpPr/>
          <p:nvPr/>
        </p:nvGrpSpPr>
        <p:grpSpPr>
          <a:xfrm>
            <a:off x="448745" y="2427097"/>
            <a:ext cx="3503056" cy="4080255"/>
            <a:chOff x="448745" y="2427097"/>
            <a:chExt cx="3503056" cy="4080255"/>
          </a:xfrm>
        </p:grpSpPr>
        <p:grpSp>
          <p:nvGrpSpPr>
            <p:cNvPr id="370" name="组合 369"/>
            <p:cNvGrpSpPr/>
            <p:nvPr/>
          </p:nvGrpSpPr>
          <p:grpSpPr>
            <a:xfrm>
              <a:off x="448745" y="2427097"/>
              <a:ext cx="3503056" cy="4080255"/>
              <a:chOff x="448745" y="2427097"/>
              <a:chExt cx="3503056" cy="4080255"/>
            </a:xfrm>
          </p:grpSpPr>
          <p:grpSp>
            <p:nvGrpSpPr>
              <p:cNvPr id="394" name="组合 393"/>
              <p:cNvGrpSpPr/>
              <p:nvPr/>
            </p:nvGrpSpPr>
            <p:grpSpPr>
              <a:xfrm>
                <a:off x="448745" y="2427097"/>
                <a:ext cx="3503056" cy="4080255"/>
                <a:chOff x="448745" y="2357438"/>
                <a:chExt cx="3503056" cy="4080255"/>
              </a:xfrm>
            </p:grpSpPr>
            <p:sp>
              <p:nvSpPr>
                <p:cNvPr id="422" name="矩形: 圆角 421"/>
                <p:cNvSpPr/>
                <p:nvPr/>
              </p:nvSpPr>
              <p:spPr>
                <a:xfrm>
                  <a:off x="547688" y="2357438"/>
                  <a:ext cx="3404113" cy="4080255"/>
                </a:xfrm>
                <a:prstGeom prst="roundRect">
                  <a:avLst>
                    <a:gd name="adj" fmla="val 4902"/>
                  </a:avLst>
                </a:prstGeom>
                <a:gradFill>
                  <a:gsLst>
                    <a:gs pos="31000">
                      <a:schemeClr val="accent1"/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18900000" scaled="1"/>
                </a:gradFill>
                <a:ln>
                  <a:noFill/>
                </a:ln>
                <a:effectLst>
                  <a:outerShdw blurRad="63500" sx="102000" sy="102000" algn="ctr" rotWithShape="0">
                    <a:schemeClr val="accent1">
                      <a:lumMod val="60000"/>
                      <a:lumOff val="40000"/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423" name="任意多边形: 形状 422"/>
                <p:cNvSpPr/>
                <p:nvPr/>
              </p:nvSpPr>
              <p:spPr>
                <a:xfrm>
                  <a:off x="448745" y="2473652"/>
                  <a:ext cx="3503056" cy="3964041"/>
                </a:xfrm>
                <a:custGeom>
                  <a:avLst/>
                  <a:gdLst>
                    <a:gd name="connsiteX0" fmla="*/ 101269 w 3503056"/>
                    <a:gd name="connsiteY0" fmla="*/ 0 h 3964041"/>
                    <a:gd name="connsiteX1" fmla="*/ 1964586 w 3503056"/>
                    <a:gd name="connsiteY1" fmla="*/ 0 h 3964041"/>
                    <a:gd name="connsiteX2" fmla="*/ 2004004 w 3503056"/>
                    <a:gd name="connsiteY2" fmla="*/ 7958 h 3964041"/>
                    <a:gd name="connsiteX3" fmla="*/ 2009126 w 3503056"/>
                    <a:gd name="connsiteY3" fmla="*/ 11412 h 3964041"/>
                    <a:gd name="connsiteX4" fmla="*/ 2011709 w 3503056"/>
                    <a:gd name="connsiteY4" fmla="*/ 11952 h 3964041"/>
                    <a:gd name="connsiteX5" fmla="*/ 2069949 w 3503056"/>
                    <a:gd name="connsiteY5" fmla="*/ 49000 h 3964041"/>
                    <a:gd name="connsiteX6" fmla="*/ 2103887 w 3503056"/>
                    <a:gd name="connsiteY6" fmla="*/ 102824 h 3964041"/>
                    <a:gd name="connsiteX7" fmla="*/ 2108036 w 3503056"/>
                    <a:gd name="connsiteY7" fmla="*/ 109404 h 3964041"/>
                    <a:gd name="connsiteX8" fmla="*/ 2179247 w 3503056"/>
                    <a:gd name="connsiteY8" fmla="*/ 311403 h 3964041"/>
                    <a:gd name="connsiteX9" fmla="*/ 2207466 w 3503056"/>
                    <a:gd name="connsiteY9" fmla="*/ 358679 h 3964041"/>
                    <a:gd name="connsiteX10" fmla="*/ 2256902 w 3503056"/>
                    <a:gd name="connsiteY10" fmla="*/ 395382 h 3964041"/>
                    <a:gd name="connsiteX11" fmla="*/ 2315135 w 3503056"/>
                    <a:gd name="connsiteY11" fmla="*/ 410518 h 3964041"/>
                    <a:gd name="connsiteX12" fmla="*/ 2319003 w 3503056"/>
                    <a:gd name="connsiteY12" fmla="*/ 410518 h 3964041"/>
                    <a:gd name="connsiteX13" fmla="*/ 3331335 w 3503056"/>
                    <a:gd name="connsiteY13" fmla="*/ 410518 h 3964041"/>
                    <a:gd name="connsiteX14" fmla="*/ 3503054 w 3503056"/>
                    <a:gd name="connsiteY14" fmla="*/ 582238 h 3964041"/>
                    <a:gd name="connsiteX15" fmla="*/ 3503054 w 3503056"/>
                    <a:gd name="connsiteY15" fmla="*/ 1587808 h 3964041"/>
                    <a:gd name="connsiteX16" fmla="*/ 3503055 w 3503056"/>
                    <a:gd name="connsiteY16" fmla="*/ 1587808 h 3964041"/>
                    <a:gd name="connsiteX17" fmla="*/ 3503056 w 3503056"/>
                    <a:gd name="connsiteY17" fmla="*/ 3792321 h 3964041"/>
                    <a:gd name="connsiteX18" fmla="*/ 3331335 w 3503056"/>
                    <a:gd name="connsiteY18" fmla="*/ 3964040 h 3964041"/>
                    <a:gd name="connsiteX19" fmla="*/ 1964592 w 3503056"/>
                    <a:gd name="connsiteY19" fmla="*/ 3964040 h 3964041"/>
                    <a:gd name="connsiteX20" fmla="*/ 1964587 w 3503056"/>
                    <a:gd name="connsiteY20" fmla="*/ 3964041 h 3964041"/>
                    <a:gd name="connsiteX21" fmla="*/ 101269 w 3503056"/>
                    <a:gd name="connsiteY21" fmla="*/ 3964041 h 3964041"/>
                    <a:gd name="connsiteX22" fmla="*/ 2 w 3503056"/>
                    <a:gd name="connsiteY22" fmla="*/ 3862773 h 3964041"/>
                    <a:gd name="connsiteX23" fmla="*/ 1 w 3503056"/>
                    <a:gd name="connsiteY23" fmla="*/ 1587809 h 3964041"/>
                    <a:gd name="connsiteX24" fmla="*/ 0 w 3503056"/>
                    <a:gd name="connsiteY24" fmla="*/ 1587809 h 3964041"/>
                    <a:gd name="connsiteX25" fmla="*/ 0 w 3503056"/>
                    <a:gd name="connsiteY25" fmla="*/ 101268 h 3964041"/>
                    <a:gd name="connsiteX26" fmla="*/ 101269 w 3503056"/>
                    <a:gd name="connsiteY26" fmla="*/ 0 h 39640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3503056" h="3964041">
                      <a:moveTo>
                        <a:pt x="101269" y="0"/>
                      </a:moveTo>
                      <a:lnTo>
                        <a:pt x="1964586" y="0"/>
                      </a:lnTo>
                      <a:cubicBezTo>
                        <a:pt x="1978568" y="0"/>
                        <a:pt x="1991888" y="2834"/>
                        <a:pt x="2004004" y="7958"/>
                      </a:cubicBezTo>
                      <a:lnTo>
                        <a:pt x="2009126" y="11412"/>
                      </a:lnTo>
                      <a:lnTo>
                        <a:pt x="2011709" y="11952"/>
                      </a:lnTo>
                      <a:cubicBezTo>
                        <a:pt x="2033439" y="19910"/>
                        <a:pt x="2053373" y="32508"/>
                        <a:pt x="2069949" y="49000"/>
                      </a:cubicBezTo>
                      <a:lnTo>
                        <a:pt x="2103887" y="102824"/>
                      </a:lnTo>
                      <a:lnTo>
                        <a:pt x="2108036" y="109404"/>
                      </a:lnTo>
                      <a:lnTo>
                        <a:pt x="2179247" y="311403"/>
                      </a:lnTo>
                      <a:lnTo>
                        <a:pt x="2207466" y="358679"/>
                      </a:lnTo>
                      <a:cubicBezTo>
                        <a:pt x="2221520" y="374099"/>
                        <a:pt x="2238365" y="386509"/>
                        <a:pt x="2256902" y="395382"/>
                      </a:cubicBezTo>
                      <a:lnTo>
                        <a:pt x="2315135" y="410518"/>
                      </a:lnTo>
                      <a:lnTo>
                        <a:pt x="2319003" y="410518"/>
                      </a:lnTo>
                      <a:lnTo>
                        <a:pt x="3331335" y="410518"/>
                      </a:lnTo>
                      <a:cubicBezTo>
                        <a:pt x="3426172" y="410518"/>
                        <a:pt x="3503054" y="487401"/>
                        <a:pt x="3503054" y="582238"/>
                      </a:cubicBezTo>
                      <a:lnTo>
                        <a:pt x="3503054" y="1587808"/>
                      </a:lnTo>
                      <a:lnTo>
                        <a:pt x="3503055" y="1587808"/>
                      </a:lnTo>
                      <a:lnTo>
                        <a:pt x="3503056" y="3792321"/>
                      </a:lnTo>
                      <a:cubicBezTo>
                        <a:pt x="3503056" y="3887158"/>
                        <a:pt x="3426174" y="3964040"/>
                        <a:pt x="3331335" y="3964040"/>
                      </a:cubicBezTo>
                      <a:lnTo>
                        <a:pt x="1964592" y="3964040"/>
                      </a:lnTo>
                      <a:lnTo>
                        <a:pt x="1964587" y="3964041"/>
                      </a:lnTo>
                      <a:lnTo>
                        <a:pt x="101269" y="3964041"/>
                      </a:lnTo>
                      <a:cubicBezTo>
                        <a:pt x="45340" y="3964041"/>
                        <a:pt x="2" y="3918702"/>
                        <a:pt x="2" y="3862773"/>
                      </a:cubicBezTo>
                      <a:lnTo>
                        <a:pt x="1" y="1587809"/>
                      </a:lnTo>
                      <a:lnTo>
                        <a:pt x="0" y="1587809"/>
                      </a:lnTo>
                      <a:lnTo>
                        <a:pt x="0" y="101268"/>
                      </a:lnTo>
                      <a:cubicBezTo>
                        <a:pt x="0" y="45339"/>
                        <a:pt x="45339" y="0"/>
                        <a:pt x="101269" y="0"/>
                      </a:cubicBezTo>
                      <a:close/>
                    </a:path>
                  </a:pathLst>
                </a:custGeom>
                <a:solidFill>
                  <a:schemeClr val="bg2"/>
                </a:solidFill>
                <a:ln>
                  <a:noFill/>
                </a:ln>
                <a:effectLst>
                  <a:outerShdw blurRad="241300" sx="102000" sy="102000" algn="ctr" rotWithShape="0">
                    <a:schemeClr val="accent1">
                      <a:lumMod val="60000"/>
                      <a:lumOff val="40000"/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kumimoji="1" lang="zh-CN" altLang="en-US" dirty="0"/>
                </a:p>
              </p:txBody>
            </p:sp>
          </p:grpSp>
          <p:sp>
            <p:nvSpPr>
              <p:cNvPr id="395" name="标题 1"/>
              <p:cNvSpPr txBox="1"/>
              <p:nvPr/>
            </p:nvSpPr>
            <p:spPr>
              <a:xfrm>
                <a:off x="735076" y="2666329"/>
                <a:ext cx="1843888" cy="282193"/>
              </a:xfrm>
              <a:prstGeom prst="rect">
                <a:avLst/>
              </a:prstGeom>
              <a:noFill/>
            </p:spPr>
            <p:txBody>
              <a:bodyPr vert="horz" wrap="square" lIns="0" tIns="0" rIns="0" bIns="0" rtlCol="0" anchor="ctr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kumimoji="1" lang="zh-CN" altLang="en-US" sz="2800" kern="1200" dirty="0">
                    <a:solidFill>
                      <a:schemeClr val="bg1">
                        <a:lumMod val="90000"/>
                        <a:lumOff val="10000"/>
                      </a:schemeClr>
                    </a:solidFill>
                    <a:latin typeface="OPPOSans H" panose="00020600040101010101" pitchFamily="18" charset="-122"/>
                    <a:ea typeface="OPPOSans H" panose="00020600040101010101" pitchFamily="18" charset="-122"/>
                    <a:cs typeface="OPPOSans H" panose="00020600040101010101" pitchFamily="18" charset="-122"/>
                  </a:defRPr>
                </a:lvl1pPr>
              </a:lstStyle>
              <a:p>
                <a:pPr>
                  <a:buClr>
                    <a:schemeClr val="accent1"/>
                  </a:buClr>
                </a:pPr>
                <a:r>
                  <a:rPr lang="zh-CN" altLang="en-US" sz="2000" dirty="0">
                    <a:gradFill flip="none" rotWithShape="1">
                      <a:gsLst>
                        <a:gs pos="11000">
                          <a:schemeClr val="accent1"/>
                        </a:gs>
                        <a:gs pos="92000">
                          <a:schemeClr val="accent1">
                            <a:lumMod val="60000"/>
                            <a:lumOff val="40000"/>
                          </a:schemeClr>
                        </a:gs>
                      </a:gsLst>
                      <a:lin ang="18900000" scaled="1"/>
                      <a:tileRect/>
                    </a:gradFill>
                  </a:rPr>
                  <a:t>核心工作成果</a:t>
                </a:r>
                <a:endParaRPr lang="zh-CN" altLang="en-US" sz="2000" dirty="0">
                  <a:gradFill flip="none" rotWithShape="1">
                    <a:gsLst>
                      <a:gs pos="11000">
                        <a:schemeClr val="accent1"/>
                      </a:gs>
                      <a:gs pos="92000">
                        <a:schemeClr val="accent1">
                          <a:lumMod val="60000"/>
                          <a:lumOff val="40000"/>
                        </a:schemeClr>
                      </a:gs>
                    </a:gsLst>
                    <a:lin ang="18900000" scaled="1"/>
                    <a:tileRect/>
                  </a:gradFill>
                </a:endParaRPr>
              </a:p>
            </p:txBody>
          </p:sp>
          <p:grpSp>
            <p:nvGrpSpPr>
              <p:cNvPr id="396" name="组合 395"/>
              <p:cNvGrpSpPr/>
              <p:nvPr/>
            </p:nvGrpSpPr>
            <p:grpSpPr>
              <a:xfrm>
                <a:off x="745331" y="2979103"/>
                <a:ext cx="1767325" cy="45719"/>
                <a:chOff x="745331" y="2979103"/>
                <a:chExt cx="1767325" cy="45719"/>
              </a:xfrm>
            </p:grpSpPr>
            <p:grpSp>
              <p:nvGrpSpPr>
                <p:cNvPr id="398" name="组合 397"/>
                <p:cNvGrpSpPr/>
                <p:nvPr/>
              </p:nvGrpSpPr>
              <p:grpSpPr>
                <a:xfrm>
                  <a:off x="1215987" y="2979103"/>
                  <a:ext cx="1296669" cy="45719"/>
                  <a:chOff x="1217178" y="2950528"/>
                  <a:chExt cx="1296669" cy="45719"/>
                </a:xfrm>
                <a:solidFill>
                  <a:schemeClr val="accent1">
                    <a:lumMod val="60000"/>
                    <a:lumOff val="40000"/>
                  </a:schemeClr>
                </a:solidFill>
              </p:grpSpPr>
              <p:sp>
                <p:nvSpPr>
                  <p:cNvPr id="400" name="平行四边形 399"/>
                  <p:cNvSpPr/>
                  <p:nvPr/>
                </p:nvSpPr>
                <p:spPr>
                  <a:xfrm>
                    <a:off x="1217178" y="2950528"/>
                    <a:ext cx="45719" cy="45719"/>
                  </a:xfrm>
                  <a:prstGeom prst="parallelogram">
                    <a:avLst>
                      <a:gd name="adj" fmla="val 31945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01" name="平行四边形 400"/>
                  <p:cNvSpPr/>
                  <p:nvPr/>
                </p:nvSpPr>
                <p:spPr>
                  <a:xfrm>
                    <a:off x="1276747" y="2950528"/>
                    <a:ext cx="45719" cy="45719"/>
                  </a:xfrm>
                  <a:prstGeom prst="parallelogram">
                    <a:avLst>
                      <a:gd name="adj" fmla="val 31945"/>
                    </a:avLst>
                  </a:prstGeom>
                  <a:grpFill/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02" name="平行四边形 401"/>
                  <p:cNvSpPr/>
                  <p:nvPr/>
                </p:nvSpPr>
                <p:spPr>
                  <a:xfrm>
                    <a:off x="1336316" y="2950528"/>
                    <a:ext cx="45719" cy="45719"/>
                  </a:xfrm>
                  <a:prstGeom prst="parallelogram">
                    <a:avLst>
                      <a:gd name="adj" fmla="val 31945"/>
                    </a:avLst>
                  </a:prstGeom>
                  <a:grpFill/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03" name="平行四边形 402"/>
                  <p:cNvSpPr/>
                  <p:nvPr/>
                </p:nvSpPr>
                <p:spPr>
                  <a:xfrm>
                    <a:off x="1395885" y="2950528"/>
                    <a:ext cx="45719" cy="45719"/>
                  </a:xfrm>
                  <a:prstGeom prst="parallelogram">
                    <a:avLst>
                      <a:gd name="adj" fmla="val 31945"/>
                    </a:avLst>
                  </a:prstGeom>
                  <a:grpFill/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04" name="平行四边形 403"/>
                  <p:cNvSpPr/>
                  <p:nvPr/>
                </p:nvSpPr>
                <p:spPr>
                  <a:xfrm>
                    <a:off x="1455454" y="2950528"/>
                    <a:ext cx="45719" cy="45719"/>
                  </a:xfrm>
                  <a:prstGeom prst="parallelogram">
                    <a:avLst>
                      <a:gd name="adj" fmla="val 31945"/>
                    </a:avLst>
                  </a:prstGeom>
                  <a:grpFill/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05" name="平行四边形 404"/>
                  <p:cNvSpPr/>
                  <p:nvPr/>
                </p:nvSpPr>
                <p:spPr>
                  <a:xfrm>
                    <a:off x="1515023" y="2950528"/>
                    <a:ext cx="45719" cy="45719"/>
                  </a:xfrm>
                  <a:prstGeom prst="parallelogram">
                    <a:avLst>
                      <a:gd name="adj" fmla="val 31945"/>
                    </a:avLst>
                  </a:prstGeom>
                  <a:grpFill/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06" name="平行四边形 405"/>
                  <p:cNvSpPr/>
                  <p:nvPr/>
                </p:nvSpPr>
                <p:spPr>
                  <a:xfrm>
                    <a:off x="1574592" y="2950528"/>
                    <a:ext cx="45719" cy="45719"/>
                  </a:xfrm>
                  <a:prstGeom prst="parallelogram">
                    <a:avLst>
                      <a:gd name="adj" fmla="val 31945"/>
                    </a:avLst>
                  </a:prstGeom>
                  <a:grpFill/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07" name="平行四边形 406"/>
                  <p:cNvSpPr/>
                  <p:nvPr/>
                </p:nvSpPr>
                <p:spPr>
                  <a:xfrm>
                    <a:off x="1634161" y="2950528"/>
                    <a:ext cx="45719" cy="45719"/>
                  </a:xfrm>
                  <a:prstGeom prst="parallelogram">
                    <a:avLst>
                      <a:gd name="adj" fmla="val 31945"/>
                    </a:avLst>
                  </a:prstGeom>
                  <a:grpFill/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08" name="平行四边形 407"/>
                  <p:cNvSpPr/>
                  <p:nvPr/>
                </p:nvSpPr>
                <p:spPr>
                  <a:xfrm>
                    <a:off x="1693730" y="2950528"/>
                    <a:ext cx="45719" cy="45719"/>
                  </a:xfrm>
                  <a:prstGeom prst="parallelogram">
                    <a:avLst>
                      <a:gd name="adj" fmla="val 31945"/>
                    </a:avLst>
                  </a:prstGeom>
                  <a:grpFill/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09" name="平行四边形 408"/>
                  <p:cNvSpPr/>
                  <p:nvPr/>
                </p:nvSpPr>
                <p:spPr>
                  <a:xfrm>
                    <a:off x="1753299" y="2950528"/>
                    <a:ext cx="45719" cy="45719"/>
                  </a:xfrm>
                  <a:prstGeom prst="parallelogram">
                    <a:avLst>
                      <a:gd name="adj" fmla="val 31945"/>
                    </a:avLst>
                  </a:prstGeom>
                  <a:grpFill/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10" name="平行四边形 409"/>
                  <p:cNvSpPr/>
                  <p:nvPr/>
                </p:nvSpPr>
                <p:spPr>
                  <a:xfrm>
                    <a:off x="1812868" y="2950528"/>
                    <a:ext cx="45719" cy="45719"/>
                  </a:xfrm>
                  <a:prstGeom prst="parallelogram">
                    <a:avLst>
                      <a:gd name="adj" fmla="val 31945"/>
                    </a:avLst>
                  </a:prstGeom>
                  <a:grpFill/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11" name="平行四边形 410"/>
                  <p:cNvSpPr/>
                  <p:nvPr/>
                </p:nvSpPr>
                <p:spPr>
                  <a:xfrm>
                    <a:off x="1872438" y="2950528"/>
                    <a:ext cx="45719" cy="45719"/>
                  </a:xfrm>
                  <a:prstGeom prst="parallelogram">
                    <a:avLst>
                      <a:gd name="adj" fmla="val 31945"/>
                    </a:avLst>
                  </a:prstGeom>
                  <a:grpFill/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12" name="平行四边形 411"/>
                  <p:cNvSpPr/>
                  <p:nvPr/>
                </p:nvSpPr>
                <p:spPr>
                  <a:xfrm>
                    <a:off x="1932007" y="2950528"/>
                    <a:ext cx="45719" cy="45719"/>
                  </a:xfrm>
                  <a:prstGeom prst="parallelogram">
                    <a:avLst>
                      <a:gd name="adj" fmla="val 31945"/>
                    </a:avLst>
                  </a:prstGeom>
                  <a:grpFill/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13" name="平行四边形 412"/>
                  <p:cNvSpPr/>
                  <p:nvPr/>
                </p:nvSpPr>
                <p:spPr>
                  <a:xfrm>
                    <a:off x="1991576" y="2950528"/>
                    <a:ext cx="45719" cy="45719"/>
                  </a:xfrm>
                  <a:prstGeom prst="parallelogram">
                    <a:avLst>
                      <a:gd name="adj" fmla="val 31945"/>
                    </a:avLst>
                  </a:prstGeom>
                  <a:grpFill/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14" name="平行四边形 413"/>
                  <p:cNvSpPr/>
                  <p:nvPr/>
                </p:nvSpPr>
                <p:spPr>
                  <a:xfrm>
                    <a:off x="2051145" y="2950528"/>
                    <a:ext cx="45719" cy="45719"/>
                  </a:xfrm>
                  <a:prstGeom prst="parallelogram">
                    <a:avLst>
                      <a:gd name="adj" fmla="val 31945"/>
                    </a:avLst>
                  </a:prstGeom>
                  <a:grpFill/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15" name="平行四边形 414"/>
                  <p:cNvSpPr/>
                  <p:nvPr/>
                </p:nvSpPr>
                <p:spPr>
                  <a:xfrm>
                    <a:off x="2110714" y="2950528"/>
                    <a:ext cx="45719" cy="45719"/>
                  </a:xfrm>
                  <a:prstGeom prst="parallelogram">
                    <a:avLst>
                      <a:gd name="adj" fmla="val 31945"/>
                    </a:avLst>
                  </a:prstGeom>
                  <a:grpFill/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16" name="平行四边形 415"/>
                  <p:cNvSpPr/>
                  <p:nvPr/>
                </p:nvSpPr>
                <p:spPr>
                  <a:xfrm>
                    <a:off x="2170283" y="2950528"/>
                    <a:ext cx="45719" cy="45719"/>
                  </a:xfrm>
                  <a:prstGeom prst="parallelogram">
                    <a:avLst>
                      <a:gd name="adj" fmla="val 31945"/>
                    </a:avLst>
                  </a:prstGeom>
                  <a:grpFill/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17" name="平行四边形 416"/>
                  <p:cNvSpPr/>
                  <p:nvPr/>
                </p:nvSpPr>
                <p:spPr>
                  <a:xfrm>
                    <a:off x="2229852" y="2950528"/>
                    <a:ext cx="45719" cy="45719"/>
                  </a:xfrm>
                  <a:prstGeom prst="parallelogram">
                    <a:avLst>
                      <a:gd name="adj" fmla="val 31945"/>
                    </a:avLst>
                  </a:prstGeom>
                  <a:grpFill/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18" name="平行四边形 417"/>
                  <p:cNvSpPr/>
                  <p:nvPr/>
                </p:nvSpPr>
                <p:spPr>
                  <a:xfrm>
                    <a:off x="2289421" y="2950528"/>
                    <a:ext cx="45719" cy="45719"/>
                  </a:xfrm>
                  <a:prstGeom prst="parallelogram">
                    <a:avLst>
                      <a:gd name="adj" fmla="val 31945"/>
                    </a:avLst>
                  </a:prstGeom>
                  <a:grpFill/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19" name="平行四边形 418"/>
                  <p:cNvSpPr/>
                  <p:nvPr/>
                </p:nvSpPr>
                <p:spPr>
                  <a:xfrm>
                    <a:off x="2348990" y="2950528"/>
                    <a:ext cx="45719" cy="45719"/>
                  </a:xfrm>
                  <a:prstGeom prst="parallelogram">
                    <a:avLst>
                      <a:gd name="adj" fmla="val 31945"/>
                    </a:avLst>
                  </a:prstGeom>
                  <a:grpFill/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20" name="平行四边形 419"/>
                  <p:cNvSpPr/>
                  <p:nvPr/>
                </p:nvSpPr>
                <p:spPr>
                  <a:xfrm>
                    <a:off x="2408559" y="2950528"/>
                    <a:ext cx="45719" cy="45719"/>
                  </a:xfrm>
                  <a:prstGeom prst="parallelogram">
                    <a:avLst>
                      <a:gd name="adj" fmla="val 31945"/>
                    </a:avLst>
                  </a:prstGeom>
                  <a:grpFill/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21" name="平行四边形 420"/>
                  <p:cNvSpPr/>
                  <p:nvPr/>
                </p:nvSpPr>
                <p:spPr>
                  <a:xfrm>
                    <a:off x="2468128" y="2950528"/>
                    <a:ext cx="45719" cy="45719"/>
                  </a:xfrm>
                  <a:prstGeom prst="parallelogram">
                    <a:avLst>
                      <a:gd name="adj" fmla="val 31945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cxnSp>
              <p:nvCxnSpPr>
                <p:cNvPr id="399" name="直接连接符 398"/>
                <p:cNvCxnSpPr/>
                <p:nvPr/>
              </p:nvCxnSpPr>
              <p:spPr>
                <a:xfrm flipH="1">
                  <a:off x="745331" y="3002756"/>
                  <a:ext cx="454819" cy="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97" name="标题 1"/>
              <p:cNvSpPr txBox="1"/>
              <p:nvPr/>
            </p:nvSpPr>
            <p:spPr>
              <a:xfrm>
                <a:off x="2865985" y="2494002"/>
                <a:ext cx="691070" cy="507960"/>
              </a:xfrm>
              <a:prstGeom prst="rect">
                <a:avLst/>
              </a:prstGeom>
              <a:noFill/>
            </p:spPr>
            <p:txBody>
              <a:bodyPr vert="horz" wrap="square" lIns="0" tIns="0" rIns="0" bIns="0" rtlCol="0" anchor="ctr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kumimoji="1" lang="zh-CN" altLang="en-US" sz="2800" kern="1200" dirty="0">
                    <a:solidFill>
                      <a:schemeClr val="bg1">
                        <a:lumMod val="90000"/>
                        <a:lumOff val="10000"/>
                      </a:schemeClr>
                    </a:solidFill>
                    <a:latin typeface="OPPOSans H" panose="00020600040101010101" pitchFamily="18" charset="-122"/>
                    <a:ea typeface="OPPOSans H" panose="00020600040101010101" pitchFamily="18" charset="-122"/>
                    <a:cs typeface="OPPOSans H" panose="00020600040101010101" pitchFamily="18" charset="-122"/>
                  </a:defRPr>
                </a:lvl1pPr>
              </a:lstStyle>
              <a:p>
                <a:pPr algn="r">
                  <a:buClr>
                    <a:schemeClr val="accent1"/>
                  </a:buClr>
                </a:pPr>
                <a:r>
                  <a:rPr lang="en-US" altLang="zh-CN" sz="3600" dirty="0">
                    <a:gradFill flip="none" rotWithShape="1">
                      <a:gsLst>
                        <a:gs pos="68000">
                          <a:srgbClr val="FFFFFF">
                            <a:alpha val="53000"/>
                          </a:srgbClr>
                        </a:gs>
                        <a:gs pos="42000">
                          <a:schemeClr val="bg2"/>
                        </a:gs>
                        <a:gs pos="85000">
                          <a:schemeClr val="bg2">
                            <a:alpha val="0"/>
                          </a:schemeClr>
                        </a:gs>
                      </a:gsLst>
                      <a:lin ang="5400000" scaled="1"/>
                      <a:tileRect/>
                    </a:gradFill>
                  </a:rPr>
                  <a:t>01</a:t>
                </a:r>
                <a:endParaRPr lang="zh-CN" altLang="en-US" sz="3600" dirty="0">
                  <a:gradFill flip="none" rotWithShape="1">
                    <a:gsLst>
                      <a:gs pos="68000">
                        <a:srgbClr val="FFFFFF">
                          <a:alpha val="53000"/>
                        </a:srgbClr>
                      </a:gs>
                      <a:gs pos="42000">
                        <a:schemeClr val="bg2"/>
                      </a:gs>
                      <a:gs pos="85000">
                        <a:schemeClr val="bg2">
                          <a:alpha val="0"/>
                        </a:schemeClr>
                      </a:gs>
                    </a:gsLst>
                    <a:lin ang="5400000" scaled="1"/>
                    <a:tileRect/>
                  </a:gradFill>
                </a:endParaRPr>
              </a:p>
            </p:txBody>
          </p:sp>
        </p:grpSp>
        <p:sp>
          <p:nvSpPr>
            <p:cNvPr id="371" name="文本框 370"/>
            <p:cNvSpPr txBox="1"/>
            <p:nvPr/>
          </p:nvSpPr>
          <p:spPr>
            <a:xfrm>
              <a:off x="562838" y="3112646"/>
              <a:ext cx="3184807" cy="9680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kumimoji="1" b="0" kern="0">
                  <a:solidFill>
                    <a:srgbClr val="111111"/>
                  </a:solidFill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defRPr>
              </a:lvl1pPr>
            </a:lstStyle>
            <a:p>
              <a:pPr algn="just">
                <a:lnSpc>
                  <a:spcPct val="120000"/>
                </a:lnSpc>
              </a:pPr>
              <a:r>
                <a:rPr lang="zh-CN" altLang="en-US" sz="1200" dirty="0">
                  <a:solidFill>
                    <a:srgbClr val="111111">
                      <a:alpha val="61000"/>
                    </a:srgbClr>
                  </a:solidFill>
                </a:rPr>
                <a:t>全年牵头完成部门核心业务项目推进，统筹协调跨岗位协作事项，稳步达成各项量化考核指标；有效提升整体工作运转效率，超额完成年初既定基础任务目标。</a:t>
              </a:r>
              <a:endParaRPr lang="zh-CN" altLang="en-US" sz="1200" dirty="0">
                <a:solidFill>
                  <a:srgbClr val="111111">
                    <a:alpha val="61000"/>
                  </a:srgbClr>
                </a:solidFill>
              </a:endParaRPr>
            </a:p>
          </p:txBody>
        </p:sp>
        <p:grpSp>
          <p:nvGrpSpPr>
            <p:cNvPr id="372" name="组合 371"/>
            <p:cNvGrpSpPr/>
            <p:nvPr/>
          </p:nvGrpSpPr>
          <p:grpSpPr>
            <a:xfrm>
              <a:off x="641201" y="4703008"/>
              <a:ext cx="3055781" cy="1617781"/>
              <a:chOff x="641201" y="4703008"/>
              <a:chExt cx="3055781" cy="1617781"/>
            </a:xfrm>
          </p:grpSpPr>
          <p:sp>
            <p:nvSpPr>
              <p:cNvPr id="382" name="矩形: 圆角 381"/>
              <p:cNvSpPr/>
              <p:nvPr/>
            </p:nvSpPr>
            <p:spPr>
              <a:xfrm>
                <a:off x="641201" y="4703008"/>
                <a:ext cx="3055781" cy="1617781"/>
              </a:xfrm>
              <a:prstGeom prst="roundRect">
                <a:avLst>
                  <a:gd name="adj" fmla="val 3549"/>
                </a:avLst>
              </a:prstGeom>
              <a:solidFill>
                <a:schemeClr val="bg2"/>
              </a:solidFill>
              <a:ln>
                <a:noFill/>
              </a:ln>
              <a:effectLst>
                <a:innerShdw blurRad="342900">
                  <a:schemeClr val="accent1">
                    <a:lumMod val="20000"/>
                    <a:lumOff val="80000"/>
                    <a:alpha val="29000"/>
                  </a:scheme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grpSp>
            <p:nvGrpSpPr>
              <p:cNvPr id="383" name="组合 382"/>
              <p:cNvGrpSpPr/>
              <p:nvPr/>
            </p:nvGrpSpPr>
            <p:grpSpPr>
              <a:xfrm>
                <a:off x="792422" y="4796644"/>
                <a:ext cx="2844777" cy="1304302"/>
                <a:chOff x="827355" y="4742894"/>
                <a:chExt cx="2844777" cy="1304302"/>
              </a:xfrm>
            </p:grpSpPr>
            <p:grpSp>
              <p:nvGrpSpPr>
                <p:cNvPr id="384" name="组合 383"/>
                <p:cNvGrpSpPr/>
                <p:nvPr/>
              </p:nvGrpSpPr>
              <p:grpSpPr>
                <a:xfrm>
                  <a:off x="827355" y="4742894"/>
                  <a:ext cx="2844777" cy="746423"/>
                  <a:chOff x="834118" y="4752419"/>
                  <a:chExt cx="2844777" cy="746423"/>
                </a:xfrm>
              </p:grpSpPr>
              <p:sp>
                <p:nvSpPr>
                  <p:cNvPr id="390" name="7 CuadroTexto"/>
                  <p:cNvSpPr txBox="1"/>
                  <p:nvPr/>
                </p:nvSpPr>
                <p:spPr>
                  <a:xfrm>
                    <a:off x="1181559" y="4752419"/>
                    <a:ext cx="2497336" cy="746423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>
                    <a:defPPr>
                      <a:defRPr lang="zh-CN"/>
                    </a:defPPr>
                    <a:lvl1pPr>
                      <a:lnSpc>
                        <a:spcPct val="120000"/>
                      </a:lnSpc>
                      <a:defRPr sz="1000">
                        <a:solidFill>
                          <a:schemeClr val="bg2"/>
                        </a:solidFill>
                        <a:latin typeface="OPPOSans R" panose="00020600040101010101" pitchFamily="18" charset="-122"/>
                        <a:ea typeface="OPPOSans R" panose="00020600040101010101" pitchFamily="18" charset="-122"/>
                        <a:cs typeface="OPPOSans R" panose="00020600040101010101" pitchFamily="18" charset="-122"/>
                      </a:defRPr>
                    </a:lvl1pPr>
                  </a:lstStyle>
                  <a:p>
                    <a:pPr algn="just"/>
                    <a:r>
                      <a:rPr lang="zh-CN" altLang="en-US" sz="1200" dirty="0">
                        <a:solidFill>
                          <a:schemeClr val="tx1">
                            <a:alpha val="80000"/>
                          </a:schemeClr>
                        </a:solidFill>
                        <a:latin typeface="OPPOSans M" panose="00020600040101010101" pitchFamily="18" charset="-122"/>
                        <a:ea typeface="OPPOSans M" panose="00020600040101010101" pitchFamily="18" charset="-122"/>
                        <a:cs typeface="OPPOSans M" panose="00020600040101010101" pitchFamily="18" charset="-122"/>
                      </a:rPr>
                      <a:t>主导 </a:t>
                    </a:r>
                    <a:r>
                      <a:rPr lang="en-US" altLang="zh-CN" sz="1200" dirty="0">
                        <a:solidFill>
                          <a:schemeClr val="tx1">
                            <a:alpha val="80000"/>
                          </a:schemeClr>
                        </a:solidFill>
                        <a:latin typeface="OPPOSans M" panose="00020600040101010101" pitchFamily="18" charset="-122"/>
                        <a:ea typeface="OPPOSans M" panose="00020600040101010101" pitchFamily="18" charset="-122"/>
                        <a:cs typeface="OPPOSans M" panose="00020600040101010101" pitchFamily="18" charset="-122"/>
                      </a:rPr>
                      <a:t>6 </a:t>
                    </a:r>
                    <a:r>
                      <a:rPr lang="zh-CN" altLang="en-US" sz="1200" dirty="0">
                        <a:solidFill>
                          <a:schemeClr val="tx1">
                            <a:alpha val="80000"/>
                          </a:schemeClr>
                        </a:solidFill>
                        <a:latin typeface="OPPOSans M" panose="00020600040101010101" pitchFamily="18" charset="-122"/>
                        <a:ea typeface="OPPOSans M" panose="00020600040101010101" pitchFamily="18" charset="-122"/>
                        <a:cs typeface="OPPOSans M" panose="00020600040101010101" pitchFamily="18" charset="-122"/>
                      </a:rPr>
                      <a:t>项常规业务专项落地，按时完成交付无延期，核心数据同比提升 </a:t>
                    </a:r>
                    <a:r>
                      <a:rPr lang="en-US" altLang="zh-CN" sz="1200" dirty="0">
                        <a:solidFill>
                          <a:schemeClr val="tx1">
                            <a:alpha val="80000"/>
                          </a:schemeClr>
                        </a:solidFill>
                        <a:latin typeface="OPPOSans M" panose="00020600040101010101" pitchFamily="18" charset="-122"/>
                        <a:ea typeface="OPPOSans M" panose="00020600040101010101" pitchFamily="18" charset="-122"/>
                        <a:cs typeface="OPPOSans M" panose="00020600040101010101" pitchFamily="18" charset="-122"/>
                      </a:rPr>
                      <a:t>18%</a:t>
                    </a:r>
                    <a:endParaRPr lang="zh-CN" altLang="en-US" sz="1200" dirty="0">
                      <a:solidFill>
                        <a:schemeClr val="tx1">
                          <a:alpha val="80000"/>
                        </a:schemeClr>
                      </a:solidFill>
                      <a:latin typeface="OPPOSans M" panose="00020600040101010101" pitchFamily="18" charset="-122"/>
                      <a:ea typeface="OPPOSans M" panose="00020600040101010101" pitchFamily="18" charset="-122"/>
                      <a:cs typeface="OPPOSans M" panose="00020600040101010101" pitchFamily="18" charset="-122"/>
                    </a:endParaRPr>
                  </a:p>
                </p:txBody>
              </p:sp>
              <p:grpSp>
                <p:nvGrpSpPr>
                  <p:cNvPr id="391" name="组合 390"/>
                  <p:cNvGrpSpPr/>
                  <p:nvPr/>
                </p:nvGrpSpPr>
                <p:grpSpPr>
                  <a:xfrm>
                    <a:off x="834118" y="4961478"/>
                    <a:ext cx="359118" cy="359118"/>
                    <a:chOff x="834118" y="4961478"/>
                    <a:chExt cx="359118" cy="359118"/>
                  </a:xfrm>
                </p:grpSpPr>
                <p:sp>
                  <p:nvSpPr>
                    <p:cNvPr id="392" name="椭圆 391"/>
                    <p:cNvSpPr/>
                    <p:nvPr/>
                  </p:nvSpPr>
                  <p:spPr>
                    <a:xfrm>
                      <a:off x="834118" y="4961478"/>
                      <a:ext cx="359118" cy="359118"/>
                    </a:xfrm>
                    <a:prstGeom prst="ellipse">
                      <a:avLst/>
                    </a:prstGeom>
                    <a:gradFill flip="none" rotWithShape="1">
                      <a:gsLst>
                        <a:gs pos="15000">
                          <a:schemeClr val="accent1"/>
                        </a:gs>
                        <a:gs pos="100000">
                          <a:schemeClr val="accent1">
                            <a:lumMod val="60000"/>
                            <a:lumOff val="40000"/>
                          </a:schemeClr>
                        </a:gs>
                      </a:gsLst>
                      <a:lin ang="18900000" scaled="1"/>
                      <a:tileRect/>
                    </a:gra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CN" altLang="en-US"/>
                    </a:p>
                  </p:txBody>
                </p:sp>
                <p:pic>
                  <p:nvPicPr>
                    <p:cNvPr id="393" name="图形 392"/>
                    <p:cNvPicPr>
                      <a:picLocks noChangeAspect="1"/>
                    </p:cNvPicPr>
                    <p:nvPr/>
                  </p:nvPicPr>
                  <p:blipFill>
                    <a:blip r:embed="rId1">
                      <a:extLst>
                        <a:ext uri="{96DAC541-7B7A-43D3-8B79-37D633B846F1}">
                          <asvg:svgBlip xmlns:asvg="http://schemas.microsoft.com/office/drawing/2016/SVG/main" r:embed="rId2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900649" y="5022939"/>
                      <a:ext cx="226056" cy="226056"/>
                    </a:xfrm>
                    <a:prstGeom prst="rect">
                      <a:avLst/>
                    </a:prstGeom>
                  </p:spPr>
                </p:pic>
              </p:grpSp>
            </p:grpSp>
            <p:grpSp>
              <p:nvGrpSpPr>
                <p:cNvPr id="385" name="组合 384"/>
                <p:cNvGrpSpPr/>
                <p:nvPr/>
              </p:nvGrpSpPr>
              <p:grpSpPr>
                <a:xfrm>
                  <a:off x="827355" y="5522372"/>
                  <a:ext cx="2844777" cy="524824"/>
                  <a:chOff x="834118" y="4878625"/>
                  <a:chExt cx="2844777" cy="524824"/>
                </a:xfrm>
              </p:grpSpPr>
              <p:sp>
                <p:nvSpPr>
                  <p:cNvPr id="386" name="7 CuadroTexto"/>
                  <p:cNvSpPr txBox="1"/>
                  <p:nvPr/>
                </p:nvSpPr>
                <p:spPr>
                  <a:xfrm>
                    <a:off x="1181559" y="4878625"/>
                    <a:ext cx="2497336" cy="52482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>
                    <a:defPPr>
                      <a:defRPr lang="zh-CN"/>
                    </a:defPPr>
                    <a:lvl1pPr>
                      <a:lnSpc>
                        <a:spcPct val="120000"/>
                      </a:lnSpc>
                      <a:defRPr sz="1000">
                        <a:solidFill>
                          <a:schemeClr val="bg2"/>
                        </a:solidFill>
                        <a:latin typeface="OPPOSans R" panose="00020600040101010101" pitchFamily="18" charset="-122"/>
                        <a:ea typeface="OPPOSans R" panose="00020600040101010101" pitchFamily="18" charset="-122"/>
                        <a:cs typeface="OPPOSans R" panose="00020600040101010101" pitchFamily="18" charset="-122"/>
                      </a:defRPr>
                    </a:lvl1pPr>
                  </a:lstStyle>
                  <a:p>
                    <a:pPr algn="just"/>
                    <a:r>
                      <a:rPr lang="zh-CN" altLang="en-US" sz="1200" dirty="0">
                        <a:solidFill>
                          <a:schemeClr val="tx1">
                            <a:alpha val="80000"/>
                          </a:schemeClr>
                        </a:solidFill>
                        <a:latin typeface="OPPOSans M" panose="00020600040101010101" pitchFamily="18" charset="-122"/>
                        <a:ea typeface="OPPOSans M" panose="00020600040101010101" pitchFamily="18" charset="-122"/>
                        <a:cs typeface="OPPOSans M" panose="00020600040101010101" pitchFamily="18" charset="-122"/>
                      </a:rPr>
                      <a:t>梳理岗位冗余环节 </a:t>
                    </a:r>
                    <a:r>
                      <a:rPr lang="en-US" altLang="zh-CN" sz="1200" dirty="0">
                        <a:solidFill>
                          <a:schemeClr val="tx1">
                            <a:alpha val="80000"/>
                          </a:schemeClr>
                        </a:solidFill>
                        <a:latin typeface="OPPOSans M" panose="00020600040101010101" pitchFamily="18" charset="-122"/>
                        <a:ea typeface="OPPOSans M" panose="00020600040101010101" pitchFamily="18" charset="-122"/>
                        <a:cs typeface="OPPOSans M" panose="00020600040101010101" pitchFamily="18" charset="-122"/>
                      </a:rPr>
                      <a:t>11 </a:t>
                    </a:r>
                    <a:r>
                      <a:rPr lang="zh-CN" altLang="en-US" sz="1200" dirty="0">
                        <a:solidFill>
                          <a:schemeClr val="tx1">
                            <a:alpha val="80000"/>
                          </a:schemeClr>
                        </a:solidFill>
                        <a:latin typeface="OPPOSans M" panose="00020600040101010101" pitchFamily="18" charset="-122"/>
                        <a:ea typeface="OPPOSans M" panose="00020600040101010101" pitchFamily="18" charset="-122"/>
                        <a:cs typeface="OPPOSans M" panose="00020600040101010101" pitchFamily="18" charset="-122"/>
                      </a:rPr>
                      <a:t>处，制定标准化操作模板，减少重复工作量</a:t>
                    </a:r>
                    <a:endParaRPr lang="zh-CN" altLang="en-US" sz="1200" dirty="0">
                      <a:solidFill>
                        <a:schemeClr val="tx1">
                          <a:alpha val="80000"/>
                        </a:schemeClr>
                      </a:solidFill>
                      <a:latin typeface="OPPOSans M" panose="00020600040101010101" pitchFamily="18" charset="-122"/>
                      <a:ea typeface="OPPOSans M" panose="00020600040101010101" pitchFamily="18" charset="-122"/>
                      <a:cs typeface="OPPOSans M" panose="00020600040101010101" pitchFamily="18" charset="-122"/>
                    </a:endParaRPr>
                  </a:p>
                </p:txBody>
              </p:sp>
              <p:grpSp>
                <p:nvGrpSpPr>
                  <p:cNvPr id="387" name="组合 386"/>
                  <p:cNvGrpSpPr/>
                  <p:nvPr/>
                </p:nvGrpSpPr>
                <p:grpSpPr>
                  <a:xfrm>
                    <a:off x="834118" y="4961478"/>
                    <a:ext cx="359118" cy="359118"/>
                    <a:chOff x="834118" y="4961478"/>
                    <a:chExt cx="359118" cy="359118"/>
                  </a:xfrm>
                </p:grpSpPr>
                <p:sp>
                  <p:nvSpPr>
                    <p:cNvPr id="388" name="椭圆 387"/>
                    <p:cNvSpPr/>
                    <p:nvPr/>
                  </p:nvSpPr>
                  <p:spPr>
                    <a:xfrm>
                      <a:off x="834118" y="4961478"/>
                      <a:ext cx="359118" cy="359118"/>
                    </a:xfrm>
                    <a:prstGeom prst="ellipse">
                      <a:avLst/>
                    </a:prstGeom>
                    <a:gradFill flip="none" rotWithShape="1">
                      <a:gsLst>
                        <a:gs pos="15000">
                          <a:schemeClr val="accent1"/>
                        </a:gs>
                        <a:gs pos="100000">
                          <a:schemeClr val="accent1">
                            <a:lumMod val="60000"/>
                            <a:lumOff val="40000"/>
                          </a:schemeClr>
                        </a:gs>
                      </a:gsLst>
                      <a:lin ang="18900000" scaled="1"/>
                      <a:tileRect/>
                    </a:gra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CN" altLang="en-US"/>
                    </a:p>
                  </p:txBody>
                </p:sp>
                <p:pic>
                  <p:nvPicPr>
                    <p:cNvPr id="389" name="图形 388"/>
                    <p:cNvPicPr>
                      <a:picLocks noChangeAspect="1"/>
                    </p:cNvPicPr>
                    <p:nvPr/>
                  </p:nvPicPr>
                  <p:blipFill>
                    <a:blip r:embed="rId1">
                      <a:extLst>
                        <a:ext uri="{96DAC541-7B7A-43D3-8B79-37D633B846F1}">
                          <asvg:svgBlip xmlns:asvg="http://schemas.microsoft.com/office/drawing/2016/SVG/main" r:embed="rId2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900649" y="5022939"/>
                      <a:ext cx="226056" cy="226056"/>
                    </a:xfrm>
                    <a:prstGeom prst="rect">
                      <a:avLst/>
                    </a:prstGeom>
                  </p:spPr>
                </p:pic>
              </p:grpSp>
            </p:grpSp>
          </p:grpSp>
        </p:grpSp>
        <p:grpSp>
          <p:nvGrpSpPr>
            <p:cNvPr id="373" name="组合 372"/>
            <p:cNvGrpSpPr/>
            <p:nvPr/>
          </p:nvGrpSpPr>
          <p:grpSpPr>
            <a:xfrm>
              <a:off x="637472" y="4133874"/>
              <a:ext cx="3055781" cy="457820"/>
              <a:chOff x="637472" y="4172709"/>
              <a:chExt cx="3055781" cy="457820"/>
            </a:xfrm>
          </p:grpSpPr>
          <p:grpSp>
            <p:nvGrpSpPr>
              <p:cNvPr id="374" name="组合 373"/>
              <p:cNvGrpSpPr/>
              <p:nvPr/>
            </p:nvGrpSpPr>
            <p:grpSpPr>
              <a:xfrm>
                <a:off x="637472" y="4172709"/>
                <a:ext cx="1494804" cy="457820"/>
                <a:chOff x="637472" y="4172709"/>
                <a:chExt cx="1494804" cy="457820"/>
              </a:xfrm>
            </p:grpSpPr>
            <p:sp>
              <p:nvSpPr>
                <p:cNvPr id="379" name="矩形: 圆角 378"/>
                <p:cNvSpPr/>
                <p:nvPr/>
              </p:nvSpPr>
              <p:spPr>
                <a:xfrm>
                  <a:off x="637472" y="4172709"/>
                  <a:ext cx="1494804" cy="457820"/>
                </a:xfrm>
                <a:prstGeom prst="roundRect">
                  <a:avLst/>
                </a:prstGeom>
                <a:gradFill flip="none" rotWithShape="1">
                  <a:gsLst>
                    <a:gs pos="15000">
                      <a:schemeClr val="accent1"/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189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380" name="标题 1"/>
                <p:cNvSpPr txBox="1"/>
                <p:nvPr/>
              </p:nvSpPr>
              <p:spPr>
                <a:xfrm>
                  <a:off x="1054901" y="4234469"/>
                  <a:ext cx="921634" cy="369332"/>
                </a:xfrm>
                <a:prstGeom prst="rect">
                  <a:avLst/>
                </a:prstGeom>
                <a:noFill/>
              </p:spPr>
              <p:txBody>
                <a:bodyPr vert="horz" wrap="square" lIns="0" tIns="0" rIns="0" bIns="0" rtlCol="0" anchor="ctr">
                  <a:spAutoFit/>
                </a:bodyPr>
                <a:lstStyle>
                  <a:lvl1pPr algn="l" defTabSz="914400" rtl="0" eaLnBrk="1" latinLnBrk="0" hangingPunct="1">
                    <a:lnSpc>
                      <a:spcPct val="90000"/>
                    </a:lnSpc>
                    <a:spcBef>
                      <a:spcPct val="0"/>
                    </a:spcBef>
                    <a:buNone/>
                    <a:defRPr kumimoji="1" lang="zh-CN" altLang="en-US" sz="2800" kern="1200" dirty="0">
                      <a:solidFill>
                        <a:schemeClr val="bg1">
                          <a:lumMod val="90000"/>
                          <a:lumOff val="10000"/>
                        </a:schemeClr>
                      </a:solidFill>
                      <a:latin typeface="OPPOSans H" panose="00020600040101010101" pitchFamily="18" charset="-122"/>
                      <a:ea typeface="OPPOSans H" panose="00020600040101010101" pitchFamily="18" charset="-122"/>
                      <a:cs typeface="OPPOSans H" panose="00020600040101010101" pitchFamily="18" charset="-122"/>
                    </a:defRPr>
                  </a:lvl1pPr>
                </a:lstStyle>
                <a:p>
                  <a:pPr algn="ctr">
                    <a:lnSpc>
                      <a:spcPct val="100000"/>
                    </a:lnSpc>
                    <a:buClr>
                      <a:schemeClr val="accent1"/>
                    </a:buClr>
                  </a:pPr>
                  <a:r>
                    <a:rPr lang="zh-CN" altLang="en-US" sz="1200" dirty="0">
                      <a:solidFill>
                        <a:schemeClr val="bg2"/>
                      </a:solidFill>
                      <a:latin typeface="OPPOSans M" panose="00020600040101010101" pitchFamily="18" charset="-122"/>
                      <a:ea typeface="OPPOSans M" panose="00020600040101010101" pitchFamily="18" charset="-122"/>
                      <a:cs typeface="OPPOSans M" panose="00020600040101010101" pitchFamily="18" charset="-122"/>
                    </a:rPr>
                    <a:t>业务指标</a:t>
                  </a:r>
                  <a:endParaRPr lang="en-US" altLang="zh-CN" sz="1200" dirty="0">
                    <a:solidFill>
                      <a:schemeClr val="bg2"/>
                    </a:solidFill>
                    <a:latin typeface="OPPOSans M" panose="00020600040101010101" pitchFamily="18" charset="-122"/>
                    <a:ea typeface="OPPOSans M" panose="00020600040101010101" pitchFamily="18" charset="-122"/>
                    <a:cs typeface="OPPOSans M" panose="00020600040101010101" pitchFamily="18" charset="-122"/>
                  </a:endParaRPr>
                </a:p>
                <a:p>
                  <a:pPr algn="ctr">
                    <a:lnSpc>
                      <a:spcPct val="100000"/>
                    </a:lnSpc>
                    <a:buClr>
                      <a:schemeClr val="accent1"/>
                    </a:buClr>
                  </a:pPr>
                  <a:r>
                    <a:rPr lang="zh-CN" altLang="en-US" sz="1200" dirty="0">
                      <a:solidFill>
                        <a:schemeClr val="bg2"/>
                      </a:solidFill>
                      <a:latin typeface="OPPOSans M" panose="00020600040101010101" pitchFamily="18" charset="-122"/>
                      <a:ea typeface="OPPOSans M" panose="00020600040101010101" pitchFamily="18" charset="-122"/>
                      <a:cs typeface="OPPOSans M" panose="00020600040101010101" pitchFamily="18" charset="-122"/>
                    </a:rPr>
                    <a:t>超额达成</a:t>
                  </a:r>
                  <a:endParaRPr lang="zh-CN" altLang="en-US" sz="1200" dirty="0">
                    <a:solidFill>
                      <a:schemeClr val="bg2"/>
                    </a:solidFill>
                    <a:latin typeface="OPPOSans M" panose="00020600040101010101" pitchFamily="18" charset="-122"/>
                    <a:ea typeface="OPPOSans M" panose="00020600040101010101" pitchFamily="18" charset="-122"/>
                    <a:cs typeface="OPPOSans M" panose="00020600040101010101" pitchFamily="18" charset="-122"/>
                  </a:endParaRPr>
                </a:p>
              </p:txBody>
            </p:sp>
            <p:pic>
              <p:nvPicPr>
                <p:cNvPr id="381" name="图形 380"/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63325" y="4270849"/>
                  <a:ext cx="271670" cy="271670"/>
                </a:xfrm>
                <a:prstGeom prst="rect">
                  <a:avLst/>
                </a:prstGeom>
              </p:spPr>
            </p:pic>
          </p:grpSp>
          <p:grpSp>
            <p:nvGrpSpPr>
              <p:cNvPr id="375" name="组合 374"/>
              <p:cNvGrpSpPr/>
              <p:nvPr/>
            </p:nvGrpSpPr>
            <p:grpSpPr>
              <a:xfrm>
                <a:off x="2198449" y="4172709"/>
                <a:ext cx="1494804" cy="457820"/>
                <a:chOff x="637472" y="4172709"/>
                <a:chExt cx="1494804" cy="457820"/>
              </a:xfrm>
            </p:grpSpPr>
            <p:sp>
              <p:nvSpPr>
                <p:cNvPr id="376" name="矩形: 圆角 375"/>
                <p:cNvSpPr/>
                <p:nvPr/>
              </p:nvSpPr>
              <p:spPr>
                <a:xfrm>
                  <a:off x="637472" y="4172709"/>
                  <a:ext cx="1494804" cy="457820"/>
                </a:xfrm>
                <a:prstGeom prst="roundRect">
                  <a:avLst/>
                </a:prstGeom>
                <a:gradFill flip="none" rotWithShape="1">
                  <a:gsLst>
                    <a:gs pos="15000">
                      <a:schemeClr val="accent1"/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189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377" name="标题 1"/>
                <p:cNvSpPr txBox="1"/>
                <p:nvPr/>
              </p:nvSpPr>
              <p:spPr>
                <a:xfrm>
                  <a:off x="1054901" y="4234468"/>
                  <a:ext cx="921634" cy="369332"/>
                </a:xfrm>
                <a:prstGeom prst="rect">
                  <a:avLst/>
                </a:prstGeom>
                <a:noFill/>
              </p:spPr>
              <p:txBody>
                <a:bodyPr vert="horz" wrap="square" lIns="0" tIns="0" rIns="0" bIns="0" rtlCol="0" anchor="ctr">
                  <a:spAutoFit/>
                </a:bodyPr>
                <a:lstStyle>
                  <a:defPPr>
                    <a:defRPr lang="zh-CN"/>
                  </a:defPPr>
                  <a:lvl1pPr algn="ctr">
                    <a:lnSpc>
                      <a:spcPct val="100000"/>
                    </a:lnSpc>
                    <a:spcBef>
                      <a:spcPct val="0"/>
                    </a:spcBef>
                    <a:buClr>
                      <a:schemeClr val="accent1"/>
                    </a:buClr>
                    <a:buNone/>
                    <a:defRPr kumimoji="1" sz="1200">
                      <a:solidFill>
                        <a:schemeClr val="bg2"/>
                      </a:solidFill>
                      <a:latin typeface="OPPOSans M" panose="00020600040101010101" pitchFamily="18" charset="-122"/>
                      <a:ea typeface="OPPOSans M" panose="00020600040101010101" pitchFamily="18" charset="-122"/>
                      <a:cs typeface="OPPOSans M" panose="00020600040101010101" pitchFamily="18" charset="-122"/>
                    </a:defRPr>
                  </a:lvl1pPr>
                </a:lstStyle>
                <a:p>
                  <a:r>
                    <a:rPr lang="zh-CN" altLang="en-US" dirty="0"/>
                    <a:t>工作流程</a:t>
                  </a:r>
                  <a:endParaRPr lang="en-US" altLang="zh-CN" dirty="0"/>
                </a:p>
                <a:p>
                  <a:r>
                    <a:rPr lang="zh-CN" altLang="en-US" dirty="0"/>
                    <a:t>优化提效</a:t>
                  </a:r>
                  <a:endParaRPr lang="zh-CN" altLang="en-US" dirty="0"/>
                </a:p>
              </p:txBody>
            </p:sp>
            <p:pic>
              <p:nvPicPr>
                <p:cNvPr id="378" name="图形 377"/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63325" y="4270849"/>
                  <a:ext cx="271670" cy="271670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3" name="组合 2"/>
          <p:cNvGrpSpPr/>
          <p:nvPr/>
        </p:nvGrpSpPr>
        <p:grpSpPr>
          <a:xfrm>
            <a:off x="4391044" y="2427097"/>
            <a:ext cx="3503056" cy="4080255"/>
            <a:chOff x="4391044" y="2427097"/>
            <a:chExt cx="3503056" cy="4080255"/>
          </a:xfrm>
        </p:grpSpPr>
        <p:grpSp>
          <p:nvGrpSpPr>
            <p:cNvPr id="340" name="组合 339"/>
            <p:cNvGrpSpPr/>
            <p:nvPr/>
          </p:nvGrpSpPr>
          <p:grpSpPr>
            <a:xfrm>
              <a:off x="4391044" y="2427097"/>
              <a:ext cx="3503056" cy="4080255"/>
              <a:chOff x="448745" y="2357438"/>
              <a:chExt cx="3503056" cy="4080255"/>
            </a:xfrm>
          </p:grpSpPr>
          <p:sp>
            <p:nvSpPr>
              <p:cNvPr id="368" name="矩形: 圆角 367"/>
              <p:cNvSpPr/>
              <p:nvPr/>
            </p:nvSpPr>
            <p:spPr>
              <a:xfrm>
                <a:off x="547688" y="2357438"/>
                <a:ext cx="3404113" cy="4080255"/>
              </a:xfrm>
              <a:prstGeom prst="roundRect">
                <a:avLst>
                  <a:gd name="adj" fmla="val 4902"/>
                </a:avLst>
              </a:prstGeom>
              <a:gradFill>
                <a:gsLst>
                  <a:gs pos="31000">
                    <a:schemeClr val="accent3"/>
                  </a:gs>
                  <a:gs pos="100000">
                    <a:schemeClr val="accent3">
                      <a:lumMod val="60000"/>
                      <a:lumOff val="40000"/>
                    </a:schemeClr>
                  </a:gs>
                </a:gsLst>
                <a:lin ang="18900000" scaled="1"/>
              </a:gradFill>
              <a:ln>
                <a:noFill/>
              </a:ln>
              <a:effectLst>
                <a:outerShdw blurRad="63500" sx="102000" sy="102000" algn="ctr" rotWithShape="0">
                  <a:schemeClr val="accent3">
                    <a:lumMod val="75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69" name="任意多边形: 形状 368"/>
              <p:cNvSpPr/>
              <p:nvPr/>
            </p:nvSpPr>
            <p:spPr>
              <a:xfrm>
                <a:off x="448745" y="2473652"/>
                <a:ext cx="3503056" cy="3964041"/>
              </a:xfrm>
              <a:custGeom>
                <a:avLst/>
                <a:gdLst>
                  <a:gd name="connsiteX0" fmla="*/ 101269 w 3503056"/>
                  <a:gd name="connsiteY0" fmla="*/ 0 h 3964041"/>
                  <a:gd name="connsiteX1" fmla="*/ 1964586 w 3503056"/>
                  <a:gd name="connsiteY1" fmla="*/ 0 h 3964041"/>
                  <a:gd name="connsiteX2" fmla="*/ 2004004 w 3503056"/>
                  <a:gd name="connsiteY2" fmla="*/ 7958 h 3964041"/>
                  <a:gd name="connsiteX3" fmla="*/ 2009126 w 3503056"/>
                  <a:gd name="connsiteY3" fmla="*/ 11412 h 3964041"/>
                  <a:gd name="connsiteX4" fmla="*/ 2011709 w 3503056"/>
                  <a:gd name="connsiteY4" fmla="*/ 11952 h 3964041"/>
                  <a:gd name="connsiteX5" fmla="*/ 2069949 w 3503056"/>
                  <a:gd name="connsiteY5" fmla="*/ 49000 h 3964041"/>
                  <a:gd name="connsiteX6" fmla="*/ 2103887 w 3503056"/>
                  <a:gd name="connsiteY6" fmla="*/ 102824 h 3964041"/>
                  <a:gd name="connsiteX7" fmla="*/ 2108036 w 3503056"/>
                  <a:gd name="connsiteY7" fmla="*/ 109404 h 3964041"/>
                  <a:gd name="connsiteX8" fmla="*/ 2179247 w 3503056"/>
                  <a:gd name="connsiteY8" fmla="*/ 311403 h 3964041"/>
                  <a:gd name="connsiteX9" fmla="*/ 2207466 w 3503056"/>
                  <a:gd name="connsiteY9" fmla="*/ 358679 h 3964041"/>
                  <a:gd name="connsiteX10" fmla="*/ 2256902 w 3503056"/>
                  <a:gd name="connsiteY10" fmla="*/ 395382 h 3964041"/>
                  <a:gd name="connsiteX11" fmla="*/ 2315135 w 3503056"/>
                  <a:gd name="connsiteY11" fmla="*/ 410518 h 3964041"/>
                  <a:gd name="connsiteX12" fmla="*/ 2319003 w 3503056"/>
                  <a:gd name="connsiteY12" fmla="*/ 410518 h 3964041"/>
                  <a:gd name="connsiteX13" fmla="*/ 3331335 w 3503056"/>
                  <a:gd name="connsiteY13" fmla="*/ 410518 h 3964041"/>
                  <a:gd name="connsiteX14" fmla="*/ 3503054 w 3503056"/>
                  <a:gd name="connsiteY14" fmla="*/ 582238 h 3964041"/>
                  <a:gd name="connsiteX15" fmla="*/ 3503054 w 3503056"/>
                  <a:gd name="connsiteY15" fmla="*/ 1587808 h 3964041"/>
                  <a:gd name="connsiteX16" fmla="*/ 3503055 w 3503056"/>
                  <a:gd name="connsiteY16" fmla="*/ 1587808 h 3964041"/>
                  <a:gd name="connsiteX17" fmla="*/ 3503056 w 3503056"/>
                  <a:gd name="connsiteY17" fmla="*/ 3792321 h 3964041"/>
                  <a:gd name="connsiteX18" fmla="*/ 3331335 w 3503056"/>
                  <a:gd name="connsiteY18" fmla="*/ 3964040 h 3964041"/>
                  <a:gd name="connsiteX19" fmla="*/ 1964592 w 3503056"/>
                  <a:gd name="connsiteY19" fmla="*/ 3964040 h 3964041"/>
                  <a:gd name="connsiteX20" fmla="*/ 1964587 w 3503056"/>
                  <a:gd name="connsiteY20" fmla="*/ 3964041 h 3964041"/>
                  <a:gd name="connsiteX21" fmla="*/ 101269 w 3503056"/>
                  <a:gd name="connsiteY21" fmla="*/ 3964041 h 3964041"/>
                  <a:gd name="connsiteX22" fmla="*/ 2 w 3503056"/>
                  <a:gd name="connsiteY22" fmla="*/ 3862773 h 3964041"/>
                  <a:gd name="connsiteX23" fmla="*/ 1 w 3503056"/>
                  <a:gd name="connsiteY23" fmla="*/ 1587809 h 3964041"/>
                  <a:gd name="connsiteX24" fmla="*/ 0 w 3503056"/>
                  <a:gd name="connsiteY24" fmla="*/ 1587809 h 3964041"/>
                  <a:gd name="connsiteX25" fmla="*/ 0 w 3503056"/>
                  <a:gd name="connsiteY25" fmla="*/ 101268 h 3964041"/>
                  <a:gd name="connsiteX26" fmla="*/ 101269 w 3503056"/>
                  <a:gd name="connsiteY26" fmla="*/ 0 h 39640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3503056" h="3964041">
                    <a:moveTo>
                      <a:pt x="101269" y="0"/>
                    </a:moveTo>
                    <a:lnTo>
                      <a:pt x="1964586" y="0"/>
                    </a:lnTo>
                    <a:cubicBezTo>
                      <a:pt x="1978568" y="0"/>
                      <a:pt x="1991888" y="2834"/>
                      <a:pt x="2004004" y="7958"/>
                    </a:cubicBezTo>
                    <a:lnTo>
                      <a:pt x="2009126" y="11412"/>
                    </a:lnTo>
                    <a:lnTo>
                      <a:pt x="2011709" y="11952"/>
                    </a:lnTo>
                    <a:cubicBezTo>
                      <a:pt x="2033439" y="19910"/>
                      <a:pt x="2053373" y="32508"/>
                      <a:pt x="2069949" y="49000"/>
                    </a:cubicBezTo>
                    <a:lnTo>
                      <a:pt x="2103887" y="102824"/>
                    </a:lnTo>
                    <a:lnTo>
                      <a:pt x="2108036" y="109404"/>
                    </a:lnTo>
                    <a:lnTo>
                      <a:pt x="2179247" y="311403"/>
                    </a:lnTo>
                    <a:lnTo>
                      <a:pt x="2207466" y="358679"/>
                    </a:lnTo>
                    <a:cubicBezTo>
                      <a:pt x="2221520" y="374099"/>
                      <a:pt x="2238365" y="386509"/>
                      <a:pt x="2256902" y="395382"/>
                    </a:cubicBezTo>
                    <a:lnTo>
                      <a:pt x="2315135" y="410518"/>
                    </a:lnTo>
                    <a:lnTo>
                      <a:pt x="2319003" y="410518"/>
                    </a:lnTo>
                    <a:lnTo>
                      <a:pt x="3331335" y="410518"/>
                    </a:lnTo>
                    <a:cubicBezTo>
                      <a:pt x="3426172" y="410518"/>
                      <a:pt x="3503054" y="487401"/>
                      <a:pt x="3503054" y="582238"/>
                    </a:cubicBezTo>
                    <a:lnTo>
                      <a:pt x="3503054" y="1587808"/>
                    </a:lnTo>
                    <a:lnTo>
                      <a:pt x="3503055" y="1587808"/>
                    </a:lnTo>
                    <a:lnTo>
                      <a:pt x="3503056" y="3792321"/>
                    </a:lnTo>
                    <a:cubicBezTo>
                      <a:pt x="3503056" y="3887158"/>
                      <a:pt x="3426174" y="3964040"/>
                      <a:pt x="3331335" y="3964040"/>
                    </a:cubicBezTo>
                    <a:lnTo>
                      <a:pt x="1964592" y="3964040"/>
                    </a:lnTo>
                    <a:lnTo>
                      <a:pt x="1964587" y="3964041"/>
                    </a:lnTo>
                    <a:lnTo>
                      <a:pt x="101269" y="3964041"/>
                    </a:lnTo>
                    <a:cubicBezTo>
                      <a:pt x="45340" y="3964041"/>
                      <a:pt x="2" y="3918702"/>
                      <a:pt x="2" y="3862773"/>
                    </a:cubicBezTo>
                    <a:lnTo>
                      <a:pt x="1" y="1587809"/>
                    </a:lnTo>
                    <a:lnTo>
                      <a:pt x="0" y="1587809"/>
                    </a:lnTo>
                    <a:lnTo>
                      <a:pt x="0" y="101268"/>
                    </a:lnTo>
                    <a:cubicBezTo>
                      <a:pt x="0" y="45339"/>
                      <a:pt x="45339" y="0"/>
                      <a:pt x="101269" y="0"/>
                    </a:cubicBez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ffectLst>
                <a:outerShdw blurRad="241300" sx="102000" sy="102000" algn="ctr" rotWithShape="0">
                  <a:schemeClr val="accent3">
                    <a:lumMod val="60000"/>
                    <a:lumOff val="40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zh-CN" altLang="en-US" dirty="0"/>
              </a:p>
            </p:txBody>
          </p:sp>
        </p:grpSp>
        <p:sp>
          <p:nvSpPr>
            <p:cNvPr id="341" name="标题 1"/>
            <p:cNvSpPr txBox="1"/>
            <p:nvPr/>
          </p:nvSpPr>
          <p:spPr>
            <a:xfrm>
              <a:off x="4677375" y="2666329"/>
              <a:ext cx="1843888" cy="282193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sp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kumimoji="1" lang="zh-CN" altLang="en-US" sz="2800" kern="1200" dirty="0">
                  <a:solidFill>
                    <a:schemeClr val="bg1">
                      <a:lumMod val="90000"/>
                      <a:lumOff val="10000"/>
                    </a:schemeClr>
                  </a:solidFill>
                  <a:latin typeface="OPPOSans H" panose="00020600040101010101" pitchFamily="18" charset="-122"/>
                  <a:ea typeface="OPPOSans H" panose="00020600040101010101" pitchFamily="18" charset="-122"/>
                  <a:cs typeface="OPPOSans H" panose="00020600040101010101" pitchFamily="18" charset="-122"/>
                </a:defRPr>
              </a:lvl1pPr>
            </a:lstStyle>
            <a:p>
              <a:pPr>
                <a:buClr>
                  <a:schemeClr val="accent1"/>
                </a:buClr>
              </a:pPr>
              <a:r>
                <a:rPr lang="zh-CN" altLang="en-US" sz="2000" dirty="0">
                  <a:gradFill flip="none" rotWithShape="1">
                    <a:gsLst>
                      <a:gs pos="11000">
                        <a:schemeClr val="accent3"/>
                      </a:gs>
                      <a:gs pos="92000">
                        <a:schemeClr val="accent3">
                          <a:lumMod val="60000"/>
                          <a:lumOff val="40000"/>
                        </a:schemeClr>
                      </a:gs>
                    </a:gsLst>
                    <a:lin ang="18900000" scaled="1"/>
                    <a:tileRect/>
                  </a:gradFill>
                </a:rPr>
                <a:t>能力成长突破</a:t>
              </a:r>
              <a:endParaRPr lang="zh-CN" altLang="en-US" sz="2000" dirty="0">
                <a:gradFill flip="none" rotWithShape="1">
                  <a:gsLst>
                    <a:gs pos="11000">
                      <a:schemeClr val="accent3"/>
                    </a:gs>
                    <a:gs pos="92000">
                      <a:schemeClr val="accent3">
                        <a:lumMod val="60000"/>
                        <a:lumOff val="40000"/>
                      </a:schemeClr>
                    </a:gs>
                  </a:gsLst>
                  <a:lin ang="18900000" scaled="1"/>
                  <a:tileRect/>
                </a:gradFill>
              </a:endParaRPr>
            </a:p>
          </p:txBody>
        </p:sp>
        <p:grpSp>
          <p:nvGrpSpPr>
            <p:cNvPr id="344" name="组合 343"/>
            <p:cNvGrpSpPr/>
            <p:nvPr/>
          </p:nvGrpSpPr>
          <p:grpSpPr>
            <a:xfrm>
              <a:off x="5158286" y="2979103"/>
              <a:ext cx="1296669" cy="45719"/>
              <a:chOff x="1217178" y="2950528"/>
              <a:chExt cx="1296669" cy="45719"/>
            </a:xfrm>
            <a:solidFill>
              <a:schemeClr val="accent3">
                <a:lumMod val="60000"/>
                <a:lumOff val="40000"/>
              </a:schemeClr>
            </a:solidFill>
          </p:grpSpPr>
          <p:sp>
            <p:nvSpPr>
              <p:cNvPr id="346" name="平行四边形 345"/>
              <p:cNvSpPr/>
              <p:nvPr/>
            </p:nvSpPr>
            <p:spPr>
              <a:xfrm>
                <a:off x="1217178" y="2950528"/>
                <a:ext cx="45719" cy="45719"/>
              </a:xfrm>
              <a:prstGeom prst="parallelogram">
                <a:avLst>
                  <a:gd name="adj" fmla="val 31945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47" name="平行四边形 346"/>
              <p:cNvSpPr/>
              <p:nvPr/>
            </p:nvSpPr>
            <p:spPr>
              <a:xfrm>
                <a:off x="1276747" y="2950528"/>
                <a:ext cx="45719" cy="45719"/>
              </a:xfrm>
              <a:prstGeom prst="parallelogram">
                <a:avLst>
                  <a:gd name="adj" fmla="val 31945"/>
                </a:avLst>
              </a:pr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48" name="平行四边形 347"/>
              <p:cNvSpPr/>
              <p:nvPr/>
            </p:nvSpPr>
            <p:spPr>
              <a:xfrm>
                <a:off x="1336316" y="2950528"/>
                <a:ext cx="45719" cy="45719"/>
              </a:xfrm>
              <a:prstGeom prst="parallelogram">
                <a:avLst>
                  <a:gd name="adj" fmla="val 31945"/>
                </a:avLst>
              </a:pr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49" name="平行四边形 348"/>
              <p:cNvSpPr/>
              <p:nvPr/>
            </p:nvSpPr>
            <p:spPr>
              <a:xfrm>
                <a:off x="1395885" y="2950528"/>
                <a:ext cx="45719" cy="45719"/>
              </a:xfrm>
              <a:prstGeom prst="parallelogram">
                <a:avLst>
                  <a:gd name="adj" fmla="val 31945"/>
                </a:avLst>
              </a:pr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50" name="平行四边形 349"/>
              <p:cNvSpPr/>
              <p:nvPr/>
            </p:nvSpPr>
            <p:spPr>
              <a:xfrm>
                <a:off x="1455454" y="2950528"/>
                <a:ext cx="45719" cy="45719"/>
              </a:xfrm>
              <a:prstGeom prst="parallelogram">
                <a:avLst>
                  <a:gd name="adj" fmla="val 31945"/>
                </a:avLst>
              </a:pr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51" name="平行四边形 350"/>
              <p:cNvSpPr/>
              <p:nvPr/>
            </p:nvSpPr>
            <p:spPr>
              <a:xfrm>
                <a:off x="1515023" y="2950528"/>
                <a:ext cx="45719" cy="45719"/>
              </a:xfrm>
              <a:prstGeom prst="parallelogram">
                <a:avLst>
                  <a:gd name="adj" fmla="val 31945"/>
                </a:avLst>
              </a:pr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52" name="平行四边形 351"/>
              <p:cNvSpPr/>
              <p:nvPr/>
            </p:nvSpPr>
            <p:spPr>
              <a:xfrm>
                <a:off x="1574592" y="2950528"/>
                <a:ext cx="45719" cy="45719"/>
              </a:xfrm>
              <a:prstGeom prst="parallelogram">
                <a:avLst>
                  <a:gd name="adj" fmla="val 31945"/>
                </a:avLst>
              </a:pr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53" name="平行四边形 352"/>
              <p:cNvSpPr/>
              <p:nvPr/>
            </p:nvSpPr>
            <p:spPr>
              <a:xfrm>
                <a:off x="1634161" y="2950528"/>
                <a:ext cx="45719" cy="45719"/>
              </a:xfrm>
              <a:prstGeom prst="parallelogram">
                <a:avLst>
                  <a:gd name="adj" fmla="val 31945"/>
                </a:avLst>
              </a:pr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54" name="平行四边形 353"/>
              <p:cNvSpPr/>
              <p:nvPr/>
            </p:nvSpPr>
            <p:spPr>
              <a:xfrm>
                <a:off x="1693730" y="2950528"/>
                <a:ext cx="45719" cy="45719"/>
              </a:xfrm>
              <a:prstGeom prst="parallelogram">
                <a:avLst>
                  <a:gd name="adj" fmla="val 31945"/>
                </a:avLst>
              </a:pr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55" name="平行四边形 354"/>
              <p:cNvSpPr/>
              <p:nvPr/>
            </p:nvSpPr>
            <p:spPr>
              <a:xfrm>
                <a:off x="1753299" y="2950528"/>
                <a:ext cx="45719" cy="45719"/>
              </a:xfrm>
              <a:prstGeom prst="parallelogram">
                <a:avLst>
                  <a:gd name="adj" fmla="val 31945"/>
                </a:avLst>
              </a:pr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56" name="平行四边形 355"/>
              <p:cNvSpPr/>
              <p:nvPr/>
            </p:nvSpPr>
            <p:spPr>
              <a:xfrm>
                <a:off x="1812868" y="2950528"/>
                <a:ext cx="45719" cy="45719"/>
              </a:xfrm>
              <a:prstGeom prst="parallelogram">
                <a:avLst>
                  <a:gd name="adj" fmla="val 31945"/>
                </a:avLst>
              </a:pr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57" name="平行四边形 356"/>
              <p:cNvSpPr/>
              <p:nvPr/>
            </p:nvSpPr>
            <p:spPr>
              <a:xfrm>
                <a:off x="1872438" y="2950528"/>
                <a:ext cx="45719" cy="45719"/>
              </a:xfrm>
              <a:prstGeom prst="parallelogram">
                <a:avLst>
                  <a:gd name="adj" fmla="val 31945"/>
                </a:avLst>
              </a:pr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58" name="平行四边形 357"/>
              <p:cNvSpPr/>
              <p:nvPr/>
            </p:nvSpPr>
            <p:spPr>
              <a:xfrm>
                <a:off x="1932007" y="2950528"/>
                <a:ext cx="45719" cy="45719"/>
              </a:xfrm>
              <a:prstGeom prst="parallelogram">
                <a:avLst>
                  <a:gd name="adj" fmla="val 31945"/>
                </a:avLst>
              </a:pr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59" name="平行四边形 358"/>
              <p:cNvSpPr/>
              <p:nvPr/>
            </p:nvSpPr>
            <p:spPr>
              <a:xfrm>
                <a:off x="1991576" y="2950528"/>
                <a:ext cx="45719" cy="45719"/>
              </a:xfrm>
              <a:prstGeom prst="parallelogram">
                <a:avLst>
                  <a:gd name="adj" fmla="val 31945"/>
                </a:avLst>
              </a:pr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60" name="平行四边形 359"/>
              <p:cNvSpPr/>
              <p:nvPr/>
            </p:nvSpPr>
            <p:spPr>
              <a:xfrm>
                <a:off x="2051145" y="2950528"/>
                <a:ext cx="45719" cy="45719"/>
              </a:xfrm>
              <a:prstGeom prst="parallelogram">
                <a:avLst>
                  <a:gd name="adj" fmla="val 31945"/>
                </a:avLst>
              </a:pr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61" name="平行四边形 360"/>
              <p:cNvSpPr/>
              <p:nvPr/>
            </p:nvSpPr>
            <p:spPr>
              <a:xfrm>
                <a:off x="2110714" y="2950528"/>
                <a:ext cx="45719" cy="45719"/>
              </a:xfrm>
              <a:prstGeom prst="parallelogram">
                <a:avLst>
                  <a:gd name="adj" fmla="val 31945"/>
                </a:avLst>
              </a:pr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62" name="平行四边形 361"/>
              <p:cNvSpPr/>
              <p:nvPr/>
            </p:nvSpPr>
            <p:spPr>
              <a:xfrm>
                <a:off x="2170283" y="2950528"/>
                <a:ext cx="45719" cy="45719"/>
              </a:xfrm>
              <a:prstGeom prst="parallelogram">
                <a:avLst>
                  <a:gd name="adj" fmla="val 31945"/>
                </a:avLst>
              </a:pr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63" name="平行四边形 362"/>
              <p:cNvSpPr/>
              <p:nvPr/>
            </p:nvSpPr>
            <p:spPr>
              <a:xfrm>
                <a:off x="2229852" y="2950528"/>
                <a:ext cx="45719" cy="45719"/>
              </a:xfrm>
              <a:prstGeom prst="parallelogram">
                <a:avLst>
                  <a:gd name="adj" fmla="val 31945"/>
                </a:avLst>
              </a:pr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64" name="平行四边形 363"/>
              <p:cNvSpPr/>
              <p:nvPr/>
            </p:nvSpPr>
            <p:spPr>
              <a:xfrm>
                <a:off x="2289421" y="2950528"/>
                <a:ext cx="45719" cy="45719"/>
              </a:xfrm>
              <a:prstGeom prst="parallelogram">
                <a:avLst>
                  <a:gd name="adj" fmla="val 31945"/>
                </a:avLst>
              </a:pr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65" name="平行四边形 364"/>
              <p:cNvSpPr/>
              <p:nvPr/>
            </p:nvSpPr>
            <p:spPr>
              <a:xfrm>
                <a:off x="2348990" y="2950528"/>
                <a:ext cx="45719" cy="45719"/>
              </a:xfrm>
              <a:prstGeom prst="parallelogram">
                <a:avLst>
                  <a:gd name="adj" fmla="val 31945"/>
                </a:avLst>
              </a:pr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66" name="平行四边形 365"/>
              <p:cNvSpPr/>
              <p:nvPr/>
            </p:nvSpPr>
            <p:spPr>
              <a:xfrm>
                <a:off x="2408559" y="2950528"/>
                <a:ext cx="45719" cy="45719"/>
              </a:xfrm>
              <a:prstGeom prst="parallelogram">
                <a:avLst>
                  <a:gd name="adj" fmla="val 31945"/>
                </a:avLst>
              </a:pr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67" name="平行四边形 366"/>
              <p:cNvSpPr/>
              <p:nvPr/>
            </p:nvSpPr>
            <p:spPr>
              <a:xfrm>
                <a:off x="2468128" y="2950528"/>
                <a:ext cx="45719" cy="45719"/>
              </a:xfrm>
              <a:prstGeom prst="parallelogram">
                <a:avLst>
                  <a:gd name="adj" fmla="val 31945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345" name="直接连接符 344"/>
            <p:cNvCxnSpPr/>
            <p:nvPr/>
          </p:nvCxnSpPr>
          <p:spPr>
            <a:xfrm flipH="1">
              <a:off x="4687630" y="3002756"/>
              <a:ext cx="454819" cy="0"/>
            </a:xfrm>
            <a:prstGeom prst="line">
              <a:avLst/>
            </a:prstGeom>
            <a:ln w="1270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3" name="标题 1"/>
            <p:cNvSpPr txBox="1"/>
            <p:nvPr/>
          </p:nvSpPr>
          <p:spPr>
            <a:xfrm>
              <a:off x="6808284" y="2494002"/>
              <a:ext cx="691070" cy="50796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sp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kumimoji="1" lang="zh-CN" altLang="en-US" sz="2800" kern="1200" dirty="0">
                  <a:solidFill>
                    <a:schemeClr val="bg1">
                      <a:lumMod val="90000"/>
                      <a:lumOff val="10000"/>
                    </a:schemeClr>
                  </a:solidFill>
                  <a:latin typeface="OPPOSans H" panose="00020600040101010101" pitchFamily="18" charset="-122"/>
                  <a:ea typeface="OPPOSans H" panose="00020600040101010101" pitchFamily="18" charset="-122"/>
                  <a:cs typeface="OPPOSans H" panose="00020600040101010101" pitchFamily="18" charset="-122"/>
                </a:defRPr>
              </a:lvl1pPr>
            </a:lstStyle>
            <a:p>
              <a:pPr algn="r">
                <a:buClr>
                  <a:schemeClr val="accent1"/>
                </a:buClr>
              </a:pPr>
              <a:r>
                <a:rPr lang="en-US" altLang="zh-CN" sz="3600" dirty="0">
                  <a:gradFill flip="none" rotWithShape="1">
                    <a:gsLst>
                      <a:gs pos="68000">
                        <a:srgbClr val="FFFFFF">
                          <a:alpha val="53000"/>
                        </a:srgbClr>
                      </a:gs>
                      <a:gs pos="42000">
                        <a:schemeClr val="bg2"/>
                      </a:gs>
                      <a:gs pos="85000">
                        <a:schemeClr val="bg2">
                          <a:alpha val="0"/>
                        </a:schemeClr>
                      </a:gs>
                    </a:gsLst>
                    <a:lin ang="5400000" scaled="1"/>
                    <a:tileRect/>
                  </a:gradFill>
                </a:rPr>
                <a:t>02</a:t>
              </a:r>
              <a:endParaRPr lang="zh-CN" altLang="en-US" sz="3600" dirty="0">
                <a:gradFill flip="none" rotWithShape="1">
                  <a:gsLst>
                    <a:gs pos="68000">
                      <a:srgbClr val="FFFFFF">
                        <a:alpha val="53000"/>
                      </a:srgbClr>
                    </a:gs>
                    <a:gs pos="42000">
                      <a:schemeClr val="bg2"/>
                    </a:gs>
                    <a:gs pos="85000">
                      <a:schemeClr val="bg2">
                        <a:alpha val="0"/>
                      </a:schemeClr>
                    </a:gs>
                  </a:gsLst>
                  <a:lin ang="5400000" scaled="1"/>
                  <a:tileRect/>
                </a:gradFill>
              </a:endParaRPr>
            </a:p>
          </p:txBody>
        </p:sp>
        <p:sp>
          <p:nvSpPr>
            <p:cNvPr id="317" name="文本框 316"/>
            <p:cNvSpPr txBox="1"/>
            <p:nvPr/>
          </p:nvSpPr>
          <p:spPr>
            <a:xfrm>
              <a:off x="4505137" y="3112646"/>
              <a:ext cx="3184807" cy="9680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kumimoji="1" b="0" kern="0">
                  <a:solidFill>
                    <a:srgbClr val="111111"/>
                  </a:solidFill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defRPr>
              </a:lvl1pPr>
            </a:lstStyle>
            <a:p>
              <a:pPr algn="just">
                <a:lnSpc>
                  <a:spcPct val="120000"/>
                </a:lnSpc>
              </a:pPr>
              <a:r>
                <a:rPr lang="zh-CN" altLang="en-US" sz="1200" dirty="0">
                  <a:solidFill>
                    <a:srgbClr val="111111">
                      <a:alpha val="61000"/>
                    </a:srgbClr>
                  </a:solidFill>
                </a:rPr>
                <a:t>深耕岗位专业知识学习，主动参与内部培训、行业分享交流会，补齐管理、统筹类能力短板；问题处置方面积累成熟实操经验，综合履职能力显著提升。</a:t>
              </a:r>
              <a:endParaRPr lang="zh-CN" altLang="en-US" sz="1200" dirty="0">
                <a:solidFill>
                  <a:srgbClr val="111111">
                    <a:alpha val="61000"/>
                  </a:srgbClr>
                </a:solidFill>
              </a:endParaRPr>
            </a:p>
          </p:txBody>
        </p:sp>
        <p:grpSp>
          <p:nvGrpSpPr>
            <p:cNvPr id="318" name="组合 317"/>
            <p:cNvGrpSpPr/>
            <p:nvPr/>
          </p:nvGrpSpPr>
          <p:grpSpPr>
            <a:xfrm>
              <a:off x="4583500" y="4703008"/>
              <a:ext cx="3055781" cy="1617781"/>
              <a:chOff x="641201" y="4703008"/>
              <a:chExt cx="3055781" cy="1617781"/>
            </a:xfrm>
          </p:grpSpPr>
          <p:sp>
            <p:nvSpPr>
              <p:cNvPr id="328" name="矩形: 圆角 327"/>
              <p:cNvSpPr/>
              <p:nvPr/>
            </p:nvSpPr>
            <p:spPr>
              <a:xfrm>
                <a:off x="641201" y="4703008"/>
                <a:ext cx="3055781" cy="1617781"/>
              </a:xfrm>
              <a:prstGeom prst="roundRect">
                <a:avLst>
                  <a:gd name="adj" fmla="val 3549"/>
                </a:avLst>
              </a:prstGeom>
              <a:solidFill>
                <a:schemeClr val="bg2"/>
              </a:solidFill>
              <a:ln>
                <a:noFill/>
              </a:ln>
              <a:effectLst>
                <a:innerShdw blurRad="342900">
                  <a:schemeClr val="accent1">
                    <a:lumMod val="20000"/>
                    <a:lumOff val="80000"/>
                    <a:alpha val="29000"/>
                  </a:scheme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grpSp>
            <p:nvGrpSpPr>
              <p:cNvPr id="329" name="组合 328"/>
              <p:cNvGrpSpPr/>
              <p:nvPr/>
            </p:nvGrpSpPr>
            <p:grpSpPr>
              <a:xfrm>
                <a:off x="792422" y="4796644"/>
                <a:ext cx="2844777" cy="1304302"/>
                <a:chOff x="827355" y="4742894"/>
                <a:chExt cx="2844777" cy="1304302"/>
              </a:xfrm>
            </p:grpSpPr>
            <p:grpSp>
              <p:nvGrpSpPr>
                <p:cNvPr id="330" name="组合 329"/>
                <p:cNvGrpSpPr/>
                <p:nvPr/>
              </p:nvGrpSpPr>
              <p:grpSpPr>
                <a:xfrm>
                  <a:off x="827355" y="4742894"/>
                  <a:ext cx="2844777" cy="746423"/>
                  <a:chOff x="834118" y="4752419"/>
                  <a:chExt cx="2844777" cy="746423"/>
                </a:xfrm>
              </p:grpSpPr>
              <p:sp>
                <p:nvSpPr>
                  <p:cNvPr id="336" name="7 CuadroTexto"/>
                  <p:cNvSpPr txBox="1"/>
                  <p:nvPr/>
                </p:nvSpPr>
                <p:spPr>
                  <a:xfrm>
                    <a:off x="1181559" y="4752419"/>
                    <a:ext cx="2497336" cy="746423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>
                    <a:defPPr>
                      <a:defRPr lang="zh-CN"/>
                    </a:defPPr>
                    <a:lvl1pPr>
                      <a:lnSpc>
                        <a:spcPct val="120000"/>
                      </a:lnSpc>
                      <a:defRPr sz="1000">
                        <a:solidFill>
                          <a:schemeClr val="bg2"/>
                        </a:solidFill>
                        <a:latin typeface="OPPOSans R" panose="00020600040101010101" pitchFamily="18" charset="-122"/>
                        <a:ea typeface="OPPOSans R" panose="00020600040101010101" pitchFamily="18" charset="-122"/>
                        <a:cs typeface="OPPOSans R" panose="00020600040101010101" pitchFamily="18" charset="-122"/>
                      </a:defRPr>
                    </a:lvl1pPr>
                  </a:lstStyle>
                  <a:p>
                    <a:pPr algn="just"/>
                    <a:r>
                      <a:rPr lang="zh-CN" altLang="en-US" sz="1200" dirty="0">
                        <a:solidFill>
                          <a:schemeClr val="tx1">
                            <a:alpha val="80000"/>
                          </a:schemeClr>
                        </a:solidFill>
                        <a:latin typeface="OPPOSans M" panose="00020600040101010101" pitchFamily="18" charset="-122"/>
                        <a:ea typeface="OPPOSans M" panose="00020600040101010101" pitchFamily="18" charset="-122"/>
                        <a:cs typeface="OPPOSans M" panose="00020600040101010101" pitchFamily="18" charset="-122"/>
                      </a:rPr>
                      <a:t>完成 </a:t>
                    </a:r>
                    <a:r>
                      <a:rPr lang="en-US" altLang="zh-CN" sz="1200" dirty="0">
                        <a:solidFill>
                          <a:schemeClr val="tx1">
                            <a:alpha val="80000"/>
                          </a:schemeClr>
                        </a:solidFill>
                        <a:latin typeface="OPPOSans M" panose="00020600040101010101" pitchFamily="18" charset="-122"/>
                        <a:ea typeface="OPPOSans M" panose="00020600040101010101" pitchFamily="18" charset="-122"/>
                        <a:cs typeface="OPPOSans M" panose="00020600040101010101" pitchFamily="18" charset="-122"/>
                      </a:rPr>
                      <a:t>12 </a:t>
                    </a:r>
                    <a:r>
                      <a:rPr lang="zh-CN" altLang="en-US" sz="1200" dirty="0">
                        <a:solidFill>
                          <a:schemeClr val="tx1">
                            <a:alpha val="80000"/>
                          </a:schemeClr>
                        </a:solidFill>
                        <a:latin typeface="OPPOSans M" panose="00020600040101010101" pitchFamily="18" charset="-122"/>
                        <a:ea typeface="OPPOSans M" panose="00020600040101010101" pitchFamily="18" charset="-122"/>
                        <a:cs typeface="OPPOSans M" panose="00020600040101010101" pitchFamily="18" charset="-122"/>
                      </a:rPr>
                      <a:t>场专业课程学习，考取岗位相关技能证书，吃透业务全流程逻辑</a:t>
                    </a:r>
                    <a:endParaRPr lang="zh-CN" altLang="en-US" sz="1200" dirty="0">
                      <a:solidFill>
                        <a:schemeClr val="tx1">
                          <a:alpha val="80000"/>
                        </a:schemeClr>
                      </a:solidFill>
                      <a:latin typeface="OPPOSans M" panose="00020600040101010101" pitchFamily="18" charset="-122"/>
                      <a:ea typeface="OPPOSans M" panose="00020600040101010101" pitchFamily="18" charset="-122"/>
                      <a:cs typeface="OPPOSans M" panose="00020600040101010101" pitchFamily="18" charset="-122"/>
                    </a:endParaRPr>
                  </a:p>
                </p:txBody>
              </p:sp>
              <p:grpSp>
                <p:nvGrpSpPr>
                  <p:cNvPr id="337" name="组合 336"/>
                  <p:cNvGrpSpPr/>
                  <p:nvPr/>
                </p:nvGrpSpPr>
                <p:grpSpPr>
                  <a:xfrm>
                    <a:off x="834118" y="4961478"/>
                    <a:ext cx="359118" cy="359118"/>
                    <a:chOff x="834118" y="4961478"/>
                    <a:chExt cx="359118" cy="359118"/>
                  </a:xfrm>
                </p:grpSpPr>
                <p:sp>
                  <p:nvSpPr>
                    <p:cNvPr id="338" name="椭圆 337"/>
                    <p:cNvSpPr/>
                    <p:nvPr/>
                  </p:nvSpPr>
                  <p:spPr>
                    <a:xfrm>
                      <a:off x="834118" y="4961478"/>
                      <a:ext cx="359118" cy="359118"/>
                    </a:xfrm>
                    <a:prstGeom prst="ellipse">
                      <a:avLst/>
                    </a:prstGeom>
                    <a:gradFill flip="none" rotWithShape="1">
                      <a:gsLst>
                        <a:gs pos="15000">
                          <a:schemeClr val="accent3"/>
                        </a:gs>
                        <a:gs pos="100000">
                          <a:schemeClr val="accent3">
                            <a:lumMod val="60000"/>
                            <a:lumOff val="40000"/>
                          </a:schemeClr>
                        </a:gs>
                      </a:gsLst>
                      <a:lin ang="18900000" scaled="1"/>
                      <a:tileRect/>
                    </a:gra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CN" altLang="en-US"/>
                    </a:p>
                  </p:txBody>
                </p:sp>
                <p:pic>
                  <p:nvPicPr>
                    <p:cNvPr id="339" name="图形 338"/>
                    <p:cNvPicPr>
                      <a:picLocks noChangeAspect="1"/>
                    </p:cNvPicPr>
                    <p:nvPr/>
                  </p:nvPicPr>
                  <p:blipFill>
                    <a:blip r:embed="rId1">
                      <a:extLst>
                        <a:ext uri="{96DAC541-7B7A-43D3-8B79-37D633B846F1}">
                          <asvg:svgBlip xmlns:asvg="http://schemas.microsoft.com/office/drawing/2016/SVG/main" r:embed="rId2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900649" y="5022939"/>
                      <a:ext cx="226056" cy="226056"/>
                    </a:xfrm>
                    <a:prstGeom prst="rect">
                      <a:avLst/>
                    </a:prstGeom>
                  </p:spPr>
                </p:pic>
              </p:grpSp>
            </p:grpSp>
            <p:grpSp>
              <p:nvGrpSpPr>
                <p:cNvPr id="331" name="组合 330"/>
                <p:cNvGrpSpPr/>
                <p:nvPr/>
              </p:nvGrpSpPr>
              <p:grpSpPr>
                <a:xfrm>
                  <a:off x="827355" y="5522372"/>
                  <a:ext cx="2844777" cy="524824"/>
                  <a:chOff x="834118" y="4878625"/>
                  <a:chExt cx="2844777" cy="524824"/>
                </a:xfrm>
              </p:grpSpPr>
              <p:sp>
                <p:nvSpPr>
                  <p:cNvPr id="332" name="7 CuadroTexto"/>
                  <p:cNvSpPr txBox="1"/>
                  <p:nvPr/>
                </p:nvSpPr>
                <p:spPr>
                  <a:xfrm>
                    <a:off x="1181559" y="4878625"/>
                    <a:ext cx="2497336" cy="52482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>
                    <a:defPPr>
                      <a:defRPr lang="zh-CN"/>
                    </a:defPPr>
                    <a:lvl1pPr>
                      <a:lnSpc>
                        <a:spcPct val="120000"/>
                      </a:lnSpc>
                      <a:defRPr sz="1000">
                        <a:solidFill>
                          <a:schemeClr val="bg2"/>
                        </a:solidFill>
                        <a:latin typeface="OPPOSans R" panose="00020600040101010101" pitchFamily="18" charset="-122"/>
                        <a:ea typeface="OPPOSans R" panose="00020600040101010101" pitchFamily="18" charset="-122"/>
                        <a:cs typeface="OPPOSans R" panose="00020600040101010101" pitchFamily="18" charset="-122"/>
                      </a:defRPr>
                    </a:lvl1pPr>
                  </a:lstStyle>
                  <a:p>
                    <a:pPr algn="just"/>
                    <a:r>
                      <a:rPr lang="zh-CN" altLang="en-US" sz="1200" dirty="0">
                        <a:solidFill>
                          <a:schemeClr val="tx1">
                            <a:alpha val="80000"/>
                          </a:schemeClr>
                        </a:solidFill>
                        <a:latin typeface="OPPOSans M" panose="00020600040101010101" pitchFamily="18" charset="-122"/>
                        <a:ea typeface="OPPOSans M" panose="00020600040101010101" pitchFamily="18" charset="-122"/>
                        <a:cs typeface="OPPOSans M" panose="00020600040101010101" pitchFamily="18" charset="-122"/>
                      </a:rPr>
                      <a:t>对接多方协作主体，妥善处理突发问题 </a:t>
                    </a:r>
                    <a:r>
                      <a:rPr lang="en-US" altLang="zh-CN" sz="1200" dirty="0">
                        <a:solidFill>
                          <a:schemeClr val="tx1">
                            <a:alpha val="80000"/>
                          </a:schemeClr>
                        </a:solidFill>
                        <a:latin typeface="OPPOSans M" panose="00020600040101010101" pitchFamily="18" charset="-122"/>
                        <a:ea typeface="OPPOSans M" panose="00020600040101010101" pitchFamily="18" charset="-122"/>
                        <a:cs typeface="OPPOSans M" panose="00020600040101010101" pitchFamily="18" charset="-122"/>
                      </a:rPr>
                      <a:t>7 </a:t>
                    </a:r>
                    <a:r>
                      <a:rPr lang="zh-CN" altLang="en-US" sz="1200" dirty="0">
                        <a:solidFill>
                          <a:schemeClr val="tx1">
                            <a:alpha val="80000"/>
                          </a:schemeClr>
                        </a:solidFill>
                        <a:latin typeface="OPPOSans M" panose="00020600040101010101" pitchFamily="18" charset="-122"/>
                        <a:ea typeface="OPPOSans M" panose="00020600040101010101" pitchFamily="18" charset="-122"/>
                        <a:cs typeface="OPPOSans M" panose="00020600040101010101" pitchFamily="18" charset="-122"/>
                      </a:rPr>
                      <a:t>起，保障项目平稳推进</a:t>
                    </a:r>
                    <a:endParaRPr lang="zh-CN" altLang="en-US" sz="1200" dirty="0">
                      <a:solidFill>
                        <a:schemeClr val="tx1">
                          <a:alpha val="80000"/>
                        </a:schemeClr>
                      </a:solidFill>
                      <a:latin typeface="OPPOSans M" panose="00020600040101010101" pitchFamily="18" charset="-122"/>
                      <a:ea typeface="OPPOSans M" panose="00020600040101010101" pitchFamily="18" charset="-122"/>
                      <a:cs typeface="OPPOSans M" panose="00020600040101010101" pitchFamily="18" charset="-122"/>
                    </a:endParaRPr>
                  </a:p>
                </p:txBody>
              </p:sp>
              <p:grpSp>
                <p:nvGrpSpPr>
                  <p:cNvPr id="333" name="组合 332"/>
                  <p:cNvGrpSpPr/>
                  <p:nvPr/>
                </p:nvGrpSpPr>
                <p:grpSpPr>
                  <a:xfrm>
                    <a:off x="834118" y="4961478"/>
                    <a:ext cx="359118" cy="359118"/>
                    <a:chOff x="834118" y="4961478"/>
                    <a:chExt cx="359118" cy="359118"/>
                  </a:xfrm>
                </p:grpSpPr>
                <p:sp>
                  <p:nvSpPr>
                    <p:cNvPr id="334" name="椭圆 333"/>
                    <p:cNvSpPr/>
                    <p:nvPr/>
                  </p:nvSpPr>
                  <p:spPr>
                    <a:xfrm>
                      <a:off x="834118" y="4961478"/>
                      <a:ext cx="359118" cy="359118"/>
                    </a:xfrm>
                    <a:prstGeom prst="ellipse">
                      <a:avLst/>
                    </a:prstGeom>
                    <a:gradFill flip="none" rotWithShape="1">
                      <a:gsLst>
                        <a:gs pos="15000">
                          <a:schemeClr val="accent3"/>
                        </a:gs>
                        <a:gs pos="100000">
                          <a:schemeClr val="accent3">
                            <a:lumMod val="60000"/>
                            <a:lumOff val="40000"/>
                          </a:schemeClr>
                        </a:gs>
                      </a:gsLst>
                      <a:lin ang="18900000" scaled="1"/>
                      <a:tileRect/>
                    </a:gra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CN" altLang="en-US"/>
                    </a:p>
                  </p:txBody>
                </p:sp>
                <p:pic>
                  <p:nvPicPr>
                    <p:cNvPr id="335" name="图形 334"/>
                    <p:cNvPicPr>
                      <a:picLocks noChangeAspect="1"/>
                    </p:cNvPicPr>
                    <p:nvPr/>
                  </p:nvPicPr>
                  <p:blipFill>
                    <a:blip r:embed="rId1">
                      <a:extLst>
                        <a:ext uri="{96DAC541-7B7A-43D3-8B79-37D633B846F1}">
                          <asvg:svgBlip xmlns:asvg="http://schemas.microsoft.com/office/drawing/2016/SVG/main" r:embed="rId2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900649" y="5022939"/>
                      <a:ext cx="226056" cy="226056"/>
                    </a:xfrm>
                    <a:prstGeom prst="rect">
                      <a:avLst/>
                    </a:prstGeom>
                  </p:spPr>
                </p:pic>
              </p:grpSp>
            </p:grpSp>
          </p:grpSp>
        </p:grpSp>
        <p:grpSp>
          <p:nvGrpSpPr>
            <p:cNvPr id="319" name="组合 318"/>
            <p:cNvGrpSpPr/>
            <p:nvPr/>
          </p:nvGrpSpPr>
          <p:grpSpPr>
            <a:xfrm>
              <a:off x="4579771" y="4133874"/>
              <a:ext cx="3055781" cy="457820"/>
              <a:chOff x="637472" y="4172709"/>
              <a:chExt cx="3055781" cy="457820"/>
            </a:xfrm>
          </p:grpSpPr>
          <p:grpSp>
            <p:nvGrpSpPr>
              <p:cNvPr id="320" name="组合 319"/>
              <p:cNvGrpSpPr/>
              <p:nvPr/>
            </p:nvGrpSpPr>
            <p:grpSpPr>
              <a:xfrm>
                <a:off x="637472" y="4172709"/>
                <a:ext cx="1494804" cy="457820"/>
                <a:chOff x="637472" y="4172709"/>
                <a:chExt cx="1494804" cy="457820"/>
              </a:xfrm>
            </p:grpSpPr>
            <p:sp>
              <p:nvSpPr>
                <p:cNvPr id="325" name="矩形: 圆角 324"/>
                <p:cNvSpPr/>
                <p:nvPr/>
              </p:nvSpPr>
              <p:spPr>
                <a:xfrm>
                  <a:off x="637472" y="4172709"/>
                  <a:ext cx="1494804" cy="457820"/>
                </a:xfrm>
                <a:prstGeom prst="roundRect">
                  <a:avLst/>
                </a:prstGeom>
                <a:gradFill flip="none" rotWithShape="1">
                  <a:gsLst>
                    <a:gs pos="15000">
                      <a:schemeClr val="accent3"/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189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326" name="标题 1"/>
                <p:cNvSpPr txBox="1"/>
                <p:nvPr/>
              </p:nvSpPr>
              <p:spPr>
                <a:xfrm>
                  <a:off x="1054901" y="4234469"/>
                  <a:ext cx="921634" cy="369332"/>
                </a:xfrm>
                <a:prstGeom prst="rect">
                  <a:avLst/>
                </a:prstGeom>
                <a:noFill/>
              </p:spPr>
              <p:txBody>
                <a:bodyPr vert="horz" wrap="square" lIns="0" tIns="0" rIns="0" bIns="0" rtlCol="0" anchor="ctr">
                  <a:spAutoFit/>
                </a:bodyPr>
                <a:lstStyle>
                  <a:defPPr>
                    <a:defRPr lang="zh-CN"/>
                  </a:defPPr>
                  <a:lvl1pPr algn="ctr">
                    <a:lnSpc>
                      <a:spcPct val="100000"/>
                    </a:lnSpc>
                    <a:spcBef>
                      <a:spcPct val="0"/>
                    </a:spcBef>
                    <a:buClr>
                      <a:schemeClr val="accent1"/>
                    </a:buClr>
                    <a:buNone/>
                    <a:defRPr kumimoji="1" sz="1200">
                      <a:solidFill>
                        <a:schemeClr val="bg2"/>
                      </a:solidFill>
                      <a:latin typeface="OPPOSans M" panose="00020600040101010101" pitchFamily="18" charset="-122"/>
                      <a:ea typeface="OPPOSans M" panose="00020600040101010101" pitchFamily="18" charset="-122"/>
                      <a:cs typeface="OPPOSans M" panose="00020600040101010101" pitchFamily="18" charset="-122"/>
                    </a:defRPr>
                  </a:lvl1pPr>
                </a:lstStyle>
                <a:p>
                  <a:r>
                    <a:rPr lang="zh-CN" altLang="en-US" dirty="0"/>
                    <a:t>专业技能</a:t>
                  </a:r>
                  <a:endParaRPr lang="en-US" altLang="zh-CN" dirty="0"/>
                </a:p>
                <a:p>
                  <a:r>
                    <a:rPr lang="zh-CN" altLang="en-US" dirty="0"/>
                    <a:t>持续精进</a:t>
                  </a:r>
                  <a:endParaRPr lang="zh-CN" altLang="en-US" dirty="0"/>
                </a:p>
              </p:txBody>
            </p:sp>
            <p:pic>
              <p:nvPicPr>
                <p:cNvPr id="327" name="图形 326"/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63325" y="4270849"/>
                  <a:ext cx="271670" cy="271670"/>
                </a:xfrm>
                <a:prstGeom prst="rect">
                  <a:avLst/>
                </a:prstGeom>
              </p:spPr>
            </p:pic>
          </p:grpSp>
          <p:grpSp>
            <p:nvGrpSpPr>
              <p:cNvPr id="321" name="组合 320"/>
              <p:cNvGrpSpPr/>
              <p:nvPr/>
            </p:nvGrpSpPr>
            <p:grpSpPr>
              <a:xfrm>
                <a:off x="2198449" y="4172709"/>
                <a:ext cx="1494804" cy="457820"/>
                <a:chOff x="637472" y="4172709"/>
                <a:chExt cx="1494804" cy="457820"/>
              </a:xfrm>
            </p:grpSpPr>
            <p:sp>
              <p:nvSpPr>
                <p:cNvPr id="322" name="矩形: 圆角 321"/>
                <p:cNvSpPr/>
                <p:nvPr/>
              </p:nvSpPr>
              <p:spPr>
                <a:xfrm>
                  <a:off x="637472" y="4172709"/>
                  <a:ext cx="1494804" cy="457820"/>
                </a:xfrm>
                <a:prstGeom prst="roundRect">
                  <a:avLst/>
                </a:prstGeom>
                <a:gradFill flip="none" rotWithShape="1">
                  <a:gsLst>
                    <a:gs pos="15000">
                      <a:schemeClr val="accent3"/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189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323" name="标题 1"/>
                <p:cNvSpPr txBox="1"/>
                <p:nvPr/>
              </p:nvSpPr>
              <p:spPr>
                <a:xfrm>
                  <a:off x="1054901" y="4234469"/>
                  <a:ext cx="921634" cy="369332"/>
                </a:xfrm>
                <a:prstGeom prst="rect">
                  <a:avLst/>
                </a:prstGeom>
                <a:noFill/>
              </p:spPr>
              <p:txBody>
                <a:bodyPr vert="horz" wrap="square" lIns="0" tIns="0" rIns="0" bIns="0" rtlCol="0" anchor="ctr">
                  <a:spAutoFit/>
                </a:bodyPr>
                <a:lstStyle>
                  <a:defPPr>
                    <a:defRPr lang="zh-CN"/>
                  </a:defPPr>
                  <a:lvl1pPr algn="ctr">
                    <a:lnSpc>
                      <a:spcPct val="100000"/>
                    </a:lnSpc>
                    <a:spcBef>
                      <a:spcPct val="0"/>
                    </a:spcBef>
                    <a:buClr>
                      <a:schemeClr val="accent1"/>
                    </a:buClr>
                    <a:buNone/>
                    <a:defRPr kumimoji="1" sz="1200">
                      <a:solidFill>
                        <a:schemeClr val="bg2"/>
                      </a:solidFill>
                      <a:latin typeface="OPPOSans M" panose="00020600040101010101" pitchFamily="18" charset="-122"/>
                      <a:ea typeface="OPPOSans M" panose="00020600040101010101" pitchFamily="18" charset="-122"/>
                      <a:cs typeface="OPPOSans M" panose="00020600040101010101" pitchFamily="18" charset="-122"/>
                    </a:defRPr>
                  </a:lvl1pPr>
                </a:lstStyle>
                <a:p>
                  <a:r>
                    <a:rPr lang="zh-CN" altLang="en-US" dirty="0"/>
                    <a:t>统筹沟通</a:t>
                  </a:r>
                  <a:endParaRPr lang="en-US" altLang="zh-CN" dirty="0"/>
                </a:p>
                <a:p>
                  <a:r>
                    <a:rPr lang="zh-CN" altLang="en-US" dirty="0"/>
                    <a:t>经验积累</a:t>
                  </a:r>
                  <a:endParaRPr lang="zh-CN" altLang="en-US" dirty="0"/>
                </a:p>
              </p:txBody>
            </p:sp>
            <p:pic>
              <p:nvPicPr>
                <p:cNvPr id="324" name="图形 323"/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63325" y="4270849"/>
                  <a:ext cx="271670" cy="271670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261" name="组合 260"/>
          <p:cNvGrpSpPr/>
          <p:nvPr/>
        </p:nvGrpSpPr>
        <p:grpSpPr>
          <a:xfrm>
            <a:off x="8333344" y="2427097"/>
            <a:ext cx="3503056" cy="4080255"/>
            <a:chOff x="448745" y="2427097"/>
            <a:chExt cx="3503056" cy="4080255"/>
          </a:xfrm>
        </p:grpSpPr>
        <p:grpSp>
          <p:nvGrpSpPr>
            <p:cNvPr id="262" name="组合 261"/>
            <p:cNvGrpSpPr/>
            <p:nvPr/>
          </p:nvGrpSpPr>
          <p:grpSpPr>
            <a:xfrm>
              <a:off x="448745" y="2427097"/>
              <a:ext cx="3503056" cy="4080255"/>
              <a:chOff x="448745" y="2427097"/>
              <a:chExt cx="3503056" cy="4080255"/>
            </a:xfrm>
          </p:grpSpPr>
          <p:grpSp>
            <p:nvGrpSpPr>
              <p:cNvPr id="286" name="组合 285"/>
              <p:cNvGrpSpPr/>
              <p:nvPr/>
            </p:nvGrpSpPr>
            <p:grpSpPr>
              <a:xfrm>
                <a:off x="448745" y="2427097"/>
                <a:ext cx="3503056" cy="4080255"/>
                <a:chOff x="448745" y="2357438"/>
                <a:chExt cx="3503056" cy="4080255"/>
              </a:xfrm>
            </p:grpSpPr>
            <p:sp>
              <p:nvSpPr>
                <p:cNvPr id="314" name="矩形: 圆角 313"/>
                <p:cNvSpPr/>
                <p:nvPr/>
              </p:nvSpPr>
              <p:spPr>
                <a:xfrm>
                  <a:off x="547688" y="2357438"/>
                  <a:ext cx="3404113" cy="4080255"/>
                </a:xfrm>
                <a:prstGeom prst="roundRect">
                  <a:avLst>
                    <a:gd name="adj" fmla="val 4902"/>
                  </a:avLst>
                </a:prstGeom>
                <a:gradFill>
                  <a:gsLst>
                    <a:gs pos="31000">
                      <a:schemeClr val="accent1"/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18900000" scaled="1"/>
                </a:gradFill>
                <a:ln>
                  <a:noFill/>
                </a:ln>
                <a:effectLst>
                  <a:outerShdw blurRad="63500" sx="102000" sy="102000" algn="ctr" rotWithShape="0">
                    <a:schemeClr val="accent1">
                      <a:lumMod val="60000"/>
                      <a:lumOff val="40000"/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315" name="任意多边形: 形状 314"/>
                <p:cNvSpPr/>
                <p:nvPr/>
              </p:nvSpPr>
              <p:spPr>
                <a:xfrm>
                  <a:off x="448745" y="2473652"/>
                  <a:ext cx="3503056" cy="3964041"/>
                </a:xfrm>
                <a:custGeom>
                  <a:avLst/>
                  <a:gdLst>
                    <a:gd name="connsiteX0" fmla="*/ 101269 w 3503056"/>
                    <a:gd name="connsiteY0" fmla="*/ 0 h 3964041"/>
                    <a:gd name="connsiteX1" fmla="*/ 1964586 w 3503056"/>
                    <a:gd name="connsiteY1" fmla="*/ 0 h 3964041"/>
                    <a:gd name="connsiteX2" fmla="*/ 2004004 w 3503056"/>
                    <a:gd name="connsiteY2" fmla="*/ 7958 h 3964041"/>
                    <a:gd name="connsiteX3" fmla="*/ 2009126 w 3503056"/>
                    <a:gd name="connsiteY3" fmla="*/ 11412 h 3964041"/>
                    <a:gd name="connsiteX4" fmla="*/ 2011709 w 3503056"/>
                    <a:gd name="connsiteY4" fmla="*/ 11952 h 3964041"/>
                    <a:gd name="connsiteX5" fmla="*/ 2069949 w 3503056"/>
                    <a:gd name="connsiteY5" fmla="*/ 49000 h 3964041"/>
                    <a:gd name="connsiteX6" fmla="*/ 2103887 w 3503056"/>
                    <a:gd name="connsiteY6" fmla="*/ 102824 h 3964041"/>
                    <a:gd name="connsiteX7" fmla="*/ 2108036 w 3503056"/>
                    <a:gd name="connsiteY7" fmla="*/ 109404 h 3964041"/>
                    <a:gd name="connsiteX8" fmla="*/ 2179247 w 3503056"/>
                    <a:gd name="connsiteY8" fmla="*/ 311403 h 3964041"/>
                    <a:gd name="connsiteX9" fmla="*/ 2207466 w 3503056"/>
                    <a:gd name="connsiteY9" fmla="*/ 358679 h 3964041"/>
                    <a:gd name="connsiteX10" fmla="*/ 2256902 w 3503056"/>
                    <a:gd name="connsiteY10" fmla="*/ 395382 h 3964041"/>
                    <a:gd name="connsiteX11" fmla="*/ 2315135 w 3503056"/>
                    <a:gd name="connsiteY11" fmla="*/ 410518 h 3964041"/>
                    <a:gd name="connsiteX12" fmla="*/ 2319003 w 3503056"/>
                    <a:gd name="connsiteY12" fmla="*/ 410518 h 3964041"/>
                    <a:gd name="connsiteX13" fmla="*/ 3331335 w 3503056"/>
                    <a:gd name="connsiteY13" fmla="*/ 410518 h 3964041"/>
                    <a:gd name="connsiteX14" fmla="*/ 3503054 w 3503056"/>
                    <a:gd name="connsiteY14" fmla="*/ 582238 h 3964041"/>
                    <a:gd name="connsiteX15" fmla="*/ 3503054 w 3503056"/>
                    <a:gd name="connsiteY15" fmla="*/ 1587808 h 3964041"/>
                    <a:gd name="connsiteX16" fmla="*/ 3503055 w 3503056"/>
                    <a:gd name="connsiteY16" fmla="*/ 1587808 h 3964041"/>
                    <a:gd name="connsiteX17" fmla="*/ 3503056 w 3503056"/>
                    <a:gd name="connsiteY17" fmla="*/ 3792321 h 3964041"/>
                    <a:gd name="connsiteX18" fmla="*/ 3331335 w 3503056"/>
                    <a:gd name="connsiteY18" fmla="*/ 3964040 h 3964041"/>
                    <a:gd name="connsiteX19" fmla="*/ 1964592 w 3503056"/>
                    <a:gd name="connsiteY19" fmla="*/ 3964040 h 3964041"/>
                    <a:gd name="connsiteX20" fmla="*/ 1964587 w 3503056"/>
                    <a:gd name="connsiteY20" fmla="*/ 3964041 h 3964041"/>
                    <a:gd name="connsiteX21" fmla="*/ 101269 w 3503056"/>
                    <a:gd name="connsiteY21" fmla="*/ 3964041 h 3964041"/>
                    <a:gd name="connsiteX22" fmla="*/ 2 w 3503056"/>
                    <a:gd name="connsiteY22" fmla="*/ 3862773 h 3964041"/>
                    <a:gd name="connsiteX23" fmla="*/ 1 w 3503056"/>
                    <a:gd name="connsiteY23" fmla="*/ 1587809 h 3964041"/>
                    <a:gd name="connsiteX24" fmla="*/ 0 w 3503056"/>
                    <a:gd name="connsiteY24" fmla="*/ 1587809 h 3964041"/>
                    <a:gd name="connsiteX25" fmla="*/ 0 w 3503056"/>
                    <a:gd name="connsiteY25" fmla="*/ 101268 h 3964041"/>
                    <a:gd name="connsiteX26" fmla="*/ 101269 w 3503056"/>
                    <a:gd name="connsiteY26" fmla="*/ 0 h 39640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3503056" h="3964041">
                      <a:moveTo>
                        <a:pt x="101269" y="0"/>
                      </a:moveTo>
                      <a:lnTo>
                        <a:pt x="1964586" y="0"/>
                      </a:lnTo>
                      <a:cubicBezTo>
                        <a:pt x="1978568" y="0"/>
                        <a:pt x="1991888" y="2834"/>
                        <a:pt x="2004004" y="7958"/>
                      </a:cubicBezTo>
                      <a:lnTo>
                        <a:pt x="2009126" y="11412"/>
                      </a:lnTo>
                      <a:lnTo>
                        <a:pt x="2011709" y="11952"/>
                      </a:lnTo>
                      <a:cubicBezTo>
                        <a:pt x="2033439" y="19910"/>
                        <a:pt x="2053373" y="32508"/>
                        <a:pt x="2069949" y="49000"/>
                      </a:cubicBezTo>
                      <a:lnTo>
                        <a:pt x="2103887" y="102824"/>
                      </a:lnTo>
                      <a:lnTo>
                        <a:pt x="2108036" y="109404"/>
                      </a:lnTo>
                      <a:lnTo>
                        <a:pt x="2179247" y="311403"/>
                      </a:lnTo>
                      <a:lnTo>
                        <a:pt x="2207466" y="358679"/>
                      </a:lnTo>
                      <a:cubicBezTo>
                        <a:pt x="2221520" y="374099"/>
                        <a:pt x="2238365" y="386509"/>
                        <a:pt x="2256902" y="395382"/>
                      </a:cubicBezTo>
                      <a:lnTo>
                        <a:pt x="2315135" y="410518"/>
                      </a:lnTo>
                      <a:lnTo>
                        <a:pt x="2319003" y="410518"/>
                      </a:lnTo>
                      <a:lnTo>
                        <a:pt x="3331335" y="410518"/>
                      </a:lnTo>
                      <a:cubicBezTo>
                        <a:pt x="3426172" y="410518"/>
                        <a:pt x="3503054" y="487401"/>
                        <a:pt x="3503054" y="582238"/>
                      </a:cubicBezTo>
                      <a:lnTo>
                        <a:pt x="3503054" y="1587808"/>
                      </a:lnTo>
                      <a:lnTo>
                        <a:pt x="3503055" y="1587808"/>
                      </a:lnTo>
                      <a:lnTo>
                        <a:pt x="3503056" y="3792321"/>
                      </a:lnTo>
                      <a:cubicBezTo>
                        <a:pt x="3503056" y="3887158"/>
                        <a:pt x="3426174" y="3964040"/>
                        <a:pt x="3331335" y="3964040"/>
                      </a:cubicBezTo>
                      <a:lnTo>
                        <a:pt x="1964592" y="3964040"/>
                      </a:lnTo>
                      <a:lnTo>
                        <a:pt x="1964587" y="3964041"/>
                      </a:lnTo>
                      <a:lnTo>
                        <a:pt x="101269" y="3964041"/>
                      </a:lnTo>
                      <a:cubicBezTo>
                        <a:pt x="45340" y="3964041"/>
                        <a:pt x="2" y="3918702"/>
                        <a:pt x="2" y="3862773"/>
                      </a:cubicBezTo>
                      <a:lnTo>
                        <a:pt x="1" y="1587809"/>
                      </a:lnTo>
                      <a:lnTo>
                        <a:pt x="0" y="1587809"/>
                      </a:lnTo>
                      <a:lnTo>
                        <a:pt x="0" y="101268"/>
                      </a:lnTo>
                      <a:cubicBezTo>
                        <a:pt x="0" y="45339"/>
                        <a:pt x="45339" y="0"/>
                        <a:pt x="101269" y="0"/>
                      </a:cubicBezTo>
                      <a:close/>
                    </a:path>
                  </a:pathLst>
                </a:custGeom>
                <a:solidFill>
                  <a:schemeClr val="bg2"/>
                </a:solidFill>
                <a:ln>
                  <a:noFill/>
                </a:ln>
                <a:effectLst>
                  <a:outerShdw blurRad="241300" sx="102000" sy="102000" algn="ctr" rotWithShape="0">
                    <a:schemeClr val="accent1">
                      <a:lumMod val="60000"/>
                      <a:lumOff val="40000"/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kumimoji="1" lang="zh-CN" altLang="en-US" dirty="0"/>
                </a:p>
              </p:txBody>
            </p:sp>
          </p:grpSp>
          <p:sp>
            <p:nvSpPr>
              <p:cNvPr id="287" name="标题 1"/>
              <p:cNvSpPr txBox="1"/>
              <p:nvPr/>
            </p:nvSpPr>
            <p:spPr>
              <a:xfrm>
                <a:off x="735076" y="2666329"/>
                <a:ext cx="1843888" cy="282193"/>
              </a:xfrm>
              <a:prstGeom prst="rect">
                <a:avLst/>
              </a:prstGeom>
              <a:noFill/>
            </p:spPr>
            <p:txBody>
              <a:bodyPr vert="horz" wrap="square" lIns="0" tIns="0" rIns="0" bIns="0" rtlCol="0" anchor="ctr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kumimoji="1" lang="zh-CN" altLang="en-US" sz="2800" kern="1200" dirty="0">
                    <a:solidFill>
                      <a:schemeClr val="bg1">
                        <a:lumMod val="90000"/>
                        <a:lumOff val="10000"/>
                      </a:schemeClr>
                    </a:solidFill>
                    <a:latin typeface="OPPOSans H" panose="00020600040101010101" pitchFamily="18" charset="-122"/>
                    <a:ea typeface="OPPOSans H" panose="00020600040101010101" pitchFamily="18" charset="-122"/>
                    <a:cs typeface="OPPOSans H" panose="00020600040101010101" pitchFamily="18" charset="-122"/>
                  </a:defRPr>
                </a:lvl1pPr>
              </a:lstStyle>
              <a:p>
                <a:pPr>
                  <a:buClr>
                    <a:schemeClr val="accent1"/>
                  </a:buClr>
                </a:pPr>
                <a:r>
                  <a:rPr lang="zh-CN" altLang="en-US" sz="2000" dirty="0">
                    <a:gradFill flip="none" rotWithShape="1">
                      <a:gsLst>
                        <a:gs pos="11000">
                          <a:schemeClr val="accent1"/>
                        </a:gs>
                        <a:gs pos="92000">
                          <a:schemeClr val="accent1">
                            <a:lumMod val="60000"/>
                            <a:lumOff val="40000"/>
                          </a:schemeClr>
                        </a:gs>
                      </a:gsLst>
                      <a:lin ang="18900000" scaled="1"/>
                      <a:tileRect/>
                    </a:gradFill>
                  </a:rPr>
                  <a:t>不足改进规划</a:t>
                </a:r>
                <a:endParaRPr lang="zh-CN" altLang="en-US" sz="2000" dirty="0">
                  <a:gradFill flip="none" rotWithShape="1">
                    <a:gsLst>
                      <a:gs pos="11000">
                        <a:schemeClr val="accent1"/>
                      </a:gs>
                      <a:gs pos="92000">
                        <a:schemeClr val="accent1">
                          <a:lumMod val="60000"/>
                          <a:lumOff val="40000"/>
                        </a:schemeClr>
                      </a:gs>
                    </a:gsLst>
                    <a:lin ang="18900000" scaled="1"/>
                    <a:tileRect/>
                  </a:gradFill>
                </a:endParaRPr>
              </a:p>
            </p:txBody>
          </p:sp>
          <p:grpSp>
            <p:nvGrpSpPr>
              <p:cNvPr id="288" name="组合 287"/>
              <p:cNvGrpSpPr/>
              <p:nvPr/>
            </p:nvGrpSpPr>
            <p:grpSpPr>
              <a:xfrm>
                <a:off x="745331" y="2979103"/>
                <a:ext cx="1767325" cy="45719"/>
                <a:chOff x="745331" y="2979103"/>
                <a:chExt cx="1767325" cy="45719"/>
              </a:xfrm>
            </p:grpSpPr>
            <p:grpSp>
              <p:nvGrpSpPr>
                <p:cNvPr id="290" name="组合 289"/>
                <p:cNvGrpSpPr/>
                <p:nvPr/>
              </p:nvGrpSpPr>
              <p:grpSpPr>
                <a:xfrm>
                  <a:off x="1215987" y="2979103"/>
                  <a:ext cx="1296669" cy="45719"/>
                  <a:chOff x="1217178" y="2950528"/>
                  <a:chExt cx="1296669" cy="45719"/>
                </a:xfrm>
                <a:solidFill>
                  <a:schemeClr val="accent1">
                    <a:lumMod val="60000"/>
                    <a:lumOff val="40000"/>
                  </a:schemeClr>
                </a:solidFill>
              </p:grpSpPr>
              <p:sp>
                <p:nvSpPr>
                  <p:cNvPr id="292" name="平行四边形 291"/>
                  <p:cNvSpPr/>
                  <p:nvPr/>
                </p:nvSpPr>
                <p:spPr>
                  <a:xfrm>
                    <a:off x="1217178" y="2950528"/>
                    <a:ext cx="45719" cy="45719"/>
                  </a:xfrm>
                  <a:prstGeom prst="parallelogram">
                    <a:avLst>
                      <a:gd name="adj" fmla="val 31945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93" name="平行四边形 292"/>
                  <p:cNvSpPr/>
                  <p:nvPr/>
                </p:nvSpPr>
                <p:spPr>
                  <a:xfrm>
                    <a:off x="1276747" y="2950528"/>
                    <a:ext cx="45719" cy="45719"/>
                  </a:xfrm>
                  <a:prstGeom prst="parallelogram">
                    <a:avLst>
                      <a:gd name="adj" fmla="val 31945"/>
                    </a:avLst>
                  </a:prstGeom>
                  <a:grpFill/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94" name="平行四边形 293"/>
                  <p:cNvSpPr/>
                  <p:nvPr/>
                </p:nvSpPr>
                <p:spPr>
                  <a:xfrm>
                    <a:off x="1336316" y="2950528"/>
                    <a:ext cx="45719" cy="45719"/>
                  </a:xfrm>
                  <a:prstGeom prst="parallelogram">
                    <a:avLst>
                      <a:gd name="adj" fmla="val 31945"/>
                    </a:avLst>
                  </a:prstGeom>
                  <a:grpFill/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95" name="平行四边形 294"/>
                  <p:cNvSpPr/>
                  <p:nvPr/>
                </p:nvSpPr>
                <p:spPr>
                  <a:xfrm>
                    <a:off x="1395885" y="2950528"/>
                    <a:ext cx="45719" cy="45719"/>
                  </a:xfrm>
                  <a:prstGeom prst="parallelogram">
                    <a:avLst>
                      <a:gd name="adj" fmla="val 31945"/>
                    </a:avLst>
                  </a:prstGeom>
                  <a:grpFill/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96" name="平行四边形 295"/>
                  <p:cNvSpPr/>
                  <p:nvPr/>
                </p:nvSpPr>
                <p:spPr>
                  <a:xfrm>
                    <a:off x="1455454" y="2950528"/>
                    <a:ext cx="45719" cy="45719"/>
                  </a:xfrm>
                  <a:prstGeom prst="parallelogram">
                    <a:avLst>
                      <a:gd name="adj" fmla="val 31945"/>
                    </a:avLst>
                  </a:prstGeom>
                  <a:grpFill/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97" name="平行四边形 296"/>
                  <p:cNvSpPr/>
                  <p:nvPr/>
                </p:nvSpPr>
                <p:spPr>
                  <a:xfrm>
                    <a:off x="1515023" y="2950528"/>
                    <a:ext cx="45719" cy="45719"/>
                  </a:xfrm>
                  <a:prstGeom prst="parallelogram">
                    <a:avLst>
                      <a:gd name="adj" fmla="val 31945"/>
                    </a:avLst>
                  </a:prstGeom>
                  <a:grpFill/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98" name="平行四边形 297"/>
                  <p:cNvSpPr/>
                  <p:nvPr/>
                </p:nvSpPr>
                <p:spPr>
                  <a:xfrm>
                    <a:off x="1574592" y="2950528"/>
                    <a:ext cx="45719" cy="45719"/>
                  </a:xfrm>
                  <a:prstGeom prst="parallelogram">
                    <a:avLst>
                      <a:gd name="adj" fmla="val 31945"/>
                    </a:avLst>
                  </a:prstGeom>
                  <a:grpFill/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99" name="平行四边形 298"/>
                  <p:cNvSpPr/>
                  <p:nvPr/>
                </p:nvSpPr>
                <p:spPr>
                  <a:xfrm>
                    <a:off x="1634161" y="2950528"/>
                    <a:ext cx="45719" cy="45719"/>
                  </a:xfrm>
                  <a:prstGeom prst="parallelogram">
                    <a:avLst>
                      <a:gd name="adj" fmla="val 31945"/>
                    </a:avLst>
                  </a:prstGeom>
                  <a:grpFill/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00" name="平行四边形 299"/>
                  <p:cNvSpPr/>
                  <p:nvPr/>
                </p:nvSpPr>
                <p:spPr>
                  <a:xfrm>
                    <a:off x="1693730" y="2950528"/>
                    <a:ext cx="45719" cy="45719"/>
                  </a:xfrm>
                  <a:prstGeom prst="parallelogram">
                    <a:avLst>
                      <a:gd name="adj" fmla="val 31945"/>
                    </a:avLst>
                  </a:prstGeom>
                  <a:grpFill/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01" name="平行四边形 300"/>
                  <p:cNvSpPr/>
                  <p:nvPr/>
                </p:nvSpPr>
                <p:spPr>
                  <a:xfrm>
                    <a:off x="1753299" y="2950528"/>
                    <a:ext cx="45719" cy="45719"/>
                  </a:xfrm>
                  <a:prstGeom prst="parallelogram">
                    <a:avLst>
                      <a:gd name="adj" fmla="val 31945"/>
                    </a:avLst>
                  </a:prstGeom>
                  <a:grpFill/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02" name="平行四边形 301"/>
                  <p:cNvSpPr/>
                  <p:nvPr/>
                </p:nvSpPr>
                <p:spPr>
                  <a:xfrm>
                    <a:off x="1812868" y="2950528"/>
                    <a:ext cx="45719" cy="45719"/>
                  </a:xfrm>
                  <a:prstGeom prst="parallelogram">
                    <a:avLst>
                      <a:gd name="adj" fmla="val 31945"/>
                    </a:avLst>
                  </a:prstGeom>
                  <a:grpFill/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03" name="平行四边形 302"/>
                  <p:cNvSpPr/>
                  <p:nvPr/>
                </p:nvSpPr>
                <p:spPr>
                  <a:xfrm>
                    <a:off x="1872438" y="2950528"/>
                    <a:ext cx="45719" cy="45719"/>
                  </a:xfrm>
                  <a:prstGeom prst="parallelogram">
                    <a:avLst>
                      <a:gd name="adj" fmla="val 31945"/>
                    </a:avLst>
                  </a:prstGeom>
                  <a:grpFill/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04" name="平行四边形 303"/>
                  <p:cNvSpPr/>
                  <p:nvPr/>
                </p:nvSpPr>
                <p:spPr>
                  <a:xfrm>
                    <a:off x="1932007" y="2950528"/>
                    <a:ext cx="45719" cy="45719"/>
                  </a:xfrm>
                  <a:prstGeom prst="parallelogram">
                    <a:avLst>
                      <a:gd name="adj" fmla="val 31945"/>
                    </a:avLst>
                  </a:prstGeom>
                  <a:grpFill/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05" name="平行四边形 304"/>
                  <p:cNvSpPr/>
                  <p:nvPr/>
                </p:nvSpPr>
                <p:spPr>
                  <a:xfrm>
                    <a:off x="1991576" y="2950528"/>
                    <a:ext cx="45719" cy="45719"/>
                  </a:xfrm>
                  <a:prstGeom prst="parallelogram">
                    <a:avLst>
                      <a:gd name="adj" fmla="val 31945"/>
                    </a:avLst>
                  </a:prstGeom>
                  <a:grpFill/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06" name="平行四边形 305"/>
                  <p:cNvSpPr/>
                  <p:nvPr/>
                </p:nvSpPr>
                <p:spPr>
                  <a:xfrm>
                    <a:off x="2051145" y="2950528"/>
                    <a:ext cx="45719" cy="45719"/>
                  </a:xfrm>
                  <a:prstGeom prst="parallelogram">
                    <a:avLst>
                      <a:gd name="adj" fmla="val 31945"/>
                    </a:avLst>
                  </a:prstGeom>
                  <a:grpFill/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07" name="平行四边形 306"/>
                  <p:cNvSpPr/>
                  <p:nvPr/>
                </p:nvSpPr>
                <p:spPr>
                  <a:xfrm>
                    <a:off x="2110714" y="2950528"/>
                    <a:ext cx="45719" cy="45719"/>
                  </a:xfrm>
                  <a:prstGeom prst="parallelogram">
                    <a:avLst>
                      <a:gd name="adj" fmla="val 31945"/>
                    </a:avLst>
                  </a:prstGeom>
                  <a:grpFill/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08" name="平行四边形 307"/>
                  <p:cNvSpPr/>
                  <p:nvPr/>
                </p:nvSpPr>
                <p:spPr>
                  <a:xfrm>
                    <a:off x="2170283" y="2950528"/>
                    <a:ext cx="45719" cy="45719"/>
                  </a:xfrm>
                  <a:prstGeom prst="parallelogram">
                    <a:avLst>
                      <a:gd name="adj" fmla="val 31945"/>
                    </a:avLst>
                  </a:prstGeom>
                  <a:grpFill/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09" name="平行四边形 308"/>
                  <p:cNvSpPr/>
                  <p:nvPr/>
                </p:nvSpPr>
                <p:spPr>
                  <a:xfrm>
                    <a:off x="2229852" y="2950528"/>
                    <a:ext cx="45719" cy="45719"/>
                  </a:xfrm>
                  <a:prstGeom prst="parallelogram">
                    <a:avLst>
                      <a:gd name="adj" fmla="val 31945"/>
                    </a:avLst>
                  </a:prstGeom>
                  <a:grpFill/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10" name="平行四边形 309"/>
                  <p:cNvSpPr/>
                  <p:nvPr/>
                </p:nvSpPr>
                <p:spPr>
                  <a:xfrm>
                    <a:off x="2289421" y="2950528"/>
                    <a:ext cx="45719" cy="45719"/>
                  </a:xfrm>
                  <a:prstGeom prst="parallelogram">
                    <a:avLst>
                      <a:gd name="adj" fmla="val 31945"/>
                    </a:avLst>
                  </a:prstGeom>
                  <a:grpFill/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11" name="平行四边形 310"/>
                  <p:cNvSpPr/>
                  <p:nvPr/>
                </p:nvSpPr>
                <p:spPr>
                  <a:xfrm>
                    <a:off x="2348990" y="2950528"/>
                    <a:ext cx="45719" cy="45719"/>
                  </a:xfrm>
                  <a:prstGeom prst="parallelogram">
                    <a:avLst>
                      <a:gd name="adj" fmla="val 31945"/>
                    </a:avLst>
                  </a:prstGeom>
                  <a:grpFill/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12" name="平行四边形 311"/>
                  <p:cNvSpPr/>
                  <p:nvPr/>
                </p:nvSpPr>
                <p:spPr>
                  <a:xfrm>
                    <a:off x="2408559" y="2950528"/>
                    <a:ext cx="45719" cy="45719"/>
                  </a:xfrm>
                  <a:prstGeom prst="parallelogram">
                    <a:avLst>
                      <a:gd name="adj" fmla="val 31945"/>
                    </a:avLst>
                  </a:prstGeom>
                  <a:grpFill/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13" name="平行四边形 312"/>
                  <p:cNvSpPr/>
                  <p:nvPr/>
                </p:nvSpPr>
                <p:spPr>
                  <a:xfrm>
                    <a:off x="2468128" y="2950528"/>
                    <a:ext cx="45719" cy="45719"/>
                  </a:xfrm>
                  <a:prstGeom prst="parallelogram">
                    <a:avLst>
                      <a:gd name="adj" fmla="val 31945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cxnSp>
              <p:nvCxnSpPr>
                <p:cNvPr id="291" name="直接连接符 290"/>
                <p:cNvCxnSpPr/>
                <p:nvPr/>
              </p:nvCxnSpPr>
              <p:spPr>
                <a:xfrm flipH="1">
                  <a:off x="745331" y="3002756"/>
                  <a:ext cx="454819" cy="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89" name="标题 1"/>
              <p:cNvSpPr txBox="1"/>
              <p:nvPr/>
            </p:nvSpPr>
            <p:spPr>
              <a:xfrm>
                <a:off x="2865985" y="2494002"/>
                <a:ext cx="691070" cy="507960"/>
              </a:xfrm>
              <a:prstGeom prst="rect">
                <a:avLst/>
              </a:prstGeom>
              <a:noFill/>
            </p:spPr>
            <p:txBody>
              <a:bodyPr vert="horz" wrap="square" lIns="0" tIns="0" rIns="0" bIns="0" rtlCol="0" anchor="ctr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kumimoji="1" lang="zh-CN" altLang="en-US" sz="2800" kern="1200" dirty="0">
                    <a:solidFill>
                      <a:schemeClr val="bg1">
                        <a:lumMod val="90000"/>
                        <a:lumOff val="10000"/>
                      </a:schemeClr>
                    </a:solidFill>
                    <a:latin typeface="OPPOSans H" panose="00020600040101010101" pitchFamily="18" charset="-122"/>
                    <a:ea typeface="OPPOSans H" panose="00020600040101010101" pitchFamily="18" charset="-122"/>
                    <a:cs typeface="OPPOSans H" panose="00020600040101010101" pitchFamily="18" charset="-122"/>
                  </a:defRPr>
                </a:lvl1pPr>
              </a:lstStyle>
              <a:p>
                <a:pPr algn="r">
                  <a:buClr>
                    <a:schemeClr val="accent1"/>
                  </a:buClr>
                </a:pPr>
                <a:r>
                  <a:rPr lang="en-US" altLang="zh-CN" sz="3600" dirty="0">
                    <a:gradFill flip="none" rotWithShape="1">
                      <a:gsLst>
                        <a:gs pos="68000">
                          <a:srgbClr val="FFFFFF">
                            <a:alpha val="53000"/>
                          </a:srgbClr>
                        </a:gs>
                        <a:gs pos="42000">
                          <a:schemeClr val="bg2"/>
                        </a:gs>
                        <a:gs pos="85000">
                          <a:schemeClr val="bg2">
                            <a:alpha val="0"/>
                          </a:schemeClr>
                        </a:gs>
                      </a:gsLst>
                      <a:lin ang="5400000" scaled="1"/>
                      <a:tileRect/>
                    </a:gradFill>
                  </a:rPr>
                  <a:t>03</a:t>
                </a:r>
                <a:endParaRPr lang="zh-CN" altLang="en-US" sz="3600" dirty="0">
                  <a:gradFill flip="none" rotWithShape="1">
                    <a:gsLst>
                      <a:gs pos="68000">
                        <a:srgbClr val="FFFFFF">
                          <a:alpha val="53000"/>
                        </a:srgbClr>
                      </a:gs>
                      <a:gs pos="42000">
                        <a:schemeClr val="bg2"/>
                      </a:gs>
                      <a:gs pos="85000">
                        <a:schemeClr val="bg2">
                          <a:alpha val="0"/>
                        </a:schemeClr>
                      </a:gs>
                    </a:gsLst>
                    <a:lin ang="5400000" scaled="1"/>
                    <a:tileRect/>
                  </a:gradFill>
                </a:endParaRPr>
              </a:p>
            </p:txBody>
          </p:sp>
        </p:grpSp>
        <p:sp>
          <p:nvSpPr>
            <p:cNvPr id="263" name="文本框 262"/>
            <p:cNvSpPr txBox="1"/>
            <p:nvPr/>
          </p:nvSpPr>
          <p:spPr>
            <a:xfrm>
              <a:off x="562838" y="3112646"/>
              <a:ext cx="3184807" cy="9680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kumimoji="1" b="0" kern="0">
                  <a:solidFill>
                    <a:srgbClr val="111111"/>
                  </a:solidFill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defRPr>
              </a:lvl1pPr>
            </a:lstStyle>
            <a:p>
              <a:pPr algn="just">
                <a:lnSpc>
                  <a:spcPct val="120000"/>
                </a:lnSpc>
              </a:pPr>
              <a:r>
                <a:rPr lang="zh-CN" altLang="en-US" sz="1200" dirty="0">
                  <a:solidFill>
                    <a:srgbClr val="111111">
                      <a:alpha val="61000"/>
                    </a:srgbClr>
                  </a:solidFill>
                </a:rPr>
                <a:t>复盘全年工作，自身仍存在统筹规划前瞻性不足、复杂项目细节把控不到位等问题；主动复盘三个维度调整工作方式，补齐短板、夯实工作基础。</a:t>
              </a:r>
              <a:endParaRPr lang="zh-CN" altLang="en-US" sz="1200" dirty="0">
                <a:solidFill>
                  <a:srgbClr val="111111">
                    <a:alpha val="61000"/>
                  </a:srgbClr>
                </a:solidFill>
              </a:endParaRPr>
            </a:p>
          </p:txBody>
        </p:sp>
        <p:grpSp>
          <p:nvGrpSpPr>
            <p:cNvPr id="264" name="组合 263"/>
            <p:cNvGrpSpPr/>
            <p:nvPr/>
          </p:nvGrpSpPr>
          <p:grpSpPr>
            <a:xfrm>
              <a:off x="641201" y="4703008"/>
              <a:ext cx="3055781" cy="1617781"/>
              <a:chOff x="641201" y="4703008"/>
              <a:chExt cx="3055781" cy="1617781"/>
            </a:xfrm>
          </p:grpSpPr>
          <p:sp>
            <p:nvSpPr>
              <p:cNvPr id="274" name="矩形: 圆角 273"/>
              <p:cNvSpPr/>
              <p:nvPr/>
            </p:nvSpPr>
            <p:spPr>
              <a:xfrm>
                <a:off x="641201" y="4703008"/>
                <a:ext cx="3055781" cy="1617781"/>
              </a:xfrm>
              <a:prstGeom prst="roundRect">
                <a:avLst>
                  <a:gd name="adj" fmla="val 3549"/>
                </a:avLst>
              </a:prstGeom>
              <a:solidFill>
                <a:schemeClr val="bg2"/>
              </a:solidFill>
              <a:ln>
                <a:noFill/>
              </a:ln>
              <a:effectLst>
                <a:innerShdw blurRad="342900">
                  <a:schemeClr val="accent1">
                    <a:lumMod val="20000"/>
                    <a:lumOff val="80000"/>
                    <a:alpha val="29000"/>
                  </a:scheme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grpSp>
            <p:nvGrpSpPr>
              <p:cNvPr id="275" name="组合 274"/>
              <p:cNvGrpSpPr/>
              <p:nvPr/>
            </p:nvGrpSpPr>
            <p:grpSpPr>
              <a:xfrm>
                <a:off x="792422" y="4796644"/>
                <a:ext cx="2844777" cy="1304302"/>
                <a:chOff x="827355" y="4742894"/>
                <a:chExt cx="2844777" cy="1304302"/>
              </a:xfrm>
            </p:grpSpPr>
            <p:grpSp>
              <p:nvGrpSpPr>
                <p:cNvPr id="276" name="组合 275"/>
                <p:cNvGrpSpPr/>
                <p:nvPr/>
              </p:nvGrpSpPr>
              <p:grpSpPr>
                <a:xfrm>
                  <a:off x="827355" y="4742894"/>
                  <a:ext cx="2844777" cy="746423"/>
                  <a:chOff x="834118" y="4752419"/>
                  <a:chExt cx="2844777" cy="746423"/>
                </a:xfrm>
              </p:grpSpPr>
              <p:sp>
                <p:nvSpPr>
                  <p:cNvPr id="282" name="7 CuadroTexto"/>
                  <p:cNvSpPr txBox="1"/>
                  <p:nvPr/>
                </p:nvSpPr>
                <p:spPr>
                  <a:xfrm>
                    <a:off x="1181559" y="4752419"/>
                    <a:ext cx="2497336" cy="746423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>
                    <a:defPPr>
                      <a:defRPr lang="zh-CN"/>
                    </a:defPPr>
                    <a:lvl1pPr>
                      <a:lnSpc>
                        <a:spcPct val="120000"/>
                      </a:lnSpc>
                      <a:defRPr sz="1000">
                        <a:solidFill>
                          <a:schemeClr val="bg2"/>
                        </a:solidFill>
                        <a:latin typeface="OPPOSans R" panose="00020600040101010101" pitchFamily="18" charset="-122"/>
                        <a:ea typeface="OPPOSans R" panose="00020600040101010101" pitchFamily="18" charset="-122"/>
                        <a:cs typeface="OPPOSans R" panose="00020600040101010101" pitchFamily="18" charset="-122"/>
                      </a:defRPr>
                    </a:lvl1pPr>
                  </a:lstStyle>
                  <a:p>
                    <a:pPr algn="just"/>
                    <a:r>
                      <a:rPr lang="zh-CN" altLang="en-US" sz="1200" dirty="0">
                        <a:solidFill>
                          <a:schemeClr val="tx1">
                            <a:alpha val="80000"/>
                          </a:schemeClr>
                        </a:solidFill>
                        <a:latin typeface="OPPOSans M" panose="00020600040101010101" pitchFamily="18" charset="-122"/>
                        <a:ea typeface="OPPOSans M" panose="00020600040101010101" pitchFamily="18" charset="-122"/>
                        <a:cs typeface="OPPOSans M" panose="00020600040101010101" pitchFamily="18" charset="-122"/>
                      </a:rPr>
                      <a:t>建立月度工作前置规划清单，提前预判项目风险，规避临时手忙脚乱情况</a:t>
                    </a:r>
                    <a:endParaRPr lang="zh-CN" altLang="en-US" sz="1200" dirty="0">
                      <a:solidFill>
                        <a:schemeClr val="tx1">
                          <a:alpha val="80000"/>
                        </a:schemeClr>
                      </a:solidFill>
                      <a:latin typeface="OPPOSans M" panose="00020600040101010101" pitchFamily="18" charset="-122"/>
                      <a:ea typeface="OPPOSans M" panose="00020600040101010101" pitchFamily="18" charset="-122"/>
                      <a:cs typeface="OPPOSans M" panose="00020600040101010101" pitchFamily="18" charset="-122"/>
                    </a:endParaRPr>
                  </a:p>
                </p:txBody>
              </p:sp>
              <p:grpSp>
                <p:nvGrpSpPr>
                  <p:cNvPr id="283" name="组合 282"/>
                  <p:cNvGrpSpPr/>
                  <p:nvPr/>
                </p:nvGrpSpPr>
                <p:grpSpPr>
                  <a:xfrm>
                    <a:off x="834118" y="4961478"/>
                    <a:ext cx="359118" cy="359118"/>
                    <a:chOff x="834118" y="4961478"/>
                    <a:chExt cx="359118" cy="359118"/>
                  </a:xfrm>
                </p:grpSpPr>
                <p:sp>
                  <p:nvSpPr>
                    <p:cNvPr id="284" name="椭圆 283"/>
                    <p:cNvSpPr/>
                    <p:nvPr/>
                  </p:nvSpPr>
                  <p:spPr>
                    <a:xfrm>
                      <a:off x="834118" y="4961478"/>
                      <a:ext cx="359118" cy="359118"/>
                    </a:xfrm>
                    <a:prstGeom prst="ellipse">
                      <a:avLst/>
                    </a:prstGeom>
                    <a:gradFill flip="none" rotWithShape="1">
                      <a:gsLst>
                        <a:gs pos="15000">
                          <a:schemeClr val="accent1"/>
                        </a:gs>
                        <a:gs pos="100000">
                          <a:schemeClr val="accent1">
                            <a:lumMod val="60000"/>
                            <a:lumOff val="40000"/>
                          </a:schemeClr>
                        </a:gs>
                      </a:gsLst>
                      <a:lin ang="18900000" scaled="1"/>
                      <a:tileRect/>
                    </a:gra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CN" altLang="en-US"/>
                    </a:p>
                  </p:txBody>
                </p:sp>
                <p:pic>
                  <p:nvPicPr>
                    <p:cNvPr id="285" name="图形 284"/>
                    <p:cNvPicPr>
                      <a:picLocks noChangeAspect="1"/>
                    </p:cNvPicPr>
                    <p:nvPr/>
                  </p:nvPicPr>
                  <p:blipFill>
                    <a:blip r:embed="rId1">
                      <a:extLst>
                        <a:ext uri="{96DAC541-7B7A-43D3-8B79-37D633B846F1}">
                          <asvg:svgBlip xmlns:asvg="http://schemas.microsoft.com/office/drawing/2016/SVG/main" r:embed="rId2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900649" y="5022939"/>
                      <a:ext cx="226056" cy="226056"/>
                    </a:xfrm>
                    <a:prstGeom prst="rect">
                      <a:avLst/>
                    </a:prstGeom>
                  </p:spPr>
                </p:pic>
              </p:grpSp>
            </p:grpSp>
            <p:grpSp>
              <p:nvGrpSpPr>
                <p:cNvPr id="277" name="组合 276"/>
                <p:cNvGrpSpPr/>
                <p:nvPr/>
              </p:nvGrpSpPr>
              <p:grpSpPr>
                <a:xfrm>
                  <a:off x="827355" y="5522372"/>
                  <a:ext cx="2844777" cy="524824"/>
                  <a:chOff x="834118" y="4878625"/>
                  <a:chExt cx="2844777" cy="524824"/>
                </a:xfrm>
              </p:grpSpPr>
              <p:sp>
                <p:nvSpPr>
                  <p:cNvPr id="278" name="7 CuadroTexto"/>
                  <p:cNvSpPr txBox="1"/>
                  <p:nvPr/>
                </p:nvSpPr>
                <p:spPr>
                  <a:xfrm>
                    <a:off x="1181559" y="4878625"/>
                    <a:ext cx="2497336" cy="52482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>
                    <a:defPPr>
                      <a:defRPr lang="zh-CN"/>
                    </a:defPPr>
                    <a:lvl1pPr>
                      <a:lnSpc>
                        <a:spcPct val="120000"/>
                      </a:lnSpc>
                      <a:defRPr sz="1000">
                        <a:solidFill>
                          <a:schemeClr val="bg2"/>
                        </a:solidFill>
                        <a:latin typeface="OPPOSans R" panose="00020600040101010101" pitchFamily="18" charset="-122"/>
                        <a:ea typeface="OPPOSans R" panose="00020600040101010101" pitchFamily="18" charset="-122"/>
                        <a:cs typeface="OPPOSans R" panose="00020600040101010101" pitchFamily="18" charset="-122"/>
                      </a:defRPr>
                    </a:lvl1pPr>
                  </a:lstStyle>
                  <a:p>
                    <a:pPr algn="just"/>
                    <a:r>
                      <a:rPr lang="zh-CN" altLang="en-US" sz="1200" dirty="0">
                        <a:solidFill>
                          <a:schemeClr val="tx1">
                            <a:alpha val="80000"/>
                          </a:schemeClr>
                        </a:solidFill>
                        <a:latin typeface="OPPOSans M" panose="00020600040101010101" pitchFamily="18" charset="-122"/>
                        <a:ea typeface="OPPOSans M" panose="00020600040101010101" pitchFamily="18" charset="-122"/>
                        <a:cs typeface="OPPOSans M" panose="00020600040101010101" pitchFamily="18" charset="-122"/>
                      </a:rPr>
                      <a:t>完善工作复盘机制，每周梳理疏漏问题，形成改进台账持续优化</a:t>
                    </a:r>
                    <a:endParaRPr lang="zh-CN" altLang="en-US" sz="1200" dirty="0">
                      <a:solidFill>
                        <a:schemeClr val="tx1">
                          <a:alpha val="80000"/>
                        </a:schemeClr>
                      </a:solidFill>
                      <a:latin typeface="OPPOSans M" panose="00020600040101010101" pitchFamily="18" charset="-122"/>
                      <a:ea typeface="OPPOSans M" panose="00020600040101010101" pitchFamily="18" charset="-122"/>
                      <a:cs typeface="OPPOSans M" panose="00020600040101010101" pitchFamily="18" charset="-122"/>
                    </a:endParaRPr>
                  </a:p>
                </p:txBody>
              </p:sp>
              <p:grpSp>
                <p:nvGrpSpPr>
                  <p:cNvPr id="279" name="组合 278"/>
                  <p:cNvGrpSpPr/>
                  <p:nvPr/>
                </p:nvGrpSpPr>
                <p:grpSpPr>
                  <a:xfrm>
                    <a:off x="834118" y="4961478"/>
                    <a:ext cx="359118" cy="359118"/>
                    <a:chOff x="834118" y="4961478"/>
                    <a:chExt cx="359118" cy="359118"/>
                  </a:xfrm>
                </p:grpSpPr>
                <p:sp>
                  <p:nvSpPr>
                    <p:cNvPr id="280" name="椭圆 279"/>
                    <p:cNvSpPr/>
                    <p:nvPr/>
                  </p:nvSpPr>
                  <p:spPr>
                    <a:xfrm>
                      <a:off x="834118" y="4961478"/>
                      <a:ext cx="359118" cy="359118"/>
                    </a:xfrm>
                    <a:prstGeom prst="ellipse">
                      <a:avLst/>
                    </a:prstGeom>
                    <a:gradFill flip="none" rotWithShape="1">
                      <a:gsLst>
                        <a:gs pos="15000">
                          <a:schemeClr val="accent1"/>
                        </a:gs>
                        <a:gs pos="100000">
                          <a:schemeClr val="accent1">
                            <a:lumMod val="60000"/>
                            <a:lumOff val="40000"/>
                          </a:schemeClr>
                        </a:gs>
                      </a:gsLst>
                      <a:lin ang="18900000" scaled="1"/>
                      <a:tileRect/>
                    </a:gra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CN" altLang="en-US"/>
                    </a:p>
                  </p:txBody>
                </p:sp>
                <p:pic>
                  <p:nvPicPr>
                    <p:cNvPr id="281" name="图形 280"/>
                    <p:cNvPicPr>
                      <a:picLocks noChangeAspect="1"/>
                    </p:cNvPicPr>
                    <p:nvPr/>
                  </p:nvPicPr>
                  <p:blipFill>
                    <a:blip r:embed="rId1">
                      <a:extLst>
                        <a:ext uri="{96DAC541-7B7A-43D3-8B79-37D633B846F1}">
                          <asvg:svgBlip xmlns:asvg="http://schemas.microsoft.com/office/drawing/2016/SVG/main" r:embed="rId2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900649" y="5022939"/>
                      <a:ext cx="226056" cy="226056"/>
                    </a:xfrm>
                    <a:prstGeom prst="rect">
                      <a:avLst/>
                    </a:prstGeom>
                  </p:spPr>
                </p:pic>
              </p:grpSp>
            </p:grpSp>
          </p:grpSp>
        </p:grpSp>
        <p:grpSp>
          <p:nvGrpSpPr>
            <p:cNvPr id="265" name="组合 264"/>
            <p:cNvGrpSpPr/>
            <p:nvPr/>
          </p:nvGrpSpPr>
          <p:grpSpPr>
            <a:xfrm>
              <a:off x="637472" y="4133874"/>
              <a:ext cx="3055781" cy="457820"/>
              <a:chOff x="637472" y="4172709"/>
              <a:chExt cx="3055781" cy="457820"/>
            </a:xfrm>
          </p:grpSpPr>
          <p:grpSp>
            <p:nvGrpSpPr>
              <p:cNvPr id="266" name="组合 265"/>
              <p:cNvGrpSpPr/>
              <p:nvPr/>
            </p:nvGrpSpPr>
            <p:grpSpPr>
              <a:xfrm>
                <a:off x="637472" y="4172709"/>
                <a:ext cx="1494804" cy="457820"/>
                <a:chOff x="637472" y="4172709"/>
                <a:chExt cx="1494804" cy="457820"/>
              </a:xfrm>
            </p:grpSpPr>
            <p:sp>
              <p:nvSpPr>
                <p:cNvPr id="271" name="矩形: 圆角 270"/>
                <p:cNvSpPr/>
                <p:nvPr/>
              </p:nvSpPr>
              <p:spPr>
                <a:xfrm>
                  <a:off x="637472" y="4172709"/>
                  <a:ext cx="1494804" cy="457820"/>
                </a:xfrm>
                <a:prstGeom prst="roundRect">
                  <a:avLst/>
                </a:prstGeom>
                <a:gradFill flip="none" rotWithShape="1">
                  <a:gsLst>
                    <a:gs pos="15000">
                      <a:schemeClr val="accent1"/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189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272" name="标题 1"/>
                <p:cNvSpPr txBox="1"/>
                <p:nvPr/>
              </p:nvSpPr>
              <p:spPr>
                <a:xfrm>
                  <a:off x="1054901" y="4234469"/>
                  <a:ext cx="921634" cy="369332"/>
                </a:xfrm>
                <a:prstGeom prst="rect">
                  <a:avLst/>
                </a:prstGeom>
                <a:noFill/>
              </p:spPr>
              <p:txBody>
                <a:bodyPr vert="horz" wrap="square" lIns="0" tIns="0" rIns="0" bIns="0" rtlCol="0" anchor="ctr">
                  <a:spAutoFit/>
                </a:bodyPr>
                <a:lstStyle>
                  <a:defPPr>
                    <a:defRPr lang="zh-CN"/>
                  </a:defPPr>
                  <a:lvl1pPr algn="ctr">
                    <a:lnSpc>
                      <a:spcPct val="100000"/>
                    </a:lnSpc>
                    <a:spcBef>
                      <a:spcPct val="0"/>
                    </a:spcBef>
                    <a:buClr>
                      <a:schemeClr val="accent1"/>
                    </a:buClr>
                    <a:buNone/>
                    <a:defRPr kumimoji="1" sz="1200">
                      <a:solidFill>
                        <a:schemeClr val="bg2"/>
                      </a:solidFill>
                      <a:latin typeface="OPPOSans M" panose="00020600040101010101" pitchFamily="18" charset="-122"/>
                      <a:ea typeface="OPPOSans M" panose="00020600040101010101" pitchFamily="18" charset="-122"/>
                      <a:cs typeface="OPPOSans M" panose="00020600040101010101" pitchFamily="18" charset="-122"/>
                    </a:defRPr>
                  </a:lvl1pPr>
                </a:lstStyle>
                <a:p>
                  <a:r>
                    <a:rPr lang="zh-CN" altLang="en-US" dirty="0"/>
                    <a:t>梳理现存</a:t>
                  </a:r>
                  <a:endParaRPr lang="en-US" altLang="zh-CN" dirty="0"/>
                </a:p>
                <a:p>
                  <a:r>
                    <a:rPr lang="zh-CN" altLang="en-US" dirty="0"/>
                    <a:t>工作短板</a:t>
                  </a:r>
                  <a:endParaRPr lang="zh-CN" altLang="en-US" dirty="0"/>
                </a:p>
              </p:txBody>
            </p:sp>
            <p:pic>
              <p:nvPicPr>
                <p:cNvPr id="273" name="图形 272"/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63325" y="4270849"/>
                  <a:ext cx="271670" cy="271670"/>
                </a:xfrm>
                <a:prstGeom prst="rect">
                  <a:avLst/>
                </a:prstGeom>
              </p:spPr>
            </p:pic>
          </p:grpSp>
          <p:grpSp>
            <p:nvGrpSpPr>
              <p:cNvPr id="267" name="组合 266"/>
              <p:cNvGrpSpPr/>
              <p:nvPr/>
            </p:nvGrpSpPr>
            <p:grpSpPr>
              <a:xfrm>
                <a:off x="2198449" y="4172709"/>
                <a:ext cx="1494804" cy="457820"/>
                <a:chOff x="637472" y="4172709"/>
                <a:chExt cx="1494804" cy="457820"/>
              </a:xfrm>
            </p:grpSpPr>
            <p:sp>
              <p:nvSpPr>
                <p:cNvPr id="268" name="矩形: 圆角 267"/>
                <p:cNvSpPr/>
                <p:nvPr/>
              </p:nvSpPr>
              <p:spPr>
                <a:xfrm>
                  <a:off x="637472" y="4172709"/>
                  <a:ext cx="1494804" cy="457820"/>
                </a:xfrm>
                <a:prstGeom prst="roundRect">
                  <a:avLst/>
                </a:prstGeom>
                <a:gradFill flip="none" rotWithShape="1">
                  <a:gsLst>
                    <a:gs pos="15000">
                      <a:schemeClr val="accent1"/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189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269" name="标题 1"/>
                <p:cNvSpPr txBox="1"/>
                <p:nvPr/>
              </p:nvSpPr>
              <p:spPr>
                <a:xfrm>
                  <a:off x="1054901" y="4234469"/>
                  <a:ext cx="921634" cy="369332"/>
                </a:xfrm>
                <a:prstGeom prst="rect">
                  <a:avLst/>
                </a:prstGeom>
                <a:noFill/>
              </p:spPr>
              <p:txBody>
                <a:bodyPr vert="horz" wrap="square" lIns="0" tIns="0" rIns="0" bIns="0" rtlCol="0" anchor="ctr">
                  <a:spAutoFit/>
                </a:bodyPr>
                <a:lstStyle>
                  <a:defPPr>
                    <a:defRPr lang="zh-CN"/>
                  </a:defPPr>
                  <a:lvl1pPr algn="ctr">
                    <a:lnSpc>
                      <a:spcPct val="100000"/>
                    </a:lnSpc>
                    <a:spcBef>
                      <a:spcPct val="0"/>
                    </a:spcBef>
                    <a:buClr>
                      <a:schemeClr val="accent1"/>
                    </a:buClr>
                    <a:buNone/>
                    <a:defRPr kumimoji="1" sz="1200">
                      <a:solidFill>
                        <a:schemeClr val="bg2"/>
                      </a:solidFill>
                      <a:latin typeface="OPPOSans M" panose="00020600040101010101" pitchFamily="18" charset="-122"/>
                      <a:ea typeface="OPPOSans M" panose="00020600040101010101" pitchFamily="18" charset="-122"/>
                      <a:cs typeface="OPPOSans M" panose="00020600040101010101" pitchFamily="18" charset="-122"/>
                    </a:defRPr>
                  </a:lvl1pPr>
                </a:lstStyle>
                <a:p>
                  <a:r>
                    <a:rPr lang="zh-CN" altLang="en-US" dirty="0"/>
                    <a:t>制定全年</a:t>
                  </a:r>
                  <a:endParaRPr lang="en-US" altLang="zh-CN" dirty="0"/>
                </a:p>
                <a:p>
                  <a:r>
                    <a:rPr lang="zh-CN" altLang="en-US" dirty="0"/>
                    <a:t>改进方案</a:t>
                  </a:r>
                  <a:endParaRPr lang="zh-CN" altLang="en-US" dirty="0"/>
                </a:p>
              </p:txBody>
            </p:sp>
            <p:pic>
              <p:nvPicPr>
                <p:cNvPr id="270" name="图形 269"/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63325" y="4270849"/>
                  <a:ext cx="271670" cy="271670"/>
                </a:xfrm>
                <a:prstGeom prst="rect">
                  <a:avLst/>
                </a:prstGeom>
              </p:spPr>
            </p:pic>
          </p:grpSp>
        </p:grpSp>
      </p:grpSp>
      <p:sp>
        <p:nvSpPr>
          <p:cNvPr id="4" name="矩形: 圆角 3"/>
          <p:cNvSpPr/>
          <p:nvPr/>
        </p:nvSpPr>
        <p:spPr>
          <a:xfrm>
            <a:off x="448745" y="1022880"/>
            <a:ext cx="2240372" cy="1219200"/>
          </a:xfrm>
          <a:prstGeom prst="roundRect">
            <a:avLst>
              <a:gd name="adj" fmla="val 12370"/>
            </a:avLst>
          </a:prstGeom>
          <a:gradFill>
            <a:gsLst>
              <a:gs pos="11000">
                <a:schemeClr val="accent1"/>
              </a:gs>
              <a:gs pos="92000">
                <a:schemeClr val="accent1">
                  <a:lumMod val="60000"/>
                  <a:lumOff val="40000"/>
                </a:schemeClr>
              </a:gs>
            </a:gsLst>
            <a:lin ang="189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9" name="标题 1"/>
          <p:cNvSpPr txBox="1"/>
          <p:nvPr/>
        </p:nvSpPr>
        <p:spPr>
          <a:xfrm>
            <a:off x="1657020" y="1201213"/>
            <a:ext cx="1048766" cy="8947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lang="zh-CN" altLang="en-US" sz="2800" kern="1200" dirty="0">
                <a:solidFill>
                  <a:schemeClr val="bg1">
                    <a:lumMod val="90000"/>
                    <a:lumOff val="10000"/>
                  </a:schemeClr>
                </a:solidFill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defRPr>
            </a:lvl1pPr>
          </a:lstStyle>
          <a:p>
            <a:r>
              <a:rPr lang="zh-CN" altLang="en-US" sz="3200" dirty="0">
                <a:solidFill>
                  <a:schemeClr val="bg2"/>
                </a:solidFill>
              </a:rPr>
              <a:t>工作概述</a:t>
            </a:r>
            <a:endParaRPr lang="zh-CN" altLang="en-US" sz="3200" dirty="0">
              <a:solidFill>
                <a:schemeClr val="bg2"/>
              </a:solidFill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rcRect b="15345"/>
          <a:stretch>
            <a:fillRect/>
          </a:stretch>
        </p:blipFill>
        <p:spPr>
          <a:xfrm>
            <a:off x="448745" y="1022880"/>
            <a:ext cx="1060450" cy="1196975"/>
          </a:xfrm>
          <a:custGeom>
            <a:avLst/>
            <a:gdLst>
              <a:gd name="connsiteX0" fmla="*/ 150815 w 1060450"/>
              <a:gd name="connsiteY0" fmla="*/ 0 h 1196975"/>
              <a:gd name="connsiteX1" fmla="*/ 1060450 w 1060450"/>
              <a:gd name="connsiteY1" fmla="*/ 0 h 1196975"/>
              <a:gd name="connsiteX2" fmla="*/ 1060450 w 1060450"/>
              <a:gd name="connsiteY2" fmla="*/ 1196975 h 1196975"/>
              <a:gd name="connsiteX3" fmla="*/ 76725 w 1060450"/>
              <a:gd name="connsiteY3" fmla="*/ 1196975 h 1196975"/>
              <a:gd name="connsiteX4" fmla="*/ 44173 w 1060450"/>
              <a:gd name="connsiteY4" fmla="*/ 1175028 h 1196975"/>
              <a:gd name="connsiteX5" fmla="*/ 0 w 1060450"/>
              <a:gd name="connsiteY5" fmla="*/ 1068385 h 1196975"/>
              <a:gd name="connsiteX6" fmla="*/ 0 w 1060450"/>
              <a:gd name="connsiteY6" fmla="*/ 150815 h 1196975"/>
              <a:gd name="connsiteX7" fmla="*/ 150815 w 1060450"/>
              <a:gd name="connsiteY7" fmla="*/ 0 h 1196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60450" h="1196975">
                <a:moveTo>
                  <a:pt x="150815" y="0"/>
                </a:moveTo>
                <a:lnTo>
                  <a:pt x="1060450" y="0"/>
                </a:lnTo>
                <a:lnTo>
                  <a:pt x="1060450" y="1196975"/>
                </a:lnTo>
                <a:lnTo>
                  <a:pt x="76725" y="1196975"/>
                </a:lnTo>
                <a:lnTo>
                  <a:pt x="44173" y="1175028"/>
                </a:lnTo>
                <a:cubicBezTo>
                  <a:pt x="16881" y="1147735"/>
                  <a:pt x="0" y="1110032"/>
                  <a:pt x="0" y="1068385"/>
                </a:cubicBezTo>
                <a:lnTo>
                  <a:pt x="0" y="150815"/>
                </a:lnTo>
                <a:cubicBezTo>
                  <a:pt x="0" y="67522"/>
                  <a:pt x="67522" y="0"/>
                  <a:pt x="150815" y="0"/>
                </a:cubicBez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文本框 4"/>
          <p:cNvSpPr txBox="1"/>
          <p:nvPr/>
        </p:nvSpPr>
        <p:spPr>
          <a:xfrm>
            <a:off x="2935187" y="1220898"/>
            <a:ext cx="4319236" cy="8553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kumimoji="1" b="0" kern="0">
                <a:solidFill>
                  <a:srgbClr val="111111"/>
                </a:solidFill>
                <a:latin typeface="OPPOSans M" panose="00020600040101010101" pitchFamily="18" charset="-122"/>
                <a:ea typeface="OPPOSans M" panose="00020600040101010101" pitchFamily="18" charset="-122"/>
                <a:cs typeface="OPPOSans M" panose="00020600040101010101" pitchFamily="18" charset="-122"/>
              </a:defRPr>
            </a:lvl1pPr>
          </a:lstStyle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rgbClr val="111111">
                    <a:alpha val="61000"/>
                  </a:srgbClr>
                </a:solidFill>
              </a:rPr>
              <a:t>本阶段严格落实各项业务指标，按时办结日常任务，主动梳理流程短板优化办事效率，保质保量达成阶段既定工作目标，保障板块业务平稳推进。</a:t>
            </a:r>
            <a:endParaRPr lang="zh-CN" altLang="en-US" sz="1400" dirty="0">
              <a:solidFill>
                <a:srgbClr val="111111">
                  <a:alpha val="61000"/>
                </a:srgbClr>
              </a:solidFill>
            </a:endParaRPr>
          </a:p>
        </p:txBody>
      </p:sp>
      <p:grpSp>
        <p:nvGrpSpPr>
          <p:cNvPr id="567" name="组合 566"/>
          <p:cNvGrpSpPr/>
          <p:nvPr/>
        </p:nvGrpSpPr>
        <p:grpSpPr>
          <a:xfrm>
            <a:off x="7439147" y="1372456"/>
            <a:ext cx="4212528" cy="589828"/>
            <a:chOff x="3055680" y="3312191"/>
            <a:chExt cx="3918580" cy="548670"/>
          </a:xfrm>
        </p:grpSpPr>
        <p:grpSp>
          <p:nvGrpSpPr>
            <p:cNvPr id="13" name="组合 12"/>
            <p:cNvGrpSpPr/>
            <p:nvPr/>
          </p:nvGrpSpPr>
          <p:grpSpPr>
            <a:xfrm>
              <a:off x="3055680" y="3312191"/>
              <a:ext cx="1782893" cy="548670"/>
              <a:chOff x="2973130" y="3242268"/>
              <a:chExt cx="1782893" cy="548670"/>
            </a:xfrm>
          </p:grpSpPr>
          <p:grpSp>
            <p:nvGrpSpPr>
              <p:cNvPr id="518" name="组合 517"/>
              <p:cNvGrpSpPr/>
              <p:nvPr/>
            </p:nvGrpSpPr>
            <p:grpSpPr>
              <a:xfrm>
                <a:off x="2973130" y="3242268"/>
                <a:ext cx="272749" cy="548670"/>
                <a:chOff x="8532813" y="842963"/>
                <a:chExt cx="546099" cy="1098551"/>
              </a:xfrm>
              <a:gradFill>
                <a:gsLst>
                  <a:gs pos="34000">
                    <a:schemeClr val="accent1"/>
                  </a:gs>
                  <a:gs pos="100000">
                    <a:schemeClr val="bg2"/>
                  </a:gs>
                  <a:gs pos="76000">
                    <a:schemeClr val="accent1">
                      <a:lumMod val="60000"/>
                      <a:lumOff val="40000"/>
                    </a:schemeClr>
                  </a:gs>
                </a:gsLst>
                <a:lin ang="16200000" scaled="1"/>
              </a:gradFill>
            </p:grpSpPr>
            <p:sp>
              <p:nvSpPr>
                <p:cNvPr id="545" name="Freeform 132"/>
                <p:cNvSpPr/>
                <p:nvPr/>
              </p:nvSpPr>
              <p:spPr bwMode="auto">
                <a:xfrm>
                  <a:off x="8716963" y="1592263"/>
                  <a:ext cx="58737" cy="158750"/>
                </a:xfrm>
                <a:custGeom>
                  <a:avLst/>
                  <a:gdLst>
                    <a:gd name="T0" fmla="*/ 18 w 18"/>
                    <a:gd name="T1" fmla="*/ 19 h 49"/>
                    <a:gd name="T2" fmla="*/ 13 w 18"/>
                    <a:gd name="T3" fmla="*/ 44 h 49"/>
                    <a:gd name="T4" fmla="*/ 14 w 18"/>
                    <a:gd name="T5" fmla="*/ 49 h 49"/>
                    <a:gd name="T6" fmla="*/ 2 w 18"/>
                    <a:gd name="T7" fmla="*/ 25 h 49"/>
                    <a:gd name="T8" fmla="*/ 7 w 18"/>
                    <a:gd name="T9" fmla="*/ 0 h 49"/>
                    <a:gd name="T10" fmla="*/ 18 w 18"/>
                    <a:gd name="T11" fmla="*/ 19 h 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8" h="49">
                      <a:moveTo>
                        <a:pt x="18" y="19"/>
                      </a:moveTo>
                      <a:cubicBezTo>
                        <a:pt x="17" y="22"/>
                        <a:pt x="11" y="31"/>
                        <a:pt x="13" y="44"/>
                      </a:cubicBezTo>
                      <a:cubicBezTo>
                        <a:pt x="13" y="46"/>
                        <a:pt x="13" y="47"/>
                        <a:pt x="14" y="49"/>
                      </a:cubicBezTo>
                      <a:cubicBezTo>
                        <a:pt x="12" y="46"/>
                        <a:pt x="4" y="38"/>
                        <a:pt x="2" y="25"/>
                      </a:cubicBezTo>
                      <a:cubicBezTo>
                        <a:pt x="0" y="11"/>
                        <a:pt x="6" y="2"/>
                        <a:pt x="7" y="0"/>
                      </a:cubicBezTo>
                      <a:cubicBezTo>
                        <a:pt x="9" y="2"/>
                        <a:pt x="15" y="8"/>
                        <a:pt x="18" y="1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546" name="Freeform 133"/>
                <p:cNvSpPr/>
                <p:nvPr/>
              </p:nvSpPr>
              <p:spPr bwMode="auto">
                <a:xfrm>
                  <a:off x="8601075" y="1685926"/>
                  <a:ext cx="147637" cy="71438"/>
                </a:xfrm>
                <a:custGeom>
                  <a:avLst/>
                  <a:gdLst>
                    <a:gd name="T0" fmla="*/ 17 w 46"/>
                    <a:gd name="T1" fmla="*/ 19 h 22"/>
                    <a:gd name="T2" fmla="*/ 42 w 46"/>
                    <a:gd name="T3" fmla="*/ 20 h 22"/>
                    <a:gd name="T4" fmla="*/ 46 w 46"/>
                    <a:gd name="T5" fmla="*/ 22 h 22"/>
                    <a:gd name="T6" fmla="*/ 26 w 46"/>
                    <a:gd name="T7" fmla="*/ 5 h 22"/>
                    <a:gd name="T8" fmla="*/ 0 w 46"/>
                    <a:gd name="T9" fmla="*/ 3 h 22"/>
                    <a:gd name="T10" fmla="*/ 17 w 46"/>
                    <a:gd name="T11" fmla="*/ 19 h 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6" h="22">
                      <a:moveTo>
                        <a:pt x="17" y="19"/>
                      </a:moveTo>
                      <a:cubicBezTo>
                        <a:pt x="19" y="18"/>
                        <a:pt x="30" y="15"/>
                        <a:pt x="42" y="20"/>
                      </a:cubicBezTo>
                      <a:cubicBezTo>
                        <a:pt x="44" y="21"/>
                        <a:pt x="45" y="22"/>
                        <a:pt x="46" y="22"/>
                      </a:cubicBezTo>
                      <a:cubicBezTo>
                        <a:pt x="45" y="20"/>
                        <a:pt x="38" y="10"/>
                        <a:pt x="26" y="5"/>
                      </a:cubicBezTo>
                      <a:cubicBezTo>
                        <a:pt x="14" y="0"/>
                        <a:pt x="3" y="3"/>
                        <a:pt x="0" y="3"/>
                      </a:cubicBezTo>
                      <a:cubicBezTo>
                        <a:pt x="2" y="6"/>
                        <a:pt x="7" y="14"/>
                        <a:pt x="17" y="1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547" name="Freeform 134"/>
                <p:cNvSpPr/>
                <p:nvPr/>
              </p:nvSpPr>
              <p:spPr bwMode="auto">
                <a:xfrm>
                  <a:off x="8675688" y="1501776"/>
                  <a:ext cx="57150" cy="161925"/>
                </a:xfrm>
                <a:custGeom>
                  <a:avLst/>
                  <a:gdLst>
                    <a:gd name="T0" fmla="*/ 18 w 18"/>
                    <a:gd name="T1" fmla="*/ 22 h 50"/>
                    <a:gd name="T2" fmla="*/ 8 w 18"/>
                    <a:gd name="T3" fmla="*/ 45 h 50"/>
                    <a:gd name="T4" fmla="*/ 8 w 18"/>
                    <a:gd name="T5" fmla="*/ 50 h 50"/>
                    <a:gd name="T6" fmla="*/ 1 w 18"/>
                    <a:gd name="T7" fmla="*/ 24 h 50"/>
                    <a:gd name="T8" fmla="*/ 11 w 18"/>
                    <a:gd name="T9" fmla="*/ 0 h 50"/>
                    <a:gd name="T10" fmla="*/ 18 w 18"/>
                    <a:gd name="T11" fmla="*/ 22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8" h="50">
                      <a:moveTo>
                        <a:pt x="18" y="22"/>
                      </a:moveTo>
                      <a:cubicBezTo>
                        <a:pt x="16" y="24"/>
                        <a:pt x="9" y="32"/>
                        <a:pt x="8" y="45"/>
                      </a:cubicBezTo>
                      <a:cubicBezTo>
                        <a:pt x="8" y="47"/>
                        <a:pt x="8" y="48"/>
                        <a:pt x="8" y="50"/>
                      </a:cubicBezTo>
                      <a:cubicBezTo>
                        <a:pt x="6" y="47"/>
                        <a:pt x="0" y="37"/>
                        <a:pt x="1" y="24"/>
                      </a:cubicBezTo>
                      <a:cubicBezTo>
                        <a:pt x="2" y="10"/>
                        <a:pt x="9" y="2"/>
                        <a:pt x="11" y="0"/>
                      </a:cubicBezTo>
                      <a:cubicBezTo>
                        <a:pt x="13" y="3"/>
                        <a:pt x="18" y="11"/>
                        <a:pt x="18" y="2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548" name="Freeform 135"/>
                <p:cNvSpPr/>
                <p:nvPr/>
              </p:nvSpPr>
              <p:spPr bwMode="auto">
                <a:xfrm>
                  <a:off x="8555038" y="1576388"/>
                  <a:ext cx="133350" cy="93663"/>
                </a:xfrm>
                <a:custGeom>
                  <a:avLst/>
                  <a:gdLst>
                    <a:gd name="T0" fmla="*/ 12 w 41"/>
                    <a:gd name="T1" fmla="*/ 19 h 29"/>
                    <a:gd name="T2" fmla="*/ 37 w 41"/>
                    <a:gd name="T3" fmla="*/ 26 h 29"/>
                    <a:gd name="T4" fmla="*/ 41 w 41"/>
                    <a:gd name="T5" fmla="*/ 29 h 29"/>
                    <a:gd name="T6" fmla="*/ 25 w 41"/>
                    <a:gd name="T7" fmla="*/ 7 h 29"/>
                    <a:gd name="T8" fmla="*/ 0 w 41"/>
                    <a:gd name="T9" fmla="*/ 1 h 29"/>
                    <a:gd name="T10" fmla="*/ 12 w 41"/>
                    <a:gd name="T11" fmla="*/ 19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1" h="29">
                      <a:moveTo>
                        <a:pt x="12" y="19"/>
                      </a:moveTo>
                      <a:cubicBezTo>
                        <a:pt x="15" y="19"/>
                        <a:pt x="26" y="18"/>
                        <a:pt x="37" y="26"/>
                      </a:cubicBezTo>
                      <a:cubicBezTo>
                        <a:pt x="38" y="27"/>
                        <a:pt x="40" y="28"/>
                        <a:pt x="41" y="29"/>
                      </a:cubicBezTo>
                      <a:cubicBezTo>
                        <a:pt x="40" y="26"/>
                        <a:pt x="36" y="15"/>
                        <a:pt x="25" y="7"/>
                      </a:cubicBezTo>
                      <a:cubicBezTo>
                        <a:pt x="14" y="0"/>
                        <a:pt x="3" y="0"/>
                        <a:pt x="0" y="1"/>
                      </a:cubicBezTo>
                      <a:cubicBezTo>
                        <a:pt x="1" y="3"/>
                        <a:pt x="4" y="12"/>
                        <a:pt x="12" y="1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549" name="Freeform 136"/>
                <p:cNvSpPr/>
                <p:nvPr/>
              </p:nvSpPr>
              <p:spPr bwMode="auto">
                <a:xfrm>
                  <a:off x="8642350" y="1411288"/>
                  <a:ext cx="74612" cy="155575"/>
                </a:xfrm>
                <a:custGeom>
                  <a:avLst/>
                  <a:gdLst>
                    <a:gd name="T0" fmla="*/ 21 w 23"/>
                    <a:gd name="T1" fmla="*/ 22 h 48"/>
                    <a:gd name="T2" fmla="*/ 6 w 23"/>
                    <a:gd name="T3" fmla="*/ 43 h 48"/>
                    <a:gd name="T4" fmla="*/ 5 w 23"/>
                    <a:gd name="T5" fmla="*/ 48 h 48"/>
                    <a:gd name="T6" fmla="*/ 3 w 23"/>
                    <a:gd name="T7" fmla="*/ 21 h 48"/>
                    <a:gd name="T8" fmla="*/ 19 w 23"/>
                    <a:gd name="T9" fmla="*/ 0 h 48"/>
                    <a:gd name="T10" fmla="*/ 21 w 23"/>
                    <a:gd name="T11" fmla="*/ 22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3" h="48">
                      <a:moveTo>
                        <a:pt x="21" y="22"/>
                      </a:moveTo>
                      <a:cubicBezTo>
                        <a:pt x="18" y="24"/>
                        <a:pt x="9" y="30"/>
                        <a:pt x="6" y="43"/>
                      </a:cubicBezTo>
                      <a:cubicBezTo>
                        <a:pt x="5" y="45"/>
                        <a:pt x="5" y="46"/>
                        <a:pt x="5" y="48"/>
                      </a:cubicBezTo>
                      <a:cubicBezTo>
                        <a:pt x="3" y="45"/>
                        <a:pt x="0" y="33"/>
                        <a:pt x="3" y="21"/>
                      </a:cubicBezTo>
                      <a:cubicBezTo>
                        <a:pt x="7" y="8"/>
                        <a:pt x="16" y="1"/>
                        <a:pt x="19" y="0"/>
                      </a:cubicBezTo>
                      <a:cubicBezTo>
                        <a:pt x="20" y="3"/>
                        <a:pt x="23" y="11"/>
                        <a:pt x="21" y="2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550" name="Freeform 137"/>
                <p:cNvSpPr/>
                <p:nvPr/>
              </p:nvSpPr>
              <p:spPr bwMode="auto">
                <a:xfrm>
                  <a:off x="8532813" y="1454151"/>
                  <a:ext cx="109537" cy="115888"/>
                </a:xfrm>
                <a:custGeom>
                  <a:avLst/>
                  <a:gdLst>
                    <a:gd name="T0" fmla="*/ 8 w 34"/>
                    <a:gd name="T1" fmla="*/ 20 h 36"/>
                    <a:gd name="T2" fmla="*/ 31 w 34"/>
                    <a:gd name="T3" fmla="*/ 32 h 36"/>
                    <a:gd name="T4" fmla="*/ 34 w 34"/>
                    <a:gd name="T5" fmla="*/ 36 h 36"/>
                    <a:gd name="T6" fmla="*/ 23 w 34"/>
                    <a:gd name="T7" fmla="*/ 11 h 36"/>
                    <a:gd name="T8" fmla="*/ 0 w 34"/>
                    <a:gd name="T9" fmla="*/ 0 h 36"/>
                    <a:gd name="T10" fmla="*/ 8 w 34"/>
                    <a:gd name="T11" fmla="*/ 2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34" h="36">
                      <a:moveTo>
                        <a:pt x="8" y="20"/>
                      </a:moveTo>
                      <a:cubicBezTo>
                        <a:pt x="11" y="21"/>
                        <a:pt x="22" y="22"/>
                        <a:pt x="31" y="32"/>
                      </a:cubicBezTo>
                      <a:cubicBezTo>
                        <a:pt x="32" y="33"/>
                        <a:pt x="34" y="34"/>
                        <a:pt x="34" y="36"/>
                      </a:cubicBezTo>
                      <a:cubicBezTo>
                        <a:pt x="34" y="32"/>
                        <a:pt x="32" y="21"/>
                        <a:pt x="23" y="11"/>
                      </a:cubicBezTo>
                      <a:cubicBezTo>
                        <a:pt x="14" y="1"/>
                        <a:pt x="3" y="0"/>
                        <a:pt x="0" y="0"/>
                      </a:cubicBezTo>
                      <a:cubicBezTo>
                        <a:pt x="0" y="2"/>
                        <a:pt x="2" y="12"/>
                        <a:pt x="8" y="2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551" name="Freeform 138"/>
                <p:cNvSpPr/>
                <p:nvPr/>
              </p:nvSpPr>
              <p:spPr bwMode="auto">
                <a:xfrm>
                  <a:off x="8629650" y="1317626"/>
                  <a:ext cx="87312" cy="142875"/>
                </a:xfrm>
                <a:custGeom>
                  <a:avLst/>
                  <a:gdLst>
                    <a:gd name="T0" fmla="*/ 23 w 27"/>
                    <a:gd name="T1" fmla="*/ 23 h 44"/>
                    <a:gd name="T2" fmla="*/ 4 w 27"/>
                    <a:gd name="T3" fmla="*/ 40 h 44"/>
                    <a:gd name="T4" fmla="*/ 2 w 27"/>
                    <a:gd name="T5" fmla="*/ 44 h 44"/>
                    <a:gd name="T6" fmla="*/ 7 w 27"/>
                    <a:gd name="T7" fmla="*/ 18 h 44"/>
                    <a:gd name="T8" fmla="*/ 26 w 27"/>
                    <a:gd name="T9" fmla="*/ 0 h 44"/>
                    <a:gd name="T10" fmla="*/ 23 w 27"/>
                    <a:gd name="T11" fmla="*/ 23 h 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7" h="44">
                      <a:moveTo>
                        <a:pt x="23" y="23"/>
                      </a:moveTo>
                      <a:cubicBezTo>
                        <a:pt x="20" y="24"/>
                        <a:pt x="10" y="28"/>
                        <a:pt x="4" y="40"/>
                      </a:cubicBezTo>
                      <a:cubicBezTo>
                        <a:pt x="3" y="41"/>
                        <a:pt x="3" y="43"/>
                        <a:pt x="2" y="44"/>
                      </a:cubicBezTo>
                      <a:cubicBezTo>
                        <a:pt x="2" y="41"/>
                        <a:pt x="0" y="29"/>
                        <a:pt x="7" y="18"/>
                      </a:cubicBezTo>
                      <a:cubicBezTo>
                        <a:pt x="13" y="6"/>
                        <a:pt x="23" y="2"/>
                        <a:pt x="26" y="0"/>
                      </a:cubicBezTo>
                      <a:cubicBezTo>
                        <a:pt x="26" y="3"/>
                        <a:pt x="27" y="13"/>
                        <a:pt x="23" y="2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552" name="Freeform 139"/>
                <p:cNvSpPr/>
                <p:nvPr/>
              </p:nvSpPr>
              <p:spPr bwMode="auto">
                <a:xfrm>
                  <a:off x="8535988" y="1323976"/>
                  <a:ext cx="90487" cy="136525"/>
                </a:xfrm>
                <a:custGeom>
                  <a:avLst/>
                  <a:gdLst>
                    <a:gd name="T0" fmla="*/ 5 w 28"/>
                    <a:gd name="T1" fmla="*/ 22 h 42"/>
                    <a:gd name="T2" fmla="*/ 25 w 28"/>
                    <a:gd name="T3" fmla="*/ 38 h 42"/>
                    <a:gd name="T4" fmla="*/ 27 w 28"/>
                    <a:gd name="T5" fmla="*/ 42 h 42"/>
                    <a:gd name="T6" fmla="*/ 21 w 28"/>
                    <a:gd name="T7" fmla="*/ 16 h 42"/>
                    <a:gd name="T8" fmla="*/ 1 w 28"/>
                    <a:gd name="T9" fmla="*/ 0 h 42"/>
                    <a:gd name="T10" fmla="*/ 5 w 28"/>
                    <a:gd name="T11" fmla="*/ 22 h 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8" h="42">
                      <a:moveTo>
                        <a:pt x="5" y="22"/>
                      </a:moveTo>
                      <a:cubicBezTo>
                        <a:pt x="7" y="23"/>
                        <a:pt x="17" y="27"/>
                        <a:pt x="25" y="38"/>
                      </a:cubicBezTo>
                      <a:cubicBezTo>
                        <a:pt x="25" y="40"/>
                        <a:pt x="26" y="41"/>
                        <a:pt x="27" y="42"/>
                      </a:cubicBezTo>
                      <a:cubicBezTo>
                        <a:pt x="27" y="39"/>
                        <a:pt x="28" y="27"/>
                        <a:pt x="21" y="16"/>
                      </a:cubicBezTo>
                      <a:cubicBezTo>
                        <a:pt x="14" y="5"/>
                        <a:pt x="4" y="1"/>
                        <a:pt x="1" y="0"/>
                      </a:cubicBezTo>
                      <a:cubicBezTo>
                        <a:pt x="0" y="3"/>
                        <a:pt x="0" y="12"/>
                        <a:pt x="5" y="2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553" name="Freeform 140"/>
                <p:cNvSpPr/>
                <p:nvPr/>
              </p:nvSpPr>
              <p:spPr bwMode="auto">
                <a:xfrm>
                  <a:off x="8636000" y="1230313"/>
                  <a:ext cx="106362" cy="123825"/>
                </a:xfrm>
                <a:custGeom>
                  <a:avLst/>
                  <a:gdLst>
                    <a:gd name="T0" fmla="*/ 25 w 33"/>
                    <a:gd name="T1" fmla="*/ 22 h 38"/>
                    <a:gd name="T2" fmla="*/ 3 w 33"/>
                    <a:gd name="T3" fmla="*/ 34 h 38"/>
                    <a:gd name="T4" fmla="*/ 0 w 33"/>
                    <a:gd name="T5" fmla="*/ 38 h 38"/>
                    <a:gd name="T6" fmla="*/ 10 w 33"/>
                    <a:gd name="T7" fmla="*/ 13 h 38"/>
                    <a:gd name="T8" fmla="*/ 33 w 33"/>
                    <a:gd name="T9" fmla="*/ 0 h 38"/>
                    <a:gd name="T10" fmla="*/ 25 w 33"/>
                    <a:gd name="T11" fmla="*/ 22 h 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33" h="38">
                      <a:moveTo>
                        <a:pt x="25" y="22"/>
                      </a:moveTo>
                      <a:cubicBezTo>
                        <a:pt x="23" y="22"/>
                        <a:pt x="12" y="24"/>
                        <a:pt x="3" y="34"/>
                      </a:cubicBezTo>
                      <a:cubicBezTo>
                        <a:pt x="2" y="36"/>
                        <a:pt x="1" y="37"/>
                        <a:pt x="0" y="38"/>
                      </a:cubicBezTo>
                      <a:cubicBezTo>
                        <a:pt x="1" y="35"/>
                        <a:pt x="2" y="23"/>
                        <a:pt x="10" y="13"/>
                      </a:cubicBezTo>
                      <a:cubicBezTo>
                        <a:pt x="19" y="3"/>
                        <a:pt x="30" y="1"/>
                        <a:pt x="33" y="0"/>
                      </a:cubicBezTo>
                      <a:cubicBezTo>
                        <a:pt x="32" y="3"/>
                        <a:pt x="32" y="12"/>
                        <a:pt x="25" y="2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554" name="Freeform 141"/>
                <p:cNvSpPr/>
                <p:nvPr/>
              </p:nvSpPr>
              <p:spPr bwMode="auto">
                <a:xfrm>
                  <a:off x="8558213" y="1201738"/>
                  <a:ext cx="77787" cy="152400"/>
                </a:xfrm>
                <a:custGeom>
                  <a:avLst/>
                  <a:gdLst>
                    <a:gd name="T0" fmla="*/ 3 w 24"/>
                    <a:gd name="T1" fmla="*/ 22 h 47"/>
                    <a:gd name="T2" fmla="*/ 19 w 24"/>
                    <a:gd name="T3" fmla="*/ 42 h 47"/>
                    <a:gd name="T4" fmla="*/ 20 w 24"/>
                    <a:gd name="T5" fmla="*/ 47 h 47"/>
                    <a:gd name="T6" fmla="*/ 20 w 24"/>
                    <a:gd name="T7" fmla="*/ 19 h 47"/>
                    <a:gd name="T8" fmla="*/ 4 w 24"/>
                    <a:gd name="T9" fmla="*/ 0 h 47"/>
                    <a:gd name="T10" fmla="*/ 3 w 24"/>
                    <a:gd name="T11" fmla="*/ 22 h 4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4" h="47">
                      <a:moveTo>
                        <a:pt x="3" y="22"/>
                      </a:moveTo>
                      <a:cubicBezTo>
                        <a:pt x="5" y="24"/>
                        <a:pt x="14" y="29"/>
                        <a:pt x="19" y="42"/>
                      </a:cubicBezTo>
                      <a:cubicBezTo>
                        <a:pt x="19" y="43"/>
                        <a:pt x="20" y="45"/>
                        <a:pt x="20" y="47"/>
                      </a:cubicBezTo>
                      <a:cubicBezTo>
                        <a:pt x="21" y="43"/>
                        <a:pt x="24" y="32"/>
                        <a:pt x="20" y="19"/>
                      </a:cubicBezTo>
                      <a:cubicBezTo>
                        <a:pt x="15" y="7"/>
                        <a:pt x="6" y="1"/>
                        <a:pt x="4" y="0"/>
                      </a:cubicBezTo>
                      <a:cubicBezTo>
                        <a:pt x="3" y="2"/>
                        <a:pt x="0" y="11"/>
                        <a:pt x="3" y="2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555" name="Freeform 142"/>
                <p:cNvSpPr/>
                <p:nvPr/>
              </p:nvSpPr>
              <p:spPr bwMode="auto">
                <a:xfrm>
                  <a:off x="8661400" y="1149351"/>
                  <a:ext cx="127000" cy="101600"/>
                </a:xfrm>
                <a:custGeom>
                  <a:avLst/>
                  <a:gdLst>
                    <a:gd name="T0" fmla="*/ 28 w 39"/>
                    <a:gd name="T1" fmla="*/ 20 h 31"/>
                    <a:gd name="T2" fmla="*/ 3 w 39"/>
                    <a:gd name="T3" fmla="*/ 28 h 31"/>
                    <a:gd name="T4" fmla="*/ 0 w 39"/>
                    <a:gd name="T5" fmla="*/ 31 h 31"/>
                    <a:gd name="T6" fmla="*/ 15 w 39"/>
                    <a:gd name="T7" fmla="*/ 9 h 31"/>
                    <a:gd name="T8" fmla="*/ 39 w 39"/>
                    <a:gd name="T9" fmla="*/ 1 h 31"/>
                    <a:gd name="T10" fmla="*/ 28 w 39"/>
                    <a:gd name="T11" fmla="*/ 20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39" h="31">
                      <a:moveTo>
                        <a:pt x="28" y="20"/>
                      </a:moveTo>
                      <a:cubicBezTo>
                        <a:pt x="25" y="20"/>
                        <a:pt x="14" y="20"/>
                        <a:pt x="3" y="28"/>
                      </a:cubicBezTo>
                      <a:cubicBezTo>
                        <a:pt x="2" y="29"/>
                        <a:pt x="1" y="30"/>
                        <a:pt x="0" y="31"/>
                      </a:cubicBezTo>
                      <a:cubicBezTo>
                        <a:pt x="0" y="28"/>
                        <a:pt x="4" y="17"/>
                        <a:pt x="15" y="9"/>
                      </a:cubicBezTo>
                      <a:cubicBezTo>
                        <a:pt x="25" y="0"/>
                        <a:pt x="36" y="0"/>
                        <a:pt x="39" y="1"/>
                      </a:cubicBezTo>
                      <a:cubicBezTo>
                        <a:pt x="38" y="3"/>
                        <a:pt x="35" y="12"/>
                        <a:pt x="28" y="2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556" name="Freeform 143"/>
                <p:cNvSpPr/>
                <p:nvPr/>
              </p:nvSpPr>
              <p:spPr bwMode="auto">
                <a:xfrm>
                  <a:off x="8607425" y="1085851"/>
                  <a:ext cx="65087" cy="157163"/>
                </a:xfrm>
                <a:custGeom>
                  <a:avLst/>
                  <a:gdLst>
                    <a:gd name="T0" fmla="*/ 1 w 20"/>
                    <a:gd name="T1" fmla="*/ 22 h 49"/>
                    <a:gd name="T2" fmla="*/ 12 w 20"/>
                    <a:gd name="T3" fmla="*/ 45 h 49"/>
                    <a:gd name="T4" fmla="*/ 13 w 20"/>
                    <a:gd name="T5" fmla="*/ 49 h 49"/>
                    <a:gd name="T6" fmla="*/ 18 w 20"/>
                    <a:gd name="T7" fmla="*/ 23 h 49"/>
                    <a:gd name="T8" fmla="*/ 6 w 20"/>
                    <a:gd name="T9" fmla="*/ 0 h 49"/>
                    <a:gd name="T10" fmla="*/ 1 w 20"/>
                    <a:gd name="T11" fmla="*/ 22 h 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0" h="49">
                      <a:moveTo>
                        <a:pt x="1" y="22"/>
                      </a:moveTo>
                      <a:cubicBezTo>
                        <a:pt x="3" y="24"/>
                        <a:pt x="11" y="31"/>
                        <a:pt x="12" y="45"/>
                      </a:cubicBezTo>
                      <a:cubicBezTo>
                        <a:pt x="12" y="46"/>
                        <a:pt x="13" y="48"/>
                        <a:pt x="13" y="49"/>
                      </a:cubicBezTo>
                      <a:cubicBezTo>
                        <a:pt x="14" y="47"/>
                        <a:pt x="20" y="36"/>
                        <a:pt x="18" y="23"/>
                      </a:cubicBezTo>
                      <a:cubicBezTo>
                        <a:pt x="16" y="10"/>
                        <a:pt x="8" y="2"/>
                        <a:pt x="6" y="0"/>
                      </a:cubicBezTo>
                      <a:cubicBezTo>
                        <a:pt x="5" y="3"/>
                        <a:pt x="0" y="11"/>
                        <a:pt x="1" y="2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557" name="Freeform 144"/>
                <p:cNvSpPr/>
                <p:nvPr/>
              </p:nvSpPr>
              <p:spPr bwMode="auto">
                <a:xfrm>
                  <a:off x="8704263" y="1073151"/>
                  <a:ext cx="144462" cy="79375"/>
                </a:xfrm>
                <a:custGeom>
                  <a:avLst/>
                  <a:gdLst>
                    <a:gd name="T0" fmla="*/ 30 w 45"/>
                    <a:gd name="T1" fmla="*/ 20 h 25"/>
                    <a:gd name="T2" fmla="*/ 5 w 45"/>
                    <a:gd name="T3" fmla="*/ 23 h 25"/>
                    <a:gd name="T4" fmla="*/ 0 w 45"/>
                    <a:gd name="T5" fmla="*/ 25 h 25"/>
                    <a:gd name="T6" fmla="*/ 20 w 45"/>
                    <a:gd name="T7" fmla="*/ 6 h 25"/>
                    <a:gd name="T8" fmla="*/ 45 w 45"/>
                    <a:gd name="T9" fmla="*/ 3 h 25"/>
                    <a:gd name="T10" fmla="*/ 30 w 45"/>
                    <a:gd name="T11" fmla="*/ 20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5" h="25">
                      <a:moveTo>
                        <a:pt x="30" y="20"/>
                      </a:moveTo>
                      <a:cubicBezTo>
                        <a:pt x="27" y="19"/>
                        <a:pt x="17" y="17"/>
                        <a:pt x="5" y="23"/>
                      </a:cubicBezTo>
                      <a:cubicBezTo>
                        <a:pt x="3" y="23"/>
                        <a:pt x="2" y="24"/>
                        <a:pt x="0" y="25"/>
                      </a:cubicBezTo>
                      <a:cubicBezTo>
                        <a:pt x="2" y="22"/>
                        <a:pt x="8" y="12"/>
                        <a:pt x="20" y="6"/>
                      </a:cubicBezTo>
                      <a:cubicBezTo>
                        <a:pt x="32" y="0"/>
                        <a:pt x="42" y="3"/>
                        <a:pt x="45" y="3"/>
                      </a:cubicBezTo>
                      <a:cubicBezTo>
                        <a:pt x="44" y="6"/>
                        <a:pt x="39" y="14"/>
                        <a:pt x="30" y="2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558" name="Freeform 145"/>
                <p:cNvSpPr/>
                <p:nvPr/>
              </p:nvSpPr>
              <p:spPr bwMode="auto">
                <a:xfrm>
                  <a:off x="8675688" y="985838"/>
                  <a:ext cx="53975" cy="160338"/>
                </a:xfrm>
                <a:custGeom>
                  <a:avLst/>
                  <a:gdLst>
                    <a:gd name="T0" fmla="*/ 0 w 17"/>
                    <a:gd name="T1" fmla="*/ 20 h 50"/>
                    <a:gd name="T2" fmla="*/ 6 w 17"/>
                    <a:gd name="T3" fmla="*/ 45 h 50"/>
                    <a:gd name="T4" fmla="*/ 6 w 17"/>
                    <a:gd name="T5" fmla="*/ 50 h 50"/>
                    <a:gd name="T6" fmla="*/ 16 w 17"/>
                    <a:gd name="T7" fmla="*/ 25 h 50"/>
                    <a:gd name="T8" fmla="*/ 10 w 17"/>
                    <a:gd name="T9" fmla="*/ 0 h 50"/>
                    <a:gd name="T10" fmla="*/ 0 w 17"/>
                    <a:gd name="T11" fmla="*/ 20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7" h="50">
                      <a:moveTo>
                        <a:pt x="0" y="20"/>
                      </a:moveTo>
                      <a:cubicBezTo>
                        <a:pt x="1" y="23"/>
                        <a:pt x="7" y="31"/>
                        <a:pt x="6" y="45"/>
                      </a:cubicBezTo>
                      <a:cubicBezTo>
                        <a:pt x="6" y="47"/>
                        <a:pt x="6" y="48"/>
                        <a:pt x="6" y="50"/>
                      </a:cubicBezTo>
                      <a:cubicBezTo>
                        <a:pt x="8" y="47"/>
                        <a:pt x="15" y="38"/>
                        <a:pt x="16" y="25"/>
                      </a:cubicBezTo>
                      <a:cubicBezTo>
                        <a:pt x="17" y="11"/>
                        <a:pt x="11" y="2"/>
                        <a:pt x="10" y="0"/>
                      </a:cubicBezTo>
                      <a:cubicBezTo>
                        <a:pt x="8" y="2"/>
                        <a:pt x="2" y="9"/>
                        <a:pt x="0" y="2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559" name="Freeform 146"/>
                <p:cNvSpPr/>
                <p:nvPr/>
              </p:nvSpPr>
              <p:spPr bwMode="auto">
                <a:xfrm>
                  <a:off x="8769350" y="1011238"/>
                  <a:ext cx="153987" cy="61913"/>
                </a:xfrm>
                <a:custGeom>
                  <a:avLst/>
                  <a:gdLst>
                    <a:gd name="T0" fmla="*/ 30 w 48"/>
                    <a:gd name="T1" fmla="*/ 19 h 19"/>
                    <a:gd name="T2" fmla="*/ 5 w 48"/>
                    <a:gd name="T3" fmla="*/ 16 h 19"/>
                    <a:gd name="T4" fmla="*/ 0 w 48"/>
                    <a:gd name="T5" fmla="*/ 18 h 19"/>
                    <a:gd name="T6" fmla="*/ 23 w 48"/>
                    <a:gd name="T7" fmla="*/ 3 h 19"/>
                    <a:gd name="T8" fmla="*/ 48 w 48"/>
                    <a:gd name="T9" fmla="*/ 6 h 19"/>
                    <a:gd name="T10" fmla="*/ 30 w 48"/>
                    <a:gd name="T11" fmla="*/ 19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8" h="19">
                      <a:moveTo>
                        <a:pt x="30" y="19"/>
                      </a:moveTo>
                      <a:cubicBezTo>
                        <a:pt x="27" y="17"/>
                        <a:pt x="18" y="13"/>
                        <a:pt x="5" y="16"/>
                      </a:cubicBezTo>
                      <a:cubicBezTo>
                        <a:pt x="3" y="16"/>
                        <a:pt x="1" y="17"/>
                        <a:pt x="0" y="18"/>
                      </a:cubicBezTo>
                      <a:cubicBezTo>
                        <a:pt x="2" y="15"/>
                        <a:pt x="10" y="6"/>
                        <a:pt x="23" y="3"/>
                      </a:cubicBezTo>
                      <a:cubicBezTo>
                        <a:pt x="36" y="0"/>
                        <a:pt x="46" y="4"/>
                        <a:pt x="48" y="6"/>
                      </a:cubicBezTo>
                      <a:cubicBezTo>
                        <a:pt x="47" y="8"/>
                        <a:pt x="40" y="15"/>
                        <a:pt x="30" y="1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560" name="Freeform 147"/>
                <p:cNvSpPr/>
                <p:nvPr/>
              </p:nvSpPr>
              <p:spPr bwMode="auto">
                <a:xfrm>
                  <a:off x="8758238" y="904876"/>
                  <a:ext cx="61912" cy="150813"/>
                </a:xfrm>
                <a:custGeom>
                  <a:avLst/>
                  <a:gdLst>
                    <a:gd name="T0" fmla="*/ 0 w 19"/>
                    <a:gd name="T1" fmla="*/ 17 h 47"/>
                    <a:gd name="T2" fmla="*/ 2 w 19"/>
                    <a:gd name="T3" fmla="*/ 43 h 47"/>
                    <a:gd name="T4" fmla="*/ 0 w 19"/>
                    <a:gd name="T5" fmla="*/ 47 h 47"/>
                    <a:gd name="T6" fmla="*/ 16 w 19"/>
                    <a:gd name="T7" fmla="*/ 25 h 47"/>
                    <a:gd name="T8" fmla="*/ 14 w 19"/>
                    <a:gd name="T9" fmla="*/ 0 h 47"/>
                    <a:gd name="T10" fmla="*/ 0 w 19"/>
                    <a:gd name="T11" fmla="*/ 17 h 4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9" h="47">
                      <a:moveTo>
                        <a:pt x="0" y="17"/>
                      </a:moveTo>
                      <a:cubicBezTo>
                        <a:pt x="1" y="20"/>
                        <a:pt x="5" y="30"/>
                        <a:pt x="2" y="43"/>
                      </a:cubicBezTo>
                      <a:cubicBezTo>
                        <a:pt x="1" y="44"/>
                        <a:pt x="1" y="46"/>
                        <a:pt x="0" y="47"/>
                      </a:cubicBezTo>
                      <a:cubicBezTo>
                        <a:pt x="3" y="45"/>
                        <a:pt x="12" y="38"/>
                        <a:pt x="16" y="25"/>
                      </a:cubicBezTo>
                      <a:cubicBezTo>
                        <a:pt x="19" y="12"/>
                        <a:pt x="15" y="2"/>
                        <a:pt x="14" y="0"/>
                      </a:cubicBezTo>
                      <a:cubicBezTo>
                        <a:pt x="12" y="1"/>
                        <a:pt x="5" y="7"/>
                        <a:pt x="0" y="1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561" name="Freeform 148"/>
                <p:cNvSpPr/>
                <p:nvPr/>
              </p:nvSpPr>
              <p:spPr bwMode="auto">
                <a:xfrm>
                  <a:off x="8848725" y="965201"/>
                  <a:ext cx="161925" cy="55563"/>
                </a:xfrm>
                <a:custGeom>
                  <a:avLst/>
                  <a:gdLst>
                    <a:gd name="T0" fmla="*/ 29 w 50"/>
                    <a:gd name="T1" fmla="*/ 17 h 17"/>
                    <a:gd name="T2" fmla="*/ 5 w 50"/>
                    <a:gd name="T3" fmla="*/ 9 h 17"/>
                    <a:gd name="T4" fmla="*/ 0 w 50"/>
                    <a:gd name="T5" fmla="*/ 10 h 17"/>
                    <a:gd name="T6" fmla="*/ 25 w 50"/>
                    <a:gd name="T7" fmla="*/ 0 h 17"/>
                    <a:gd name="T8" fmla="*/ 50 w 50"/>
                    <a:gd name="T9" fmla="*/ 8 h 17"/>
                    <a:gd name="T10" fmla="*/ 29 w 50"/>
                    <a:gd name="T11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50" h="17">
                      <a:moveTo>
                        <a:pt x="29" y="17"/>
                      </a:moveTo>
                      <a:cubicBezTo>
                        <a:pt x="27" y="15"/>
                        <a:pt x="18" y="9"/>
                        <a:pt x="5" y="9"/>
                      </a:cubicBezTo>
                      <a:cubicBezTo>
                        <a:pt x="3" y="9"/>
                        <a:pt x="1" y="9"/>
                        <a:pt x="0" y="10"/>
                      </a:cubicBezTo>
                      <a:cubicBezTo>
                        <a:pt x="2" y="8"/>
                        <a:pt x="12" y="1"/>
                        <a:pt x="25" y="0"/>
                      </a:cubicBezTo>
                      <a:cubicBezTo>
                        <a:pt x="39" y="0"/>
                        <a:pt x="47" y="6"/>
                        <a:pt x="50" y="8"/>
                      </a:cubicBezTo>
                      <a:cubicBezTo>
                        <a:pt x="47" y="10"/>
                        <a:pt x="40" y="16"/>
                        <a:pt x="29" y="1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562" name="Freeform 149"/>
                <p:cNvSpPr/>
                <p:nvPr/>
              </p:nvSpPr>
              <p:spPr bwMode="auto">
                <a:xfrm>
                  <a:off x="8842375" y="842963"/>
                  <a:ext cx="84137" cy="142875"/>
                </a:xfrm>
                <a:custGeom>
                  <a:avLst/>
                  <a:gdLst>
                    <a:gd name="T0" fmla="*/ 6 w 26"/>
                    <a:gd name="T1" fmla="*/ 15 h 44"/>
                    <a:gd name="T2" fmla="*/ 2 w 26"/>
                    <a:gd name="T3" fmla="*/ 40 h 44"/>
                    <a:gd name="T4" fmla="*/ 0 w 26"/>
                    <a:gd name="T5" fmla="*/ 44 h 44"/>
                    <a:gd name="T6" fmla="*/ 19 w 26"/>
                    <a:gd name="T7" fmla="*/ 26 h 44"/>
                    <a:gd name="T8" fmla="*/ 23 w 26"/>
                    <a:gd name="T9" fmla="*/ 0 h 44"/>
                    <a:gd name="T10" fmla="*/ 6 w 26"/>
                    <a:gd name="T11" fmla="*/ 15 h 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44">
                      <a:moveTo>
                        <a:pt x="6" y="15"/>
                      </a:moveTo>
                      <a:cubicBezTo>
                        <a:pt x="7" y="18"/>
                        <a:pt x="8" y="28"/>
                        <a:pt x="2" y="40"/>
                      </a:cubicBezTo>
                      <a:cubicBezTo>
                        <a:pt x="1" y="41"/>
                        <a:pt x="0" y="43"/>
                        <a:pt x="0" y="44"/>
                      </a:cubicBezTo>
                      <a:cubicBezTo>
                        <a:pt x="2" y="43"/>
                        <a:pt x="13" y="37"/>
                        <a:pt x="19" y="26"/>
                      </a:cubicBezTo>
                      <a:cubicBezTo>
                        <a:pt x="26" y="14"/>
                        <a:pt x="24" y="3"/>
                        <a:pt x="23" y="0"/>
                      </a:cubicBezTo>
                      <a:cubicBezTo>
                        <a:pt x="21" y="1"/>
                        <a:pt x="12" y="6"/>
                        <a:pt x="6" y="1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563" name="Freeform 150"/>
                <p:cNvSpPr/>
                <p:nvPr/>
              </p:nvSpPr>
              <p:spPr bwMode="auto">
                <a:xfrm>
                  <a:off x="8842375" y="1831976"/>
                  <a:ext cx="236537" cy="109538"/>
                </a:xfrm>
                <a:custGeom>
                  <a:avLst/>
                  <a:gdLst>
                    <a:gd name="T0" fmla="*/ 1 w 73"/>
                    <a:gd name="T1" fmla="*/ 0 h 34"/>
                    <a:gd name="T2" fmla="*/ 73 w 73"/>
                    <a:gd name="T3" fmla="*/ 26 h 34"/>
                    <a:gd name="T4" fmla="*/ 72 w 73"/>
                    <a:gd name="T5" fmla="*/ 34 h 34"/>
                    <a:gd name="T6" fmla="*/ 0 w 73"/>
                    <a:gd name="T7" fmla="*/ 2 h 34"/>
                    <a:gd name="T8" fmla="*/ 1 w 73"/>
                    <a:gd name="T9" fmla="*/ 0 h 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3" h="34">
                      <a:moveTo>
                        <a:pt x="1" y="0"/>
                      </a:moveTo>
                      <a:cubicBezTo>
                        <a:pt x="23" y="15"/>
                        <a:pt x="48" y="23"/>
                        <a:pt x="73" y="26"/>
                      </a:cubicBezTo>
                      <a:cubicBezTo>
                        <a:pt x="72" y="34"/>
                        <a:pt x="72" y="34"/>
                        <a:pt x="72" y="34"/>
                      </a:cubicBezTo>
                      <a:cubicBezTo>
                        <a:pt x="45" y="29"/>
                        <a:pt x="21" y="18"/>
                        <a:pt x="0" y="2"/>
                      </a:cubicBezTo>
                      <a:lnTo>
                        <a:pt x="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564" name="Freeform 151"/>
                <p:cNvSpPr/>
                <p:nvPr/>
              </p:nvSpPr>
              <p:spPr bwMode="auto">
                <a:xfrm>
                  <a:off x="8667750" y="1766888"/>
                  <a:ext cx="155575" cy="80963"/>
                </a:xfrm>
                <a:custGeom>
                  <a:avLst/>
                  <a:gdLst>
                    <a:gd name="T0" fmla="*/ 22 w 48"/>
                    <a:gd name="T1" fmla="*/ 21 h 25"/>
                    <a:gd name="T2" fmla="*/ 48 w 48"/>
                    <a:gd name="T3" fmla="*/ 20 h 25"/>
                    <a:gd name="T4" fmla="*/ 26 w 48"/>
                    <a:gd name="T5" fmla="*/ 4 h 25"/>
                    <a:gd name="T6" fmla="*/ 0 w 48"/>
                    <a:gd name="T7" fmla="*/ 5 h 25"/>
                    <a:gd name="T8" fmla="*/ 22 w 48"/>
                    <a:gd name="T9" fmla="*/ 21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8" h="25">
                      <a:moveTo>
                        <a:pt x="22" y="21"/>
                      </a:moveTo>
                      <a:cubicBezTo>
                        <a:pt x="35" y="25"/>
                        <a:pt x="45" y="21"/>
                        <a:pt x="48" y="20"/>
                      </a:cubicBezTo>
                      <a:cubicBezTo>
                        <a:pt x="46" y="17"/>
                        <a:pt x="39" y="8"/>
                        <a:pt x="26" y="4"/>
                      </a:cubicBezTo>
                      <a:cubicBezTo>
                        <a:pt x="13" y="0"/>
                        <a:pt x="3" y="4"/>
                        <a:pt x="0" y="5"/>
                      </a:cubicBezTo>
                      <a:cubicBezTo>
                        <a:pt x="2" y="8"/>
                        <a:pt x="9" y="17"/>
                        <a:pt x="22" y="2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565" name="Freeform 152"/>
                <p:cNvSpPr/>
                <p:nvPr/>
              </p:nvSpPr>
              <p:spPr bwMode="auto">
                <a:xfrm>
                  <a:off x="8775700" y="1666876"/>
                  <a:ext cx="76200" cy="155575"/>
                </a:xfrm>
                <a:custGeom>
                  <a:avLst/>
                  <a:gdLst>
                    <a:gd name="T0" fmla="*/ 20 w 24"/>
                    <a:gd name="T1" fmla="*/ 23 h 48"/>
                    <a:gd name="T2" fmla="*/ 18 w 24"/>
                    <a:gd name="T3" fmla="*/ 48 h 48"/>
                    <a:gd name="T4" fmla="*/ 3 w 24"/>
                    <a:gd name="T5" fmla="*/ 25 h 48"/>
                    <a:gd name="T6" fmla="*/ 6 w 24"/>
                    <a:gd name="T7" fmla="*/ 0 h 48"/>
                    <a:gd name="T8" fmla="*/ 20 w 24"/>
                    <a:gd name="T9" fmla="*/ 23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8">
                      <a:moveTo>
                        <a:pt x="20" y="23"/>
                      </a:moveTo>
                      <a:cubicBezTo>
                        <a:pt x="24" y="36"/>
                        <a:pt x="19" y="46"/>
                        <a:pt x="18" y="48"/>
                      </a:cubicBezTo>
                      <a:cubicBezTo>
                        <a:pt x="15" y="46"/>
                        <a:pt x="6" y="38"/>
                        <a:pt x="3" y="25"/>
                      </a:cubicBezTo>
                      <a:cubicBezTo>
                        <a:pt x="0" y="12"/>
                        <a:pt x="5" y="2"/>
                        <a:pt x="6" y="0"/>
                      </a:cubicBezTo>
                      <a:cubicBezTo>
                        <a:pt x="8" y="2"/>
                        <a:pt x="17" y="9"/>
                        <a:pt x="20" y="2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566" name="Freeform 153"/>
                <p:cNvSpPr/>
                <p:nvPr/>
              </p:nvSpPr>
              <p:spPr bwMode="auto">
                <a:xfrm>
                  <a:off x="8913813" y="865188"/>
                  <a:ext cx="139700" cy="90488"/>
                </a:xfrm>
                <a:custGeom>
                  <a:avLst/>
                  <a:gdLst>
                    <a:gd name="T0" fmla="*/ 17 w 43"/>
                    <a:gd name="T1" fmla="*/ 7 h 28"/>
                    <a:gd name="T2" fmla="*/ 0 w 43"/>
                    <a:gd name="T3" fmla="*/ 26 h 28"/>
                    <a:gd name="T4" fmla="*/ 25 w 43"/>
                    <a:gd name="T5" fmla="*/ 21 h 28"/>
                    <a:gd name="T6" fmla="*/ 43 w 43"/>
                    <a:gd name="T7" fmla="*/ 2 h 28"/>
                    <a:gd name="T8" fmla="*/ 17 w 43"/>
                    <a:gd name="T9" fmla="*/ 7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3" h="28">
                      <a:moveTo>
                        <a:pt x="17" y="7"/>
                      </a:moveTo>
                      <a:cubicBezTo>
                        <a:pt x="6" y="14"/>
                        <a:pt x="1" y="23"/>
                        <a:pt x="0" y="26"/>
                      </a:cubicBezTo>
                      <a:cubicBezTo>
                        <a:pt x="3" y="27"/>
                        <a:pt x="14" y="28"/>
                        <a:pt x="25" y="21"/>
                      </a:cubicBezTo>
                      <a:cubicBezTo>
                        <a:pt x="37" y="14"/>
                        <a:pt x="41" y="4"/>
                        <a:pt x="43" y="2"/>
                      </a:cubicBezTo>
                      <a:cubicBezTo>
                        <a:pt x="40" y="1"/>
                        <a:pt x="29" y="0"/>
                        <a:pt x="17" y="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</p:grpSp>
          <p:grpSp>
            <p:nvGrpSpPr>
              <p:cNvPr id="519" name="组合 518"/>
              <p:cNvGrpSpPr/>
              <p:nvPr/>
            </p:nvGrpSpPr>
            <p:grpSpPr>
              <a:xfrm flipH="1">
                <a:off x="4483274" y="3242268"/>
                <a:ext cx="272749" cy="548670"/>
                <a:chOff x="8532813" y="842963"/>
                <a:chExt cx="546099" cy="1098551"/>
              </a:xfrm>
              <a:gradFill>
                <a:gsLst>
                  <a:gs pos="34000">
                    <a:schemeClr val="accent1"/>
                  </a:gs>
                  <a:gs pos="100000">
                    <a:schemeClr val="bg2"/>
                  </a:gs>
                  <a:gs pos="76000">
                    <a:schemeClr val="accent1">
                      <a:lumMod val="60000"/>
                      <a:lumOff val="40000"/>
                    </a:schemeClr>
                  </a:gs>
                </a:gsLst>
                <a:lin ang="16200000" scaled="1"/>
              </a:gradFill>
            </p:grpSpPr>
            <p:sp>
              <p:nvSpPr>
                <p:cNvPr id="523" name="Freeform 132"/>
                <p:cNvSpPr/>
                <p:nvPr/>
              </p:nvSpPr>
              <p:spPr bwMode="auto">
                <a:xfrm>
                  <a:off x="8716963" y="1592263"/>
                  <a:ext cx="58737" cy="158750"/>
                </a:xfrm>
                <a:custGeom>
                  <a:avLst/>
                  <a:gdLst>
                    <a:gd name="T0" fmla="*/ 18 w 18"/>
                    <a:gd name="T1" fmla="*/ 19 h 49"/>
                    <a:gd name="T2" fmla="*/ 13 w 18"/>
                    <a:gd name="T3" fmla="*/ 44 h 49"/>
                    <a:gd name="T4" fmla="*/ 14 w 18"/>
                    <a:gd name="T5" fmla="*/ 49 h 49"/>
                    <a:gd name="T6" fmla="*/ 2 w 18"/>
                    <a:gd name="T7" fmla="*/ 25 h 49"/>
                    <a:gd name="T8" fmla="*/ 7 w 18"/>
                    <a:gd name="T9" fmla="*/ 0 h 49"/>
                    <a:gd name="T10" fmla="*/ 18 w 18"/>
                    <a:gd name="T11" fmla="*/ 19 h 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8" h="49">
                      <a:moveTo>
                        <a:pt x="18" y="19"/>
                      </a:moveTo>
                      <a:cubicBezTo>
                        <a:pt x="17" y="22"/>
                        <a:pt x="11" y="31"/>
                        <a:pt x="13" y="44"/>
                      </a:cubicBezTo>
                      <a:cubicBezTo>
                        <a:pt x="13" y="46"/>
                        <a:pt x="13" y="47"/>
                        <a:pt x="14" y="49"/>
                      </a:cubicBezTo>
                      <a:cubicBezTo>
                        <a:pt x="12" y="46"/>
                        <a:pt x="4" y="38"/>
                        <a:pt x="2" y="25"/>
                      </a:cubicBezTo>
                      <a:cubicBezTo>
                        <a:pt x="0" y="11"/>
                        <a:pt x="6" y="2"/>
                        <a:pt x="7" y="0"/>
                      </a:cubicBezTo>
                      <a:cubicBezTo>
                        <a:pt x="9" y="2"/>
                        <a:pt x="15" y="8"/>
                        <a:pt x="18" y="1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524" name="Freeform 133"/>
                <p:cNvSpPr/>
                <p:nvPr/>
              </p:nvSpPr>
              <p:spPr bwMode="auto">
                <a:xfrm>
                  <a:off x="8601075" y="1685926"/>
                  <a:ext cx="147637" cy="71438"/>
                </a:xfrm>
                <a:custGeom>
                  <a:avLst/>
                  <a:gdLst>
                    <a:gd name="T0" fmla="*/ 17 w 46"/>
                    <a:gd name="T1" fmla="*/ 19 h 22"/>
                    <a:gd name="T2" fmla="*/ 42 w 46"/>
                    <a:gd name="T3" fmla="*/ 20 h 22"/>
                    <a:gd name="T4" fmla="*/ 46 w 46"/>
                    <a:gd name="T5" fmla="*/ 22 h 22"/>
                    <a:gd name="T6" fmla="*/ 26 w 46"/>
                    <a:gd name="T7" fmla="*/ 5 h 22"/>
                    <a:gd name="T8" fmla="*/ 0 w 46"/>
                    <a:gd name="T9" fmla="*/ 3 h 22"/>
                    <a:gd name="T10" fmla="*/ 17 w 46"/>
                    <a:gd name="T11" fmla="*/ 19 h 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6" h="22">
                      <a:moveTo>
                        <a:pt x="17" y="19"/>
                      </a:moveTo>
                      <a:cubicBezTo>
                        <a:pt x="19" y="18"/>
                        <a:pt x="30" y="15"/>
                        <a:pt x="42" y="20"/>
                      </a:cubicBezTo>
                      <a:cubicBezTo>
                        <a:pt x="44" y="21"/>
                        <a:pt x="45" y="22"/>
                        <a:pt x="46" y="22"/>
                      </a:cubicBezTo>
                      <a:cubicBezTo>
                        <a:pt x="45" y="20"/>
                        <a:pt x="38" y="10"/>
                        <a:pt x="26" y="5"/>
                      </a:cubicBezTo>
                      <a:cubicBezTo>
                        <a:pt x="14" y="0"/>
                        <a:pt x="3" y="3"/>
                        <a:pt x="0" y="3"/>
                      </a:cubicBezTo>
                      <a:cubicBezTo>
                        <a:pt x="2" y="6"/>
                        <a:pt x="7" y="14"/>
                        <a:pt x="17" y="1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525" name="Freeform 134"/>
                <p:cNvSpPr/>
                <p:nvPr/>
              </p:nvSpPr>
              <p:spPr bwMode="auto">
                <a:xfrm>
                  <a:off x="8675688" y="1501776"/>
                  <a:ext cx="57150" cy="161925"/>
                </a:xfrm>
                <a:custGeom>
                  <a:avLst/>
                  <a:gdLst>
                    <a:gd name="T0" fmla="*/ 18 w 18"/>
                    <a:gd name="T1" fmla="*/ 22 h 50"/>
                    <a:gd name="T2" fmla="*/ 8 w 18"/>
                    <a:gd name="T3" fmla="*/ 45 h 50"/>
                    <a:gd name="T4" fmla="*/ 8 w 18"/>
                    <a:gd name="T5" fmla="*/ 50 h 50"/>
                    <a:gd name="T6" fmla="*/ 1 w 18"/>
                    <a:gd name="T7" fmla="*/ 24 h 50"/>
                    <a:gd name="T8" fmla="*/ 11 w 18"/>
                    <a:gd name="T9" fmla="*/ 0 h 50"/>
                    <a:gd name="T10" fmla="*/ 18 w 18"/>
                    <a:gd name="T11" fmla="*/ 22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8" h="50">
                      <a:moveTo>
                        <a:pt x="18" y="22"/>
                      </a:moveTo>
                      <a:cubicBezTo>
                        <a:pt x="16" y="24"/>
                        <a:pt x="9" y="32"/>
                        <a:pt x="8" y="45"/>
                      </a:cubicBezTo>
                      <a:cubicBezTo>
                        <a:pt x="8" y="47"/>
                        <a:pt x="8" y="48"/>
                        <a:pt x="8" y="50"/>
                      </a:cubicBezTo>
                      <a:cubicBezTo>
                        <a:pt x="6" y="47"/>
                        <a:pt x="0" y="37"/>
                        <a:pt x="1" y="24"/>
                      </a:cubicBezTo>
                      <a:cubicBezTo>
                        <a:pt x="2" y="10"/>
                        <a:pt x="9" y="2"/>
                        <a:pt x="11" y="0"/>
                      </a:cubicBezTo>
                      <a:cubicBezTo>
                        <a:pt x="13" y="3"/>
                        <a:pt x="18" y="11"/>
                        <a:pt x="18" y="2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526" name="Freeform 135"/>
                <p:cNvSpPr/>
                <p:nvPr/>
              </p:nvSpPr>
              <p:spPr bwMode="auto">
                <a:xfrm>
                  <a:off x="8555038" y="1576388"/>
                  <a:ext cx="133350" cy="93663"/>
                </a:xfrm>
                <a:custGeom>
                  <a:avLst/>
                  <a:gdLst>
                    <a:gd name="T0" fmla="*/ 12 w 41"/>
                    <a:gd name="T1" fmla="*/ 19 h 29"/>
                    <a:gd name="T2" fmla="*/ 37 w 41"/>
                    <a:gd name="T3" fmla="*/ 26 h 29"/>
                    <a:gd name="T4" fmla="*/ 41 w 41"/>
                    <a:gd name="T5" fmla="*/ 29 h 29"/>
                    <a:gd name="T6" fmla="*/ 25 w 41"/>
                    <a:gd name="T7" fmla="*/ 7 h 29"/>
                    <a:gd name="T8" fmla="*/ 0 w 41"/>
                    <a:gd name="T9" fmla="*/ 1 h 29"/>
                    <a:gd name="T10" fmla="*/ 12 w 41"/>
                    <a:gd name="T11" fmla="*/ 19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1" h="29">
                      <a:moveTo>
                        <a:pt x="12" y="19"/>
                      </a:moveTo>
                      <a:cubicBezTo>
                        <a:pt x="15" y="19"/>
                        <a:pt x="26" y="18"/>
                        <a:pt x="37" y="26"/>
                      </a:cubicBezTo>
                      <a:cubicBezTo>
                        <a:pt x="38" y="27"/>
                        <a:pt x="40" y="28"/>
                        <a:pt x="41" y="29"/>
                      </a:cubicBezTo>
                      <a:cubicBezTo>
                        <a:pt x="40" y="26"/>
                        <a:pt x="36" y="15"/>
                        <a:pt x="25" y="7"/>
                      </a:cubicBezTo>
                      <a:cubicBezTo>
                        <a:pt x="14" y="0"/>
                        <a:pt x="3" y="0"/>
                        <a:pt x="0" y="1"/>
                      </a:cubicBezTo>
                      <a:cubicBezTo>
                        <a:pt x="1" y="3"/>
                        <a:pt x="4" y="12"/>
                        <a:pt x="12" y="1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527" name="Freeform 136"/>
                <p:cNvSpPr/>
                <p:nvPr/>
              </p:nvSpPr>
              <p:spPr bwMode="auto">
                <a:xfrm>
                  <a:off x="8642350" y="1411288"/>
                  <a:ext cx="74612" cy="155575"/>
                </a:xfrm>
                <a:custGeom>
                  <a:avLst/>
                  <a:gdLst>
                    <a:gd name="T0" fmla="*/ 21 w 23"/>
                    <a:gd name="T1" fmla="*/ 22 h 48"/>
                    <a:gd name="T2" fmla="*/ 6 w 23"/>
                    <a:gd name="T3" fmla="*/ 43 h 48"/>
                    <a:gd name="T4" fmla="*/ 5 w 23"/>
                    <a:gd name="T5" fmla="*/ 48 h 48"/>
                    <a:gd name="T6" fmla="*/ 3 w 23"/>
                    <a:gd name="T7" fmla="*/ 21 h 48"/>
                    <a:gd name="T8" fmla="*/ 19 w 23"/>
                    <a:gd name="T9" fmla="*/ 0 h 48"/>
                    <a:gd name="T10" fmla="*/ 21 w 23"/>
                    <a:gd name="T11" fmla="*/ 22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3" h="48">
                      <a:moveTo>
                        <a:pt x="21" y="22"/>
                      </a:moveTo>
                      <a:cubicBezTo>
                        <a:pt x="18" y="24"/>
                        <a:pt x="9" y="30"/>
                        <a:pt x="6" y="43"/>
                      </a:cubicBezTo>
                      <a:cubicBezTo>
                        <a:pt x="5" y="45"/>
                        <a:pt x="5" y="46"/>
                        <a:pt x="5" y="48"/>
                      </a:cubicBezTo>
                      <a:cubicBezTo>
                        <a:pt x="3" y="45"/>
                        <a:pt x="0" y="33"/>
                        <a:pt x="3" y="21"/>
                      </a:cubicBezTo>
                      <a:cubicBezTo>
                        <a:pt x="7" y="8"/>
                        <a:pt x="16" y="1"/>
                        <a:pt x="19" y="0"/>
                      </a:cubicBezTo>
                      <a:cubicBezTo>
                        <a:pt x="20" y="3"/>
                        <a:pt x="23" y="11"/>
                        <a:pt x="21" y="2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528" name="Freeform 137"/>
                <p:cNvSpPr/>
                <p:nvPr/>
              </p:nvSpPr>
              <p:spPr bwMode="auto">
                <a:xfrm>
                  <a:off x="8532813" y="1454151"/>
                  <a:ext cx="109537" cy="115888"/>
                </a:xfrm>
                <a:custGeom>
                  <a:avLst/>
                  <a:gdLst>
                    <a:gd name="T0" fmla="*/ 8 w 34"/>
                    <a:gd name="T1" fmla="*/ 20 h 36"/>
                    <a:gd name="T2" fmla="*/ 31 w 34"/>
                    <a:gd name="T3" fmla="*/ 32 h 36"/>
                    <a:gd name="T4" fmla="*/ 34 w 34"/>
                    <a:gd name="T5" fmla="*/ 36 h 36"/>
                    <a:gd name="T6" fmla="*/ 23 w 34"/>
                    <a:gd name="T7" fmla="*/ 11 h 36"/>
                    <a:gd name="T8" fmla="*/ 0 w 34"/>
                    <a:gd name="T9" fmla="*/ 0 h 36"/>
                    <a:gd name="T10" fmla="*/ 8 w 34"/>
                    <a:gd name="T11" fmla="*/ 2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34" h="36">
                      <a:moveTo>
                        <a:pt x="8" y="20"/>
                      </a:moveTo>
                      <a:cubicBezTo>
                        <a:pt x="11" y="21"/>
                        <a:pt x="22" y="22"/>
                        <a:pt x="31" y="32"/>
                      </a:cubicBezTo>
                      <a:cubicBezTo>
                        <a:pt x="32" y="33"/>
                        <a:pt x="34" y="34"/>
                        <a:pt x="34" y="36"/>
                      </a:cubicBezTo>
                      <a:cubicBezTo>
                        <a:pt x="34" y="32"/>
                        <a:pt x="32" y="21"/>
                        <a:pt x="23" y="11"/>
                      </a:cubicBezTo>
                      <a:cubicBezTo>
                        <a:pt x="14" y="1"/>
                        <a:pt x="3" y="0"/>
                        <a:pt x="0" y="0"/>
                      </a:cubicBezTo>
                      <a:cubicBezTo>
                        <a:pt x="0" y="2"/>
                        <a:pt x="2" y="12"/>
                        <a:pt x="8" y="2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529" name="Freeform 138"/>
                <p:cNvSpPr/>
                <p:nvPr/>
              </p:nvSpPr>
              <p:spPr bwMode="auto">
                <a:xfrm>
                  <a:off x="8629650" y="1317626"/>
                  <a:ext cx="87312" cy="142875"/>
                </a:xfrm>
                <a:custGeom>
                  <a:avLst/>
                  <a:gdLst>
                    <a:gd name="T0" fmla="*/ 23 w 27"/>
                    <a:gd name="T1" fmla="*/ 23 h 44"/>
                    <a:gd name="T2" fmla="*/ 4 w 27"/>
                    <a:gd name="T3" fmla="*/ 40 h 44"/>
                    <a:gd name="T4" fmla="*/ 2 w 27"/>
                    <a:gd name="T5" fmla="*/ 44 h 44"/>
                    <a:gd name="T6" fmla="*/ 7 w 27"/>
                    <a:gd name="T7" fmla="*/ 18 h 44"/>
                    <a:gd name="T8" fmla="*/ 26 w 27"/>
                    <a:gd name="T9" fmla="*/ 0 h 44"/>
                    <a:gd name="T10" fmla="*/ 23 w 27"/>
                    <a:gd name="T11" fmla="*/ 23 h 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7" h="44">
                      <a:moveTo>
                        <a:pt x="23" y="23"/>
                      </a:moveTo>
                      <a:cubicBezTo>
                        <a:pt x="20" y="24"/>
                        <a:pt x="10" y="28"/>
                        <a:pt x="4" y="40"/>
                      </a:cubicBezTo>
                      <a:cubicBezTo>
                        <a:pt x="3" y="41"/>
                        <a:pt x="3" y="43"/>
                        <a:pt x="2" y="44"/>
                      </a:cubicBezTo>
                      <a:cubicBezTo>
                        <a:pt x="2" y="41"/>
                        <a:pt x="0" y="29"/>
                        <a:pt x="7" y="18"/>
                      </a:cubicBezTo>
                      <a:cubicBezTo>
                        <a:pt x="13" y="6"/>
                        <a:pt x="23" y="2"/>
                        <a:pt x="26" y="0"/>
                      </a:cubicBezTo>
                      <a:cubicBezTo>
                        <a:pt x="26" y="3"/>
                        <a:pt x="27" y="13"/>
                        <a:pt x="23" y="2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530" name="Freeform 139"/>
                <p:cNvSpPr/>
                <p:nvPr/>
              </p:nvSpPr>
              <p:spPr bwMode="auto">
                <a:xfrm>
                  <a:off x="8535988" y="1323976"/>
                  <a:ext cx="90487" cy="136525"/>
                </a:xfrm>
                <a:custGeom>
                  <a:avLst/>
                  <a:gdLst>
                    <a:gd name="T0" fmla="*/ 5 w 28"/>
                    <a:gd name="T1" fmla="*/ 22 h 42"/>
                    <a:gd name="T2" fmla="*/ 25 w 28"/>
                    <a:gd name="T3" fmla="*/ 38 h 42"/>
                    <a:gd name="T4" fmla="*/ 27 w 28"/>
                    <a:gd name="T5" fmla="*/ 42 h 42"/>
                    <a:gd name="T6" fmla="*/ 21 w 28"/>
                    <a:gd name="T7" fmla="*/ 16 h 42"/>
                    <a:gd name="T8" fmla="*/ 1 w 28"/>
                    <a:gd name="T9" fmla="*/ 0 h 42"/>
                    <a:gd name="T10" fmla="*/ 5 w 28"/>
                    <a:gd name="T11" fmla="*/ 22 h 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8" h="42">
                      <a:moveTo>
                        <a:pt x="5" y="22"/>
                      </a:moveTo>
                      <a:cubicBezTo>
                        <a:pt x="7" y="23"/>
                        <a:pt x="17" y="27"/>
                        <a:pt x="25" y="38"/>
                      </a:cubicBezTo>
                      <a:cubicBezTo>
                        <a:pt x="25" y="40"/>
                        <a:pt x="26" y="41"/>
                        <a:pt x="27" y="42"/>
                      </a:cubicBezTo>
                      <a:cubicBezTo>
                        <a:pt x="27" y="39"/>
                        <a:pt x="28" y="27"/>
                        <a:pt x="21" y="16"/>
                      </a:cubicBezTo>
                      <a:cubicBezTo>
                        <a:pt x="14" y="5"/>
                        <a:pt x="4" y="1"/>
                        <a:pt x="1" y="0"/>
                      </a:cubicBezTo>
                      <a:cubicBezTo>
                        <a:pt x="0" y="3"/>
                        <a:pt x="0" y="12"/>
                        <a:pt x="5" y="2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531" name="Freeform 140"/>
                <p:cNvSpPr/>
                <p:nvPr/>
              </p:nvSpPr>
              <p:spPr bwMode="auto">
                <a:xfrm>
                  <a:off x="8636000" y="1230313"/>
                  <a:ext cx="106362" cy="123825"/>
                </a:xfrm>
                <a:custGeom>
                  <a:avLst/>
                  <a:gdLst>
                    <a:gd name="T0" fmla="*/ 25 w 33"/>
                    <a:gd name="T1" fmla="*/ 22 h 38"/>
                    <a:gd name="T2" fmla="*/ 3 w 33"/>
                    <a:gd name="T3" fmla="*/ 34 h 38"/>
                    <a:gd name="T4" fmla="*/ 0 w 33"/>
                    <a:gd name="T5" fmla="*/ 38 h 38"/>
                    <a:gd name="T6" fmla="*/ 10 w 33"/>
                    <a:gd name="T7" fmla="*/ 13 h 38"/>
                    <a:gd name="T8" fmla="*/ 33 w 33"/>
                    <a:gd name="T9" fmla="*/ 0 h 38"/>
                    <a:gd name="T10" fmla="*/ 25 w 33"/>
                    <a:gd name="T11" fmla="*/ 22 h 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33" h="38">
                      <a:moveTo>
                        <a:pt x="25" y="22"/>
                      </a:moveTo>
                      <a:cubicBezTo>
                        <a:pt x="23" y="22"/>
                        <a:pt x="12" y="24"/>
                        <a:pt x="3" y="34"/>
                      </a:cubicBezTo>
                      <a:cubicBezTo>
                        <a:pt x="2" y="36"/>
                        <a:pt x="1" y="37"/>
                        <a:pt x="0" y="38"/>
                      </a:cubicBezTo>
                      <a:cubicBezTo>
                        <a:pt x="1" y="35"/>
                        <a:pt x="2" y="23"/>
                        <a:pt x="10" y="13"/>
                      </a:cubicBezTo>
                      <a:cubicBezTo>
                        <a:pt x="19" y="3"/>
                        <a:pt x="30" y="1"/>
                        <a:pt x="33" y="0"/>
                      </a:cubicBezTo>
                      <a:cubicBezTo>
                        <a:pt x="32" y="3"/>
                        <a:pt x="32" y="12"/>
                        <a:pt x="25" y="2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532" name="Freeform 141"/>
                <p:cNvSpPr/>
                <p:nvPr/>
              </p:nvSpPr>
              <p:spPr bwMode="auto">
                <a:xfrm>
                  <a:off x="8558213" y="1201738"/>
                  <a:ext cx="77787" cy="152400"/>
                </a:xfrm>
                <a:custGeom>
                  <a:avLst/>
                  <a:gdLst>
                    <a:gd name="T0" fmla="*/ 3 w 24"/>
                    <a:gd name="T1" fmla="*/ 22 h 47"/>
                    <a:gd name="T2" fmla="*/ 19 w 24"/>
                    <a:gd name="T3" fmla="*/ 42 h 47"/>
                    <a:gd name="T4" fmla="*/ 20 w 24"/>
                    <a:gd name="T5" fmla="*/ 47 h 47"/>
                    <a:gd name="T6" fmla="*/ 20 w 24"/>
                    <a:gd name="T7" fmla="*/ 19 h 47"/>
                    <a:gd name="T8" fmla="*/ 4 w 24"/>
                    <a:gd name="T9" fmla="*/ 0 h 47"/>
                    <a:gd name="T10" fmla="*/ 3 w 24"/>
                    <a:gd name="T11" fmla="*/ 22 h 4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4" h="47">
                      <a:moveTo>
                        <a:pt x="3" y="22"/>
                      </a:moveTo>
                      <a:cubicBezTo>
                        <a:pt x="5" y="24"/>
                        <a:pt x="14" y="29"/>
                        <a:pt x="19" y="42"/>
                      </a:cubicBezTo>
                      <a:cubicBezTo>
                        <a:pt x="19" y="43"/>
                        <a:pt x="20" y="45"/>
                        <a:pt x="20" y="47"/>
                      </a:cubicBezTo>
                      <a:cubicBezTo>
                        <a:pt x="21" y="43"/>
                        <a:pt x="24" y="32"/>
                        <a:pt x="20" y="19"/>
                      </a:cubicBezTo>
                      <a:cubicBezTo>
                        <a:pt x="15" y="7"/>
                        <a:pt x="6" y="1"/>
                        <a:pt x="4" y="0"/>
                      </a:cubicBezTo>
                      <a:cubicBezTo>
                        <a:pt x="3" y="2"/>
                        <a:pt x="0" y="11"/>
                        <a:pt x="3" y="2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533" name="Freeform 142"/>
                <p:cNvSpPr/>
                <p:nvPr/>
              </p:nvSpPr>
              <p:spPr bwMode="auto">
                <a:xfrm>
                  <a:off x="8661400" y="1149351"/>
                  <a:ext cx="127000" cy="101600"/>
                </a:xfrm>
                <a:custGeom>
                  <a:avLst/>
                  <a:gdLst>
                    <a:gd name="T0" fmla="*/ 28 w 39"/>
                    <a:gd name="T1" fmla="*/ 20 h 31"/>
                    <a:gd name="T2" fmla="*/ 3 w 39"/>
                    <a:gd name="T3" fmla="*/ 28 h 31"/>
                    <a:gd name="T4" fmla="*/ 0 w 39"/>
                    <a:gd name="T5" fmla="*/ 31 h 31"/>
                    <a:gd name="T6" fmla="*/ 15 w 39"/>
                    <a:gd name="T7" fmla="*/ 9 h 31"/>
                    <a:gd name="T8" fmla="*/ 39 w 39"/>
                    <a:gd name="T9" fmla="*/ 1 h 31"/>
                    <a:gd name="T10" fmla="*/ 28 w 39"/>
                    <a:gd name="T11" fmla="*/ 20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39" h="31">
                      <a:moveTo>
                        <a:pt x="28" y="20"/>
                      </a:moveTo>
                      <a:cubicBezTo>
                        <a:pt x="25" y="20"/>
                        <a:pt x="14" y="20"/>
                        <a:pt x="3" y="28"/>
                      </a:cubicBezTo>
                      <a:cubicBezTo>
                        <a:pt x="2" y="29"/>
                        <a:pt x="1" y="30"/>
                        <a:pt x="0" y="31"/>
                      </a:cubicBezTo>
                      <a:cubicBezTo>
                        <a:pt x="0" y="28"/>
                        <a:pt x="4" y="17"/>
                        <a:pt x="15" y="9"/>
                      </a:cubicBezTo>
                      <a:cubicBezTo>
                        <a:pt x="25" y="0"/>
                        <a:pt x="36" y="0"/>
                        <a:pt x="39" y="1"/>
                      </a:cubicBezTo>
                      <a:cubicBezTo>
                        <a:pt x="38" y="3"/>
                        <a:pt x="35" y="12"/>
                        <a:pt x="28" y="2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534" name="Freeform 143"/>
                <p:cNvSpPr/>
                <p:nvPr/>
              </p:nvSpPr>
              <p:spPr bwMode="auto">
                <a:xfrm>
                  <a:off x="8607425" y="1085851"/>
                  <a:ext cx="65087" cy="157163"/>
                </a:xfrm>
                <a:custGeom>
                  <a:avLst/>
                  <a:gdLst>
                    <a:gd name="T0" fmla="*/ 1 w 20"/>
                    <a:gd name="T1" fmla="*/ 22 h 49"/>
                    <a:gd name="T2" fmla="*/ 12 w 20"/>
                    <a:gd name="T3" fmla="*/ 45 h 49"/>
                    <a:gd name="T4" fmla="*/ 13 w 20"/>
                    <a:gd name="T5" fmla="*/ 49 h 49"/>
                    <a:gd name="T6" fmla="*/ 18 w 20"/>
                    <a:gd name="T7" fmla="*/ 23 h 49"/>
                    <a:gd name="T8" fmla="*/ 6 w 20"/>
                    <a:gd name="T9" fmla="*/ 0 h 49"/>
                    <a:gd name="T10" fmla="*/ 1 w 20"/>
                    <a:gd name="T11" fmla="*/ 22 h 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0" h="49">
                      <a:moveTo>
                        <a:pt x="1" y="22"/>
                      </a:moveTo>
                      <a:cubicBezTo>
                        <a:pt x="3" y="24"/>
                        <a:pt x="11" y="31"/>
                        <a:pt x="12" y="45"/>
                      </a:cubicBezTo>
                      <a:cubicBezTo>
                        <a:pt x="12" y="46"/>
                        <a:pt x="13" y="48"/>
                        <a:pt x="13" y="49"/>
                      </a:cubicBezTo>
                      <a:cubicBezTo>
                        <a:pt x="14" y="47"/>
                        <a:pt x="20" y="36"/>
                        <a:pt x="18" y="23"/>
                      </a:cubicBezTo>
                      <a:cubicBezTo>
                        <a:pt x="16" y="10"/>
                        <a:pt x="8" y="2"/>
                        <a:pt x="6" y="0"/>
                      </a:cubicBezTo>
                      <a:cubicBezTo>
                        <a:pt x="5" y="3"/>
                        <a:pt x="0" y="11"/>
                        <a:pt x="1" y="2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535" name="Freeform 144"/>
                <p:cNvSpPr/>
                <p:nvPr/>
              </p:nvSpPr>
              <p:spPr bwMode="auto">
                <a:xfrm>
                  <a:off x="8704263" y="1073151"/>
                  <a:ext cx="144462" cy="79375"/>
                </a:xfrm>
                <a:custGeom>
                  <a:avLst/>
                  <a:gdLst>
                    <a:gd name="T0" fmla="*/ 30 w 45"/>
                    <a:gd name="T1" fmla="*/ 20 h 25"/>
                    <a:gd name="T2" fmla="*/ 5 w 45"/>
                    <a:gd name="T3" fmla="*/ 23 h 25"/>
                    <a:gd name="T4" fmla="*/ 0 w 45"/>
                    <a:gd name="T5" fmla="*/ 25 h 25"/>
                    <a:gd name="T6" fmla="*/ 20 w 45"/>
                    <a:gd name="T7" fmla="*/ 6 h 25"/>
                    <a:gd name="T8" fmla="*/ 45 w 45"/>
                    <a:gd name="T9" fmla="*/ 3 h 25"/>
                    <a:gd name="T10" fmla="*/ 30 w 45"/>
                    <a:gd name="T11" fmla="*/ 20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5" h="25">
                      <a:moveTo>
                        <a:pt x="30" y="20"/>
                      </a:moveTo>
                      <a:cubicBezTo>
                        <a:pt x="27" y="19"/>
                        <a:pt x="17" y="17"/>
                        <a:pt x="5" y="23"/>
                      </a:cubicBezTo>
                      <a:cubicBezTo>
                        <a:pt x="3" y="23"/>
                        <a:pt x="2" y="24"/>
                        <a:pt x="0" y="25"/>
                      </a:cubicBezTo>
                      <a:cubicBezTo>
                        <a:pt x="2" y="22"/>
                        <a:pt x="8" y="12"/>
                        <a:pt x="20" y="6"/>
                      </a:cubicBezTo>
                      <a:cubicBezTo>
                        <a:pt x="32" y="0"/>
                        <a:pt x="42" y="3"/>
                        <a:pt x="45" y="3"/>
                      </a:cubicBezTo>
                      <a:cubicBezTo>
                        <a:pt x="44" y="6"/>
                        <a:pt x="39" y="14"/>
                        <a:pt x="30" y="2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536" name="Freeform 145"/>
                <p:cNvSpPr/>
                <p:nvPr/>
              </p:nvSpPr>
              <p:spPr bwMode="auto">
                <a:xfrm>
                  <a:off x="8675688" y="985838"/>
                  <a:ext cx="53975" cy="160338"/>
                </a:xfrm>
                <a:custGeom>
                  <a:avLst/>
                  <a:gdLst>
                    <a:gd name="T0" fmla="*/ 0 w 17"/>
                    <a:gd name="T1" fmla="*/ 20 h 50"/>
                    <a:gd name="T2" fmla="*/ 6 w 17"/>
                    <a:gd name="T3" fmla="*/ 45 h 50"/>
                    <a:gd name="T4" fmla="*/ 6 w 17"/>
                    <a:gd name="T5" fmla="*/ 50 h 50"/>
                    <a:gd name="T6" fmla="*/ 16 w 17"/>
                    <a:gd name="T7" fmla="*/ 25 h 50"/>
                    <a:gd name="T8" fmla="*/ 10 w 17"/>
                    <a:gd name="T9" fmla="*/ 0 h 50"/>
                    <a:gd name="T10" fmla="*/ 0 w 17"/>
                    <a:gd name="T11" fmla="*/ 20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7" h="50">
                      <a:moveTo>
                        <a:pt x="0" y="20"/>
                      </a:moveTo>
                      <a:cubicBezTo>
                        <a:pt x="1" y="23"/>
                        <a:pt x="7" y="31"/>
                        <a:pt x="6" y="45"/>
                      </a:cubicBezTo>
                      <a:cubicBezTo>
                        <a:pt x="6" y="47"/>
                        <a:pt x="6" y="48"/>
                        <a:pt x="6" y="50"/>
                      </a:cubicBezTo>
                      <a:cubicBezTo>
                        <a:pt x="8" y="47"/>
                        <a:pt x="15" y="38"/>
                        <a:pt x="16" y="25"/>
                      </a:cubicBezTo>
                      <a:cubicBezTo>
                        <a:pt x="17" y="11"/>
                        <a:pt x="11" y="2"/>
                        <a:pt x="10" y="0"/>
                      </a:cubicBezTo>
                      <a:cubicBezTo>
                        <a:pt x="8" y="2"/>
                        <a:pt x="2" y="9"/>
                        <a:pt x="0" y="2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537" name="Freeform 146"/>
                <p:cNvSpPr/>
                <p:nvPr/>
              </p:nvSpPr>
              <p:spPr bwMode="auto">
                <a:xfrm>
                  <a:off x="8769350" y="1011238"/>
                  <a:ext cx="153987" cy="61913"/>
                </a:xfrm>
                <a:custGeom>
                  <a:avLst/>
                  <a:gdLst>
                    <a:gd name="T0" fmla="*/ 30 w 48"/>
                    <a:gd name="T1" fmla="*/ 19 h 19"/>
                    <a:gd name="T2" fmla="*/ 5 w 48"/>
                    <a:gd name="T3" fmla="*/ 16 h 19"/>
                    <a:gd name="T4" fmla="*/ 0 w 48"/>
                    <a:gd name="T5" fmla="*/ 18 h 19"/>
                    <a:gd name="T6" fmla="*/ 23 w 48"/>
                    <a:gd name="T7" fmla="*/ 3 h 19"/>
                    <a:gd name="T8" fmla="*/ 48 w 48"/>
                    <a:gd name="T9" fmla="*/ 6 h 19"/>
                    <a:gd name="T10" fmla="*/ 30 w 48"/>
                    <a:gd name="T11" fmla="*/ 19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8" h="19">
                      <a:moveTo>
                        <a:pt x="30" y="19"/>
                      </a:moveTo>
                      <a:cubicBezTo>
                        <a:pt x="27" y="17"/>
                        <a:pt x="18" y="13"/>
                        <a:pt x="5" y="16"/>
                      </a:cubicBezTo>
                      <a:cubicBezTo>
                        <a:pt x="3" y="16"/>
                        <a:pt x="1" y="17"/>
                        <a:pt x="0" y="18"/>
                      </a:cubicBezTo>
                      <a:cubicBezTo>
                        <a:pt x="2" y="15"/>
                        <a:pt x="10" y="6"/>
                        <a:pt x="23" y="3"/>
                      </a:cubicBezTo>
                      <a:cubicBezTo>
                        <a:pt x="36" y="0"/>
                        <a:pt x="46" y="4"/>
                        <a:pt x="48" y="6"/>
                      </a:cubicBezTo>
                      <a:cubicBezTo>
                        <a:pt x="47" y="8"/>
                        <a:pt x="40" y="15"/>
                        <a:pt x="30" y="1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538" name="Freeform 147"/>
                <p:cNvSpPr/>
                <p:nvPr/>
              </p:nvSpPr>
              <p:spPr bwMode="auto">
                <a:xfrm>
                  <a:off x="8758238" y="904876"/>
                  <a:ext cx="61912" cy="150813"/>
                </a:xfrm>
                <a:custGeom>
                  <a:avLst/>
                  <a:gdLst>
                    <a:gd name="T0" fmla="*/ 0 w 19"/>
                    <a:gd name="T1" fmla="*/ 17 h 47"/>
                    <a:gd name="T2" fmla="*/ 2 w 19"/>
                    <a:gd name="T3" fmla="*/ 43 h 47"/>
                    <a:gd name="T4" fmla="*/ 0 w 19"/>
                    <a:gd name="T5" fmla="*/ 47 h 47"/>
                    <a:gd name="T6" fmla="*/ 16 w 19"/>
                    <a:gd name="T7" fmla="*/ 25 h 47"/>
                    <a:gd name="T8" fmla="*/ 14 w 19"/>
                    <a:gd name="T9" fmla="*/ 0 h 47"/>
                    <a:gd name="T10" fmla="*/ 0 w 19"/>
                    <a:gd name="T11" fmla="*/ 17 h 4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9" h="47">
                      <a:moveTo>
                        <a:pt x="0" y="17"/>
                      </a:moveTo>
                      <a:cubicBezTo>
                        <a:pt x="1" y="20"/>
                        <a:pt x="5" y="30"/>
                        <a:pt x="2" y="43"/>
                      </a:cubicBezTo>
                      <a:cubicBezTo>
                        <a:pt x="1" y="44"/>
                        <a:pt x="1" y="46"/>
                        <a:pt x="0" y="47"/>
                      </a:cubicBezTo>
                      <a:cubicBezTo>
                        <a:pt x="3" y="45"/>
                        <a:pt x="12" y="38"/>
                        <a:pt x="16" y="25"/>
                      </a:cubicBezTo>
                      <a:cubicBezTo>
                        <a:pt x="19" y="12"/>
                        <a:pt x="15" y="2"/>
                        <a:pt x="14" y="0"/>
                      </a:cubicBezTo>
                      <a:cubicBezTo>
                        <a:pt x="12" y="1"/>
                        <a:pt x="5" y="7"/>
                        <a:pt x="0" y="1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539" name="Freeform 148"/>
                <p:cNvSpPr/>
                <p:nvPr/>
              </p:nvSpPr>
              <p:spPr bwMode="auto">
                <a:xfrm>
                  <a:off x="8848725" y="965201"/>
                  <a:ext cx="161925" cy="55563"/>
                </a:xfrm>
                <a:custGeom>
                  <a:avLst/>
                  <a:gdLst>
                    <a:gd name="T0" fmla="*/ 29 w 50"/>
                    <a:gd name="T1" fmla="*/ 17 h 17"/>
                    <a:gd name="T2" fmla="*/ 5 w 50"/>
                    <a:gd name="T3" fmla="*/ 9 h 17"/>
                    <a:gd name="T4" fmla="*/ 0 w 50"/>
                    <a:gd name="T5" fmla="*/ 10 h 17"/>
                    <a:gd name="T6" fmla="*/ 25 w 50"/>
                    <a:gd name="T7" fmla="*/ 0 h 17"/>
                    <a:gd name="T8" fmla="*/ 50 w 50"/>
                    <a:gd name="T9" fmla="*/ 8 h 17"/>
                    <a:gd name="T10" fmla="*/ 29 w 50"/>
                    <a:gd name="T11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50" h="17">
                      <a:moveTo>
                        <a:pt x="29" y="17"/>
                      </a:moveTo>
                      <a:cubicBezTo>
                        <a:pt x="27" y="15"/>
                        <a:pt x="18" y="9"/>
                        <a:pt x="5" y="9"/>
                      </a:cubicBezTo>
                      <a:cubicBezTo>
                        <a:pt x="3" y="9"/>
                        <a:pt x="1" y="9"/>
                        <a:pt x="0" y="10"/>
                      </a:cubicBezTo>
                      <a:cubicBezTo>
                        <a:pt x="2" y="8"/>
                        <a:pt x="12" y="1"/>
                        <a:pt x="25" y="0"/>
                      </a:cubicBezTo>
                      <a:cubicBezTo>
                        <a:pt x="39" y="0"/>
                        <a:pt x="47" y="6"/>
                        <a:pt x="50" y="8"/>
                      </a:cubicBezTo>
                      <a:cubicBezTo>
                        <a:pt x="47" y="10"/>
                        <a:pt x="40" y="16"/>
                        <a:pt x="29" y="1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540" name="Freeform 149"/>
                <p:cNvSpPr/>
                <p:nvPr/>
              </p:nvSpPr>
              <p:spPr bwMode="auto">
                <a:xfrm>
                  <a:off x="8842375" y="842963"/>
                  <a:ext cx="84137" cy="142875"/>
                </a:xfrm>
                <a:custGeom>
                  <a:avLst/>
                  <a:gdLst>
                    <a:gd name="T0" fmla="*/ 6 w 26"/>
                    <a:gd name="T1" fmla="*/ 15 h 44"/>
                    <a:gd name="T2" fmla="*/ 2 w 26"/>
                    <a:gd name="T3" fmla="*/ 40 h 44"/>
                    <a:gd name="T4" fmla="*/ 0 w 26"/>
                    <a:gd name="T5" fmla="*/ 44 h 44"/>
                    <a:gd name="T6" fmla="*/ 19 w 26"/>
                    <a:gd name="T7" fmla="*/ 26 h 44"/>
                    <a:gd name="T8" fmla="*/ 23 w 26"/>
                    <a:gd name="T9" fmla="*/ 0 h 44"/>
                    <a:gd name="T10" fmla="*/ 6 w 26"/>
                    <a:gd name="T11" fmla="*/ 15 h 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44">
                      <a:moveTo>
                        <a:pt x="6" y="15"/>
                      </a:moveTo>
                      <a:cubicBezTo>
                        <a:pt x="7" y="18"/>
                        <a:pt x="8" y="28"/>
                        <a:pt x="2" y="40"/>
                      </a:cubicBezTo>
                      <a:cubicBezTo>
                        <a:pt x="1" y="41"/>
                        <a:pt x="0" y="43"/>
                        <a:pt x="0" y="44"/>
                      </a:cubicBezTo>
                      <a:cubicBezTo>
                        <a:pt x="2" y="43"/>
                        <a:pt x="13" y="37"/>
                        <a:pt x="19" y="26"/>
                      </a:cubicBezTo>
                      <a:cubicBezTo>
                        <a:pt x="26" y="14"/>
                        <a:pt x="24" y="3"/>
                        <a:pt x="23" y="0"/>
                      </a:cubicBezTo>
                      <a:cubicBezTo>
                        <a:pt x="21" y="1"/>
                        <a:pt x="12" y="6"/>
                        <a:pt x="6" y="1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541" name="Freeform 150"/>
                <p:cNvSpPr/>
                <p:nvPr/>
              </p:nvSpPr>
              <p:spPr bwMode="auto">
                <a:xfrm>
                  <a:off x="8842375" y="1831976"/>
                  <a:ext cx="236537" cy="109538"/>
                </a:xfrm>
                <a:custGeom>
                  <a:avLst/>
                  <a:gdLst>
                    <a:gd name="T0" fmla="*/ 1 w 73"/>
                    <a:gd name="T1" fmla="*/ 0 h 34"/>
                    <a:gd name="T2" fmla="*/ 73 w 73"/>
                    <a:gd name="T3" fmla="*/ 26 h 34"/>
                    <a:gd name="T4" fmla="*/ 72 w 73"/>
                    <a:gd name="T5" fmla="*/ 34 h 34"/>
                    <a:gd name="T6" fmla="*/ 0 w 73"/>
                    <a:gd name="T7" fmla="*/ 2 h 34"/>
                    <a:gd name="T8" fmla="*/ 1 w 73"/>
                    <a:gd name="T9" fmla="*/ 0 h 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3" h="34">
                      <a:moveTo>
                        <a:pt x="1" y="0"/>
                      </a:moveTo>
                      <a:cubicBezTo>
                        <a:pt x="23" y="15"/>
                        <a:pt x="48" y="23"/>
                        <a:pt x="73" y="26"/>
                      </a:cubicBezTo>
                      <a:cubicBezTo>
                        <a:pt x="72" y="34"/>
                        <a:pt x="72" y="34"/>
                        <a:pt x="72" y="34"/>
                      </a:cubicBezTo>
                      <a:cubicBezTo>
                        <a:pt x="45" y="29"/>
                        <a:pt x="21" y="18"/>
                        <a:pt x="0" y="2"/>
                      </a:cubicBezTo>
                      <a:lnTo>
                        <a:pt x="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542" name="Freeform 151"/>
                <p:cNvSpPr/>
                <p:nvPr/>
              </p:nvSpPr>
              <p:spPr bwMode="auto">
                <a:xfrm>
                  <a:off x="8667750" y="1766888"/>
                  <a:ext cx="155575" cy="80963"/>
                </a:xfrm>
                <a:custGeom>
                  <a:avLst/>
                  <a:gdLst>
                    <a:gd name="T0" fmla="*/ 22 w 48"/>
                    <a:gd name="T1" fmla="*/ 21 h 25"/>
                    <a:gd name="T2" fmla="*/ 48 w 48"/>
                    <a:gd name="T3" fmla="*/ 20 h 25"/>
                    <a:gd name="T4" fmla="*/ 26 w 48"/>
                    <a:gd name="T5" fmla="*/ 4 h 25"/>
                    <a:gd name="T6" fmla="*/ 0 w 48"/>
                    <a:gd name="T7" fmla="*/ 5 h 25"/>
                    <a:gd name="T8" fmla="*/ 22 w 48"/>
                    <a:gd name="T9" fmla="*/ 21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8" h="25">
                      <a:moveTo>
                        <a:pt x="22" y="21"/>
                      </a:moveTo>
                      <a:cubicBezTo>
                        <a:pt x="35" y="25"/>
                        <a:pt x="45" y="21"/>
                        <a:pt x="48" y="20"/>
                      </a:cubicBezTo>
                      <a:cubicBezTo>
                        <a:pt x="46" y="17"/>
                        <a:pt x="39" y="8"/>
                        <a:pt x="26" y="4"/>
                      </a:cubicBezTo>
                      <a:cubicBezTo>
                        <a:pt x="13" y="0"/>
                        <a:pt x="3" y="4"/>
                        <a:pt x="0" y="5"/>
                      </a:cubicBezTo>
                      <a:cubicBezTo>
                        <a:pt x="2" y="8"/>
                        <a:pt x="9" y="17"/>
                        <a:pt x="22" y="2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543" name="Freeform 152"/>
                <p:cNvSpPr/>
                <p:nvPr/>
              </p:nvSpPr>
              <p:spPr bwMode="auto">
                <a:xfrm>
                  <a:off x="8775700" y="1666876"/>
                  <a:ext cx="76200" cy="155575"/>
                </a:xfrm>
                <a:custGeom>
                  <a:avLst/>
                  <a:gdLst>
                    <a:gd name="T0" fmla="*/ 20 w 24"/>
                    <a:gd name="T1" fmla="*/ 23 h 48"/>
                    <a:gd name="T2" fmla="*/ 18 w 24"/>
                    <a:gd name="T3" fmla="*/ 48 h 48"/>
                    <a:gd name="T4" fmla="*/ 3 w 24"/>
                    <a:gd name="T5" fmla="*/ 25 h 48"/>
                    <a:gd name="T6" fmla="*/ 6 w 24"/>
                    <a:gd name="T7" fmla="*/ 0 h 48"/>
                    <a:gd name="T8" fmla="*/ 20 w 24"/>
                    <a:gd name="T9" fmla="*/ 23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8">
                      <a:moveTo>
                        <a:pt x="20" y="23"/>
                      </a:moveTo>
                      <a:cubicBezTo>
                        <a:pt x="24" y="36"/>
                        <a:pt x="19" y="46"/>
                        <a:pt x="18" y="48"/>
                      </a:cubicBezTo>
                      <a:cubicBezTo>
                        <a:pt x="15" y="46"/>
                        <a:pt x="6" y="38"/>
                        <a:pt x="3" y="25"/>
                      </a:cubicBezTo>
                      <a:cubicBezTo>
                        <a:pt x="0" y="12"/>
                        <a:pt x="5" y="2"/>
                        <a:pt x="6" y="0"/>
                      </a:cubicBezTo>
                      <a:cubicBezTo>
                        <a:pt x="8" y="2"/>
                        <a:pt x="17" y="9"/>
                        <a:pt x="20" y="2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544" name="Freeform 153"/>
                <p:cNvSpPr/>
                <p:nvPr/>
              </p:nvSpPr>
              <p:spPr bwMode="auto">
                <a:xfrm>
                  <a:off x="8913813" y="865188"/>
                  <a:ext cx="139700" cy="90488"/>
                </a:xfrm>
                <a:custGeom>
                  <a:avLst/>
                  <a:gdLst>
                    <a:gd name="T0" fmla="*/ 17 w 43"/>
                    <a:gd name="T1" fmla="*/ 7 h 28"/>
                    <a:gd name="T2" fmla="*/ 0 w 43"/>
                    <a:gd name="T3" fmla="*/ 26 h 28"/>
                    <a:gd name="T4" fmla="*/ 25 w 43"/>
                    <a:gd name="T5" fmla="*/ 21 h 28"/>
                    <a:gd name="T6" fmla="*/ 43 w 43"/>
                    <a:gd name="T7" fmla="*/ 2 h 28"/>
                    <a:gd name="T8" fmla="*/ 17 w 43"/>
                    <a:gd name="T9" fmla="*/ 7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3" h="28">
                      <a:moveTo>
                        <a:pt x="17" y="7"/>
                      </a:moveTo>
                      <a:cubicBezTo>
                        <a:pt x="6" y="14"/>
                        <a:pt x="1" y="23"/>
                        <a:pt x="0" y="26"/>
                      </a:cubicBezTo>
                      <a:cubicBezTo>
                        <a:pt x="3" y="27"/>
                        <a:pt x="14" y="28"/>
                        <a:pt x="25" y="21"/>
                      </a:cubicBezTo>
                      <a:cubicBezTo>
                        <a:pt x="37" y="14"/>
                        <a:pt x="41" y="4"/>
                        <a:pt x="43" y="2"/>
                      </a:cubicBezTo>
                      <a:cubicBezTo>
                        <a:pt x="40" y="1"/>
                        <a:pt x="29" y="0"/>
                        <a:pt x="17" y="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</p:grpSp>
          <p:grpSp>
            <p:nvGrpSpPr>
              <p:cNvPr id="520" name="组合 519"/>
              <p:cNvGrpSpPr/>
              <p:nvPr/>
            </p:nvGrpSpPr>
            <p:grpSpPr>
              <a:xfrm>
                <a:off x="3085717" y="3273189"/>
                <a:ext cx="1504985" cy="506148"/>
                <a:chOff x="2912661" y="4333600"/>
                <a:chExt cx="1504985" cy="506148"/>
              </a:xfrm>
            </p:grpSpPr>
            <p:sp>
              <p:nvSpPr>
                <p:cNvPr id="521" name="文本框 520"/>
                <p:cNvSpPr txBox="1"/>
                <p:nvPr/>
              </p:nvSpPr>
              <p:spPr>
                <a:xfrm>
                  <a:off x="3141131" y="4333600"/>
                  <a:ext cx="1065213" cy="338619"/>
                </a:xfrm>
                <a:prstGeom prst="rect">
                  <a:avLst/>
                </a:prstGeom>
                <a:noFill/>
              </p:spPr>
              <p:txBody>
                <a:bodyPr vert="horz" wrap="square" lIns="0" tIns="0" rIns="0" bIns="0" rtlCol="0" anchor="ctr">
                  <a:spAutoFit/>
                </a:bodyPr>
                <a:lstStyle>
                  <a:defPPr>
                    <a:defRPr lang="zh-CN"/>
                  </a:defPPr>
                  <a:lvl1pPr algn="r">
                    <a:lnSpc>
                      <a:spcPct val="90000"/>
                    </a:lnSpc>
                    <a:spcBef>
                      <a:spcPct val="0"/>
                    </a:spcBef>
                    <a:buNone/>
                    <a:defRPr kumimoji="1" sz="2800">
                      <a:gradFill>
                        <a:gsLst>
                          <a:gs pos="100000">
                            <a:schemeClr val="accent1">
                              <a:lumMod val="60000"/>
                              <a:lumOff val="40000"/>
                            </a:schemeClr>
                          </a:gs>
                          <a:gs pos="38000">
                            <a:schemeClr val="accent1"/>
                          </a:gs>
                        </a:gsLst>
                        <a:lin ang="18900000" scaled="1"/>
                      </a:gradFill>
                      <a:latin typeface="OPPOSans H" panose="00020600040101010101" pitchFamily="18" charset="-122"/>
                      <a:ea typeface="OPPOSans H" panose="00020600040101010101" pitchFamily="18" charset="-122"/>
                      <a:cs typeface="OPPOSans H" panose="00020600040101010101" pitchFamily="18" charset="-122"/>
                    </a:defRPr>
                  </a:lvl1pPr>
                </a:lstStyle>
                <a:p>
                  <a:pPr algn="ctr"/>
                  <a:r>
                    <a:rPr lang="en-US" altLang="zh-CN" sz="2400" dirty="0"/>
                    <a:t>12 </a:t>
                  </a:r>
                  <a:r>
                    <a:rPr lang="zh-CN" altLang="en-US" sz="1800" dirty="0"/>
                    <a:t>项</a:t>
                  </a:r>
                  <a:endParaRPr lang="zh-CN" altLang="en-US" sz="1800" dirty="0"/>
                </a:p>
              </p:txBody>
            </p:sp>
            <p:sp>
              <p:nvSpPr>
                <p:cNvPr id="522" name="文本框 521"/>
                <p:cNvSpPr txBox="1"/>
                <p:nvPr/>
              </p:nvSpPr>
              <p:spPr>
                <a:xfrm>
                  <a:off x="2912661" y="4642258"/>
                  <a:ext cx="1504985" cy="197490"/>
                </a:xfrm>
                <a:prstGeom prst="rect">
                  <a:avLst/>
                </a:prstGeom>
                <a:noFill/>
              </p:spPr>
              <p:txBody>
                <a:bodyPr vert="horz" wrap="square" lIns="0" tIns="0" rIns="0" bIns="0" rtlCol="0" anchor="ctr">
                  <a:spAutoFit/>
                </a:bodyPr>
                <a:lstStyle>
                  <a:defPPr>
                    <a:defRPr lang="zh-CN"/>
                  </a:defPPr>
                  <a:lvl1pPr algn="r">
                    <a:lnSpc>
                      <a:spcPct val="90000"/>
                    </a:lnSpc>
                    <a:spcBef>
                      <a:spcPct val="0"/>
                    </a:spcBef>
                    <a:buNone/>
                    <a:defRPr kumimoji="1" sz="2800">
                      <a:gradFill>
                        <a:gsLst>
                          <a:gs pos="100000">
                            <a:schemeClr val="accent1">
                              <a:lumMod val="60000"/>
                              <a:lumOff val="40000"/>
                            </a:schemeClr>
                          </a:gs>
                          <a:gs pos="38000">
                            <a:schemeClr val="accent1"/>
                          </a:gs>
                        </a:gsLst>
                        <a:lin ang="18900000" scaled="1"/>
                      </a:gradFill>
                      <a:latin typeface="OPPOSans H" panose="00020600040101010101" pitchFamily="18" charset="-122"/>
                      <a:ea typeface="OPPOSans H" panose="00020600040101010101" pitchFamily="18" charset="-122"/>
                      <a:cs typeface="OPPOSans H" panose="00020600040101010101" pitchFamily="18" charset="-122"/>
                    </a:defRPr>
                  </a:lvl1pPr>
                </a:lstStyle>
                <a:p>
                  <a:pPr algn="ctr"/>
                  <a:r>
                    <a:rPr lang="zh-CN" altLang="en-US" sz="1400" dirty="0">
                      <a:solidFill>
                        <a:schemeClr val="tx1"/>
                      </a:solidFill>
                    </a:rPr>
                    <a:t>攻坚重点项目</a:t>
                  </a:r>
                  <a:endParaRPr lang="zh-CN" altLang="en-US" sz="1400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14" name="组合 13"/>
            <p:cNvGrpSpPr/>
            <p:nvPr/>
          </p:nvGrpSpPr>
          <p:grpSpPr>
            <a:xfrm>
              <a:off x="5191367" y="3312191"/>
              <a:ext cx="1782893" cy="548670"/>
              <a:chOff x="2973130" y="3242268"/>
              <a:chExt cx="1782893" cy="548670"/>
            </a:xfrm>
          </p:grpSpPr>
          <p:grpSp>
            <p:nvGrpSpPr>
              <p:cNvPr id="469" name="组合 468"/>
              <p:cNvGrpSpPr/>
              <p:nvPr/>
            </p:nvGrpSpPr>
            <p:grpSpPr>
              <a:xfrm>
                <a:off x="2973130" y="3242268"/>
                <a:ext cx="272749" cy="548670"/>
                <a:chOff x="8532813" y="842963"/>
                <a:chExt cx="546099" cy="1098551"/>
              </a:xfrm>
              <a:gradFill>
                <a:gsLst>
                  <a:gs pos="34000">
                    <a:schemeClr val="accent1"/>
                  </a:gs>
                  <a:gs pos="100000">
                    <a:schemeClr val="bg2"/>
                  </a:gs>
                  <a:gs pos="76000">
                    <a:schemeClr val="accent1">
                      <a:lumMod val="60000"/>
                      <a:lumOff val="40000"/>
                    </a:schemeClr>
                  </a:gs>
                </a:gsLst>
                <a:lin ang="16200000" scaled="1"/>
              </a:gradFill>
            </p:grpSpPr>
            <p:sp>
              <p:nvSpPr>
                <p:cNvPr id="496" name="Freeform 132"/>
                <p:cNvSpPr/>
                <p:nvPr/>
              </p:nvSpPr>
              <p:spPr bwMode="auto">
                <a:xfrm>
                  <a:off x="8716963" y="1592263"/>
                  <a:ext cx="58737" cy="158750"/>
                </a:xfrm>
                <a:custGeom>
                  <a:avLst/>
                  <a:gdLst>
                    <a:gd name="T0" fmla="*/ 18 w 18"/>
                    <a:gd name="T1" fmla="*/ 19 h 49"/>
                    <a:gd name="T2" fmla="*/ 13 w 18"/>
                    <a:gd name="T3" fmla="*/ 44 h 49"/>
                    <a:gd name="T4" fmla="*/ 14 w 18"/>
                    <a:gd name="T5" fmla="*/ 49 h 49"/>
                    <a:gd name="T6" fmla="*/ 2 w 18"/>
                    <a:gd name="T7" fmla="*/ 25 h 49"/>
                    <a:gd name="T8" fmla="*/ 7 w 18"/>
                    <a:gd name="T9" fmla="*/ 0 h 49"/>
                    <a:gd name="T10" fmla="*/ 18 w 18"/>
                    <a:gd name="T11" fmla="*/ 19 h 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8" h="49">
                      <a:moveTo>
                        <a:pt x="18" y="19"/>
                      </a:moveTo>
                      <a:cubicBezTo>
                        <a:pt x="17" y="22"/>
                        <a:pt x="11" y="31"/>
                        <a:pt x="13" y="44"/>
                      </a:cubicBezTo>
                      <a:cubicBezTo>
                        <a:pt x="13" y="46"/>
                        <a:pt x="13" y="47"/>
                        <a:pt x="14" y="49"/>
                      </a:cubicBezTo>
                      <a:cubicBezTo>
                        <a:pt x="12" y="46"/>
                        <a:pt x="4" y="38"/>
                        <a:pt x="2" y="25"/>
                      </a:cubicBezTo>
                      <a:cubicBezTo>
                        <a:pt x="0" y="11"/>
                        <a:pt x="6" y="2"/>
                        <a:pt x="7" y="0"/>
                      </a:cubicBezTo>
                      <a:cubicBezTo>
                        <a:pt x="9" y="2"/>
                        <a:pt x="15" y="8"/>
                        <a:pt x="18" y="1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497" name="Freeform 133"/>
                <p:cNvSpPr/>
                <p:nvPr/>
              </p:nvSpPr>
              <p:spPr bwMode="auto">
                <a:xfrm>
                  <a:off x="8601075" y="1685926"/>
                  <a:ext cx="147637" cy="71438"/>
                </a:xfrm>
                <a:custGeom>
                  <a:avLst/>
                  <a:gdLst>
                    <a:gd name="T0" fmla="*/ 17 w 46"/>
                    <a:gd name="T1" fmla="*/ 19 h 22"/>
                    <a:gd name="T2" fmla="*/ 42 w 46"/>
                    <a:gd name="T3" fmla="*/ 20 h 22"/>
                    <a:gd name="T4" fmla="*/ 46 w 46"/>
                    <a:gd name="T5" fmla="*/ 22 h 22"/>
                    <a:gd name="T6" fmla="*/ 26 w 46"/>
                    <a:gd name="T7" fmla="*/ 5 h 22"/>
                    <a:gd name="T8" fmla="*/ 0 w 46"/>
                    <a:gd name="T9" fmla="*/ 3 h 22"/>
                    <a:gd name="T10" fmla="*/ 17 w 46"/>
                    <a:gd name="T11" fmla="*/ 19 h 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6" h="22">
                      <a:moveTo>
                        <a:pt x="17" y="19"/>
                      </a:moveTo>
                      <a:cubicBezTo>
                        <a:pt x="19" y="18"/>
                        <a:pt x="30" y="15"/>
                        <a:pt x="42" y="20"/>
                      </a:cubicBezTo>
                      <a:cubicBezTo>
                        <a:pt x="44" y="21"/>
                        <a:pt x="45" y="22"/>
                        <a:pt x="46" y="22"/>
                      </a:cubicBezTo>
                      <a:cubicBezTo>
                        <a:pt x="45" y="20"/>
                        <a:pt x="38" y="10"/>
                        <a:pt x="26" y="5"/>
                      </a:cubicBezTo>
                      <a:cubicBezTo>
                        <a:pt x="14" y="0"/>
                        <a:pt x="3" y="3"/>
                        <a:pt x="0" y="3"/>
                      </a:cubicBezTo>
                      <a:cubicBezTo>
                        <a:pt x="2" y="6"/>
                        <a:pt x="7" y="14"/>
                        <a:pt x="17" y="1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498" name="Freeform 134"/>
                <p:cNvSpPr/>
                <p:nvPr/>
              </p:nvSpPr>
              <p:spPr bwMode="auto">
                <a:xfrm>
                  <a:off x="8675688" y="1501776"/>
                  <a:ext cx="57150" cy="161925"/>
                </a:xfrm>
                <a:custGeom>
                  <a:avLst/>
                  <a:gdLst>
                    <a:gd name="T0" fmla="*/ 18 w 18"/>
                    <a:gd name="T1" fmla="*/ 22 h 50"/>
                    <a:gd name="T2" fmla="*/ 8 w 18"/>
                    <a:gd name="T3" fmla="*/ 45 h 50"/>
                    <a:gd name="T4" fmla="*/ 8 w 18"/>
                    <a:gd name="T5" fmla="*/ 50 h 50"/>
                    <a:gd name="T6" fmla="*/ 1 w 18"/>
                    <a:gd name="T7" fmla="*/ 24 h 50"/>
                    <a:gd name="T8" fmla="*/ 11 w 18"/>
                    <a:gd name="T9" fmla="*/ 0 h 50"/>
                    <a:gd name="T10" fmla="*/ 18 w 18"/>
                    <a:gd name="T11" fmla="*/ 22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8" h="50">
                      <a:moveTo>
                        <a:pt x="18" y="22"/>
                      </a:moveTo>
                      <a:cubicBezTo>
                        <a:pt x="16" y="24"/>
                        <a:pt x="9" y="32"/>
                        <a:pt x="8" y="45"/>
                      </a:cubicBezTo>
                      <a:cubicBezTo>
                        <a:pt x="8" y="47"/>
                        <a:pt x="8" y="48"/>
                        <a:pt x="8" y="50"/>
                      </a:cubicBezTo>
                      <a:cubicBezTo>
                        <a:pt x="6" y="47"/>
                        <a:pt x="0" y="37"/>
                        <a:pt x="1" y="24"/>
                      </a:cubicBezTo>
                      <a:cubicBezTo>
                        <a:pt x="2" y="10"/>
                        <a:pt x="9" y="2"/>
                        <a:pt x="11" y="0"/>
                      </a:cubicBezTo>
                      <a:cubicBezTo>
                        <a:pt x="13" y="3"/>
                        <a:pt x="18" y="11"/>
                        <a:pt x="18" y="2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499" name="Freeform 135"/>
                <p:cNvSpPr/>
                <p:nvPr/>
              </p:nvSpPr>
              <p:spPr bwMode="auto">
                <a:xfrm>
                  <a:off x="8555038" y="1576388"/>
                  <a:ext cx="133350" cy="93663"/>
                </a:xfrm>
                <a:custGeom>
                  <a:avLst/>
                  <a:gdLst>
                    <a:gd name="T0" fmla="*/ 12 w 41"/>
                    <a:gd name="T1" fmla="*/ 19 h 29"/>
                    <a:gd name="T2" fmla="*/ 37 w 41"/>
                    <a:gd name="T3" fmla="*/ 26 h 29"/>
                    <a:gd name="T4" fmla="*/ 41 w 41"/>
                    <a:gd name="T5" fmla="*/ 29 h 29"/>
                    <a:gd name="T6" fmla="*/ 25 w 41"/>
                    <a:gd name="T7" fmla="*/ 7 h 29"/>
                    <a:gd name="T8" fmla="*/ 0 w 41"/>
                    <a:gd name="T9" fmla="*/ 1 h 29"/>
                    <a:gd name="T10" fmla="*/ 12 w 41"/>
                    <a:gd name="T11" fmla="*/ 19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1" h="29">
                      <a:moveTo>
                        <a:pt x="12" y="19"/>
                      </a:moveTo>
                      <a:cubicBezTo>
                        <a:pt x="15" y="19"/>
                        <a:pt x="26" y="18"/>
                        <a:pt x="37" y="26"/>
                      </a:cubicBezTo>
                      <a:cubicBezTo>
                        <a:pt x="38" y="27"/>
                        <a:pt x="40" y="28"/>
                        <a:pt x="41" y="29"/>
                      </a:cubicBezTo>
                      <a:cubicBezTo>
                        <a:pt x="40" y="26"/>
                        <a:pt x="36" y="15"/>
                        <a:pt x="25" y="7"/>
                      </a:cubicBezTo>
                      <a:cubicBezTo>
                        <a:pt x="14" y="0"/>
                        <a:pt x="3" y="0"/>
                        <a:pt x="0" y="1"/>
                      </a:cubicBezTo>
                      <a:cubicBezTo>
                        <a:pt x="1" y="3"/>
                        <a:pt x="4" y="12"/>
                        <a:pt x="12" y="1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500" name="Freeform 136"/>
                <p:cNvSpPr/>
                <p:nvPr/>
              </p:nvSpPr>
              <p:spPr bwMode="auto">
                <a:xfrm>
                  <a:off x="8642350" y="1411288"/>
                  <a:ext cx="74612" cy="155575"/>
                </a:xfrm>
                <a:custGeom>
                  <a:avLst/>
                  <a:gdLst>
                    <a:gd name="T0" fmla="*/ 21 w 23"/>
                    <a:gd name="T1" fmla="*/ 22 h 48"/>
                    <a:gd name="T2" fmla="*/ 6 w 23"/>
                    <a:gd name="T3" fmla="*/ 43 h 48"/>
                    <a:gd name="T4" fmla="*/ 5 w 23"/>
                    <a:gd name="T5" fmla="*/ 48 h 48"/>
                    <a:gd name="T6" fmla="*/ 3 w 23"/>
                    <a:gd name="T7" fmla="*/ 21 h 48"/>
                    <a:gd name="T8" fmla="*/ 19 w 23"/>
                    <a:gd name="T9" fmla="*/ 0 h 48"/>
                    <a:gd name="T10" fmla="*/ 21 w 23"/>
                    <a:gd name="T11" fmla="*/ 22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3" h="48">
                      <a:moveTo>
                        <a:pt x="21" y="22"/>
                      </a:moveTo>
                      <a:cubicBezTo>
                        <a:pt x="18" y="24"/>
                        <a:pt x="9" y="30"/>
                        <a:pt x="6" y="43"/>
                      </a:cubicBezTo>
                      <a:cubicBezTo>
                        <a:pt x="5" y="45"/>
                        <a:pt x="5" y="46"/>
                        <a:pt x="5" y="48"/>
                      </a:cubicBezTo>
                      <a:cubicBezTo>
                        <a:pt x="3" y="45"/>
                        <a:pt x="0" y="33"/>
                        <a:pt x="3" y="21"/>
                      </a:cubicBezTo>
                      <a:cubicBezTo>
                        <a:pt x="7" y="8"/>
                        <a:pt x="16" y="1"/>
                        <a:pt x="19" y="0"/>
                      </a:cubicBezTo>
                      <a:cubicBezTo>
                        <a:pt x="20" y="3"/>
                        <a:pt x="23" y="11"/>
                        <a:pt x="21" y="2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501" name="Freeform 137"/>
                <p:cNvSpPr/>
                <p:nvPr/>
              </p:nvSpPr>
              <p:spPr bwMode="auto">
                <a:xfrm>
                  <a:off x="8532813" y="1454151"/>
                  <a:ext cx="109537" cy="115888"/>
                </a:xfrm>
                <a:custGeom>
                  <a:avLst/>
                  <a:gdLst>
                    <a:gd name="T0" fmla="*/ 8 w 34"/>
                    <a:gd name="T1" fmla="*/ 20 h 36"/>
                    <a:gd name="T2" fmla="*/ 31 w 34"/>
                    <a:gd name="T3" fmla="*/ 32 h 36"/>
                    <a:gd name="T4" fmla="*/ 34 w 34"/>
                    <a:gd name="T5" fmla="*/ 36 h 36"/>
                    <a:gd name="T6" fmla="*/ 23 w 34"/>
                    <a:gd name="T7" fmla="*/ 11 h 36"/>
                    <a:gd name="T8" fmla="*/ 0 w 34"/>
                    <a:gd name="T9" fmla="*/ 0 h 36"/>
                    <a:gd name="T10" fmla="*/ 8 w 34"/>
                    <a:gd name="T11" fmla="*/ 2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34" h="36">
                      <a:moveTo>
                        <a:pt x="8" y="20"/>
                      </a:moveTo>
                      <a:cubicBezTo>
                        <a:pt x="11" y="21"/>
                        <a:pt x="22" y="22"/>
                        <a:pt x="31" y="32"/>
                      </a:cubicBezTo>
                      <a:cubicBezTo>
                        <a:pt x="32" y="33"/>
                        <a:pt x="34" y="34"/>
                        <a:pt x="34" y="36"/>
                      </a:cubicBezTo>
                      <a:cubicBezTo>
                        <a:pt x="34" y="32"/>
                        <a:pt x="32" y="21"/>
                        <a:pt x="23" y="11"/>
                      </a:cubicBezTo>
                      <a:cubicBezTo>
                        <a:pt x="14" y="1"/>
                        <a:pt x="3" y="0"/>
                        <a:pt x="0" y="0"/>
                      </a:cubicBezTo>
                      <a:cubicBezTo>
                        <a:pt x="0" y="2"/>
                        <a:pt x="2" y="12"/>
                        <a:pt x="8" y="2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502" name="Freeform 138"/>
                <p:cNvSpPr/>
                <p:nvPr/>
              </p:nvSpPr>
              <p:spPr bwMode="auto">
                <a:xfrm>
                  <a:off x="8629650" y="1317626"/>
                  <a:ext cx="87312" cy="142875"/>
                </a:xfrm>
                <a:custGeom>
                  <a:avLst/>
                  <a:gdLst>
                    <a:gd name="T0" fmla="*/ 23 w 27"/>
                    <a:gd name="T1" fmla="*/ 23 h 44"/>
                    <a:gd name="T2" fmla="*/ 4 w 27"/>
                    <a:gd name="T3" fmla="*/ 40 h 44"/>
                    <a:gd name="T4" fmla="*/ 2 w 27"/>
                    <a:gd name="T5" fmla="*/ 44 h 44"/>
                    <a:gd name="T6" fmla="*/ 7 w 27"/>
                    <a:gd name="T7" fmla="*/ 18 h 44"/>
                    <a:gd name="T8" fmla="*/ 26 w 27"/>
                    <a:gd name="T9" fmla="*/ 0 h 44"/>
                    <a:gd name="T10" fmla="*/ 23 w 27"/>
                    <a:gd name="T11" fmla="*/ 23 h 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7" h="44">
                      <a:moveTo>
                        <a:pt x="23" y="23"/>
                      </a:moveTo>
                      <a:cubicBezTo>
                        <a:pt x="20" y="24"/>
                        <a:pt x="10" y="28"/>
                        <a:pt x="4" y="40"/>
                      </a:cubicBezTo>
                      <a:cubicBezTo>
                        <a:pt x="3" y="41"/>
                        <a:pt x="3" y="43"/>
                        <a:pt x="2" y="44"/>
                      </a:cubicBezTo>
                      <a:cubicBezTo>
                        <a:pt x="2" y="41"/>
                        <a:pt x="0" y="29"/>
                        <a:pt x="7" y="18"/>
                      </a:cubicBezTo>
                      <a:cubicBezTo>
                        <a:pt x="13" y="6"/>
                        <a:pt x="23" y="2"/>
                        <a:pt x="26" y="0"/>
                      </a:cubicBezTo>
                      <a:cubicBezTo>
                        <a:pt x="26" y="3"/>
                        <a:pt x="27" y="13"/>
                        <a:pt x="23" y="2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503" name="Freeform 139"/>
                <p:cNvSpPr/>
                <p:nvPr/>
              </p:nvSpPr>
              <p:spPr bwMode="auto">
                <a:xfrm>
                  <a:off x="8535988" y="1323976"/>
                  <a:ext cx="90487" cy="136525"/>
                </a:xfrm>
                <a:custGeom>
                  <a:avLst/>
                  <a:gdLst>
                    <a:gd name="T0" fmla="*/ 5 w 28"/>
                    <a:gd name="T1" fmla="*/ 22 h 42"/>
                    <a:gd name="T2" fmla="*/ 25 w 28"/>
                    <a:gd name="T3" fmla="*/ 38 h 42"/>
                    <a:gd name="T4" fmla="*/ 27 w 28"/>
                    <a:gd name="T5" fmla="*/ 42 h 42"/>
                    <a:gd name="T6" fmla="*/ 21 w 28"/>
                    <a:gd name="T7" fmla="*/ 16 h 42"/>
                    <a:gd name="T8" fmla="*/ 1 w 28"/>
                    <a:gd name="T9" fmla="*/ 0 h 42"/>
                    <a:gd name="T10" fmla="*/ 5 w 28"/>
                    <a:gd name="T11" fmla="*/ 22 h 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8" h="42">
                      <a:moveTo>
                        <a:pt x="5" y="22"/>
                      </a:moveTo>
                      <a:cubicBezTo>
                        <a:pt x="7" y="23"/>
                        <a:pt x="17" y="27"/>
                        <a:pt x="25" y="38"/>
                      </a:cubicBezTo>
                      <a:cubicBezTo>
                        <a:pt x="25" y="40"/>
                        <a:pt x="26" y="41"/>
                        <a:pt x="27" y="42"/>
                      </a:cubicBezTo>
                      <a:cubicBezTo>
                        <a:pt x="27" y="39"/>
                        <a:pt x="28" y="27"/>
                        <a:pt x="21" y="16"/>
                      </a:cubicBezTo>
                      <a:cubicBezTo>
                        <a:pt x="14" y="5"/>
                        <a:pt x="4" y="1"/>
                        <a:pt x="1" y="0"/>
                      </a:cubicBezTo>
                      <a:cubicBezTo>
                        <a:pt x="0" y="3"/>
                        <a:pt x="0" y="12"/>
                        <a:pt x="5" y="2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504" name="Freeform 140"/>
                <p:cNvSpPr/>
                <p:nvPr/>
              </p:nvSpPr>
              <p:spPr bwMode="auto">
                <a:xfrm>
                  <a:off x="8636000" y="1230313"/>
                  <a:ext cx="106362" cy="123825"/>
                </a:xfrm>
                <a:custGeom>
                  <a:avLst/>
                  <a:gdLst>
                    <a:gd name="T0" fmla="*/ 25 w 33"/>
                    <a:gd name="T1" fmla="*/ 22 h 38"/>
                    <a:gd name="T2" fmla="*/ 3 w 33"/>
                    <a:gd name="T3" fmla="*/ 34 h 38"/>
                    <a:gd name="T4" fmla="*/ 0 w 33"/>
                    <a:gd name="T5" fmla="*/ 38 h 38"/>
                    <a:gd name="T6" fmla="*/ 10 w 33"/>
                    <a:gd name="T7" fmla="*/ 13 h 38"/>
                    <a:gd name="T8" fmla="*/ 33 w 33"/>
                    <a:gd name="T9" fmla="*/ 0 h 38"/>
                    <a:gd name="T10" fmla="*/ 25 w 33"/>
                    <a:gd name="T11" fmla="*/ 22 h 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33" h="38">
                      <a:moveTo>
                        <a:pt x="25" y="22"/>
                      </a:moveTo>
                      <a:cubicBezTo>
                        <a:pt x="23" y="22"/>
                        <a:pt x="12" y="24"/>
                        <a:pt x="3" y="34"/>
                      </a:cubicBezTo>
                      <a:cubicBezTo>
                        <a:pt x="2" y="36"/>
                        <a:pt x="1" y="37"/>
                        <a:pt x="0" y="38"/>
                      </a:cubicBezTo>
                      <a:cubicBezTo>
                        <a:pt x="1" y="35"/>
                        <a:pt x="2" y="23"/>
                        <a:pt x="10" y="13"/>
                      </a:cubicBezTo>
                      <a:cubicBezTo>
                        <a:pt x="19" y="3"/>
                        <a:pt x="30" y="1"/>
                        <a:pt x="33" y="0"/>
                      </a:cubicBezTo>
                      <a:cubicBezTo>
                        <a:pt x="32" y="3"/>
                        <a:pt x="32" y="12"/>
                        <a:pt x="25" y="2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505" name="Freeform 141"/>
                <p:cNvSpPr/>
                <p:nvPr/>
              </p:nvSpPr>
              <p:spPr bwMode="auto">
                <a:xfrm>
                  <a:off x="8558213" y="1201738"/>
                  <a:ext cx="77787" cy="152400"/>
                </a:xfrm>
                <a:custGeom>
                  <a:avLst/>
                  <a:gdLst>
                    <a:gd name="T0" fmla="*/ 3 w 24"/>
                    <a:gd name="T1" fmla="*/ 22 h 47"/>
                    <a:gd name="T2" fmla="*/ 19 w 24"/>
                    <a:gd name="T3" fmla="*/ 42 h 47"/>
                    <a:gd name="T4" fmla="*/ 20 w 24"/>
                    <a:gd name="T5" fmla="*/ 47 h 47"/>
                    <a:gd name="T6" fmla="*/ 20 w 24"/>
                    <a:gd name="T7" fmla="*/ 19 h 47"/>
                    <a:gd name="T8" fmla="*/ 4 w 24"/>
                    <a:gd name="T9" fmla="*/ 0 h 47"/>
                    <a:gd name="T10" fmla="*/ 3 w 24"/>
                    <a:gd name="T11" fmla="*/ 22 h 4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4" h="47">
                      <a:moveTo>
                        <a:pt x="3" y="22"/>
                      </a:moveTo>
                      <a:cubicBezTo>
                        <a:pt x="5" y="24"/>
                        <a:pt x="14" y="29"/>
                        <a:pt x="19" y="42"/>
                      </a:cubicBezTo>
                      <a:cubicBezTo>
                        <a:pt x="19" y="43"/>
                        <a:pt x="20" y="45"/>
                        <a:pt x="20" y="47"/>
                      </a:cubicBezTo>
                      <a:cubicBezTo>
                        <a:pt x="21" y="43"/>
                        <a:pt x="24" y="32"/>
                        <a:pt x="20" y="19"/>
                      </a:cubicBezTo>
                      <a:cubicBezTo>
                        <a:pt x="15" y="7"/>
                        <a:pt x="6" y="1"/>
                        <a:pt x="4" y="0"/>
                      </a:cubicBezTo>
                      <a:cubicBezTo>
                        <a:pt x="3" y="2"/>
                        <a:pt x="0" y="11"/>
                        <a:pt x="3" y="2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506" name="Freeform 142"/>
                <p:cNvSpPr/>
                <p:nvPr/>
              </p:nvSpPr>
              <p:spPr bwMode="auto">
                <a:xfrm>
                  <a:off x="8661400" y="1149351"/>
                  <a:ext cx="127000" cy="101600"/>
                </a:xfrm>
                <a:custGeom>
                  <a:avLst/>
                  <a:gdLst>
                    <a:gd name="T0" fmla="*/ 28 w 39"/>
                    <a:gd name="T1" fmla="*/ 20 h 31"/>
                    <a:gd name="T2" fmla="*/ 3 w 39"/>
                    <a:gd name="T3" fmla="*/ 28 h 31"/>
                    <a:gd name="T4" fmla="*/ 0 w 39"/>
                    <a:gd name="T5" fmla="*/ 31 h 31"/>
                    <a:gd name="T6" fmla="*/ 15 w 39"/>
                    <a:gd name="T7" fmla="*/ 9 h 31"/>
                    <a:gd name="T8" fmla="*/ 39 w 39"/>
                    <a:gd name="T9" fmla="*/ 1 h 31"/>
                    <a:gd name="T10" fmla="*/ 28 w 39"/>
                    <a:gd name="T11" fmla="*/ 20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39" h="31">
                      <a:moveTo>
                        <a:pt x="28" y="20"/>
                      </a:moveTo>
                      <a:cubicBezTo>
                        <a:pt x="25" y="20"/>
                        <a:pt x="14" y="20"/>
                        <a:pt x="3" y="28"/>
                      </a:cubicBezTo>
                      <a:cubicBezTo>
                        <a:pt x="2" y="29"/>
                        <a:pt x="1" y="30"/>
                        <a:pt x="0" y="31"/>
                      </a:cubicBezTo>
                      <a:cubicBezTo>
                        <a:pt x="0" y="28"/>
                        <a:pt x="4" y="17"/>
                        <a:pt x="15" y="9"/>
                      </a:cubicBezTo>
                      <a:cubicBezTo>
                        <a:pt x="25" y="0"/>
                        <a:pt x="36" y="0"/>
                        <a:pt x="39" y="1"/>
                      </a:cubicBezTo>
                      <a:cubicBezTo>
                        <a:pt x="38" y="3"/>
                        <a:pt x="35" y="12"/>
                        <a:pt x="28" y="2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507" name="Freeform 143"/>
                <p:cNvSpPr/>
                <p:nvPr/>
              </p:nvSpPr>
              <p:spPr bwMode="auto">
                <a:xfrm>
                  <a:off x="8607425" y="1085851"/>
                  <a:ext cx="65087" cy="157163"/>
                </a:xfrm>
                <a:custGeom>
                  <a:avLst/>
                  <a:gdLst>
                    <a:gd name="T0" fmla="*/ 1 w 20"/>
                    <a:gd name="T1" fmla="*/ 22 h 49"/>
                    <a:gd name="T2" fmla="*/ 12 w 20"/>
                    <a:gd name="T3" fmla="*/ 45 h 49"/>
                    <a:gd name="T4" fmla="*/ 13 w 20"/>
                    <a:gd name="T5" fmla="*/ 49 h 49"/>
                    <a:gd name="T6" fmla="*/ 18 w 20"/>
                    <a:gd name="T7" fmla="*/ 23 h 49"/>
                    <a:gd name="T8" fmla="*/ 6 w 20"/>
                    <a:gd name="T9" fmla="*/ 0 h 49"/>
                    <a:gd name="T10" fmla="*/ 1 w 20"/>
                    <a:gd name="T11" fmla="*/ 22 h 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0" h="49">
                      <a:moveTo>
                        <a:pt x="1" y="22"/>
                      </a:moveTo>
                      <a:cubicBezTo>
                        <a:pt x="3" y="24"/>
                        <a:pt x="11" y="31"/>
                        <a:pt x="12" y="45"/>
                      </a:cubicBezTo>
                      <a:cubicBezTo>
                        <a:pt x="12" y="46"/>
                        <a:pt x="13" y="48"/>
                        <a:pt x="13" y="49"/>
                      </a:cubicBezTo>
                      <a:cubicBezTo>
                        <a:pt x="14" y="47"/>
                        <a:pt x="20" y="36"/>
                        <a:pt x="18" y="23"/>
                      </a:cubicBezTo>
                      <a:cubicBezTo>
                        <a:pt x="16" y="10"/>
                        <a:pt x="8" y="2"/>
                        <a:pt x="6" y="0"/>
                      </a:cubicBezTo>
                      <a:cubicBezTo>
                        <a:pt x="5" y="3"/>
                        <a:pt x="0" y="11"/>
                        <a:pt x="1" y="2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508" name="Freeform 144"/>
                <p:cNvSpPr/>
                <p:nvPr/>
              </p:nvSpPr>
              <p:spPr bwMode="auto">
                <a:xfrm>
                  <a:off x="8704263" y="1073151"/>
                  <a:ext cx="144462" cy="79375"/>
                </a:xfrm>
                <a:custGeom>
                  <a:avLst/>
                  <a:gdLst>
                    <a:gd name="T0" fmla="*/ 30 w 45"/>
                    <a:gd name="T1" fmla="*/ 20 h 25"/>
                    <a:gd name="T2" fmla="*/ 5 w 45"/>
                    <a:gd name="T3" fmla="*/ 23 h 25"/>
                    <a:gd name="T4" fmla="*/ 0 w 45"/>
                    <a:gd name="T5" fmla="*/ 25 h 25"/>
                    <a:gd name="T6" fmla="*/ 20 w 45"/>
                    <a:gd name="T7" fmla="*/ 6 h 25"/>
                    <a:gd name="T8" fmla="*/ 45 w 45"/>
                    <a:gd name="T9" fmla="*/ 3 h 25"/>
                    <a:gd name="T10" fmla="*/ 30 w 45"/>
                    <a:gd name="T11" fmla="*/ 20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5" h="25">
                      <a:moveTo>
                        <a:pt x="30" y="20"/>
                      </a:moveTo>
                      <a:cubicBezTo>
                        <a:pt x="27" y="19"/>
                        <a:pt x="17" y="17"/>
                        <a:pt x="5" y="23"/>
                      </a:cubicBezTo>
                      <a:cubicBezTo>
                        <a:pt x="3" y="23"/>
                        <a:pt x="2" y="24"/>
                        <a:pt x="0" y="25"/>
                      </a:cubicBezTo>
                      <a:cubicBezTo>
                        <a:pt x="2" y="22"/>
                        <a:pt x="8" y="12"/>
                        <a:pt x="20" y="6"/>
                      </a:cubicBezTo>
                      <a:cubicBezTo>
                        <a:pt x="32" y="0"/>
                        <a:pt x="42" y="3"/>
                        <a:pt x="45" y="3"/>
                      </a:cubicBezTo>
                      <a:cubicBezTo>
                        <a:pt x="44" y="6"/>
                        <a:pt x="39" y="14"/>
                        <a:pt x="30" y="2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509" name="Freeform 145"/>
                <p:cNvSpPr/>
                <p:nvPr/>
              </p:nvSpPr>
              <p:spPr bwMode="auto">
                <a:xfrm>
                  <a:off x="8675688" y="985838"/>
                  <a:ext cx="53975" cy="160338"/>
                </a:xfrm>
                <a:custGeom>
                  <a:avLst/>
                  <a:gdLst>
                    <a:gd name="T0" fmla="*/ 0 w 17"/>
                    <a:gd name="T1" fmla="*/ 20 h 50"/>
                    <a:gd name="T2" fmla="*/ 6 w 17"/>
                    <a:gd name="T3" fmla="*/ 45 h 50"/>
                    <a:gd name="T4" fmla="*/ 6 w 17"/>
                    <a:gd name="T5" fmla="*/ 50 h 50"/>
                    <a:gd name="T6" fmla="*/ 16 w 17"/>
                    <a:gd name="T7" fmla="*/ 25 h 50"/>
                    <a:gd name="T8" fmla="*/ 10 w 17"/>
                    <a:gd name="T9" fmla="*/ 0 h 50"/>
                    <a:gd name="T10" fmla="*/ 0 w 17"/>
                    <a:gd name="T11" fmla="*/ 20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7" h="50">
                      <a:moveTo>
                        <a:pt x="0" y="20"/>
                      </a:moveTo>
                      <a:cubicBezTo>
                        <a:pt x="1" y="23"/>
                        <a:pt x="7" y="31"/>
                        <a:pt x="6" y="45"/>
                      </a:cubicBezTo>
                      <a:cubicBezTo>
                        <a:pt x="6" y="47"/>
                        <a:pt x="6" y="48"/>
                        <a:pt x="6" y="50"/>
                      </a:cubicBezTo>
                      <a:cubicBezTo>
                        <a:pt x="8" y="47"/>
                        <a:pt x="15" y="38"/>
                        <a:pt x="16" y="25"/>
                      </a:cubicBezTo>
                      <a:cubicBezTo>
                        <a:pt x="17" y="11"/>
                        <a:pt x="11" y="2"/>
                        <a:pt x="10" y="0"/>
                      </a:cubicBezTo>
                      <a:cubicBezTo>
                        <a:pt x="8" y="2"/>
                        <a:pt x="2" y="9"/>
                        <a:pt x="0" y="2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510" name="Freeform 146"/>
                <p:cNvSpPr/>
                <p:nvPr/>
              </p:nvSpPr>
              <p:spPr bwMode="auto">
                <a:xfrm>
                  <a:off x="8769350" y="1011238"/>
                  <a:ext cx="153987" cy="61913"/>
                </a:xfrm>
                <a:custGeom>
                  <a:avLst/>
                  <a:gdLst>
                    <a:gd name="T0" fmla="*/ 30 w 48"/>
                    <a:gd name="T1" fmla="*/ 19 h 19"/>
                    <a:gd name="T2" fmla="*/ 5 w 48"/>
                    <a:gd name="T3" fmla="*/ 16 h 19"/>
                    <a:gd name="T4" fmla="*/ 0 w 48"/>
                    <a:gd name="T5" fmla="*/ 18 h 19"/>
                    <a:gd name="T6" fmla="*/ 23 w 48"/>
                    <a:gd name="T7" fmla="*/ 3 h 19"/>
                    <a:gd name="T8" fmla="*/ 48 w 48"/>
                    <a:gd name="T9" fmla="*/ 6 h 19"/>
                    <a:gd name="T10" fmla="*/ 30 w 48"/>
                    <a:gd name="T11" fmla="*/ 19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8" h="19">
                      <a:moveTo>
                        <a:pt x="30" y="19"/>
                      </a:moveTo>
                      <a:cubicBezTo>
                        <a:pt x="27" y="17"/>
                        <a:pt x="18" y="13"/>
                        <a:pt x="5" y="16"/>
                      </a:cubicBezTo>
                      <a:cubicBezTo>
                        <a:pt x="3" y="16"/>
                        <a:pt x="1" y="17"/>
                        <a:pt x="0" y="18"/>
                      </a:cubicBezTo>
                      <a:cubicBezTo>
                        <a:pt x="2" y="15"/>
                        <a:pt x="10" y="6"/>
                        <a:pt x="23" y="3"/>
                      </a:cubicBezTo>
                      <a:cubicBezTo>
                        <a:pt x="36" y="0"/>
                        <a:pt x="46" y="4"/>
                        <a:pt x="48" y="6"/>
                      </a:cubicBezTo>
                      <a:cubicBezTo>
                        <a:pt x="47" y="8"/>
                        <a:pt x="40" y="15"/>
                        <a:pt x="30" y="1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511" name="Freeform 147"/>
                <p:cNvSpPr/>
                <p:nvPr/>
              </p:nvSpPr>
              <p:spPr bwMode="auto">
                <a:xfrm>
                  <a:off x="8758238" y="904876"/>
                  <a:ext cx="61912" cy="150813"/>
                </a:xfrm>
                <a:custGeom>
                  <a:avLst/>
                  <a:gdLst>
                    <a:gd name="T0" fmla="*/ 0 w 19"/>
                    <a:gd name="T1" fmla="*/ 17 h 47"/>
                    <a:gd name="T2" fmla="*/ 2 w 19"/>
                    <a:gd name="T3" fmla="*/ 43 h 47"/>
                    <a:gd name="T4" fmla="*/ 0 w 19"/>
                    <a:gd name="T5" fmla="*/ 47 h 47"/>
                    <a:gd name="T6" fmla="*/ 16 w 19"/>
                    <a:gd name="T7" fmla="*/ 25 h 47"/>
                    <a:gd name="T8" fmla="*/ 14 w 19"/>
                    <a:gd name="T9" fmla="*/ 0 h 47"/>
                    <a:gd name="T10" fmla="*/ 0 w 19"/>
                    <a:gd name="T11" fmla="*/ 17 h 4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9" h="47">
                      <a:moveTo>
                        <a:pt x="0" y="17"/>
                      </a:moveTo>
                      <a:cubicBezTo>
                        <a:pt x="1" y="20"/>
                        <a:pt x="5" y="30"/>
                        <a:pt x="2" y="43"/>
                      </a:cubicBezTo>
                      <a:cubicBezTo>
                        <a:pt x="1" y="44"/>
                        <a:pt x="1" y="46"/>
                        <a:pt x="0" y="47"/>
                      </a:cubicBezTo>
                      <a:cubicBezTo>
                        <a:pt x="3" y="45"/>
                        <a:pt x="12" y="38"/>
                        <a:pt x="16" y="25"/>
                      </a:cubicBezTo>
                      <a:cubicBezTo>
                        <a:pt x="19" y="12"/>
                        <a:pt x="15" y="2"/>
                        <a:pt x="14" y="0"/>
                      </a:cubicBezTo>
                      <a:cubicBezTo>
                        <a:pt x="12" y="1"/>
                        <a:pt x="5" y="7"/>
                        <a:pt x="0" y="1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512" name="Freeform 148"/>
                <p:cNvSpPr/>
                <p:nvPr/>
              </p:nvSpPr>
              <p:spPr bwMode="auto">
                <a:xfrm>
                  <a:off x="8848725" y="965201"/>
                  <a:ext cx="161925" cy="55563"/>
                </a:xfrm>
                <a:custGeom>
                  <a:avLst/>
                  <a:gdLst>
                    <a:gd name="T0" fmla="*/ 29 w 50"/>
                    <a:gd name="T1" fmla="*/ 17 h 17"/>
                    <a:gd name="T2" fmla="*/ 5 w 50"/>
                    <a:gd name="T3" fmla="*/ 9 h 17"/>
                    <a:gd name="T4" fmla="*/ 0 w 50"/>
                    <a:gd name="T5" fmla="*/ 10 h 17"/>
                    <a:gd name="T6" fmla="*/ 25 w 50"/>
                    <a:gd name="T7" fmla="*/ 0 h 17"/>
                    <a:gd name="T8" fmla="*/ 50 w 50"/>
                    <a:gd name="T9" fmla="*/ 8 h 17"/>
                    <a:gd name="T10" fmla="*/ 29 w 50"/>
                    <a:gd name="T11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50" h="17">
                      <a:moveTo>
                        <a:pt x="29" y="17"/>
                      </a:moveTo>
                      <a:cubicBezTo>
                        <a:pt x="27" y="15"/>
                        <a:pt x="18" y="9"/>
                        <a:pt x="5" y="9"/>
                      </a:cubicBezTo>
                      <a:cubicBezTo>
                        <a:pt x="3" y="9"/>
                        <a:pt x="1" y="9"/>
                        <a:pt x="0" y="10"/>
                      </a:cubicBezTo>
                      <a:cubicBezTo>
                        <a:pt x="2" y="8"/>
                        <a:pt x="12" y="1"/>
                        <a:pt x="25" y="0"/>
                      </a:cubicBezTo>
                      <a:cubicBezTo>
                        <a:pt x="39" y="0"/>
                        <a:pt x="47" y="6"/>
                        <a:pt x="50" y="8"/>
                      </a:cubicBezTo>
                      <a:cubicBezTo>
                        <a:pt x="47" y="10"/>
                        <a:pt x="40" y="16"/>
                        <a:pt x="29" y="1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513" name="Freeform 149"/>
                <p:cNvSpPr/>
                <p:nvPr/>
              </p:nvSpPr>
              <p:spPr bwMode="auto">
                <a:xfrm>
                  <a:off x="8842375" y="842963"/>
                  <a:ext cx="84137" cy="142875"/>
                </a:xfrm>
                <a:custGeom>
                  <a:avLst/>
                  <a:gdLst>
                    <a:gd name="T0" fmla="*/ 6 w 26"/>
                    <a:gd name="T1" fmla="*/ 15 h 44"/>
                    <a:gd name="T2" fmla="*/ 2 w 26"/>
                    <a:gd name="T3" fmla="*/ 40 h 44"/>
                    <a:gd name="T4" fmla="*/ 0 w 26"/>
                    <a:gd name="T5" fmla="*/ 44 h 44"/>
                    <a:gd name="T6" fmla="*/ 19 w 26"/>
                    <a:gd name="T7" fmla="*/ 26 h 44"/>
                    <a:gd name="T8" fmla="*/ 23 w 26"/>
                    <a:gd name="T9" fmla="*/ 0 h 44"/>
                    <a:gd name="T10" fmla="*/ 6 w 26"/>
                    <a:gd name="T11" fmla="*/ 15 h 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44">
                      <a:moveTo>
                        <a:pt x="6" y="15"/>
                      </a:moveTo>
                      <a:cubicBezTo>
                        <a:pt x="7" y="18"/>
                        <a:pt x="8" y="28"/>
                        <a:pt x="2" y="40"/>
                      </a:cubicBezTo>
                      <a:cubicBezTo>
                        <a:pt x="1" y="41"/>
                        <a:pt x="0" y="43"/>
                        <a:pt x="0" y="44"/>
                      </a:cubicBezTo>
                      <a:cubicBezTo>
                        <a:pt x="2" y="43"/>
                        <a:pt x="13" y="37"/>
                        <a:pt x="19" y="26"/>
                      </a:cubicBezTo>
                      <a:cubicBezTo>
                        <a:pt x="26" y="14"/>
                        <a:pt x="24" y="3"/>
                        <a:pt x="23" y="0"/>
                      </a:cubicBezTo>
                      <a:cubicBezTo>
                        <a:pt x="21" y="1"/>
                        <a:pt x="12" y="6"/>
                        <a:pt x="6" y="1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514" name="Freeform 150"/>
                <p:cNvSpPr/>
                <p:nvPr/>
              </p:nvSpPr>
              <p:spPr bwMode="auto">
                <a:xfrm>
                  <a:off x="8842375" y="1831976"/>
                  <a:ext cx="236537" cy="109538"/>
                </a:xfrm>
                <a:custGeom>
                  <a:avLst/>
                  <a:gdLst>
                    <a:gd name="T0" fmla="*/ 1 w 73"/>
                    <a:gd name="T1" fmla="*/ 0 h 34"/>
                    <a:gd name="T2" fmla="*/ 73 w 73"/>
                    <a:gd name="T3" fmla="*/ 26 h 34"/>
                    <a:gd name="T4" fmla="*/ 72 w 73"/>
                    <a:gd name="T5" fmla="*/ 34 h 34"/>
                    <a:gd name="T6" fmla="*/ 0 w 73"/>
                    <a:gd name="T7" fmla="*/ 2 h 34"/>
                    <a:gd name="T8" fmla="*/ 1 w 73"/>
                    <a:gd name="T9" fmla="*/ 0 h 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3" h="34">
                      <a:moveTo>
                        <a:pt x="1" y="0"/>
                      </a:moveTo>
                      <a:cubicBezTo>
                        <a:pt x="23" y="15"/>
                        <a:pt x="48" y="23"/>
                        <a:pt x="73" y="26"/>
                      </a:cubicBezTo>
                      <a:cubicBezTo>
                        <a:pt x="72" y="34"/>
                        <a:pt x="72" y="34"/>
                        <a:pt x="72" y="34"/>
                      </a:cubicBezTo>
                      <a:cubicBezTo>
                        <a:pt x="45" y="29"/>
                        <a:pt x="21" y="18"/>
                        <a:pt x="0" y="2"/>
                      </a:cubicBezTo>
                      <a:lnTo>
                        <a:pt x="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515" name="Freeform 151"/>
                <p:cNvSpPr/>
                <p:nvPr/>
              </p:nvSpPr>
              <p:spPr bwMode="auto">
                <a:xfrm>
                  <a:off x="8667750" y="1766888"/>
                  <a:ext cx="155575" cy="80963"/>
                </a:xfrm>
                <a:custGeom>
                  <a:avLst/>
                  <a:gdLst>
                    <a:gd name="T0" fmla="*/ 22 w 48"/>
                    <a:gd name="T1" fmla="*/ 21 h 25"/>
                    <a:gd name="T2" fmla="*/ 48 w 48"/>
                    <a:gd name="T3" fmla="*/ 20 h 25"/>
                    <a:gd name="T4" fmla="*/ 26 w 48"/>
                    <a:gd name="T5" fmla="*/ 4 h 25"/>
                    <a:gd name="T6" fmla="*/ 0 w 48"/>
                    <a:gd name="T7" fmla="*/ 5 h 25"/>
                    <a:gd name="T8" fmla="*/ 22 w 48"/>
                    <a:gd name="T9" fmla="*/ 21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8" h="25">
                      <a:moveTo>
                        <a:pt x="22" y="21"/>
                      </a:moveTo>
                      <a:cubicBezTo>
                        <a:pt x="35" y="25"/>
                        <a:pt x="45" y="21"/>
                        <a:pt x="48" y="20"/>
                      </a:cubicBezTo>
                      <a:cubicBezTo>
                        <a:pt x="46" y="17"/>
                        <a:pt x="39" y="8"/>
                        <a:pt x="26" y="4"/>
                      </a:cubicBezTo>
                      <a:cubicBezTo>
                        <a:pt x="13" y="0"/>
                        <a:pt x="3" y="4"/>
                        <a:pt x="0" y="5"/>
                      </a:cubicBezTo>
                      <a:cubicBezTo>
                        <a:pt x="2" y="8"/>
                        <a:pt x="9" y="17"/>
                        <a:pt x="22" y="2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516" name="Freeform 152"/>
                <p:cNvSpPr/>
                <p:nvPr/>
              </p:nvSpPr>
              <p:spPr bwMode="auto">
                <a:xfrm>
                  <a:off x="8775700" y="1666876"/>
                  <a:ext cx="76200" cy="155575"/>
                </a:xfrm>
                <a:custGeom>
                  <a:avLst/>
                  <a:gdLst>
                    <a:gd name="T0" fmla="*/ 20 w 24"/>
                    <a:gd name="T1" fmla="*/ 23 h 48"/>
                    <a:gd name="T2" fmla="*/ 18 w 24"/>
                    <a:gd name="T3" fmla="*/ 48 h 48"/>
                    <a:gd name="T4" fmla="*/ 3 w 24"/>
                    <a:gd name="T5" fmla="*/ 25 h 48"/>
                    <a:gd name="T6" fmla="*/ 6 w 24"/>
                    <a:gd name="T7" fmla="*/ 0 h 48"/>
                    <a:gd name="T8" fmla="*/ 20 w 24"/>
                    <a:gd name="T9" fmla="*/ 23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8">
                      <a:moveTo>
                        <a:pt x="20" y="23"/>
                      </a:moveTo>
                      <a:cubicBezTo>
                        <a:pt x="24" y="36"/>
                        <a:pt x="19" y="46"/>
                        <a:pt x="18" y="48"/>
                      </a:cubicBezTo>
                      <a:cubicBezTo>
                        <a:pt x="15" y="46"/>
                        <a:pt x="6" y="38"/>
                        <a:pt x="3" y="25"/>
                      </a:cubicBezTo>
                      <a:cubicBezTo>
                        <a:pt x="0" y="12"/>
                        <a:pt x="5" y="2"/>
                        <a:pt x="6" y="0"/>
                      </a:cubicBezTo>
                      <a:cubicBezTo>
                        <a:pt x="8" y="2"/>
                        <a:pt x="17" y="9"/>
                        <a:pt x="20" y="2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517" name="Freeform 153"/>
                <p:cNvSpPr/>
                <p:nvPr/>
              </p:nvSpPr>
              <p:spPr bwMode="auto">
                <a:xfrm>
                  <a:off x="8913813" y="865188"/>
                  <a:ext cx="139700" cy="90488"/>
                </a:xfrm>
                <a:custGeom>
                  <a:avLst/>
                  <a:gdLst>
                    <a:gd name="T0" fmla="*/ 17 w 43"/>
                    <a:gd name="T1" fmla="*/ 7 h 28"/>
                    <a:gd name="T2" fmla="*/ 0 w 43"/>
                    <a:gd name="T3" fmla="*/ 26 h 28"/>
                    <a:gd name="T4" fmla="*/ 25 w 43"/>
                    <a:gd name="T5" fmla="*/ 21 h 28"/>
                    <a:gd name="T6" fmla="*/ 43 w 43"/>
                    <a:gd name="T7" fmla="*/ 2 h 28"/>
                    <a:gd name="T8" fmla="*/ 17 w 43"/>
                    <a:gd name="T9" fmla="*/ 7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3" h="28">
                      <a:moveTo>
                        <a:pt x="17" y="7"/>
                      </a:moveTo>
                      <a:cubicBezTo>
                        <a:pt x="6" y="14"/>
                        <a:pt x="1" y="23"/>
                        <a:pt x="0" y="26"/>
                      </a:cubicBezTo>
                      <a:cubicBezTo>
                        <a:pt x="3" y="27"/>
                        <a:pt x="14" y="28"/>
                        <a:pt x="25" y="21"/>
                      </a:cubicBezTo>
                      <a:cubicBezTo>
                        <a:pt x="37" y="14"/>
                        <a:pt x="41" y="4"/>
                        <a:pt x="43" y="2"/>
                      </a:cubicBezTo>
                      <a:cubicBezTo>
                        <a:pt x="40" y="1"/>
                        <a:pt x="29" y="0"/>
                        <a:pt x="17" y="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</p:grpSp>
          <p:grpSp>
            <p:nvGrpSpPr>
              <p:cNvPr id="470" name="组合 469"/>
              <p:cNvGrpSpPr/>
              <p:nvPr/>
            </p:nvGrpSpPr>
            <p:grpSpPr>
              <a:xfrm flipH="1">
                <a:off x="4483274" y="3242268"/>
                <a:ext cx="272749" cy="548670"/>
                <a:chOff x="8532813" y="842963"/>
                <a:chExt cx="546099" cy="1098551"/>
              </a:xfrm>
              <a:gradFill>
                <a:gsLst>
                  <a:gs pos="34000">
                    <a:schemeClr val="accent1"/>
                  </a:gs>
                  <a:gs pos="100000">
                    <a:schemeClr val="bg2"/>
                  </a:gs>
                  <a:gs pos="76000">
                    <a:schemeClr val="accent1">
                      <a:lumMod val="60000"/>
                      <a:lumOff val="40000"/>
                    </a:schemeClr>
                  </a:gs>
                </a:gsLst>
                <a:lin ang="16200000" scaled="1"/>
              </a:gradFill>
            </p:grpSpPr>
            <p:sp>
              <p:nvSpPr>
                <p:cNvPr id="474" name="Freeform 132"/>
                <p:cNvSpPr/>
                <p:nvPr/>
              </p:nvSpPr>
              <p:spPr bwMode="auto">
                <a:xfrm>
                  <a:off x="8716963" y="1592263"/>
                  <a:ext cx="58737" cy="158750"/>
                </a:xfrm>
                <a:custGeom>
                  <a:avLst/>
                  <a:gdLst>
                    <a:gd name="T0" fmla="*/ 18 w 18"/>
                    <a:gd name="T1" fmla="*/ 19 h 49"/>
                    <a:gd name="T2" fmla="*/ 13 w 18"/>
                    <a:gd name="T3" fmla="*/ 44 h 49"/>
                    <a:gd name="T4" fmla="*/ 14 w 18"/>
                    <a:gd name="T5" fmla="*/ 49 h 49"/>
                    <a:gd name="T6" fmla="*/ 2 w 18"/>
                    <a:gd name="T7" fmla="*/ 25 h 49"/>
                    <a:gd name="T8" fmla="*/ 7 w 18"/>
                    <a:gd name="T9" fmla="*/ 0 h 49"/>
                    <a:gd name="T10" fmla="*/ 18 w 18"/>
                    <a:gd name="T11" fmla="*/ 19 h 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8" h="49">
                      <a:moveTo>
                        <a:pt x="18" y="19"/>
                      </a:moveTo>
                      <a:cubicBezTo>
                        <a:pt x="17" y="22"/>
                        <a:pt x="11" y="31"/>
                        <a:pt x="13" y="44"/>
                      </a:cubicBezTo>
                      <a:cubicBezTo>
                        <a:pt x="13" y="46"/>
                        <a:pt x="13" y="47"/>
                        <a:pt x="14" y="49"/>
                      </a:cubicBezTo>
                      <a:cubicBezTo>
                        <a:pt x="12" y="46"/>
                        <a:pt x="4" y="38"/>
                        <a:pt x="2" y="25"/>
                      </a:cubicBezTo>
                      <a:cubicBezTo>
                        <a:pt x="0" y="11"/>
                        <a:pt x="6" y="2"/>
                        <a:pt x="7" y="0"/>
                      </a:cubicBezTo>
                      <a:cubicBezTo>
                        <a:pt x="9" y="2"/>
                        <a:pt x="15" y="8"/>
                        <a:pt x="18" y="1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475" name="Freeform 133"/>
                <p:cNvSpPr/>
                <p:nvPr/>
              </p:nvSpPr>
              <p:spPr bwMode="auto">
                <a:xfrm>
                  <a:off x="8601075" y="1685926"/>
                  <a:ext cx="147637" cy="71438"/>
                </a:xfrm>
                <a:custGeom>
                  <a:avLst/>
                  <a:gdLst>
                    <a:gd name="T0" fmla="*/ 17 w 46"/>
                    <a:gd name="T1" fmla="*/ 19 h 22"/>
                    <a:gd name="T2" fmla="*/ 42 w 46"/>
                    <a:gd name="T3" fmla="*/ 20 h 22"/>
                    <a:gd name="T4" fmla="*/ 46 w 46"/>
                    <a:gd name="T5" fmla="*/ 22 h 22"/>
                    <a:gd name="T6" fmla="*/ 26 w 46"/>
                    <a:gd name="T7" fmla="*/ 5 h 22"/>
                    <a:gd name="T8" fmla="*/ 0 w 46"/>
                    <a:gd name="T9" fmla="*/ 3 h 22"/>
                    <a:gd name="T10" fmla="*/ 17 w 46"/>
                    <a:gd name="T11" fmla="*/ 19 h 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6" h="22">
                      <a:moveTo>
                        <a:pt x="17" y="19"/>
                      </a:moveTo>
                      <a:cubicBezTo>
                        <a:pt x="19" y="18"/>
                        <a:pt x="30" y="15"/>
                        <a:pt x="42" y="20"/>
                      </a:cubicBezTo>
                      <a:cubicBezTo>
                        <a:pt x="44" y="21"/>
                        <a:pt x="45" y="22"/>
                        <a:pt x="46" y="22"/>
                      </a:cubicBezTo>
                      <a:cubicBezTo>
                        <a:pt x="45" y="20"/>
                        <a:pt x="38" y="10"/>
                        <a:pt x="26" y="5"/>
                      </a:cubicBezTo>
                      <a:cubicBezTo>
                        <a:pt x="14" y="0"/>
                        <a:pt x="3" y="3"/>
                        <a:pt x="0" y="3"/>
                      </a:cubicBezTo>
                      <a:cubicBezTo>
                        <a:pt x="2" y="6"/>
                        <a:pt x="7" y="14"/>
                        <a:pt x="17" y="1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476" name="Freeform 134"/>
                <p:cNvSpPr/>
                <p:nvPr/>
              </p:nvSpPr>
              <p:spPr bwMode="auto">
                <a:xfrm>
                  <a:off x="8675688" y="1501776"/>
                  <a:ext cx="57150" cy="161925"/>
                </a:xfrm>
                <a:custGeom>
                  <a:avLst/>
                  <a:gdLst>
                    <a:gd name="T0" fmla="*/ 18 w 18"/>
                    <a:gd name="T1" fmla="*/ 22 h 50"/>
                    <a:gd name="T2" fmla="*/ 8 w 18"/>
                    <a:gd name="T3" fmla="*/ 45 h 50"/>
                    <a:gd name="T4" fmla="*/ 8 w 18"/>
                    <a:gd name="T5" fmla="*/ 50 h 50"/>
                    <a:gd name="T6" fmla="*/ 1 w 18"/>
                    <a:gd name="T7" fmla="*/ 24 h 50"/>
                    <a:gd name="T8" fmla="*/ 11 w 18"/>
                    <a:gd name="T9" fmla="*/ 0 h 50"/>
                    <a:gd name="T10" fmla="*/ 18 w 18"/>
                    <a:gd name="T11" fmla="*/ 22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8" h="50">
                      <a:moveTo>
                        <a:pt x="18" y="22"/>
                      </a:moveTo>
                      <a:cubicBezTo>
                        <a:pt x="16" y="24"/>
                        <a:pt x="9" y="32"/>
                        <a:pt x="8" y="45"/>
                      </a:cubicBezTo>
                      <a:cubicBezTo>
                        <a:pt x="8" y="47"/>
                        <a:pt x="8" y="48"/>
                        <a:pt x="8" y="50"/>
                      </a:cubicBezTo>
                      <a:cubicBezTo>
                        <a:pt x="6" y="47"/>
                        <a:pt x="0" y="37"/>
                        <a:pt x="1" y="24"/>
                      </a:cubicBezTo>
                      <a:cubicBezTo>
                        <a:pt x="2" y="10"/>
                        <a:pt x="9" y="2"/>
                        <a:pt x="11" y="0"/>
                      </a:cubicBezTo>
                      <a:cubicBezTo>
                        <a:pt x="13" y="3"/>
                        <a:pt x="18" y="11"/>
                        <a:pt x="18" y="2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477" name="Freeform 135"/>
                <p:cNvSpPr/>
                <p:nvPr/>
              </p:nvSpPr>
              <p:spPr bwMode="auto">
                <a:xfrm>
                  <a:off x="8555038" y="1576388"/>
                  <a:ext cx="133350" cy="93663"/>
                </a:xfrm>
                <a:custGeom>
                  <a:avLst/>
                  <a:gdLst>
                    <a:gd name="T0" fmla="*/ 12 w 41"/>
                    <a:gd name="T1" fmla="*/ 19 h 29"/>
                    <a:gd name="T2" fmla="*/ 37 w 41"/>
                    <a:gd name="T3" fmla="*/ 26 h 29"/>
                    <a:gd name="T4" fmla="*/ 41 w 41"/>
                    <a:gd name="T5" fmla="*/ 29 h 29"/>
                    <a:gd name="T6" fmla="*/ 25 w 41"/>
                    <a:gd name="T7" fmla="*/ 7 h 29"/>
                    <a:gd name="T8" fmla="*/ 0 w 41"/>
                    <a:gd name="T9" fmla="*/ 1 h 29"/>
                    <a:gd name="T10" fmla="*/ 12 w 41"/>
                    <a:gd name="T11" fmla="*/ 19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1" h="29">
                      <a:moveTo>
                        <a:pt x="12" y="19"/>
                      </a:moveTo>
                      <a:cubicBezTo>
                        <a:pt x="15" y="19"/>
                        <a:pt x="26" y="18"/>
                        <a:pt x="37" y="26"/>
                      </a:cubicBezTo>
                      <a:cubicBezTo>
                        <a:pt x="38" y="27"/>
                        <a:pt x="40" y="28"/>
                        <a:pt x="41" y="29"/>
                      </a:cubicBezTo>
                      <a:cubicBezTo>
                        <a:pt x="40" y="26"/>
                        <a:pt x="36" y="15"/>
                        <a:pt x="25" y="7"/>
                      </a:cubicBezTo>
                      <a:cubicBezTo>
                        <a:pt x="14" y="0"/>
                        <a:pt x="3" y="0"/>
                        <a:pt x="0" y="1"/>
                      </a:cubicBezTo>
                      <a:cubicBezTo>
                        <a:pt x="1" y="3"/>
                        <a:pt x="4" y="12"/>
                        <a:pt x="12" y="1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478" name="Freeform 136"/>
                <p:cNvSpPr/>
                <p:nvPr/>
              </p:nvSpPr>
              <p:spPr bwMode="auto">
                <a:xfrm>
                  <a:off x="8642350" y="1411288"/>
                  <a:ext cx="74612" cy="155575"/>
                </a:xfrm>
                <a:custGeom>
                  <a:avLst/>
                  <a:gdLst>
                    <a:gd name="T0" fmla="*/ 21 w 23"/>
                    <a:gd name="T1" fmla="*/ 22 h 48"/>
                    <a:gd name="T2" fmla="*/ 6 w 23"/>
                    <a:gd name="T3" fmla="*/ 43 h 48"/>
                    <a:gd name="T4" fmla="*/ 5 w 23"/>
                    <a:gd name="T5" fmla="*/ 48 h 48"/>
                    <a:gd name="T6" fmla="*/ 3 w 23"/>
                    <a:gd name="T7" fmla="*/ 21 h 48"/>
                    <a:gd name="T8" fmla="*/ 19 w 23"/>
                    <a:gd name="T9" fmla="*/ 0 h 48"/>
                    <a:gd name="T10" fmla="*/ 21 w 23"/>
                    <a:gd name="T11" fmla="*/ 22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3" h="48">
                      <a:moveTo>
                        <a:pt x="21" y="22"/>
                      </a:moveTo>
                      <a:cubicBezTo>
                        <a:pt x="18" y="24"/>
                        <a:pt x="9" y="30"/>
                        <a:pt x="6" y="43"/>
                      </a:cubicBezTo>
                      <a:cubicBezTo>
                        <a:pt x="5" y="45"/>
                        <a:pt x="5" y="46"/>
                        <a:pt x="5" y="48"/>
                      </a:cubicBezTo>
                      <a:cubicBezTo>
                        <a:pt x="3" y="45"/>
                        <a:pt x="0" y="33"/>
                        <a:pt x="3" y="21"/>
                      </a:cubicBezTo>
                      <a:cubicBezTo>
                        <a:pt x="7" y="8"/>
                        <a:pt x="16" y="1"/>
                        <a:pt x="19" y="0"/>
                      </a:cubicBezTo>
                      <a:cubicBezTo>
                        <a:pt x="20" y="3"/>
                        <a:pt x="23" y="11"/>
                        <a:pt x="21" y="2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479" name="Freeform 137"/>
                <p:cNvSpPr/>
                <p:nvPr/>
              </p:nvSpPr>
              <p:spPr bwMode="auto">
                <a:xfrm>
                  <a:off x="8532813" y="1454151"/>
                  <a:ext cx="109537" cy="115888"/>
                </a:xfrm>
                <a:custGeom>
                  <a:avLst/>
                  <a:gdLst>
                    <a:gd name="T0" fmla="*/ 8 w 34"/>
                    <a:gd name="T1" fmla="*/ 20 h 36"/>
                    <a:gd name="T2" fmla="*/ 31 w 34"/>
                    <a:gd name="T3" fmla="*/ 32 h 36"/>
                    <a:gd name="T4" fmla="*/ 34 w 34"/>
                    <a:gd name="T5" fmla="*/ 36 h 36"/>
                    <a:gd name="T6" fmla="*/ 23 w 34"/>
                    <a:gd name="T7" fmla="*/ 11 h 36"/>
                    <a:gd name="T8" fmla="*/ 0 w 34"/>
                    <a:gd name="T9" fmla="*/ 0 h 36"/>
                    <a:gd name="T10" fmla="*/ 8 w 34"/>
                    <a:gd name="T11" fmla="*/ 2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34" h="36">
                      <a:moveTo>
                        <a:pt x="8" y="20"/>
                      </a:moveTo>
                      <a:cubicBezTo>
                        <a:pt x="11" y="21"/>
                        <a:pt x="22" y="22"/>
                        <a:pt x="31" y="32"/>
                      </a:cubicBezTo>
                      <a:cubicBezTo>
                        <a:pt x="32" y="33"/>
                        <a:pt x="34" y="34"/>
                        <a:pt x="34" y="36"/>
                      </a:cubicBezTo>
                      <a:cubicBezTo>
                        <a:pt x="34" y="32"/>
                        <a:pt x="32" y="21"/>
                        <a:pt x="23" y="11"/>
                      </a:cubicBezTo>
                      <a:cubicBezTo>
                        <a:pt x="14" y="1"/>
                        <a:pt x="3" y="0"/>
                        <a:pt x="0" y="0"/>
                      </a:cubicBezTo>
                      <a:cubicBezTo>
                        <a:pt x="0" y="2"/>
                        <a:pt x="2" y="12"/>
                        <a:pt x="8" y="2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480" name="Freeform 138"/>
                <p:cNvSpPr/>
                <p:nvPr/>
              </p:nvSpPr>
              <p:spPr bwMode="auto">
                <a:xfrm>
                  <a:off x="8629650" y="1317626"/>
                  <a:ext cx="87312" cy="142875"/>
                </a:xfrm>
                <a:custGeom>
                  <a:avLst/>
                  <a:gdLst>
                    <a:gd name="T0" fmla="*/ 23 w 27"/>
                    <a:gd name="T1" fmla="*/ 23 h 44"/>
                    <a:gd name="T2" fmla="*/ 4 w 27"/>
                    <a:gd name="T3" fmla="*/ 40 h 44"/>
                    <a:gd name="T4" fmla="*/ 2 w 27"/>
                    <a:gd name="T5" fmla="*/ 44 h 44"/>
                    <a:gd name="T6" fmla="*/ 7 w 27"/>
                    <a:gd name="T7" fmla="*/ 18 h 44"/>
                    <a:gd name="T8" fmla="*/ 26 w 27"/>
                    <a:gd name="T9" fmla="*/ 0 h 44"/>
                    <a:gd name="T10" fmla="*/ 23 w 27"/>
                    <a:gd name="T11" fmla="*/ 23 h 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7" h="44">
                      <a:moveTo>
                        <a:pt x="23" y="23"/>
                      </a:moveTo>
                      <a:cubicBezTo>
                        <a:pt x="20" y="24"/>
                        <a:pt x="10" y="28"/>
                        <a:pt x="4" y="40"/>
                      </a:cubicBezTo>
                      <a:cubicBezTo>
                        <a:pt x="3" y="41"/>
                        <a:pt x="3" y="43"/>
                        <a:pt x="2" y="44"/>
                      </a:cubicBezTo>
                      <a:cubicBezTo>
                        <a:pt x="2" y="41"/>
                        <a:pt x="0" y="29"/>
                        <a:pt x="7" y="18"/>
                      </a:cubicBezTo>
                      <a:cubicBezTo>
                        <a:pt x="13" y="6"/>
                        <a:pt x="23" y="2"/>
                        <a:pt x="26" y="0"/>
                      </a:cubicBezTo>
                      <a:cubicBezTo>
                        <a:pt x="26" y="3"/>
                        <a:pt x="27" y="13"/>
                        <a:pt x="23" y="2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481" name="Freeform 139"/>
                <p:cNvSpPr/>
                <p:nvPr/>
              </p:nvSpPr>
              <p:spPr bwMode="auto">
                <a:xfrm>
                  <a:off x="8535988" y="1323976"/>
                  <a:ext cx="90487" cy="136525"/>
                </a:xfrm>
                <a:custGeom>
                  <a:avLst/>
                  <a:gdLst>
                    <a:gd name="T0" fmla="*/ 5 w 28"/>
                    <a:gd name="T1" fmla="*/ 22 h 42"/>
                    <a:gd name="T2" fmla="*/ 25 w 28"/>
                    <a:gd name="T3" fmla="*/ 38 h 42"/>
                    <a:gd name="T4" fmla="*/ 27 w 28"/>
                    <a:gd name="T5" fmla="*/ 42 h 42"/>
                    <a:gd name="T6" fmla="*/ 21 w 28"/>
                    <a:gd name="T7" fmla="*/ 16 h 42"/>
                    <a:gd name="T8" fmla="*/ 1 w 28"/>
                    <a:gd name="T9" fmla="*/ 0 h 42"/>
                    <a:gd name="T10" fmla="*/ 5 w 28"/>
                    <a:gd name="T11" fmla="*/ 22 h 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8" h="42">
                      <a:moveTo>
                        <a:pt x="5" y="22"/>
                      </a:moveTo>
                      <a:cubicBezTo>
                        <a:pt x="7" y="23"/>
                        <a:pt x="17" y="27"/>
                        <a:pt x="25" y="38"/>
                      </a:cubicBezTo>
                      <a:cubicBezTo>
                        <a:pt x="25" y="40"/>
                        <a:pt x="26" y="41"/>
                        <a:pt x="27" y="42"/>
                      </a:cubicBezTo>
                      <a:cubicBezTo>
                        <a:pt x="27" y="39"/>
                        <a:pt x="28" y="27"/>
                        <a:pt x="21" y="16"/>
                      </a:cubicBezTo>
                      <a:cubicBezTo>
                        <a:pt x="14" y="5"/>
                        <a:pt x="4" y="1"/>
                        <a:pt x="1" y="0"/>
                      </a:cubicBezTo>
                      <a:cubicBezTo>
                        <a:pt x="0" y="3"/>
                        <a:pt x="0" y="12"/>
                        <a:pt x="5" y="2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482" name="Freeform 140"/>
                <p:cNvSpPr/>
                <p:nvPr/>
              </p:nvSpPr>
              <p:spPr bwMode="auto">
                <a:xfrm>
                  <a:off x="8636000" y="1230313"/>
                  <a:ext cx="106362" cy="123825"/>
                </a:xfrm>
                <a:custGeom>
                  <a:avLst/>
                  <a:gdLst>
                    <a:gd name="T0" fmla="*/ 25 w 33"/>
                    <a:gd name="T1" fmla="*/ 22 h 38"/>
                    <a:gd name="T2" fmla="*/ 3 w 33"/>
                    <a:gd name="T3" fmla="*/ 34 h 38"/>
                    <a:gd name="T4" fmla="*/ 0 w 33"/>
                    <a:gd name="T5" fmla="*/ 38 h 38"/>
                    <a:gd name="T6" fmla="*/ 10 w 33"/>
                    <a:gd name="T7" fmla="*/ 13 h 38"/>
                    <a:gd name="T8" fmla="*/ 33 w 33"/>
                    <a:gd name="T9" fmla="*/ 0 h 38"/>
                    <a:gd name="T10" fmla="*/ 25 w 33"/>
                    <a:gd name="T11" fmla="*/ 22 h 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33" h="38">
                      <a:moveTo>
                        <a:pt x="25" y="22"/>
                      </a:moveTo>
                      <a:cubicBezTo>
                        <a:pt x="23" y="22"/>
                        <a:pt x="12" y="24"/>
                        <a:pt x="3" y="34"/>
                      </a:cubicBezTo>
                      <a:cubicBezTo>
                        <a:pt x="2" y="36"/>
                        <a:pt x="1" y="37"/>
                        <a:pt x="0" y="38"/>
                      </a:cubicBezTo>
                      <a:cubicBezTo>
                        <a:pt x="1" y="35"/>
                        <a:pt x="2" y="23"/>
                        <a:pt x="10" y="13"/>
                      </a:cubicBezTo>
                      <a:cubicBezTo>
                        <a:pt x="19" y="3"/>
                        <a:pt x="30" y="1"/>
                        <a:pt x="33" y="0"/>
                      </a:cubicBezTo>
                      <a:cubicBezTo>
                        <a:pt x="32" y="3"/>
                        <a:pt x="32" y="12"/>
                        <a:pt x="25" y="2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483" name="Freeform 141"/>
                <p:cNvSpPr/>
                <p:nvPr/>
              </p:nvSpPr>
              <p:spPr bwMode="auto">
                <a:xfrm>
                  <a:off x="8558213" y="1201738"/>
                  <a:ext cx="77787" cy="152400"/>
                </a:xfrm>
                <a:custGeom>
                  <a:avLst/>
                  <a:gdLst>
                    <a:gd name="T0" fmla="*/ 3 w 24"/>
                    <a:gd name="T1" fmla="*/ 22 h 47"/>
                    <a:gd name="T2" fmla="*/ 19 w 24"/>
                    <a:gd name="T3" fmla="*/ 42 h 47"/>
                    <a:gd name="T4" fmla="*/ 20 w 24"/>
                    <a:gd name="T5" fmla="*/ 47 h 47"/>
                    <a:gd name="T6" fmla="*/ 20 w 24"/>
                    <a:gd name="T7" fmla="*/ 19 h 47"/>
                    <a:gd name="T8" fmla="*/ 4 w 24"/>
                    <a:gd name="T9" fmla="*/ 0 h 47"/>
                    <a:gd name="T10" fmla="*/ 3 w 24"/>
                    <a:gd name="T11" fmla="*/ 22 h 4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4" h="47">
                      <a:moveTo>
                        <a:pt x="3" y="22"/>
                      </a:moveTo>
                      <a:cubicBezTo>
                        <a:pt x="5" y="24"/>
                        <a:pt x="14" y="29"/>
                        <a:pt x="19" y="42"/>
                      </a:cubicBezTo>
                      <a:cubicBezTo>
                        <a:pt x="19" y="43"/>
                        <a:pt x="20" y="45"/>
                        <a:pt x="20" y="47"/>
                      </a:cubicBezTo>
                      <a:cubicBezTo>
                        <a:pt x="21" y="43"/>
                        <a:pt x="24" y="32"/>
                        <a:pt x="20" y="19"/>
                      </a:cubicBezTo>
                      <a:cubicBezTo>
                        <a:pt x="15" y="7"/>
                        <a:pt x="6" y="1"/>
                        <a:pt x="4" y="0"/>
                      </a:cubicBezTo>
                      <a:cubicBezTo>
                        <a:pt x="3" y="2"/>
                        <a:pt x="0" y="11"/>
                        <a:pt x="3" y="2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484" name="Freeform 142"/>
                <p:cNvSpPr/>
                <p:nvPr/>
              </p:nvSpPr>
              <p:spPr bwMode="auto">
                <a:xfrm>
                  <a:off x="8661400" y="1149351"/>
                  <a:ext cx="127000" cy="101600"/>
                </a:xfrm>
                <a:custGeom>
                  <a:avLst/>
                  <a:gdLst>
                    <a:gd name="T0" fmla="*/ 28 w 39"/>
                    <a:gd name="T1" fmla="*/ 20 h 31"/>
                    <a:gd name="T2" fmla="*/ 3 w 39"/>
                    <a:gd name="T3" fmla="*/ 28 h 31"/>
                    <a:gd name="T4" fmla="*/ 0 w 39"/>
                    <a:gd name="T5" fmla="*/ 31 h 31"/>
                    <a:gd name="T6" fmla="*/ 15 w 39"/>
                    <a:gd name="T7" fmla="*/ 9 h 31"/>
                    <a:gd name="T8" fmla="*/ 39 w 39"/>
                    <a:gd name="T9" fmla="*/ 1 h 31"/>
                    <a:gd name="T10" fmla="*/ 28 w 39"/>
                    <a:gd name="T11" fmla="*/ 20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39" h="31">
                      <a:moveTo>
                        <a:pt x="28" y="20"/>
                      </a:moveTo>
                      <a:cubicBezTo>
                        <a:pt x="25" y="20"/>
                        <a:pt x="14" y="20"/>
                        <a:pt x="3" y="28"/>
                      </a:cubicBezTo>
                      <a:cubicBezTo>
                        <a:pt x="2" y="29"/>
                        <a:pt x="1" y="30"/>
                        <a:pt x="0" y="31"/>
                      </a:cubicBezTo>
                      <a:cubicBezTo>
                        <a:pt x="0" y="28"/>
                        <a:pt x="4" y="17"/>
                        <a:pt x="15" y="9"/>
                      </a:cubicBezTo>
                      <a:cubicBezTo>
                        <a:pt x="25" y="0"/>
                        <a:pt x="36" y="0"/>
                        <a:pt x="39" y="1"/>
                      </a:cubicBezTo>
                      <a:cubicBezTo>
                        <a:pt x="38" y="3"/>
                        <a:pt x="35" y="12"/>
                        <a:pt x="28" y="2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485" name="Freeform 143"/>
                <p:cNvSpPr/>
                <p:nvPr/>
              </p:nvSpPr>
              <p:spPr bwMode="auto">
                <a:xfrm>
                  <a:off x="8607425" y="1085851"/>
                  <a:ext cx="65087" cy="157163"/>
                </a:xfrm>
                <a:custGeom>
                  <a:avLst/>
                  <a:gdLst>
                    <a:gd name="T0" fmla="*/ 1 w 20"/>
                    <a:gd name="T1" fmla="*/ 22 h 49"/>
                    <a:gd name="T2" fmla="*/ 12 w 20"/>
                    <a:gd name="T3" fmla="*/ 45 h 49"/>
                    <a:gd name="T4" fmla="*/ 13 w 20"/>
                    <a:gd name="T5" fmla="*/ 49 h 49"/>
                    <a:gd name="T6" fmla="*/ 18 w 20"/>
                    <a:gd name="T7" fmla="*/ 23 h 49"/>
                    <a:gd name="T8" fmla="*/ 6 w 20"/>
                    <a:gd name="T9" fmla="*/ 0 h 49"/>
                    <a:gd name="T10" fmla="*/ 1 w 20"/>
                    <a:gd name="T11" fmla="*/ 22 h 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0" h="49">
                      <a:moveTo>
                        <a:pt x="1" y="22"/>
                      </a:moveTo>
                      <a:cubicBezTo>
                        <a:pt x="3" y="24"/>
                        <a:pt x="11" y="31"/>
                        <a:pt x="12" y="45"/>
                      </a:cubicBezTo>
                      <a:cubicBezTo>
                        <a:pt x="12" y="46"/>
                        <a:pt x="13" y="48"/>
                        <a:pt x="13" y="49"/>
                      </a:cubicBezTo>
                      <a:cubicBezTo>
                        <a:pt x="14" y="47"/>
                        <a:pt x="20" y="36"/>
                        <a:pt x="18" y="23"/>
                      </a:cubicBezTo>
                      <a:cubicBezTo>
                        <a:pt x="16" y="10"/>
                        <a:pt x="8" y="2"/>
                        <a:pt x="6" y="0"/>
                      </a:cubicBezTo>
                      <a:cubicBezTo>
                        <a:pt x="5" y="3"/>
                        <a:pt x="0" y="11"/>
                        <a:pt x="1" y="2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486" name="Freeform 144"/>
                <p:cNvSpPr/>
                <p:nvPr/>
              </p:nvSpPr>
              <p:spPr bwMode="auto">
                <a:xfrm>
                  <a:off x="8704263" y="1073151"/>
                  <a:ext cx="144462" cy="79375"/>
                </a:xfrm>
                <a:custGeom>
                  <a:avLst/>
                  <a:gdLst>
                    <a:gd name="T0" fmla="*/ 30 w 45"/>
                    <a:gd name="T1" fmla="*/ 20 h 25"/>
                    <a:gd name="T2" fmla="*/ 5 w 45"/>
                    <a:gd name="T3" fmla="*/ 23 h 25"/>
                    <a:gd name="T4" fmla="*/ 0 w 45"/>
                    <a:gd name="T5" fmla="*/ 25 h 25"/>
                    <a:gd name="T6" fmla="*/ 20 w 45"/>
                    <a:gd name="T7" fmla="*/ 6 h 25"/>
                    <a:gd name="T8" fmla="*/ 45 w 45"/>
                    <a:gd name="T9" fmla="*/ 3 h 25"/>
                    <a:gd name="T10" fmla="*/ 30 w 45"/>
                    <a:gd name="T11" fmla="*/ 20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5" h="25">
                      <a:moveTo>
                        <a:pt x="30" y="20"/>
                      </a:moveTo>
                      <a:cubicBezTo>
                        <a:pt x="27" y="19"/>
                        <a:pt x="17" y="17"/>
                        <a:pt x="5" y="23"/>
                      </a:cubicBezTo>
                      <a:cubicBezTo>
                        <a:pt x="3" y="23"/>
                        <a:pt x="2" y="24"/>
                        <a:pt x="0" y="25"/>
                      </a:cubicBezTo>
                      <a:cubicBezTo>
                        <a:pt x="2" y="22"/>
                        <a:pt x="8" y="12"/>
                        <a:pt x="20" y="6"/>
                      </a:cubicBezTo>
                      <a:cubicBezTo>
                        <a:pt x="32" y="0"/>
                        <a:pt x="42" y="3"/>
                        <a:pt x="45" y="3"/>
                      </a:cubicBezTo>
                      <a:cubicBezTo>
                        <a:pt x="44" y="6"/>
                        <a:pt x="39" y="14"/>
                        <a:pt x="30" y="2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487" name="Freeform 145"/>
                <p:cNvSpPr/>
                <p:nvPr/>
              </p:nvSpPr>
              <p:spPr bwMode="auto">
                <a:xfrm>
                  <a:off x="8675688" y="985838"/>
                  <a:ext cx="53975" cy="160338"/>
                </a:xfrm>
                <a:custGeom>
                  <a:avLst/>
                  <a:gdLst>
                    <a:gd name="T0" fmla="*/ 0 w 17"/>
                    <a:gd name="T1" fmla="*/ 20 h 50"/>
                    <a:gd name="T2" fmla="*/ 6 w 17"/>
                    <a:gd name="T3" fmla="*/ 45 h 50"/>
                    <a:gd name="T4" fmla="*/ 6 w 17"/>
                    <a:gd name="T5" fmla="*/ 50 h 50"/>
                    <a:gd name="T6" fmla="*/ 16 w 17"/>
                    <a:gd name="T7" fmla="*/ 25 h 50"/>
                    <a:gd name="T8" fmla="*/ 10 w 17"/>
                    <a:gd name="T9" fmla="*/ 0 h 50"/>
                    <a:gd name="T10" fmla="*/ 0 w 17"/>
                    <a:gd name="T11" fmla="*/ 20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7" h="50">
                      <a:moveTo>
                        <a:pt x="0" y="20"/>
                      </a:moveTo>
                      <a:cubicBezTo>
                        <a:pt x="1" y="23"/>
                        <a:pt x="7" y="31"/>
                        <a:pt x="6" y="45"/>
                      </a:cubicBezTo>
                      <a:cubicBezTo>
                        <a:pt x="6" y="47"/>
                        <a:pt x="6" y="48"/>
                        <a:pt x="6" y="50"/>
                      </a:cubicBezTo>
                      <a:cubicBezTo>
                        <a:pt x="8" y="47"/>
                        <a:pt x="15" y="38"/>
                        <a:pt x="16" y="25"/>
                      </a:cubicBezTo>
                      <a:cubicBezTo>
                        <a:pt x="17" y="11"/>
                        <a:pt x="11" y="2"/>
                        <a:pt x="10" y="0"/>
                      </a:cubicBezTo>
                      <a:cubicBezTo>
                        <a:pt x="8" y="2"/>
                        <a:pt x="2" y="9"/>
                        <a:pt x="0" y="2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488" name="Freeform 146"/>
                <p:cNvSpPr/>
                <p:nvPr/>
              </p:nvSpPr>
              <p:spPr bwMode="auto">
                <a:xfrm>
                  <a:off x="8769350" y="1011238"/>
                  <a:ext cx="153987" cy="61913"/>
                </a:xfrm>
                <a:custGeom>
                  <a:avLst/>
                  <a:gdLst>
                    <a:gd name="T0" fmla="*/ 30 w 48"/>
                    <a:gd name="T1" fmla="*/ 19 h 19"/>
                    <a:gd name="T2" fmla="*/ 5 w 48"/>
                    <a:gd name="T3" fmla="*/ 16 h 19"/>
                    <a:gd name="T4" fmla="*/ 0 w 48"/>
                    <a:gd name="T5" fmla="*/ 18 h 19"/>
                    <a:gd name="T6" fmla="*/ 23 w 48"/>
                    <a:gd name="T7" fmla="*/ 3 h 19"/>
                    <a:gd name="T8" fmla="*/ 48 w 48"/>
                    <a:gd name="T9" fmla="*/ 6 h 19"/>
                    <a:gd name="T10" fmla="*/ 30 w 48"/>
                    <a:gd name="T11" fmla="*/ 19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8" h="19">
                      <a:moveTo>
                        <a:pt x="30" y="19"/>
                      </a:moveTo>
                      <a:cubicBezTo>
                        <a:pt x="27" y="17"/>
                        <a:pt x="18" y="13"/>
                        <a:pt x="5" y="16"/>
                      </a:cubicBezTo>
                      <a:cubicBezTo>
                        <a:pt x="3" y="16"/>
                        <a:pt x="1" y="17"/>
                        <a:pt x="0" y="18"/>
                      </a:cubicBezTo>
                      <a:cubicBezTo>
                        <a:pt x="2" y="15"/>
                        <a:pt x="10" y="6"/>
                        <a:pt x="23" y="3"/>
                      </a:cubicBezTo>
                      <a:cubicBezTo>
                        <a:pt x="36" y="0"/>
                        <a:pt x="46" y="4"/>
                        <a:pt x="48" y="6"/>
                      </a:cubicBezTo>
                      <a:cubicBezTo>
                        <a:pt x="47" y="8"/>
                        <a:pt x="40" y="15"/>
                        <a:pt x="30" y="1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489" name="Freeform 147"/>
                <p:cNvSpPr/>
                <p:nvPr/>
              </p:nvSpPr>
              <p:spPr bwMode="auto">
                <a:xfrm>
                  <a:off x="8758238" y="904876"/>
                  <a:ext cx="61912" cy="150813"/>
                </a:xfrm>
                <a:custGeom>
                  <a:avLst/>
                  <a:gdLst>
                    <a:gd name="T0" fmla="*/ 0 w 19"/>
                    <a:gd name="T1" fmla="*/ 17 h 47"/>
                    <a:gd name="T2" fmla="*/ 2 w 19"/>
                    <a:gd name="T3" fmla="*/ 43 h 47"/>
                    <a:gd name="T4" fmla="*/ 0 w 19"/>
                    <a:gd name="T5" fmla="*/ 47 h 47"/>
                    <a:gd name="T6" fmla="*/ 16 w 19"/>
                    <a:gd name="T7" fmla="*/ 25 h 47"/>
                    <a:gd name="T8" fmla="*/ 14 w 19"/>
                    <a:gd name="T9" fmla="*/ 0 h 47"/>
                    <a:gd name="T10" fmla="*/ 0 w 19"/>
                    <a:gd name="T11" fmla="*/ 17 h 4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9" h="47">
                      <a:moveTo>
                        <a:pt x="0" y="17"/>
                      </a:moveTo>
                      <a:cubicBezTo>
                        <a:pt x="1" y="20"/>
                        <a:pt x="5" y="30"/>
                        <a:pt x="2" y="43"/>
                      </a:cubicBezTo>
                      <a:cubicBezTo>
                        <a:pt x="1" y="44"/>
                        <a:pt x="1" y="46"/>
                        <a:pt x="0" y="47"/>
                      </a:cubicBezTo>
                      <a:cubicBezTo>
                        <a:pt x="3" y="45"/>
                        <a:pt x="12" y="38"/>
                        <a:pt x="16" y="25"/>
                      </a:cubicBezTo>
                      <a:cubicBezTo>
                        <a:pt x="19" y="12"/>
                        <a:pt x="15" y="2"/>
                        <a:pt x="14" y="0"/>
                      </a:cubicBezTo>
                      <a:cubicBezTo>
                        <a:pt x="12" y="1"/>
                        <a:pt x="5" y="7"/>
                        <a:pt x="0" y="1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490" name="Freeform 148"/>
                <p:cNvSpPr/>
                <p:nvPr/>
              </p:nvSpPr>
              <p:spPr bwMode="auto">
                <a:xfrm>
                  <a:off x="8848725" y="965201"/>
                  <a:ext cx="161925" cy="55563"/>
                </a:xfrm>
                <a:custGeom>
                  <a:avLst/>
                  <a:gdLst>
                    <a:gd name="T0" fmla="*/ 29 w 50"/>
                    <a:gd name="T1" fmla="*/ 17 h 17"/>
                    <a:gd name="T2" fmla="*/ 5 w 50"/>
                    <a:gd name="T3" fmla="*/ 9 h 17"/>
                    <a:gd name="T4" fmla="*/ 0 w 50"/>
                    <a:gd name="T5" fmla="*/ 10 h 17"/>
                    <a:gd name="T6" fmla="*/ 25 w 50"/>
                    <a:gd name="T7" fmla="*/ 0 h 17"/>
                    <a:gd name="T8" fmla="*/ 50 w 50"/>
                    <a:gd name="T9" fmla="*/ 8 h 17"/>
                    <a:gd name="T10" fmla="*/ 29 w 50"/>
                    <a:gd name="T11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50" h="17">
                      <a:moveTo>
                        <a:pt x="29" y="17"/>
                      </a:moveTo>
                      <a:cubicBezTo>
                        <a:pt x="27" y="15"/>
                        <a:pt x="18" y="9"/>
                        <a:pt x="5" y="9"/>
                      </a:cubicBezTo>
                      <a:cubicBezTo>
                        <a:pt x="3" y="9"/>
                        <a:pt x="1" y="9"/>
                        <a:pt x="0" y="10"/>
                      </a:cubicBezTo>
                      <a:cubicBezTo>
                        <a:pt x="2" y="8"/>
                        <a:pt x="12" y="1"/>
                        <a:pt x="25" y="0"/>
                      </a:cubicBezTo>
                      <a:cubicBezTo>
                        <a:pt x="39" y="0"/>
                        <a:pt x="47" y="6"/>
                        <a:pt x="50" y="8"/>
                      </a:cubicBezTo>
                      <a:cubicBezTo>
                        <a:pt x="47" y="10"/>
                        <a:pt x="40" y="16"/>
                        <a:pt x="29" y="1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491" name="Freeform 149"/>
                <p:cNvSpPr/>
                <p:nvPr/>
              </p:nvSpPr>
              <p:spPr bwMode="auto">
                <a:xfrm>
                  <a:off x="8842375" y="842963"/>
                  <a:ext cx="84137" cy="142875"/>
                </a:xfrm>
                <a:custGeom>
                  <a:avLst/>
                  <a:gdLst>
                    <a:gd name="T0" fmla="*/ 6 w 26"/>
                    <a:gd name="T1" fmla="*/ 15 h 44"/>
                    <a:gd name="T2" fmla="*/ 2 w 26"/>
                    <a:gd name="T3" fmla="*/ 40 h 44"/>
                    <a:gd name="T4" fmla="*/ 0 w 26"/>
                    <a:gd name="T5" fmla="*/ 44 h 44"/>
                    <a:gd name="T6" fmla="*/ 19 w 26"/>
                    <a:gd name="T7" fmla="*/ 26 h 44"/>
                    <a:gd name="T8" fmla="*/ 23 w 26"/>
                    <a:gd name="T9" fmla="*/ 0 h 44"/>
                    <a:gd name="T10" fmla="*/ 6 w 26"/>
                    <a:gd name="T11" fmla="*/ 15 h 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44">
                      <a:moveTo>
                        <a:pt x="6" y="15"/>
                      </a:moveTo>
                      <a:cubicBezTo>
                        <a:pt x="7" y="18"/>
                        <a:pt x="8" y="28"/>
                        <a:pt x="2" y="40"/>
                      </a:cubicBezTo>
                      <a:cubicBezTo>
                        <a:pt x="1" y="41"/>
                        <a:pt x="0" y="43"/>
                        <a:pt x="0" y="44"/>
                      </a:cubicBezTo>
                      <a:cubicBezTo>
                        <a:pt x="2" y="43"/>
                        <a:pt x="13" y="37"/>
                        <a:pt x="19" y="26"/>
                      </a:cubicBezTo>
                      <a:cubicBezTo>
                        <a:pt x="26" y="14"/>
                        <a:pt x="24" y="3"/>
                        <a:pt x="23" y="0"/>
                      </a:cubicBezTo>
                      <a:cubicBezTo>
                        <a:pt x="21" y="1"/>
                        <a:pt x="12" y="6"/>
                        <a:pt x="6" y="1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492" name="Freeform 150"/>
                <p:cNvSpPr/>
                <p:nvPr/>
              </p:nvSpPr>
              <p:spPr bwMode="auto">
                <a:xfrm>
                  <a:off x="8842375" y="1831976"/>
                  <a:ext cx="236537" cy="109538"/>
                </a:xfrm>
                <a:custGeom>
                  <a:avLst/>
                  <a:gdLst>
                    <a:gd name="T0" fmla="*/ 1 w 73"/>
                    <a:gd name="T1" fmla="*/ 0 h 34"/>
                    <a:gd name="T2" fmla="*/ 73 w 73"/>
                    <a:gd name="T3" fmla="*/ 26 h 34"/>
                    <a:gd name="T4" fmla="*/ 72 w 73"/>
                    <a:gd name="T5" fmla="*/ 34 h 34"/>
                    <a:gd name="T6" fmla="*/ 0 w 73"/>
                    <a:gd name="T7" fmla="*/ 2 h 34"/>
                    <a:gd name="T8" fmla="*/ 1 w 73"/>
                    <a:gd name="T9" fmla="*/ 0 h 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3" h="34">
                      <a:moveTo>
                        <a:pt x="1" y="0"/>
                      </a:moveTo>
                      <a:cubicBezTo>
                        <a:pt x="23" y="15"/>
                        <a:pt x="48" y="23"/>
                        <a:pt x="73" y="26"/>
                      </a:cubicBezTo>
                      <a:cubicBezTo>
                        <a:pt x="72" y="34"/>
                        <a:pt x="72" y="34"/>
                        <a:pt x="72" y="34"/>
                      </a:cubicBezTo>
                      <a:cubicBezTo>
                        <a:pt x="45" y="29"/>
                        <a:pt x="21" y="18"/>
                        <a:pt x="0" y="2"/>
                      </a:cubicBezTo>
                      <a:lnTo>
                        <a:pt x="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493" name="Freeform 151"/>
                <p:cNvSpPr/>
                <p:nvPr/>
              </p:nvSpPr>
              <p:spPr bwMode="auto">
                <a:xfrm>
                  <a:off x="8667750" y="1766888"/>
                  <a:ext cx="155575" cy="80963"/>
                </a:xfrm>
                <a:custGeom>
                  <a:avLst/>
                  <a:gdLst>
                    <a:gd name="T0" fmla="*/ 22 w 48"/>
                    <a:gd name="T1" fmla="*/ 21 h 25"/>
                    <a:gd name="T2" fmla="*/ 48 w 48"/>
                    <a:gd name="T3" fmla="*/ 20 h 25"/>
                    <a:gd name="T4" fmla="*/ 26 w 48"/>
                    <a:gd name="T5" fmla="*/ 4 h 25"/>
                    <a:gd name="T6" fmla="*/ 0 w 48"/>
                    <a:gd name="T7" fmla="*/ 5 h 25"/>
                    <a:gd name="T8" fmla="*/ 22 w 48"/>
                    <a:gd name="T9" fmla="*/ 21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8" h="25">
                      <a:moveTo>
                        <a:pt x="22" y="21"/>
                      </a:moveTo>
                      <a:cubicBezTo>
                        <a:pt x="35" y="25"/>
                        <a:pt x="45" y="21"/>
                        <a:pt x="48" y="20"/>
                      </a:cubicBezTo>
                      <a:cubicBezTo>
                        <a:pt x="46" y="17"/>
                        <a:pt x="39" y="8"/>
                        <a:pt x="26" y="4"/>
                      </a:cubicBezTo>
                      <a:cubicBezTo>
                        <a:pt x="13" y="0"/>
                        <a:pt x="3" y="4"/>
                        <a:pt x="0" y="5"/>
                      </a:cubicBezTo>
                      <a:cubicBezTo>
                        <a:pt x="2" y="8"/>
                        <a:pt x="9" y="17"/>
                        <a:pt x="22" y="2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494" name="Freeform 152"/>
                <p:cNvSpPr/>
                <p:nvPr/>
              </p:nvSpPr>
              <p:spPr bwMode="auto">
                <a:xfrm>
                  <a:off x="8775700" y="1666876"/>
                  <a:ext cx="76200" cy="155575"/>
                </a:xfrm>
                <a:custGeom>
                  <a:avLst/>
                  <a:gdLst>
                    <a:gd name="T0" fmla="*/ 20 w 24"/>
                    <a:gd name="T1" fmla="*/ 23 h 48"/>
                    <a:gd name="T2" fmla="*/ 18 w 24"/>
                    <a:gd name="T3" fmla="*/ 48 h 48"/>
                    <a:gd name="T4" fmla="*/ 3 w 24"/>
                    <a:gd name="T5" fmla="*/ 25 h 48"/>
                    <a:gd name="T6" fmla="*/ 6 w 24"/>
                    <a:gd name="T7" fmla="*/ 0 h 48"/>
                    <a:gd name="T8" fmla="*/ 20 w 24"/>
                    <a:gd name="T9" fmla="*/ 23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8">
                      <a:moveTo>
                        <a:pt x="20" y="23"/>
                      </a:moveTo>
                      <a:cubicBezTo>
                        <a:pt x="24" y="36"/>
                        <a:pt x="19" y="46"/>
                        <a:pt x="18" y="48"/>
                      </a:cubicBezTo>
                      <a:cubicBezTo>
                        <a:pt x="15" y="46"/>
                        <a:pt x="6" y="38"/>
                        <a:pt x="3" y="25"/>
                      </a:cubicBezTo>
                      <a:cubicBezTo>
                        <a:pt x="0" y="12"/>
                        <a:pt x="5" y="2"/>
                        <a:pt x="6" y="0"/>
                      </a:cubicBezTo>
                      <a:cubicBezTo>
                        <a:pt x="8" y="2"/>
                        <a:pt x="17" y="9"/>
                        <a:pt x="20" y="2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  <p:sp>
              <p:nvSpPr>
                <p:cNvPr id="495" name="Freeform 153"/>
                <p:cNvSpPr/>
                <p:nvPr/>
              </p:nvSpPr>
              <p:spPr bwMode="auto">
                <a:xfrm>
                  <a:off x="8913813" y="865188"/>
                  <a:ext cx="139700" cy="90488"/>
                </a:xfrm>
                <a:custGeom>
                  <a:avLst/>
                  <a:gdLst>
                    <a:gd name="T0" fmla="*/ 17 w 43"/>
                    <a:gd name="T1" fmla="*/ 7 h 28"/>
                    <a:gd name="T2" fmla="*/ 0 w 43"/>
                    <a:gd name="T3" fmla="*/ 26 h 28"/>
                    <a:gd name="T4" fmla="*/ 25 w 43"/>
                    <a:gd name="T5" fmla="*/ 21 h 28"/>
                    <a:gd name="T6" fmla="*/ 43 w 43"/>
                    <a:gd name="T7" fmla="*/ 2 h 28"/>
                    <a:gd name="T8" fmla="*/ 17 w 43"/>
                    <a:gd name="T9" fmla="*/ 7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3" h="28">
                      <a:moveTo>
                        <a:pt x="17" y="7"/>
                      </a:moveTo>
                      <a:cubicBezTo>
                        <a:pt x="6" y="14"/>
                        <a:pt x="1" y="23"/>
                        <a:pt x="0" y="26"/>
                      </a:cubicBezTo>
                      <a:cubicBezTo>
                        <a:pt x="3" y="27"/>
                        <a:pt x="14" y="28"/>
                        <a:pt x="25" y="21"/>
                      </a:cubicBezTo>
                      <a:cubicBezTo>
                        <a:pt x="37" y="14"/>
                        <a:pt x="41" y="4"/>
                        <a:pt x="43" y="2"/>
                      </a:cubicBezTo>
                      <a:cubicBezTo>
                        <a:pt x="40" y="1"/>
                        <a:pt x="29" y="0"/>
                        <a:pt x="17" y="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rgbClr val="1E5AC5"/>
                    </a:solidFill>
                    <a:latin typeface="阿里妈妈数黑体" pitchFamily="2" charset="-122"/>
                    <a:ea typeface="阿里妈妈数黑体" pitchFamily="2" charset="-122"/>
                  </a:endParaRPr>
                </a:p>
              </p:txBody>
            </p:sp>
          </p:grpSp>
          <p:grpSp>
            <p:nvGrpSpPr>
              <p:cNvPr id="471" name="组合 470"/>
              <p:cNvGrpSpPr/>
              <p:nvPr/>
            </p:nvGrpSpPr>
            <p:grpSpPr>
              <a:xfrm>
                <a:off x="3085717" y="3273189"/>
                <a:ext cx="1504985" cy="506148"/>
                <a:chOff x="2912661" y="4333600"/>
                <a:chExt cx="1504985" cy="506148"/>
              </a:xfrm>
            </p:grpSpPr>
            <p:sp>
              <p:nvSpPr>
                <p:cNvPr id="472" name="文本框 471"/>
                <p:cNvSpPr txBox="1"/>
                <p:nvPr/>
              </p:nvSpPr>
              <p:spPr>
                <a:xfrm>
                  <a:off x="3141131" y="4333600"/>
                  <a:ext cx="1065213" cy="338619"/>
                </a:xfrm>
                <a:prstGeom prst="rect">
                  <a:avLst/>
                </a:prstGeom>
                <a:noFill/>
              </p:spPr>
              <p:txBody>
                <a:bodyPr vert="horz" wrap="square" lIns="0" tIns="0" rIns="0" bIns="0" rtlCol="0" anchor="ctr">
                  <a:spAutoFit/>
                </a:bodyPr>
                <a:lstStyle>
                  <a:defPPr>
                    <a:defRPr lang="zh-CN"/>
                  </a:defPPr>
                  <a:lvl1pPr algn="r">
                    <a:lnSpc>
                      <a:spcPct val="90000"/>
                    </a:lnSpc>
                    <a:spcBef>
                      <a:spcPct val="0"/>
                    </a:spcBef>
                    <a:buNone/>
                    <a:defRPr kumimoji="1" sz="2800">
                      <a:gradFill>
                        <a:gsLst>
                          <a:gs pos="100000">
                            <a:schemeClr val="accent1">
                              <a:lumMod val="60000"/>
                              <a:lumOff val="40000"/>
                            </a:schemeClr>
                          </a:gs>
                          <a:gs pos="38000">
                            <a:schemeClr val="accent1"/>
                          </a:gs>
                        </a:gsLst>
                        <a:lin ang="18900000" scaled="1"/>
                      </a:gradFill>
                      <a:latin typeface="OPPOSans H" panose="00020600040101010101" pitchFamily="18" charset="-122"/>
                      <a:ea typeface="OPPOSans H" panose="00020600040101010101" pitchFamily="18" charset="-122"/>
                      <a:cs typeface="OPPOSans H" panose="00020600040101010101" pitchFamily="18" charset="-122"/>
                    </a:defRPr>
                  </a:lvl1pPr>
                </a:lstStyle>
                <a:p>
                  <a:pPr algn="ctr"/>
                  <a:r>
                    <a:rPr lang="en-US" altLang="zh-CN" sz="2400" dirty="0"/>
                    <a:t>80 </a:t>
                  </a:r>
                  <a:r>
                    <a:rPr lang="zh-CN" altLang="en-US" sz="1800" dirty="0"/>
                    <a:t>家</a:t>
                  </a:r>
                  <a:endParaRPr lang="zh-CN" altLang="en-US" sz="1800" dirty="0"/>
                </a:p>
              </p:txBody>
            </p:sp>
            <p:sp>
              <p:nvSpPr>
                <p:cNvPr id="473" name="文本框 472"/>
                <p:cNvSpPr txBox="1"/>
                <p:nvPr/>
              </p:nvSpPr>
              <p:spPr>
                <a:xfrm>
                  <a:off x="2912661" y="4642258"/>
                  <a:ext cx="1504985" cy="197490"/>
                </a:xfrm>
                <a:prstGeom prst="rect">
                  <a:avLst/>
                </a:prstGeom>
                <a:noFill/>
              </p:spPr>
              <p:txBody>
                <a:bodyPr vert="horz" wrap="square" lIns="0" tIns="0" rIns="0" bIns="0" rtlCol="0" anchor="ctr">
                  <a:spAutoFit/>
                </a:bodyPr>
                <a:lstStyle>
                  <a:defPPr>
                    <a:defRPr lang="zh-CN"/>
                  </a:defPPr>
                  <a:lvl1pPr algn="r">
                    <a:lnSpc>
                      <a:spcPct val="90000"/>
                    </a:lnSpc>
                    <a:spcBef>
                      <a:spcPct val="0"/>
                    </a:spcBef>
                    <a:buNone/>
                    <a:defRPr kumimoji="1" sz="2800">
                      <a:gradFill>
                        <a:gsLst>
                          <a:gs pos="100000">
                            <a:schemeClr val="accent1">
                              <a:lumMod val="60000"/>
                              <a:lumOff val="40000"/>
                            </a:schemeClr>
                          </a:gs>
                          <a:gs pos="38000">
                            <a:schemeClr val="accent1"/>
                          </a:gs>
                        </a:gsLst>
                        <a:lin ang="18900000" scaled="1"/>
                      </a:gradFill>
                      <a:latin typeface="OPPOSans H" panose="00020600040101010101" pitchFamily="18" charset="-122"/>
                      <a:ea typeface="OPPOSans H" panose="00020600040101010101" pitchFamily="18" charset="-122"/>
                      <a:cs typeface="OPPOSans H" panose="00020600040101010101" pitchFamily="18" charset="-122"/>
                    </a:defRPr>
                  </a:lvl1pPr>
                </a:lstStyle>
                <a:p>
                  <a:pPr algn="ctr"/>
                  <a:r>
                    <a:rPr lang="zh-CN" altLang="en-US" sz="1400" dirty="0">
                      <a:solidFill>
                        <a:schemeClr val="tx1"/>
                      </a:solidFill>
                    </a:rPr>
                    <a:t>深耕核心客户</a:t>
                  </a:r>
                  <a:endParaRPr lang="zh-CN" altLang="en-US" sz="1400" dirty="0">
                    <a:solidFill>
                      <a:schemeClr val="tx1"/>
                    </a:solidFill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矩形 105"/>
          <p:cNvSpPr/>
          <p:nvPr/>
        </p:nvSpPr>
        <p:spPr>
          <a:xfrm flipH="1">
            <a:off x="8301164" y="1142398"/>
            <a:ext cx="3518444" cy="1212643"/>
          </a:xfrm>
          <a:prstGeom prst="rect">
            <a:avLst/>
          </a:prstGeom>
          <a:gradFill flip="none" rotWithShape="1">
            <a:gsLst>
              <a:gs pos="56000">
                <a:schemeClr val="bg2"/>
              </a:gs>
              <a:gs pos="100000">
                <a:schemeClr val="bg2">
                  <a:alpha val="0"/>
                </a:schemeClr>
              </a:gs>
            </a:gsLst>
            <a:lin ang="0" scaled="1"/>
            <a:tileRect/>
          </a:gradFill>
          <a:ln>
            <a:gradFill flip="none" rotWithShape="1">
              <a:gsLst>
                <a:gs pos="56000">
                  <a:schemeClr val="accent3">
                    <a:lumMod val="60000"/>
                    <a:lumOff val="40000"/>
                  </a:schemeClr>
                </a:gs>
                <a:gs pos="100000">
                  <a:schemeClr val="accent3">
                    <a:lumMod val="60000"/>
                    <a:lumOff val="40000"/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存在工作问题与解决措施</a:t>
            </a:r>
            <a:endParaRPr lang="zh-CN" altLang="en-US" dirty="0"/>
          </a:p>
        </p:txBody>
      </p:sp>
      <p:grpSp>
        <p:nvGrpSpPr>
          <p:cNvPr id="29" name="组合 28"/>
          <p:cNvGrpSpPr/>
          <p:nvPr/>
        </p:nvGrpSpPr>
        <p:grpSpPr>
          <a:xfrm>
            <a:off x="3091816" y="1736429"/>
            <a:ext cx="6008367" cy="4248742"/>
            <a:chOff x="3015344" y="2155701"/>
            <a:chExt cx="6008367" cy="4248742"/>
          </a:xfrm>
        </p:grpSpPr>
        <p:grpSp>
          <p:nvGrpSpPr>
            <p:cNvPr id="30" name="组合 29"/>
            <p:cNvGrpSpPr/>
            <p:nvPr/>
          </p:nvGrpSpPr>
          <p:grpSpPr>
            <a:xfrm>
              <a:off x="3015344" y="2155701"/>
              <a:ext cx="4211782" cy="4211782"/>
              <a:chOff x="3015344" y="2155701"/>
              <a:chExt cx="4211782" cy="4211782"/>
            </a:xfrm>
          </p:grpSpPr>
          <p:grpSp>
            <p:nvGrpSpPr>
              <p:cNvPr id="42" name="组合 41"/>
              <p:cNvGrpSpPr/>
              <p:nvPr/>
            </p:nvGrpSpPr>
            <p:grpSpPr>
              <a:xfrm>
                <a:off x="3015344" y="2155701"/>
                <a:ext cx="4211782" cy="4211782"/>
                <a:chOff x="3990109" y="1323109"/>
                <a:chExt cx="4211782" cy="4211782"/>
              </a:xfrm>
            </p:grpSpPr>
            <p:sp>
              <p:nvSpPr>
                <p:cNvPr id="49" name="椭圆 48"/>
                <p:cNvSpPr/>
                <p:nvPr/>
              </p:nvSpPr>
              <p:spPr>
                <a:xfrm>
                  <a:off x="4608722" y="1941722"/>
                  <a:ext cx="2974556" cy="2974556"/>
                </a:xfrm>
                <a:prstGeom prst="ellipse">
                  <a:avLst/>
                </a:prstGeom>
                <a:gradFill>
                  <a:gsLst>
                    <a:gs pos="37000">
                      <a:schemeClr val="accent1"/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189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50" name="空心弧 49"/>
                <p:cNvSpPr>
                  <a:spLocks noChangeAspect="1"/>
                </p:cNvSpPr>
                <p:nvPr/>
              </p:nvSpPr>
              <p:spPr>
                <a:xfrm>
                  <a:off x="3990109" y="1323109"/>
                  <a:ext cx="4211782" cy="4211782"/>
                </a:xfrm>
                <a:prstGeom prst="blockArc">
                  <a:avLst>
                    <a:gd name="adj1" fmla="val 5396941"/>
                    <a:gd name="adj2" fmla="val 16253002"/>
                    <a:gd name="adj3" fmla="val 10088"/>
                  </a:avLst>
                </a:prstGeom>
                <a:solidFill>
                  <a:schemeClr val="accent1">
                    <a:alpha val="3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3" name="组合 42"/>
              <p:cNvGrpSpPr/>
              <p:nvPr/>
            </p:nvGrpSpPr>
            <p:grpSpPr>
              <a:xfrm>
                <a:off x="3330164" y="2418210"/>
                <a:ext cx="1172458" cy="3745218"/>
                <a:chOff x="3260327" y="2348360"/>
                <a:chExt cx="1172458" cy="3745218"/>
              </a:xfrm>
            </p:grpSpPr>
            <p:sp>
              <p:nvSpPr>
                <p:cNvPr id="44" name="椭圆 43"/>
                <p:cNvSpPr/>
                <p:nvPr/>
              </p:nvSpPr>
              <p:spPr>
                <a:xfrm>
                  <a:off x="4222837" y="2348360"/>
                  <a:ext cx="209948" cy="209948"/>
                </a:xfrm>
                <a:prstGeom prst="ellipse">
                  <a:avLst/>
                </a:prstGeom>
                <a:gradFill>
                  <a:gsLst>
                    <a:gs pos="37000">
                      <a:schemeClr val="accent1"/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189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45" name="椭圆 44"/>
                <p:cNvSpPr/>
                <p:nvPr/>
              </p:nvSpPr>
              <p:spPr>
                <a:xfrm>
                  <a:off x="4222837" y="5883630"/>
                  <a:ext cx="209948" cy="209948"/>
                </a:xfrm>
                <a:prstGeom prst="ellipse">
                  <a:avLst/>
                </a:prstGeom>
                <a:gradFill>
                  <a:gsLst>
                    <a:gs pos="37000">
                      <a:schemeClr val="accent1"/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189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46" name="椭圆 45"/>
                <p:cNvSpPr/>
                <p:nvPr/>
              </p:nvSpPr>
              <p:spPr>
                <a:xfrm>
                  <a:off x="3260327" y="3250729"/>
                  <a:ext cx="209948" cy="209948"/>
                </a:xfrm>
                <a:prstGeom prst="ellipse">
                  <a:avLst/>
                </a:prstGeom>
                <a:gradFill>
                  <a:gsLst>
                    <a:gs pos="37000">
                      <a:schemeClr val="accent1"/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189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48" name="椭圆 47"/>
                <p:cNvSpPr/>
                <p:nvPr/>
              </p:nvSpPr>
              <p:spPr>
                <a:xfrm>
                  <a:off x="3260327" y="4953432"/>
                  <a:ext cx="209948" cy="209948"/>
                </a:xfrm>
                <a:prstGeom prst="ellipse">
                  <a:avLst/>
                </a:prstGeom>
                <a:gradFill>
                  <a:gsLst>
                    <a:gs pos="37000">
                      <a:schemeClr val="accent1"/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189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</p:grpSp>
        </p:grpSp>
        <p:grpSp>
          <p:nvGrpSpPr>
            <p:cNvPr id="31" name="组合 30"/>
            <p:cNvGrpSpPr/>
            <p:nvPr/>
          </p:nvGrpSpPr>
          <p:grpSpPr>
            <a:xfrm flipH="1">
              <a:off x="4811929" y="2192661"/>
              <a:ext cx="4211782" cy="4211782"/>
              <a:chOff x="3015344" y="2155701"/>
              <a:chExt cx="4211782" cy="4211782"/>
            </a:xfrm>
          </p:grpSpPr>
          <p:grpSp>
            <p:nvGrpSpPr>
              <p:cNvPr id="32" name="组合 31"/>
              <p:cNvGrpSpPr/>
              <p:nvPr/>
            </p:nvGrpSpPr>
            <p:grpSpPr>
              <a:xfrm>
                <a:off x="3015344" y="2155701"/>
                <a:ext cx="4211782" cy="4211782"/>
                <a:chOff x="3990109" y="1323109"/>
                <a:chExt cx="4211782" cy="4211782"/>
              </a:xfrm>
            </p:grpSpPr>
            <p:sp>
              <p:nvSpPr>
                <p:cNvPr id="39" name="椭圆 38"/>
                <p:cNvSpPr/>
                <p:nvPr/>
              </p:nvSpPr>
              <p:spPr>
                <a:xfrm>
                  <a:off x="4608722" y="1941722"/>
                  <a:ext cx="2974556" cy="2974556"/>
                </a:xfrm>
                <a:prstGeom prst="ellipse">
                  <a:avLst/>
                </a:prstGeom>
                <a:gradFill>
                  <a:gsLst>
                    <a:gs pos="37000">
                      <a:schemeClr val="accent3"/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189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40" name="空心弧 39"/>
                <p:cNvSpPr>
                  <a:spLocks noChangeAspect="1"/>
                </p:cNvSpPr>
                <p:nvPr/>
              </p:nvSpPr>
              <p:spPr>
                <a:xfrm>
                  <a:off x="3990109" y="1323109"/>
                  <a:ext cx="4211782" cy="4211782"/>
                </a:xfrm>
                <a:prstGeom prst="blockArc">
                  <a:avLst>
                    <a:gd name="adj1" fmla="val 5396941"/>
                    <a:gd name="adj2" fmla="val 16253002"/>
                    <a:gd name="adj3" fmla="val 10088"/>
                  </a:avLst>
                </a:prstGeom>
                <a:solidFill>
                  <a:schemeClr val="accent3">
                    <a:alpha val="3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33" name="组合 32"/>
              <p:cNvGrpSpPr/>
              <p:nvPr/>
            </p:nvGrpSpPr>
            <p:grpSpPr>
              <a:xfrm>
                <a:off x="3330164" y="2418210"/>
                <a:ext cx="1172458" cy="3745218"/>
                <a:chOff x="3260327" y="2348360"/>
                <a:chExt cx="1172458" cy="3745218"/>
              </a:xfrm>
            </p:grpSpPr>
            <p:sp>
              <p:nvSpPr>
                <p:cNvPr id="34" name="椭圆 33"/>
                <p:cNvSpPr/>
                <p:nvPr/>
              </p:nvSpPr>
              <p:spPr>
                <a:xfrm>
                  <a:off x="4222837" y="2348360"/>
                  <a:ext cx="209948" cy="209948"/>
                </a:xfrm>
                <a:prstGeom prst="ellipse">
                  <a:avLst/>
                </a:prstGeom>
                <a:gradFill>
                  <a:gsLst>
                    <a:gs pos="37000">
                      <a:schemeClr val="accent3"/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189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35" name="椭圆 34"/>
                <p:cNvSpPr/>
                <p:nvPr/>
              </p:nvSpPr>
              <p:spPr>
                <a:xfrm>
                  <a:off x="4222837" y="5883630"/>
                  <a:ext cx="209948" cy="209948"/>
                </a:xfrm>
                <a:prstGeom prst="ellipse">
                  <a:avLst/>
                </a:prstGeom>
                <a:gradFill>
                  <a:gsLst>
                    <a:gs pos="37000">
                      <a:schemeClr val="accent3"/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189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36" name="椭圆 35"/>
                <p:cNvSpPr/>
                <p:nvPr/>
              </p:nvSpPr>
              <p:spPr>
                <a:xfrm>
                  <a:off x="3260327" y="3250729"/>
                  <a:ext cx="209948" cy="209948"/>
                </a:xfrm>
                <a:prstGeom prst="ellipse">
                  <a:avLst/>
                </a:prstGeom>
                <a:gradFill>
                  <a:gsLst>
                    <a:gs pos="37000">
                      <a:schemeClr val="accent3"/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189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38" name="椭圆 37"/>
                <p:cNvSpPr/>
                <p:nvPr/>
              </p:nvSpPr>
              <p:spPr>
                <a:xfrm>
                  <a:off x="3260327" y="4953432"/>
                  <a:ext cx="209948" cy="209948"/>
                </a:xfrm>
                <a:prstGeom prst="ellipse">
                  <a:avLst/>
                </a:prstGeom>
                <a:gradFill>
                  <a:gsLst>
                    <a:gs pos="37000">
                      <a:schemeClr val="accent3"/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189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</p:grpSp>
        </p:grpSp>
      </p:grpSp>
      <p:grpSp>
        <p:nvGrpSpPr>
          <p:cNvPr id="52" name="组合 51"/>
          <p:cNvGrpSpPr/>
          <p:nvPr/>
        </p:nvGrpSpPr>
        <p:grpSpPr>
          <a:xfrm>
            <a:off x="4193427" y="2969708"/>
            <a:ext cx="3601371" cy="1739276"/>
            <a:chOff x="4154090" y="2889122"/>
            <a:chExt cx="3601371" cy="1739276"/>
          </a:xfrm>
        </p:grpSpPr>
        <p:grpSp>
          <p:nvGrpSpPr>
            <p:cNvPr id="53" name="组合 52"/>
            <p:cNvGrpSpPr/>
            <p:nvPr/>
          </p:nvGrpSpPr>
          <p:grpSpPr>
            <a:xfrm>
              <a:off x="4154090" y="2889122"/>
              <a:ext cx="1184262" cy="1739276"/>
              <a:chOff x="4296269" y="2878702"/>
              <a:chExt cx="1184262" cy="1739276"/>
            </a:xfrm>
          </p:grpSpPr>
          <p:sp>
            <p:nvSpPr>
              <p:cNvPr id="57" name="7 CuadroTexto"/>
              <p:cNvSpPr txBox="1"/>
              <p:nvPr/>
            </p:nvSpPr>
            <p:spPr>
              <a:xfrm>
                <a:off x="4296269" y="3417649"/>
                <a:ext cx="1184262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lnSpc>
                    <a:spcPct val="120000"/>
                  </a:lnSpc>
                  <a:defRPr sz="1000">
                    <a:solidFill>
                      <a:schemeClr val="bg2"/>
                    </a:solidFill>
                    <a:latin typeface="OPPOSans R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</a:defRPr>
                </a:lvl1pPr>
              </a:lstStyle>
              <a:p>
                <a:pPr algn="ctr">
                  <a:lnSpc>
                    <a:spcPct val="100000"/>
                  </a:lnSpc>
                </a:pPr>
                <a:r>
                  <a:rPr lang="zh-CN" altLang="en-US" sz="3600" dirty="0">
                    <a:latin typeface="OPPOSans H" panose="00020600040101010101" pitchFamily="18" charset="-122"/>
                    <a:ea typeface="OPPOSans H" panose="00020600040101010101" pitchFamily="18" charset="-122"/>
                    <a:cs typeface="OPPOSans H" panose="00020600040101010101" pitchFamily="18" charset="-122"/>
                  </a:rPr>
                  <a:t>存在</a:t>
                </a:r>
                <a:endParaRPr lang="en-US" altLang="zh-CN" sz="3600" dirty="0">
                  <a:latin typeface="OPPOSans H" panose="00020600040101010101" pitchFamily="18" charset="-122"/>
                  <a:ea typeface="OPPOSans H" panose="00020600040101010101" pitchFamily="18" charset="-122"/>
                  <a:cs typeface="OPPOSans H" panose="00020600040101010101" pitchFamily="18" charset="-122"/>
                </a:endParaRPr>
              </a:p>
              <a:p>
                <a:pPr algn="ctr">
                  <a:lnSpc>
                    <a:spcPct val="100000"/>
                  </a:lnSpc>
                </a:pPr>
                <a:r>
                  <a:rPr lang="zh-CN" altLang="en-US" sz="3600" dirty="0">
                    <a:latin typeface="OPPOSans H" panose="00020600040101010101" pitchFamily="18" charset="-122"/>
                    <a:ea typeface="OPPOSans H" panose="00020600040101010101" pitchFamily="18" charset="-122"/>
                    <a:cs typeface="OPPOSans H" panose="00020600040101010101" pitchFamily="18" charset="-122"/>
                  </a:rPr>
                  <a:t>问题</a:t>
                </a:r>
                <a:endParaRPr lang="zh-CN" altLang="en-US" sz="3600" dirty="0">
                  <a:latin typeface="OPPOSans H" panose="00020600040101010101" pitchFamily="18" charset="-122"/>
                  <a:ea typeface="OPPOSans H" panose="00020600040101010101" pitchFamily="18" charset="-122"/>
                  <a:cs typeface="OPPOSans H" panose="00020600040101010101" pitchFamily="18" charset="-122"/>
                </a:endParaRPr>
              </a:p>
            </p:txBody>
          </p:sp>
          <p:pic>
            <p:nvPicPr>
              <p:cNvPr id="58" name="图形 57"/>
              <p:cNvPicPr>
                <a:picLocks noChangeAspect="1"/>
              </p:cNvPicPr>
              <p:nvPr/>
            </p:nvPicPr>
            <p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4650211" y="2878702"/>
                <a:ext cx="483864" cy="483864"/>
              </a:xfrm>
              <a:prstGeom prst="rect">
                <a:avLst/>
              </a:prstGeom>
            </p:spPr>
          </p:pic>
        </p:grpSp>
        <p:grpSp>
          <p:nvGrpSpPr>
            <p:cNvPr id="54" name="组合 53"/>
            <p:cNvGrpSpPr/>
            <p:nvPr/>
          </p:nvGrpSpPr>
          <p:grpSpPr>
            <a:xfrm>
              <a:off x="6571199" y="2889122"/>
              <a:ext cx="1184262" cy="1739276"/>
              <a:chOff x="4296269" y="2878702"/>
              <a:chExt cx="1184262" cy="1739276"/>
            </a:xfrm>
          </p:grpSpPr>
          <p:sp>
            <p:nvSpPr>
              <p:cNvPr id="55" name="7 CuadroTexto"/>
              <p:cNvSpPr txBox="1"/>
              <p:nvPr/>
            </p:nvSpPr>
            <p:spPr>
              <a:xfrm>
                <a:off x="4296269" y="3417649"/>
                <a:ext cx="1184262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lnSpc>
                    <a:spcPct val="120000"/>
                  </a:lnSpc>
                  <a:defRPr sz="1000">
                    <a:solidFill>
                      <a:schemeClr val="bg2"/>
                    </a:solidFill>
                    <a:latin typeface="OPPOSans R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</a:defRPr>
                </a:lvl1pPr>
              </a:lstStyle>
              <a:p>
                <a:pPr algn="ctr">
                  <a:lnSpc>
                    <a:spcPct val="100000"/>
                  </a:lnSpc>
                </a:pPr>
                <a:r>
                  <a:rPr lang="zh-CN" altLang="en-US" sz="3600" dirty="0">
                    <a:latin typeface="OPPOSans H" panose="00020600040101010101" pitchFamily="18" charset="-122"/>
                    <a:ea typeface="OPPOSans H" panose="00020600040101010101" pitchFamily="18" charset="-122"/>
                    <a:cs typeface="OPPOSans H" panose="00020600040101010101" pitchFamily="18" charset="-122"/>
                  </a:rPr>
                  <a:t>解决措施</a:t>
                </a:r>
                <a:endParaRPr lang="zh-CN" altLang="en-US" sz="3600" dirty="0">
                  <a:latin typeface="OPPOSans H" panose="00020600040101010101" pitchFamily="18" charset="-122"/>
                  <a:ea typeface="OPPOSans H" panose="00020600040101010101" pitchFamily="18" charset="-122"/>
                  <a:cs typeface="OPPOSans H" panose="00020600040101010101" pitchFamily="18" charset="-122"/>
                </a:endParaRPr>
              </a:p>
            </p:txBody>
          </p:sp>
          <p:pic>
            <p:nvPicPr>
              <p:cNvPr id="56" name="图形 55"/>
              <p:cNvPicPr>
                <a:picLocks noChangeAspect="1"/>
              </p:cNvPicPr>
              <p:nvPr/>
            </p:nvPicPr>
            <p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4650211" y="2878702"/>
                <a:ext cx="483864" cy="483864"/>
              </a:xfrm>
              <a:prstGeom prst="rect">
                <a:avLst/>
              </a:prstGeom>
            </p:spPr>
          </p:pic>
        </p:grpSp>
      </p:grpSp>
      <p:grpSp>
        <p:nvGrpSpPr>
          <p:cNvPr id="59" name="组合 58"/>
          <p:cNvGrpSpPr/>
          <p:nvPr/>
        </p:nvGrpSpPr>
        <p:grpSpPr>
          <a:xfrm>
            <a:off x="5663231" y="3198567"/>
            <a:ext cx="853460" cy="1361426"/>
            <a:chOff x="6440380" y="2422792"/>
            <a:chExt cx="657544" cy="1048902"/>
          </a:xfrm>
        </p:grpSpPr>
        <p:sp>
          <p:nvSpPr>
            <p:cNvPr id="60" name="任意多边形: 形状 59"/>
            <p:cNvSpPr/>
            <p:nvPr/>
          </p:nvSpPr>
          <p:spPr>
            <a:xfrm rot="16200000" flipV="1">
              <a:off x="6112789" y="2842256"/>
              <a:ext cx="957029" cy="301848"/>
            </a:xfrm>
            <a:custGeom>
              <a:avLst/>
              <a:gdLst>
                <a:gd name="connsiteX0" fmla="*/ 957029 w 957029"/>
                <a:gd name="connsiteY0" fmla="*/ 0 h 301848"/>
                <a:gd name="connsiteX1" fmla="*/ 0 w 957029"/>
                <a:gd name="connsiteY1" fmla="*/ 1 h 301848"/>
                <a:gd name="connsiteX2" fmla="*/ 0 w 957029"/>
                <a:gd name="connsiteY2" fmla="*/ 148880 h 301848"/>
                <a:gd name="connsiteX3" fmla="*/ 655181 w 957029"/>
                <a:gd name="connsiteY3" fmla="*/ 148880 h 301848"/>
                <a:gd name="connsiteX4" fmla="*/ 655181 w 957029"/>
                <a:gd name="connsiteY4" fmla="*/ 301848 h 301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7029" h="301848">
                  <a:moveTo>
                    <a:pt x="957029" y="0"/>
                  </a:moveTo>
                  <a:lnTo>
                    <a:pt x="0" y="1"/>
                  </a:lnTo>
                  <a:lnTo>
                    <a:pt x="0" y="148880"/>
                  </a:lnTo>
                  <a:lnTo>
                    <a:pt x="655181" y="148880"/>
                  </a:lnTo>
                  <a:lnTo>
                    <a:pt x="655181" y="301848"/>
                  </a:lnTo>
                  <a:close/>
                </a:path>
              </a:pathLst>
            </a:custGeom>
            <a:gradFill>
              <a:gsLst>
                <a:gs pos="50000">
                  <a:schemeClr val="bg2"/>
                </a:gs>
                <a:gs pos="100000">
                  <a:schemeClr val="bg2"/>
                </a:gs>
                <a:gs pos="8000">
                  <a:schemeClr val="bg2">
                    <a:alpha val="0"/>
                  </a:schemeClr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/>
            </a:p>
          </p:txBody>
        </p:sp>
        <p:sp>
          <p:nvSpPr>
            <p:cNvPr id="61" name="任意多边形: 形状 60"/>
            <p:cNvSpPr/>
            <p:nvPr/>
          </p:nvSpPr>
          <p:spPr>
            <a:xfrm rot="16200000" flipH="1">
              <a:off x="6468485" y="2750383"/>
              <a:ext cx="957029" cy="301848"/>
            </a:xfrm>
            <a:custGeom>
              <a:avLst/>
              <a:gdLst>
                <a:gd name="connsiteX0" fmla="*/ 957029 w 957029"/>
                <a:gd name="connsiteY0" fmla="*/ 0 h 301848"/>
                <a:gd name="connsiteX1" fmla="*/ 0 w 957029"/>
                <a:gd name="connsiteY1" fmla="*/ 1 h 301848"/>
                <a:gd name="connsiteX2" fmla="*/ 0 w 957029"/>
                <a:gd name="connsiteY2" fmla="*/ 148880 h 301848"/>
                <a:gd name="connsiteX3" fmla="*/ 655181 w 957029"/>
                <a:gd name="connsiteY3" fmla="*/ 148880 h 301848"/>
                <a:gd name="connsiteX4" fmla="*/ 655181 w 957029"/>
                <a:gd name="connsiteY4" fmla="*/ 301848 h 301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7029" h="301848">
                  <a:moveTo>
                    <a:pt x="957029" y="0"/>
                  </a:moveTo>
                  <a:lnTo>
                    <a:pt x="0" y="1"/>
                  </a:lnTo>
                  <a:lnTo>
                    <a:pt x="0" y="148880"/>
                  </a:lnTo>
                  <a:lnTo>
                    <a:pt x="655181" y="148880"/>
                  </a:lnTo>
                  <a:lnTo>
                    <a:pt x="655181" y="301848"/>
                  </a:lnTo>
                  <a:close/>
                </a:path>
              </a:pathLst>
            </a:custGeom>
            <a:gradFill>
              <a:gsLst>
                <a:gs pos="50000">
                  <a:schemeClr val="bg2"/>
                </a:gs>
                <a:gs pos="100000">
                  <a:schemeClr val="bg2"/>
                </a:gs>
                <a:gs pos="8000">
                  <a:schemeClr val="bg2">
                    <a:alpha val="0"/>
                  </a:schemeClr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105" name="组合 104"/>
          <p:cNvGrpSpPr/>
          <p:nvPr/>
        </p:nvGrpSpPr>
        <p:grpSpPr>
          <a:xfrm>
            <a:off x="355601" y="1142398"/>
            <a:ext cx="4025622" cy="5423800"/>
            <a:chOff x="355601" y="1142398"/>
            <a:chExt cx="4025622" cy="5423800"/>
          </a:xfrm>
        </p:grpSpPr>
        <p:grpSp>
          <p:nvGrpSpPr>
            <p:cNvPr id="3" name="组合 2"/>
            <p:cNvGrpSpPr/>
            <p:nvPr/>
          </p:nvGrpSpPr>
          <p:grpSpPr>
            <a:xfrm>
              <a:off x="355601" y="1142398"/>
              <a:ext cx="3518444" cy="5423800"/>
              <a:chOff x="355601" y="1142398"/>
              <a:chExt cx="3518444" cy="5423800"/>
            </a:xfrm>
          </p:grpSpPr>
          <p:grpSp>
            <p:nvGrpSpPr>
              <p:cNvPr id="4" name="组合 3"/>
              <p:cNvGrpSpPr/>
              <p:nvPr/>
            </p:nvGrpSpPr>
            <p:grpSpPr>
              <a:xfrm>
                <a:off x="355601" y="1142398"/>
                <a:ext cx="3518444" cy="1212643"/>
                <a:chOff x="355601" y="1142399"/>
                <a:chExt cx="3518444" cy="1021542"/>
              </a:xfrm>
            </p:grpSpPr>
            <p:sp>
              <p:nvSpPr>
                <p:cNvPr id="14" name="矩形 13"/>
                <p:cNvSpPr/>
                <p:nvPr/>
              </p:nvSpPr>
              <p:spPr>
                <a:xfrm>
                  <a:off x="355601" y="1142399"/>
                  <a:ext cx="3518444" cy="1021542"/>
                </a:xfrm>
                <a:prstGeom prst="rect">
                  <a:avLst/>
                </a:prstGeom>
                <a:gradFill flip="none" rotWithShape="1">
                  <a:gsLst>
                    <a:gs pos="56000">
                      <a:schemeClr val="bg2"/>
                    </a:gs>
                    <a:gs pos="100000">
                      <a:schemeClr val="bg2">
                        <a:alpha val="0"/>
                      </a:schemeClr>
                    </a:gs>
                  </a:gsLst>
                  <a:lin ang="0" scaled="1"/>
                  <a:tileRect/>
                </a:gradFill>
                <a:ln>
                  <a:gradFill flip="none" rotWithShape="1">
                    <a:gsLst>
                      <a:gs pos="56000">
                        <a:schemeClr val="accent1">
                          <a:lumMod val="60000"/>
                          <a:lumOff val="40000"/>
                        </a:schemeClr>
                      </a:gs>
                      <a:gs pos="100000">
                        <a:schemeClr val="accent1">
                          <a:lumMod val="60000"/>
                          <a:lumOff val="40000"/>
                          <a:alpha val="0"/>
                        </a:schemeClr>
                      </a:gs>
                    </a:gsLst>
                    <a:lin ang="0" scaled="1"/>
                    <a:tileRect/>
                  </a:gra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15" name="矩形 14"/>
                <p:cNvSpPr/>
                <p:nvPr/>
              </p:nvSpPr>
              <p:spPr>
                <a:xfrm>
                  <a:off x="355601" y="1142399"/>
                  <a:ext cx="52069" cy="1021542"/>
                </a:xfrm>
                <a:prstGeom prst="rect">
                  <a:avLst/>
                </a:prstGeom>
                <a:gradFill>
                  <a:gsLst>
                    <a:gs pos="56000">
                      <a:schemeClr val="accent1"/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</p:grpSp>
          <p:grpSp>
            <p:nvGrpSpPr>
              <p:cNvPr id="5" name="组合 4"/>
              <p:cNvGrpSpPr/>
              <p:nvPr/>
            </p:nvGrpSpPr>
            <p:grpSpPr>
              <a:xfrm>
                <a:off x="355601" y="2546117"/>
                <a:ext cx="2474201" cy="1212643"/>
                <a:chOff x="355601" y="1142399"/>
                <a:chExt cx="2474201" cy="1021542"/>
              </a:xfrm>
            </p:grpSpPr>
            <p:sp>
              <p:nvSpPr>
                <p:cNvPr id="12" name="矩形 11"/>
                <p:cNvSpPr/>
                <p:nvPr/>
              </p:nvSpPr>
              <p:spPr>
                <a:xfrm>
                  <a:off x="355602" y="1142399"/>
                  <a:ext cx="2474200" cy="1021542"/>
                </a:xfrm>
                <a:prstGeom prst="rect">
                  <a:avLst/>
                </a:prstGeom>
                <a:gradFill flip="none" rotWithShape="1">
                  <a:gsLst>
                    <a:gs pos="56000">
                      <a:schemeClr val="bg2"/>
                    </a:gs>
                    <a:gs pos="100000">
                      <a:schemeClr val="bg2">
                        <a:alpha val="0"/>
                      </a:schemeClr>
                    </a:gs>
                  </a:gsLst>
                  <a:lin ang="0" scaled="1"/>
                  <a:tileRect/>
                </a:gradFill>
                <a:ln>
                  <a:gradFill flip="none" rotWithShape="1">
                    <a:gsLst>
                      <a:gs pos="56000">
                        <a:schemeClr val="accent1">
                          <a:lumMod val="60000"/>
                          <a:lumOff val="40000"/>
                        </a:schemeClr>
                      </a:gs>
                      <a:gs pos="100000">
                        <a:schemeClr val="accent1">
                          <a:lumMod val="60000"/>
                          <a:lumOff val="40000"/>
                          <a:alpha val="0"/>
                        </a:schemeClr>
                      </a:gs>
                    </a:gsLst>
                    <a:lin ang="0" scaled="1"/>
                    <a:tileRect/>
                  </a:gra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13" name="矩形 12"/>
                <p:cNvSpPr/>
                <p:nvPr/>
              </p:nvSpPr>
              <p:spPr>
                <a:xfrm>
                  <a:off x="355601" y="1142399"/>
                  <a:ext cx="52069" cy="1021542"/>
                </a:xfrm>
                <a:prstGeom prst="rect">
                  <a:avLst/>
                </a:prstGeom>
                <a:gradFill>
                  <a:gsLst>
                    <a:gs pos="56000">
                      <a:schemeClr val="accent1"/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</p:grpSp>
          <p:grpSp>
            <p:nvGrpSpPr>
              <p:cNvPr id="6" name="组合 5"/>
              <p:cNvGrpSpPr/>
              <p:nvPr/>
            </p:nvGrpSpPr>
            <p:grpSpPr>
              <a:xfrm>
                <a:off x="355601" y="3949836"/>
                <a:ext cx="2474201" cy="1212643"/>
                <a:chOff x="355601" y="1142399"/>
                <a:chExt cx="2474201" cy="1021542"/>
              </a:xfrm>
            </p:grpSpPr>
            <p:sp>
              <p:nvSpPr>
                <p:cNvPr id="10" name="矩形 9"/>
                <p:cNvSpPr/>
                <p:nvPr/>
              </p:nvSpPr>
              <p:spPr>
                <a:xfrm>
                  <a:off x="355602" y="1142399"/>
                  <a:ext cx="2474200" cy="1021542"/>
                </a:xfrm>
                <a:prstGeom prst="rect">
                  <a:avLst/>
                </a:prstGeom>
                <a:gradFill flip="none" rotWithShape="1">
                  <a:gsLst>
                    <a:gs pos="56000">
                      <a:schemeClr val="bg2"/>
                    </a:gs>
                    <a:gs pos="100000">
                      <a:schemeClr val="bg2">
                        <a:alpha val="0"/>
                      </a:schemeClr>
                    </a:gs>
                  </a:gsLst>
                  <a:lin ang="0" scaled="1"/>
                  <a:tileRect/>
                </a:gradFill>
                <a:ln>
                  <a:gradFill flip="none" rotWithShape="1">
                    <a:gsLst>
                      <a:gs pos="56000">
                        <a:schemeClr val="accent1">
                          <a:lumMod val="60000"/>
                          <a:lumOff val="40000"/>
                        </a:schemeClr>
                      </a:gs>
                      <a:gs pos="100000">
                        <a:schemeClr val="accent1">
                          <a:lumMod val="60000"/>
                          <a:lumOff val="40000"/>
                          <a:alpha val="0"/>
                        </a:schemeClr>
                      </a:gs>
                    </a:gsLst>
                    <a:lin ang="0" scaled="1"/>
                    <a:tileRect/>
                  </a:gra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11" name="矩形 10"/>
                <p:cNvSpPr/>
                <p:nvPr/>
              </p:nvSpPr>
              <p:spPr>
                <a:xfrm>
                  <a:off x="355601" y="1142399"/>
                  <a:ext cx="52069" cy="1021542"/>
                </a:xfrm>
                <a:prstGeom prst="rect">
                  <a:avLst/>
                </a:prstGeom>
                <a:gradFill>
                  <a:gsLst>
                    <a:gs pos="56000">
                      <a:schemeClr val="accent1"/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</p:grpSp>
          <p:grpSp>
            <p:nvGrpSpPr>
              <p:cNvPr id="7" name="组合 6"/>
              <p:cNvGrpSpPr/>
              <p:nvPr/>
            </p:nvGrpSpPr>
            <p:grpSpPr>
              <a:xfrm>
                <a:off x="355601" y="5353555"/>
                <a:ext cx="3373357" cy="1212643"/>
                <a:chOff x="355601" y="1142399"/>
                <a:chExt cx="3373357" cy="1021542"/>
              </a:xfrm>
            </p:grpSpPr>
            <p:sp>
              <p:nvSpPr>
                <p:cNvPr id="8" name="矩形 7"/>
                <p:cNvSpPr/>
                <p:nvPr/>
              </p:nvSpPr>
              <p:spPr>
                <a:xfrm>
                  <a:off x="355601" y="1142399"/>
                  <a:ext cx="3373357" cy="1021542"/>
                </a:xfrm>
                <a:prstGeom prst="rect">
                  <a:avLst/>
                </a:prstGeom>
                <a:gradFill flip="none" rotWithShape="1">
                  <a:gsLst>
                    <a:gs pos="56000">
                      <a:schemeClr val="bg2"/>
                    </a:gs>
                    <a:gs pos="100000">
                      <a:schemeClr val="bg2">
                        <a:alpha val="0"/>
                      </a:schemeClr>
                    </a:gs>
                  </a:gsLst>
                  <a:lin ang="0" scaled="1"/>
                  <a:tileRect/>
                </a:gradFill>
                <a:ln>
                  <a:gradFill flip="none" rotWithShape="1">
                    <a:gsLst>
                      <a:gs pos="56000">
                        <a:schemeClr val="accent1">
                          <a:lumMod val="60000"/>
                          <a:lumOff val="40000"/>
                        </a:schemeClr>
                      </a:gs>
                      <a:gs pos="100000">
                        <a:schemeClr val="accent1">
                          <a:lumMod val="60000"/>
                          <a:lumOff val="40000"/>
                          <a:alpha val="0"/>
                        </a:schemeClr>
                      </a:gs>
                    </a:gsLst>
                    <a:lin ang="0" scaled="1"/>
                    <a:tileRect/>
                  </a:gra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9" name="矩形 8"/>
                <p:cNvSpPr/>
                <p:nvPr/>
              </p:nvSpPr>
              <p:spPr>
                <a:xfrm>
                  <a:off x="355601" y="1142399"/>
                  <a:ext cx="52069" cy="1021542"/>
                </a:xfrm>
                <a:prstGeom prst="rect">
                  <a:avLst/>
                </a:prstGeom>
                <a:gradFill>
                  <a:gsLst>
                    <a:gs pos="56000">
                      <a:schemeClr val="accent1"/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</p:grpSp>
        </p:grpSp>
        <p:grpSp>
          <p:nvGrpSpPr>
            <p:cNvPr id="62" name="组合 61"/>
            <p:cNvGrpSpPr/>
            <p:nvPr/>
          </p:nvGrpSpPr>
          <p:grpSpPr>
            <a:xfrm>
              <a:off x="553928" y="1248650"/>
              <a:ext cx="2782516" cy="5020610"/>
              <a:chOff x="553928" y="1248650"/>
              <a:chExt cx="2782516" cy="5020610"/>
            </a:xfrm>
          </p:grpSpPr>
          <p:grpSp>
            <p:nvGrpSpPr>
              <p:cNvPr id="63" name="组合 62"/>
              <p:cNvGrpSpPr/>
              <p:nvPr/>
            </p:nvGrpSpPr>
            <p:grpSpPr>
              <a:xfrm>
                <a:off x="553928" y="1248650"/>
                <a:ext cx="2756897" cy="854015"/>
                <a:chOff x="1100362" y="1338119"/>
                <a:chExt cx="2756897" cy="854015"/>
              </a:xfrm>
            </p:grpSpPr>
            <p:sp>
              <p:nvSpPr>
                <p:cNvPr id="73" name="7 CuadroTexto"/>
                <p:cNvSpPr txBox="1"/>
                <p:nvPr/>
              </p:nvSpPr>
              <p:spPr>
                <a:xfrm>
                  <a:off x="1100362" y="1667310"/>
                  <a:ext cx="2756897" cy="52482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>
                  <a:defPPr>
                    <a:defRPr lang="zh-CN"/>
                  </a:defPPr>
                  <a:lvl1pPr>
                    <a:lnSpc>
                      <a:spcPct val="120000"/>
                    </a:lnSpc>
                    <a:defRPr sz="1000">
                      <a:solidFill>
                        <a:schemeClr val="bg2"/>
                      </a:solidFill>
                      <a:latin typeface="OPPOSans R" panose="00020600040101010101" pitchFamily="18" charset="-122"/>
                      <a:ea typeface="OPPOSans R" panose="00020600040101010101" pitchFamily="18" charset="-122"/>
                      <a:cs typeface="OPPOSans R" panose="00020600040101010101" pitchFamily="18" charset="-122"/>
                    </a:defRPr>
                  </a:lvl1pPr>
                </a:lstStyle>
                <a:p>
                  <a:r>
                    <a:rPr lang="zh-CN" altLang="en-US" sz="1200" dirty="0">
                      <a:solidFill>
                        <a:schemeClr val="tx1">
                          <a:alpha val="80000"/>
                        </a:schemeClr>
                      </a:solidFill>
                      <a:latin typeface="OPPOSans R" panose="00020600040101010101" pitchFamily="18" charset="-122"/>
                      <a:ea typeface="OPPOSans R" panose="00020600040101010101" pitchFamily="18" charset="-122"/>
                      <a:cs typeface="OPPOSans R" panose="00020600040101010101" pitchFamily="18" charset="-122"/>
                    </a:rPr>
                    <a:t>项目进度缓慢，部分任务未能按时完成，影响整体工作流程的推进</a:t>
                  </a:r>
                  <a:endParaRPr lang="zh-CN" altLang="en-US" sz="1200" dirty="0">
                    <a:solidFill>
                      <a:schemeClr val="tx1">
                        <a:alpha val="80000"/>
                      </a:schemeClr>
                    </a:solidFill>
                    <a:latin typeface="OPPOSans R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</a:endParaRPr>
                </a:p>
              </p:txBody>
            </p:sp>
            <p:sp>
              <p:nvSpPr>
                <p:cNvPr id="74" name="7 CuadroTexto"/>
                <p:cNvSpPr txBox="1"/>
                <p:nvPr/>
              </p:nvSpPr>
              <p:spPr>
                <a:xfrm>
                  <a:off x="1117148" y="1338119"/>
                  <a:ext cx="2064257" cy="40863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>
                  <a:defPPr>
                    <a:defRPr lang="zh-CN"/>
                  </a:defPPr>
                  <a:lvl1pPr>
                    <a:lnSpc>
                      <a:spcPct val="120000"/>
                    </a:lnSpc>
                    <a:defRPr sz="1000">
                      <a:solidFill>
                        <a:schemeClr val="bg2"/>
                      </a:solidFill>
                      <a:latin typeface="OPPOSans R" panose="00020600040101010101" pitchFamily="18" charset="-122"/>
                      <a:ea typeface="OPPOSans R" panose="00020600040101010101" pitchFamily="18" charset="-122"/>
                      <a:cs typeface="OPPOSans R" panose="00020600040101010101" pitchFamily="18" charset="-122"/>
                    </a:defRPr>
                  </a:lvl1pPr>
                </a:lstStyle>
                <a:p>
                  <a:r>
                    <a:rPr lang="zh-CN" altLang="en-US" sz="1800" dirty="0">
                      <a:gradFill flip="none" rotWithShape="1">
                        <a:gsLst>
                          <a:gs pos="56000">
                            <a:schemeClr val="accent1"/>
                          </a:gs>
                          <a:gs pos="100000">
                            <a:schemeClr val="accent1">
                              <a:lumMod val="60000"/>
                              <a:lumOff val="40000"/>
                            </a:schemeClr>
                          </a:gs>
                        </a:gsLst>
                        <a:lin ang="18900000" scaled="1"/>
                        <a:tileRect/>
                      </a:gradFill>
                      <a:latin typeface="OPPOSans H" panose="00020600040101010101" pitchFamily="18" charset="-122"/>
                      <a:ea typeface="OPPOSans H" panose="00020600040101010101" pitchFamily="18" charset="-122"/>
                      <a:cs typeface="OPPOSans H" panose="00020600040101010101" pitchFamily="18" charset="-122"/>
                    </a:rPr>
                    <a:t>工作效率低</a:t>
                  </a:r>
                  <a:endParaRPr lang="zh-CN" altLang="en-US" sz="1800" dirty="0">
                    <a:gradFill flip="none" rotWithShape="1">
                      <a:gsLst>
                        <a:gs pos="56000">
                          <a:schemeClr val="accent1"/>
                        </a:gs>
                        <a:gs pos="100000">
                          <a:schemeClr val="accent1">
                            <a:lumMod val="60000"/>
                            <a:lumOff val="40000"/>
                          </a:schemeClr>
                        </a:gs>
                      </a:gsLst>
                      <a:lin ang="18900000" scaled="1"/>
                      <a:tileRect/>
                    </a:gradFill>
                    <a:latin typeface="OPPOSans H" panose="00020600040101010101" pitchFamily="18" charset="-122"/>
                    <a:ea typeface="OPPOSans H" panose="00020600040101010101" pitchFamily="18" charset="-122"/>
                    <a:cs typeface="OPPOSans H" panose="00020600040101010101" pitchFamily="18" charset="-122"/>
                  </a:endParaRPr>
                </a:p>
              </p:txBody>
            </p:sp>
          </p:grpSp>
          <p:grpSp>
            <p:nvGrpSpPr>
              <p:cNvPr id="64" name="组合 63"/>
              <p:cNvGrpSpPr/>
              <p:nvPr/>
            </p:nvGrpSpPr>
            <p:grpSpPr>
              <a:xfrm>
                <a:off x="566528" y="2644640"/>
                <a:ext cx="2081043" cy="1021112"/>
                <a:chOff x="1100362" y="1338119"/>
                <a:chExt cx="2081043" cy="1021112"/>
              </a:xfrm>
            </p:grpSpPr>
            <p:sp>
              <p:nvSpPr>
                <p:cNvPr id="71" name="7 CuadroTexto"/>
                <p:cNvSpPr txBox="1"/>
                <p:nvPr/>
              </p:nvSpPr>
              <p:spPr>
                <a:xfrm>
                  <a:off x="1100362" y="1667310"/>
                  <a:ext cx="2081043" cy="6919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>
                  <a:defPPr>
                    <a:defRPr lang="zh-CN"/>
                  </a:defPPr>
                  <a:lvl1pPr>
                    <a:lnSpc>
                      <a:spcPct val="120000"/>
                    </a:lnSpc>
                    <a:defRPr sz="1000">
                      <a:solidFill>
                        <a:schemeClr val="bg2"/>
                      </a:solidFill>
                      <a:latin typeface="OPPOSans R" panose="00020600040101010101" pitchFamily="18" charset="-122"/>
                      <a:ea typeface="OPPOSans R" panose="00020600040101010101" pitchFamily="18" charset="-122"/>
                      <a:cs typeface="OPPOSans R" panose="00020600040101010101" pitchFamily="18" charset="-122"/>
                    </a:defRPr>
                  </a:lvl1pPr>
                </a:lstStyle>
                <a:p>
                  <a:r>
                    <a:rPr lang="zh-CN" altLang="en-US" sz="1100" dirty="0">
                      <a:solidFill>
                        <a:schemeClr val="tx1">
                          <a:alpha val="80000"/>
                        </a:schemeClr>
                      </a:solidFill>
                      <a:latin typeface="OPPOSans R" panose="00020600040101010101" pitchFamily="18" charset="-122"/>
                      <a:ea typeface="OPPOSans R" panose="00020600040101010101" pitchFamily="18" charset="-122"/>
                      <a:cs typeface="OPPOSans R" panose="00020600040101010101" pitchFamily="18" charset="-122"/>
                    </a:rPr>
                    <a:t>团队内部沟通存在障碍，信息传递不及时，导致误解和重复工作的产生</a:t>
                  </a:r>
                  <a:endParaRPr lang="zh-CN" altLang="en-US" sz="1100" dirty="0">
                    <a:solidFill>
                      <a:schemeClr val="tx1">
                        <a:alpha val="80000"/>
                      </a:schemeClr>
                    </a:solidFill>
                    <a:latin typeface="OPPOSans R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</a:endParaRPr>
                </a:p>
              </p:txBody>
            </p:sp>
            <p:sp>
              <p:nvSpPr>
                <p:cNvPr id="72" name="7 CuadroTexto"/>
                <p:cNvSpPr txBox="1"/>
                <p:nvPr/>
              </p:nvSpPr>
              <p:spPr>
                <a:xfrm>
                  <a:off x="1117148" y="1338119"/>
                  <a:ext cx="2064257" cy="40863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>
                  <a:defPPr>
                    <a:defRPr lang="zh-CN"/>
                  </a:defPPr>
                  <a:lvl1pPr>
                    <a:lnSpc>
                      <a:spcPct val="120000"/>
                    </a:lnSpc>
                    <a:defRPr sz="1000">
                      <a:solidFill>
                        <a:schemeClr val="bg2"/>
                      </a:solidFill>
                      <a:latin typeface="OPPOSans R" panose="00020600040101010101" pitchFamily="18" charset="-122"/>
                      <a:ea typeface="OPPOSans R" panose="00020600040101010101" pitchFamily="18" charset="-122"/>
                      <a:cs typeface="OPPOSans R" panose="00020600040101010101" pitchFamily="18" charset="-122"/>
                    </a:defRPr>
                  </a:lvl1pPr>
                </a:lstStyle>
                <a:p>
                  <a:r>
                    <a:rPr lang="zh-CN" altLang="en-US" sz="1800" dirty="0">
                      <a:gradFill flip="none" rotWithShape="1">
                        <a:gsLst>
                          <a:gs pos="56000">
                            <a:schemeClr val="accent1"/>
                          </a:gs>
                          <a:gs pos="100000">
                            <a:schemeClr val="accent1">
                              <a:lumMod val="60000"/>
                              <a:lumOff val="40000"/>
                            </a:schemeClr>
                          </a:gs>
                        </a:gsLst>
                        <a:lin ang="18900000" scaled="1"/>
                        <a:tileRect/>
                      </a:gradFill>
                      <a:latin typeface="OPPOSans H" panose="00020600040101010101" pitchFamily="18" charset="-122"/>
                      <a:ea typeface="OPPOSans H" panose="00020600040101010101" pitchFamily="18" charset="-122"/>
                      <a:cs typeface="OPPOSans H" panose="00020600040101010101" pitchFamily="18" charset="-122"/>
                    </a:rPr>
                    <a:t>沟通不畅</a:t>
                  </a:r>
                  <a:endParaRPr lang="zh-CN" altLang="en-US" sz="1800" dirty="0">
                    <a:gradFill flip="none" rotWithShape="1">
                      <a:gsLst>
                        <a:gs pos="56000">
                          <a:schemeClr val="accent1"/>
                        </a:gs>
                        <a:gs pos="100000">
                          <a:schemeClr val="accent1">
                            <a:lumMod val="60000"/>
                            <a:lumOff val="40000"/>
                          </a:schemeClr>
                        </a:gs>
                      </a:gsLst>
                      <a:lin ang="18900000" scaled="1"/>
                      <a:tileRect/>
                    </a:gradFill>
                    <a:latin typeface="OPPOSans H" panose="00020600040101010101" pitchFamily="18" charset="-122"/>
                    <a:ea typeface="OPPOSans H" panose="00020600040101010101" pitchFamily="18" charset="-122"/>
                    <a:cs typeface="OPPOSans H" panose="00020600040101010101" pitchFamily="18" charset="-122"/>
                  </a:endParaRPr>
                </a:p>
              </p:txBody>
            </p:sp>
          </p:grpSp>
          <p:grpSp>
            <p:nvGrpSpPr>
              <p:cNvPr id="65" name="组合 64"/>
              <p:cNvGrpSpPr/>
              <p:nvPr/>
            </p:nvGrpSpPr>
            <p:grpSpPr>
              <a:xfrm>
                <a:off x="574581" y="4066214"/>
                <a:ext cx="2081043" cy="1021112"/>
                <a:chOff x="1100362" y="1338119"/>
                <a:chExt cx="2081043" cy="1021112"/>
              </a:xfrm>
            </p:grpSpPr>
            <p:sp>
              <p:nvSpPr>
                <p:cNvPr id="69" name="7 CuadroTexto"/>
                <p:cNvSpPr txBox="1"/>
                <p:nvPr/>
              </p:nvSpPr>
              <p:spPr>
                <a:xfrm>
                  <a:off x="1100362" y="1667310"/>
                  <a:ext cx="2081043" cy="6919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>
                  <a:defPPr>
                    <a:defRPr lang="zh-CN"/>
                  </a:defPPr>
                  <a:lvl1pPr>
                    <a:lnSpc>
                      <a:spcPct val="120000"/>
                    </a:lnSpc>
                    <a:defRPr sz="1000">
                      <a:solidFill>
                        <a:schemeClr val="bg2"/>
                      </a:solidFill>
                      <a:latin typeface="OPPOSans R" panose="00020600040101010101" pitchFamily="18" charset="-122"/>
                      <a:ea typeface="OPPOSans R" panose="00020600040101010101" pitchFamily="18" charset="-122"/>
                      <a:cs typeface="OPPOSans R" panose="00020600040101010101" pitchFamily="18" charset="-122"/>
                    </a:defRPr>
                  </a:lvl1pPr>
                </a:lstStyle>
                <a:p>
                  <a:r>
                    <a:rPr lang="zh-CN" altLang="en-US" sz="1100" dirty="0">
                      <a:solidFill>
                        <a:schemeClr val="tx1">
                          <a:alpha val="80000"/>
                        </a:schemeClr>
                      </a:solidFill>
                      <a:latin typeface="OPPOSans R" panose="00020600040101010101" pitchFamily="18" charset="-122"/>
                      <a:ea typeface="OPPOSans R" panose="00020600040101010101" pitchFamily="18" charset="-122"/>
                      <a:cs typeface="OPPOSans R" panose="00020600040101010101" pitchFamily="18" charset="-122"/>
                    </a:rPr>
                    <a:t>资源分配不合理，部分部门资源过剩，而其他部门资源不足，影响平衡</a:t>
                  </a:r>
                  <a:endParaRPr lang="zh-CN" altLang="en-US" sz="1100" dirty="0">
                    <a:solidFill>
                      <a:schemeClr val="tx1">
                        <a:alpha val="80000"/>
                      </a:schemeClr>
                    </a:solidFill>
                    <a:latin typeface="OPPOSans R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</a:endParaRPr>
                </a:p>
              </p:txBody>
            </p:sp>
            <p:sp>
              <p:nvSpPr>
                <p:cNvPr id="70" name="7 CuadroTexto"/>
                <p:cNvSpPr txBox="1"/>
                <p:nvPr/>
              </p:nvSpPr>
              <p:spPr>
                <a:xfrm>
                  <a:off x="1117148" y="1338119"/>
                  <a:ext cx="2064257" cy="40863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>
                  <a:defPPr>
                    <a:defRPr lang="zh-CN"/>
                  </a:defPPr>
                  <a:lvl1pPr>
                    <a:lnSpc>
                      <a:spcPct val="120000"/>
                    </a:lnSpc>
                    <a:defRPr sz="1000">
                      <a:solidFill>
                        <a:schemeClr val="bg2"/>
                      </a:solidFill>
                      <a:latin typeface="OPPOSans R" panose="00020600040101010101" pitchFamily="18" charset="-122"/>
                      <a:ea typeface="OPPOSans R" panose="00020600040101010101" pitchFamily="18" charset="-122"/>
                      <a:cs typeface="OPPOSans R" panose="00020600040101010101" pitchFamily="18" charset="-122"/>
                    </a:defRPr>
                  </a:lvl1pPr>
                </a:lstStyle>
                <a:p>
                  <a:r>
                    <a:rPr lang="zh-CN" altLang="en-US" sz="1800" dirty="0">
                      <a:gradFill flip="none" rotWithShape="1">
                        <a:gsLst>
                          <a:gs pos="56000">
                            <a:schemeClr val="accent1"/>
                          </a:gs>
                          <a:gs pos="100000">
                            <a:schemeClr val="accent1">
                              <a:lumMod val="60000"/>
                              <a:lumOff val="40000"/>
                            </a:schemeClr>
                          </a:gs>
                        </a:gsLst>
                        <a:lin ang="18900000" scaled="1"/>
                        <a:tileRect/>
                      </a:gradFill>
                      <a:latin typeface="OPPOSans H" panose="00020600040101010101" pitchFamily="18" charset="-122"/>
                      <a:ea typeface="OPPOSans H" panose="00020600040101010101" pitchFamily="18" charset="-122"/>
                      <a:cs typeface="OPPOSans H" panose="00020600040101010101" pitchFamily="18" charset="-122"/>
                    </a:rPr>
                    <a:t>资源分配不均</a:t>
                  </a:r>
                  <a:endParaRPr lang="zh-CN" altLang="en-US" sz="1800" dirty="0">
                    <a:gradFill flip="none" rotWithShape="1">
                      <a:gsLst>
                        <a:gs pos="56000">
                          <a:schemeClr val="accent1"/>
                        </a:gs>
                        <a:gs pos="100000">
                          <a:schemeClr val="accent1">
                            <a:lumMod val="60000"/>
                            <a:lumOff val="40000"/>
                          </a:schemeClr>
                        </a:gs>
                      </a:gsLst>
                      <a:lin ang="18900000" scaled="1"/>
                      <a:tileRect/>
                    </a:gradFill>
                    <a:latin typeface="OPPOSans H" panose="00020600040101010101" pitchFamily="18" charset="-122"/>
                    <a:ea typeface="OPPOSans H" panose="00020600040101010101" pitchFamily="18" charset="-122"/>
                    <a:cs typeface="OPPOSans H" panose="00020600040101010101" pitchFamily="18" charset="-122"/>
                  </a:endParaRPr>
                </a:p>
              </p:txBody>
            </p:sp>
          </p:grpSp>
          <p:grpSp>
            <p:nvGrpSpPr>
              <p:cNvPr id="66" name="组合 65"/>
              <p:cNvGrpSpPr/>
              <p:nvPr/>
            </p:nvGrpSpPr>
            <p:grpSpPr>
              <a:xfrm>
                <a:off x="579547" y="5451281"/>
                <a:ext cx="2756897" cy="817979"/>
                <a:chOff x="1100362" y="1338119"/>
                <a:chExt cx="2756897" cy="817979"/>
              </a:xfrm>
            </p:grpSpPr>
            <p:sp>
              <p:nvSpPr>
                <p:cNvPr id="67" name="7 CuadroTexto"/>
                <p:cNvSpPr txBox="1"/>
                <p:nvPr/>
              </p:nvSpPr>
              <p:spPr>
                <a:xfrm>
                  <a:off x="1100362" y="1667310"/>
                  <a:ext cx="2756897" cy="48878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>
                  <a:defPPr>
                    <a:defRPr lang="zh-CN"/>
                  </a:defPPr>
                  <a:lvl1pPr>
                    <a:lnSpc>
                      <a:spcPct val="120000"/>
                    </a:lnSpc>
                    <a:defRPr sz="1000">
                      <a:solidFill>
                        <a:schemeClr val="bg2"/>
                      </a:solidFill>
                      <a:latin typeface="OPPOSans R" panose="00020600040101010101" pitchFamily="18" charset="-122"/>
                      <a:ea typeface="OPPOSans R" panose="00020600040101010101" pitchFamily="18" charset="-122"/>
                      <a:cs typeface="OPPOSans R" panose="00020600040101010101" pitchFamily="18" charset="-122"/>
                    </a:defRPr>
                  </a:lvl1pPr>
                </a:lstStyle>
                <a:p>
                  <a:r>
                    <a:rPr lang="zh-CN" altLang="en-US" sz="1100" dirty="0">
                      <a:solidFill>
                        <a:schemeClr val="tx1">
                          <a:alpha val="80000"/>
                        </a:schemeClr>
                      </a:solidFill>
                      <a:latin typeface="OPPOSans R" panose="00020600040101010101" pitchFamily="18" charset="-122"/>
                      <a:ea typeface="OPPOSans R" panose="00020600040101010101" pitchFamily="18" charset="-122"/>
                      <a:cs typeface="OPPOSans R" panose="00020600040101010101" pitchFamily="18" charset="-122"/>
                    </a:rPr>
                    <a:t>员工培训机会少，技能提升缓慢，影响工作质量和创新能力的培养</a:t>
                  </a:r>
                  <a:endParaRPr lang="zh-CN" altLang="en-US" sz="1100" dirty="0">
                    <a:solidFill>
                      <a:schemeClr val="tx1">
                        <a:alpha val="80000"/>
                      </a:schemeClr>
                    </a:solidFill>
                    <a:latin typeface="OPPOSans R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</a:endParaRPr>
                </a:p>
              </p:txBody>
            </p:sp>
            <p:sp>
              <p:nvSpPr>
                <p:cNvPr id="68" name="7 CuadroTexto"/>
                <p:cNvSpPr txBox="1"/>
                <p:nvPr/>
              </p:nvSpPr>
              <p:spPr>
                <a:xfrm>
                  <a:off x="1117148" y="1338119"/>
                  <a:ext cx="2064257" cy="40863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>
                  <a:defPPr>
                    <a:defRPr lang="zh-CN"/>
                  </a:defPPr>
                  <a:lvl1pPr>
                    <a:lnSpc>
                      <a:spcPct val="120000"/>
                    </a:lnSpc>
                    <a:defRPr sz="1000">
                      <a:solidFill>
                        <a:schemeClr val="bg2"/>
                      </a:solidFill>
                      <a:latin typeface="OPPOSans R" panose="00020600040101010101" pitchFamily="18" charset="-122"/>
                      <a:ea typeface="OPPOSans R" panose="00020600040101010101" pitchFamily="18" charset="-122"/>
                      <a:cs typeface="OPPOSans R" panose="00020600040101010101" pitchFamily="18" charset="-122"/>
                    </a:defRPr>
                  </a:lvl1pPr>
                </a:lstStyle>
                <a:p>
                  <a:r>
                    <a:rPr lang="zh-CN" altLang="en-US" sz="1800" dirty="0">
                      <a:gradFill flip="none" rotWithShape="1">
                        <a:gsLst>
                          <a:gs pos="56000">
                            <a:schemeClr val="accent1"/>
                          </a:gs>
                          <a:gs pos="100000">
                            <a:schemeClr val="accent1">
                              <a:lumMod val="60000"/>
                              <a:lumOff val="40000"/>
                            </a:schemeClr>
                          </a:gs>
                        </a:gsLst>
                        <a:lin ang="18900000" scaled="1"/>
                        <a:tileRect/>
                      </a:gradFill>
                      <a:latin typeface="OPPOSans H" panose="00020600040101010101" pitchFamily="18" charset="-122"/>
                      <a:ea typeface="OPPOSans H" panose="00020600040101010101" pitchFamily="18" charset="-122"/>
                      <a:cs typeface="OPPOSans H" panose="00020600040101010101" pitchFamily="18" charset="-122"/>
                    </a:rPr>
                    <a:t>培训不足</a:t>
                  </a:r>
                  <a:endParaRPr lang="zh-CN" altLang="en-US" sz="1800" dirty="0">
                    <a:gradFill flip="none" rotWithShape="1">
                      <a:gsLst>
                        <a:gs pos="56000">
                          <a:schemeClr val="accent1"/>
                        </a:gs>
                        <a:gs pos="100000">
                          <a:schemeClr val="accent1">
                            <a:lumMod val="60000"/>
                            <a:lumOff val="40000"/>
                          </a:schemeClr>
                        </a:gs>
                      </a:gsLst>
                      <a:lin ang="18900000" scaled="1"/>
                      <a:tileRect/>
                    </a:gradFill>
                    <a:latin typeface="OPPOSans H" panose="00020600040101010101" pitchFamily="18" charset="-122"/>
                    <a:ea typeface="OPPOSans H" panose="00020600040101010101" pitchFamily="18" charset="-122"/>
                    <a:cs typeface="OPPOSans H" panose="00020600040101010101" pitchFamily="18" charset="-122"/>
                  </a:endParaRPr>
                </a:p>
              </p:txBody>
            </p:sp>
          </p:grpSp>
        </p:grpSp>
        <p:grpSp>
          <p:nvGrpSpPr>
            <p:cNvPr id="88" name="组合 87"/>
            <p:cNvGrpSpPr/>
            <p:nvPr/>
          </p:nvGrpSpPr>
          <p:grpSpPr>
            <a:xfrm>
              <a:off x="2710737" y="1682797"/>
              <a:ext cx="1670486" cy="4368665"/>
              <a:chOff x="2710737" y="1682797"/>
              <a:chExt cx="1670486" cy="4368665"/>
            </a:xfrm>
          </p:grpSpPr>
          <p:cxnSp>
            <p:nvCxnSpPr>
              <p:cNvPr id="89" name="直接箭头连接符 88"/>
              <p:cNvCxnSpPr/>
              <p:nvPr/>
            </p:nvCxnSpPr>
            <p:spPr>
              <a:xfrm flipH="1" flipV="1">
                <a:off x="3502717" y="1682797"/>
                <a:ext cx="866429" cy="351196"/>
              </a:xfrm>
              <a:prstGeom prst="straightConnector1">
                <a:avLst/>
              </a:prstGeom>
              <a:ln>
                <a:solidFill>
                  <a:schemeClr val="accent6"/>
                </a:solidFill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直接箭头连接符 89"/>
              <p:cNvCxnSpPr/>
              <p:nvPr/>
            </p:nvCxnSpPr>
            <p:spPr>
              <a:xfrm flipH="1">
                <a:off x="3514794" y="5700266"/>
                <a:ext cx="866429" cy="351196"/>
              </a:xfrm>
              <a:prstGeom prst="straightConnector1">
                <a:avLst/>
              </a:prstGeom>
              <a:ln>
                <a:solidFill>
                  <a:schemeClr val="accent6"/>
                </a:solidFill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直接箭头连接符 90"/>
              <p:cNvCxnSpPr/>
              <p:nvPr/>
            </p:nvCxnSpPr>
            <p:spPr>
              <a:xfrm flipH="1">
                <a:off x="2710737" y="4725107"/>
                <a:ext cx="695899" cy="0"/>
              </a:xfrm>
              <a:prstGeom prst="straightConnector1">
                <a:avLst/>
              </a:prstGeom>
              <a:ln>
                <a:solidFill>
                  <a:schemeClr val="accent6"/>
                </a:solidFill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直接箭头连接符 91"/>
              <p:cNvCxnSpPr/>
              <p:nvPr/>
            </p:nvCxnSpPr>
            <p:spPr>
              <a:xfrm flipH="1">
                <a:off x="2710737" y="3006281"/>
                <a:ext cx="695899" cy="0"/>
              </a:xfrm>
              <a:prstGeom prst="straightConnector1">
                <a:avLst/>
              </a:prstGeom>
              <a:ln>
                <a:solidFill>
                  <a:schemeClr val="accent6"/>
                </a:solidFill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6" name="组合 15"/>
          <p:cNvGrpSpPr/>
          <p:nvPr/>
        </p:nvGrpSpPr>
        <p:grpSpPr>
          <a:xfrm flipH="1">
            <a:off x="8446251" y="1142398"/>
            <a:ext cx="3373357" cy="5423800"/>
            <a:chOff x="355601" y="1142398"/>
            <a:chExt cx="3373357" cy="5423800"/>
          </a:xfrm>
        </p:grpSpPr>
        <p:sp>
          <p:nvSpPr>
            <p:cNvPr id="28" name="矩形 27"/>
            <p:cNvSpPr/>
            <p:nvPr/>
          </p:nvSpPr>
          <p:spPr>
            <a:xfrm>
              <a:off x="355601" y="1142398"/>
              <a:ext cx="52069" cy="1212643"/>
            </a:xfrm>
            <a:prstGeom prst="rect">
              <a:avLst/>
            </a:prstGeom>
            <a:gradFill>
              <a:gsLst>
                <a:gs pos="56000">
                  <a:schemeClr val="accent3"/>
                </a:gs>
                <a:gs pos="100000">
                  <a:schemeClr val="accent3">
                    <a:lumMod val="60000"/>
                    <a:lumOff val="40000"/>
                  </a:schemeClr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18" name="组合 17"/>
            <p:cNvGrpSpPr/>
            <p:nvPr/>
          </p:nvGrpSpPr>
          <p:grpSpPr>
            <a:xfrm>
              <a:off x="355601" y="2546117"/>
              <a:ext cx="2474201" cy="1212643"/>
              <a:chOff x="355601" y="1142399"/>
              <a:chExt cx="2474201" cy="1021542"/>
            </a:xfrm>
          </p:grpSpPr>
          <p:sp>
            <p:nvSpPr>
              <p:cNvPr id="25" name="矩形 24"/>
              <p:cNvSpPr/>
              <p:nvPr/>
            </p:nvSpPr>
            <p:spPr>
              <a:xfrm>
                <a:off x="355602" y="1142399"/>
                <a:ext cx="2474200" cy="1021542"/>
              </a:xfrm>
              <a:prstGeom prst="rect">
                <a:avLst/>
              </a:prstGeom>
              <a:gradFill flip="none" rotWithShape="1">
                <a:gsLst>
                  <a:gs pos="56000">
                    <a:schemeClr val="bg2"/>
                  </a:gs>
                  <a:gs pos="100000">
                    <a:schemeClr val="bg2">
                      <a:alpha val="0"/>
                    </a:schemeClr>
                  </a:gs>
                </a:gsLst>
                <a:lin ang="0" scaled="1"/>
                <a:tileRect/>
              </a:gradFill>
              <a:ln>
                <a:gradFill flip="none" rotWithShape="1">
                  <a:gsLst>
                    <a:gs pos="56000">
                      <a:schemeClr val="accent3">
                        <a:lumMod val="60000"/>
                        <a:lumOff val="40000"/>
                      </a:schemeClr>
                    </a:gs>
                    <a:gs pos="100000">
                      <a:schemeClr val="accent3">
                        <a:lumMod val="60000"/>
                        <a:lumOff val="40000"/>
                        <a:alpha val="0"/>
                      </a:schemeClr>
                    </a:gs>
                  </a:gsLst>
                  <a:lin ang="0" scaled="1"/>
                  <a:tileRect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6" name="矩形 25"/>
              <p:cNvSpPr/>
              <p:nvPr/>
            </p:nvSpPr>
            <p:spPr>
              <a:xfrm>
                <a:off x="355601" y="1142399"/>
                <a:ext cx="52069" cy="1021542"/>
              </a:xfrm>
              <a:prstGeom prst="rect">
                <a:avLst/>
              </a:prstGeom>
              <a:gradFill>
                <a:gsLst>
                  <a:gs pos="56000">
                    <a:schemeClr val="accent3"/>
                  </a:gs>
                  <a:gs pos="100000">
                    <a:schemeClr val="accent3">
                      <a:lumMod val="60000"/>
                      <a:lumOff val="40000"/>
                    </a:scheme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grpSp>
          <p:nvGrpSpPr>
            <p:cNvPr id="19" name="组合 18"/>
            <p:cNvGrpSpPr/>
            <p:nvPr/>
          </p:nvGrpSpPr>
          <p:grpSpPr>
            <a:xfrm>
              <a:off x="355601" y="3949836"/>
              <a:ext cx="2474201" cy="1212643"/>
              <a:chOff x="355601" y="1142399"/>
              <a:chExt cx="2474201" cy="1021542"/>
            </a:xfrm>
          </p:grpSpPr>
          <p:sp>
            <p:nvSpPr>
              <p:cNvPr id="23" name="矩形 22"/>
              <p:cNvSpPr/>
              <p:nvPr/>
            </p:nvSpPr>
            <p:spPr>
              <a:xfrm>
                <a:off x="355602" y="1142399"/>
                <a:ext cx="2474200" cy="1021542"/>
              </a:xfrm>
              <a:prstGeom prst="rect">
                <a:avLst/>
              </a:prstGeom>
              <a:gradFill flip="none" rotWithShape="1">
                <a:gsLst>
                  <a:gs pos="56000">
                    <a:schemeClr val="bg2"/>
                  </a:gs>
                  <a:gs pos="100000">
                    <a:schemeClr val="bg2">
                      <a:alpha val="0"/>
                    </a:schemeClr>
                  </a:gs>
                </a:gsLst>
                <a:lin ang="0" scaled="1"/>
                <a:tileRect/>
              </a:gradFill>
              <a:ln>
                <a:gradFill flip="none" rotWithShape="1">
                  <a:gsLst>
                    <a:gs pos="56000">
                      <a:schemeClr val="accent3">
                        <a:lumMod val="60000"/>
                        <a:lumOff val="40000"/>
                      </a:schemeClr>
                    </a:gs>
                    <a:gs pos="100000">
                      <a:schemeClr val="accent3">
                        <a:lumMod val="60000"/>
                        <a:lumOff val="40000"/>
                        <a:alpha val="0"/>
                      </a:schemeClr>
                    </a:gs>
                  </a:gsLst>
                  <a:lin ang="0" scaled="1"/>
                  <a:tileRect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4" name="矩形 23"/>
              <p:cNvSpPr/>
              <p:nvPr/>
            </p:nvSpPr>
            <p:spPr>
              <a:xfrm>
                <a:off x="355601" y="1142399"/>
                <a:ext cx="52069" cy="1021542"/>
              </a:xfrm>
              <a:prstGeom prst="rect">
                <a:avLst/>
              </a:prstGeom>
              <a:gradFill>
                <a:gsLst>
                  <a:gs pos="56000">
                    <a:schemeClr val="accent3"/>
                  </a:gs>
                  <a:gs pos="100000">
                    <a:schemeClr val="accent3">
                      <a:lumMod val="60000"/>
                      <a:lumOff val="40000"/>
                    </a:scheme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grpSp>
          <p:nvGrpSpPr>
            <p:cNvPr id="20" name="组合 19"/>
            <p:cNvGrpSpPr/>
            <p:nvPr/>
          </p:nvGrpSpPr>
          <p:grpSpPr>
            <a:xfrm>
              <a:off x="355601" y="5353555"/>
              <a:ext cx="3373357" cy="1212643"/>
              <a:chOff x="355601" y="1142399"/>
              <a:chExt cx="3373357" cy="1021542"/>
            </a:xfrm>
          </p:grpSpPr>
          <p:sp>
            <p:nvSpPr>
              <p:cNvPr id="21" name="矩形 20"/>
              <p:cNvSpPr/>
              <p:nvPr/>
            </p:nvSpPr>
            <p:spPr>
              <a:xfrm>
                <a:off x="355601" y="1142399"/>
                <a:ext cx="3373357" cy="1021542"/>
              </a:xfrm>
              <a:prstGeom prst="rect">
                <a:avLst/>
              </a:prstGeom>
              <a:gradFill flip="none" rotWithShape="1">
                <a:gsLst>
                  <a:gs pos="56000">
                    <a:schemeClr val="bg2"/>
                  </a:gs>
                  <a:gs pos="100000">
                    <a:schemeClr val="bg2">
                      <a:alpha val="0"/>
                    </a:schemeClr>
                  </a:gs>
                </a:gsLst>
                <a:lin ang="0" scaled="1"/>
                <a:tileRect/>
              </a:gradFill>
              <a:ln>
                <a:gradFill flip="none" rotWithShape="1">
                  <a:gsLst>
                    <a:gs pos="56000">
                      <a:schemeClr val="accent3">
                        <a:lumMod val="60000"/>
                        <a:lumOff val="40000"/>
                      </a:schemeClr>
                    </a:gs>
                    <a:gs pos="100000">
                      <a:schemeClr val="accent3">
                        <a:lumMod val="60000"/>
                        <a:lumOff val="40000"/>
                        <a:alpha val="0"/>
                      </a:schemeClr>
                    </a:gs>
                  </a:gsLst>
                  <a:lin ang="0" scaled="1"/>
                  <a:tileRect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2" name="矩形 21"/>
              <p:cNvSpPr/>
              <p:nvPr/>
            </p:nvSpPr>
            <p:spPr>
              <a:xfrm>
                <a:off x="355601" y="1142399"/>
                <a:ext cx="52069" cy="1021542"/>
              </a:xfrm>
              <a:prstGeom prst="rect">
                <a:avLst/>
              </a:prstGeom>
              <a:gradFill>
                <a:gsLst>
                  <a:gs pos="56000">
                    <a:schemeClr val="accent3"/>
                  </a:gs>
                  <a:gs pos="100000">
                    <a:schemeClr val="accent3">
                      <a:lumMod val="60000"/>
                      <a:lumOff val="40000"/>
                    </a:scheme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</p:grpSp>
      <p:grpSp>
        <p:nvGrpSpPr>
          <p:cNvPr id="75" name="组合 74"/>
          <p:cNvGrpSpPr/>
          <p:nvPr/>
        </p:nvGrpSpPr>
        <p:grpSpPr>
          <a:xfrm flipH="1">
            <a:off x="8855556" y="1248650"/>
            <a:ext cx="2782516" cy="5002592"/>
            <a:chOff x="553928" y="1248650"/>
            <a:chExt cx="2782516" cy="5002592"/>
          </a:xfrm>
        </p:grpSpPr>
        <p:grpSp>
          <p:nvGrpSpPr>
            <p:cNvPr id="76" name="组合 75"/>
            <p:cNvGrpSpPr/>
            <p:nvPr/>
          </p:nvGrpSpPr>
          <p:grpSpPr>
            <a:xfrm>
              <a:off x="553928" y="1248650"/>
              <a:ext cx="2756897" cy="799961"/>
              <a:chOff x="1100362" y="1338119"/>
              <a:chExt cx="2756897" cy="799961"/>
            </a:xfrm>
          </p:grpSpPr>
          <p:sp>
            <p:nvSpPr>
              <p:cNvPr id="86" name="7 CuadroTexto"/>
              <p:cNvSpPr txBox="1"/>
              <p:nvPr/>
            </p:nvSpPr>
            <p:spPr>
              <a:xfrm flipH="1">
                <a:off x="1100362" y="1667310"/>
                <a:ext cx="2756897" cy="4707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lnSpc>
                    <a:spcPct val="120000"/>
                  </a:lnSpc>
                  <a:defRPr sz="1000">
                    <a:solidFill>
                      <a:schemeClr val="bg2"/>
                    </a:solidFill>
                    <a:latin typeface="OPPOSans R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</a:defRPr>
                </a:lvl1pPr>
              </a:lstStyle>
              <a:p>
                <a:pPr algn="r"/>
                <a:r>
                  <a:rPr lang="zh-CN" altLang="en-US" sz="1050" dirty="0">
                    <a:solidFill>
                      <a:schemeClr val="tx1">
                        <a:alpha val="80000"/>
                      </a:schemeClr>
                    </a:solidFill>
                    <a:latin typeface="OPPOSans R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</a:rPr>
                  <a:t>优化工作流程，明确任务优先级，确保按时完成各项任务，提高效率</a:t>
                </a:r>
                <a:endParaRPr lang="zh-CN" altLang="en-US" sz="1050" dirty="0">
                  <a:solidFill>
                    <a:schemeClr val="tx1">
                      <a:alpha val="80000"/>
                    </a:schemeClr>
                  </a:solidFill>
                  <a:latin typeface="OPPOSans R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</a:endParaRPr>
              </a:p>
            </p:txBody>
          </p:sp>
          <p:sp>
            <p:nvSpPr>
              <p:cNvPr id="87" name="7 CuadroTexto"/>
              <p:cNvSpPr txBox="1"/>
              <p:nvPr/>
            </p:nvSpPr>
            <p:spPr>
              <a:xfrm flipH="1">
                <a:off x="1117148" y="1338119"/>
                <a:ext cx="2064257" cy="3735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lnSpc>
                    <a:spcPct val="120000"/>
                  </a:lnSpc>
                  <a:defRPr sz="1000">
                    <a:solidFill>
                      <a:schemeClr val="bg2"/>
                    </a:solidFill>
                    <a:latin typeface="OPPOSans R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</a:defRPr>
                </a:lvl1pPr>
              </a:lstStyle>
              <a:p>
                <a:pPr algn="r"/>
                <a:r>
                  <a:rPr lang="zh-CN" altLang="en-US" sz="1600" dirty="0">
                    <a:gradFill flip="none" rotWithShape="1">
                      <a:gsLst>
                        <a:gs pos="56000">
                          <a:schemeClr val="accent3"/>
                        </a:gs>
                        <a:gs pos="100000">
                          <a:schemeClr val="accent3">
                            <a:lumMod val="60000"/>
                            <a:lumOff val="40000"/>
                          </a:schemeClr>
                        </a:gs>
                      </a:gsLst>
                      <a:lin ang="18900000" scaled="1"/>
                      <a:tileRect/>
                    </a:gradFill>
                    <a:latin typeface="OPPOSans H" panose="00020600040101010101" pitchFamily="18" charset="-122"/>
                    <a:ea typeface="OPPOSans H" panose="00020600040101010101" pitchFamily="18" charset="-122"/>
                    <a:cs typeface="OPPOSans H" panose="00020600040101010101" pitchFamily="18" charset="-122"/>
                  </a:rPr>
                  <a:t>提高效率</a:t>
                </a:r>
                <a:endParaRPr lang="zh-CN" altLang="en-US" sz="1600" dirty="0">
                  <a:gradFill flip="none" rotWithShape="1">
                    <a:gsLst>
                      <a:gs pos="56000">
                        <a:schemeClr val="accent3"/>
                      </a:gs>
                      <a:gs pos="100000">
                        <a:schemeClr val="accent3">
                          <a:lumMod val="60000"/>
                          <a:lumOff val="40000"/>
                        </a:schemeClr>
                      </a:gs>
                    </a:gsLst>
                    <a:lin ang="18900000" scaled="1"/>
                    <a:tileRect/>
                  </a:gradFill>
                  <a:latin typeface="OPPOSans H" panose="00020600040101010101" pitchFamily="18" charset="-122"/>
                  <a:ea typeface="OPPOSans H" panose="00020600040101010101" pitchFamily="18" charset="-122"/>
                  <a:cs typeface="OPPOSans H" panose="00020600040101010101" pitchFamily="18" charset="-122"/>
                </a:endParaRPr>
              </a:p>
            </p:txBody>
          </p:sp>
        </p:grpSp>
        <p:grpSp>
          <p:nvGrpSpPr>
            <p:cNvPr id="77" name="组合 76"/>
            <p:cNvGrpSpPr/>
            <p:nvPr/>
          </p:nvGrpSpPr>
          <p:grpSpPr>
            <a:xfrm>
              <a:off x="566528" y="2644640"/>
              <a:ext cx="2081043" cy="993860"/>
              <a:chOff x="1100362" y="1338119"/>
              <a:chExt cx="2081043" cy="993860"/>
            </a:xfrm>
          </p:grpSpPr>
          <p:sp>
            <p:nvSpPr>
              <p:cNvPr id="84" name="7 CuadroTexto"/>
              <p:cNvSpPr txBox="1"/>
              <p:nvPr/>
            </p:nvSpPr>
            <p:spPr>
              <a:xfrm flipH="1">
                <a:off x="1100362" y="1667310"/>
                <a:ext cx="1961715" cy="6646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lnSpc>
                    <a:spcPct val="120000"/>
                  </a:lnSpc>
                  <a:defRPr sz="1000">
                    <a:solidFill>
                      <a:schemeClr val="bg2"/>
                    </a:solidFill>
                    <a:latin typeface="OPPOSans R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</a:defRPr>
                </a:lvl1pPr>
              </a:lstStyle>
              <a:p>
                <a:pPr algn="r"/>
                <a:r>
                  <a:rPr lang="zh-CN" altLang="en-US" sz="1050" dirty="0">
                    <a:solidFill>
                      <a:schemeClr val="tx1">
                        <a:alpha val="80000"/>
                      </a:schemeClr>
                    </a:solidFill>
                    <a:latin typeface="OPPOSans R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</a:rPr>
                  <a:t>建立有效的沟通机制，定期召开会议，确保信息及时传递，减少误解</a:t>
                </a:r>
                <a:endParaRPr lang="zh-CN" altLang="en-US" sz="1050" dirty="0">
                  <a:solidFill>
                    <a:schemeClr val="tx1">
                      <a:alpha val="80000"/>
                    </a:schemeClr>
                  </a:solidFill>
                  <a:latin typeface="OPPOSans R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</a:endParaRPr>
              </a:p>
            </p:txBody>
          </p:sp>
          <p:sp>
            <p:nvSpPr>
              <p:cNvPr id="85" name="7 CuadroTexto"/>
              <p:cNvSpPr txBox="1"/>
              <p:nvPr/>
            </p:nvSpPr>
            <p:spPr>
              <a:xfrm flipH="1">
                <a:off x="1117148" y="1338119"/>
                <a:ext cx="2064257" cy="3735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lnSpc>
                    <a:spcPct val="120000"/>
                  </a:lnSpc>
                  <a:defRPr sz="1000">
                    <a:solidFill>
                      <a:schemeClr val="bg2"/>
                    </a:solidFill>
                    <a:latin typeface="OPPOSans R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</a:defRPr>
                </a:lvl1pPr>
              </a:lstStyle>
              <a:p>
                <a:pPr algn="r"/>
                <a:r>
                  <a:rPr lang="zh-CN" altLang="en-US" sz="1600" dirty="0">
                    <a:gradFill flip="none" rotWithShape="1">
                      <a:gsLst>
                        <a:gs pos="56000">
                          <a:schemeClr val="accent3"/>
                        </a:gs>
                        <a:gs pos="100000">
                          <a:schemeClr val="accent3">
                            <a:lumMod val="60000"/>
                            <a:lumOff val="40000"/>
                          </a:schemeClr>
                        </a:gs>
                      </a:gsLst>
                      <a:lin ang="18900000" scaled="1"/>
                      <a:tileRect/>
                    </a:gradFill>
                    <a:latin typeface="OPPOSans H" panose="00020600040101010101" pitchFamily="18" charset="-122"/>
                    <a:ea typeface="OPPOSans H" panose="00020600040101010101" pitchFamily="18" charset="-122"/>
                    <a:cs typeface="OPPOSans H" panose="00020600040101010101" pitchFamily="18" charset="-122"/>
                  </a:rPr>
                  <a:t>加强沟通</a:t>
                </a:r>
                <a:endParaRPr lang="zh-CN" altLang="en-US" sz="1600" dirty="0">
                  <a:gradFill flip="none" rotWithShape="1">
                    <a:gsLst>
                      <a:gs pos="56000">
                        <a:schemeClr val="accent3"/>
                      </a:gs>
                      <a:gs pos="100000">
                        <a:schemeClr val="accent3">
                          <a:lumMod val="60000"/>
                          <a:lumOff val="40000"/>
                        </a:schemeClr>
                      </a:gs>
                    </a:gsLst>
                    <a:lin ang="18900000" scaled="1"/>
                    <a:tileRect/>
                  </a:gradFill>
                  <a:latin typeface="OPPOSans H" panose="00020600040101010101" pitchFamily="18" charset="-122"/>
                  <a:ea typeface="OPPOSans H" panose="00020600040101010101" pitchFamily="18" charset="-122"/>
                  <a:cs typeface="OPPOSans H" panose="00020600040101010101" pitchFamily="18" charset="-122"/>
                </a:endParaRPr>
              </a:p>
            </p:txBody>
          </p:sp>
        </p:grpSp>
        <p:grpSp>
          <p:nvGrpSpPr>
            <p:cNvPr id="78" name="组合 77"/>
            <p:cNvGrpSpPr/>
            <p:nvPr/>
          </p:nvGrpSpPr>
          <p:grpSpPr>
            <a:xfrm>
              <a:off x="574581" y="4066214"/>
              <a:ext cx="2081043" cy="993860"/>
              <a:chOff x="1100362" y="1338119"/>
              <a:chExt cx="2081043" cy="993860"/>
            </a:xfrm>
          </p:grpSpPr>
          <p:sp>
            <p:nvSpPr>
              <p:cNvPr id="82" name="7 CuadroTexto"/>
              <p:cNvSpPr txBox="1"/>
              <p:nvPr/>
            </p:nvSpPr>
            <p:spPr>
              <a:xfrm flipH="1">
                <a:off x="1100362" y="1667310"/>
                <a:ext cx="1961715" cy="6646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lnSpc>
                    <a:spcPct val="120000"/>
                  </a:lnSpc>
                  <a:defRPr sz="1000">
                    <a:solidFill>
                      <a:schemeClr val="bg2"/>
                    </a:solidFill>
                    <a:latin typeface="OPPOSans R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</a:defRPr>
                </a:lvl1pPr>
              </a:lstStyle>
              <a:p>
                <a:pPr algn="r"/>
                <a:r>
                  <a:rPr lang="zh-CN" altLang="en-US" sz="1050" dirty="0">
                    <a:solidFill>
                      <a:schemeClr val="tx1">
                        <a:alpha val="80000"/>
                      </a:schemeClr>
                    </a:solidFill>
                    <a:latin typeface="OPPOSans R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</a:rPr>
                  <a:t>根据各部门需求合理分配资源，确保资源利用最大化，避免浪费</a:t>
                </a:r>
                <a:endParaRPr lang="zh-CN" altLang="en-US" sz="1050" dirty="0">
                  <a:solidFill>
                    <a:schemeClr val="tx1">
                      <a:alpha val="80000"/>
                    </a:schemeClr>
                  </a:solidFill>
                  <a:latin typeface="OPPOSans R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</a:endParaRPr>
              </a:p>
            </p:txBody>
          </p:sp>
          <p:sp>
            <p:nvSpPr>
              <p:cNvPr id="83" name="7 CuadroTexto"/>
              <p:cNvSpPr txBox="1"/>
              <p:nvPr/>
            </p:nvSpPr>
            <p:spPr>
              <a:xfrm flipH="1">
                <a:off x="1117148" y="1338119"/>
                <a:ext cx="2064257" cy="3735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lnSpc>
                    <a:spcPct val="120000"/>
                  </a:lnSpc>
                  <a:defRPr sz="1000">
                    <a:solidFill>
                      <a:schemeClr val="bg2"/>
                    </a:solidFill>
                    <a:latin typeface="OPPOSans R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</a:defRPr>
                </a:lvl1pPr>
              </a:lstStyle>
              <a:p>
                <a:pPr algn="r"/>
                <a:r>
                  <a:rPr lang="zh-CN" altLang="en-US" sz="1600" dirty="0">
                    <a:gradFill flip="none" rotWithShape="1">
                      <a:gsLst>
                        <a:gs pos="56000">
                          <a:schemeClr val="accent3"/>
                        </a:gs>
                        <a:gs pos="100000">
                          <a:schemeClr val="accent3">
                            <a:lumMod val="60000"/>
                            <a:lumOff val="40000"/>
                          </a:schemeClr>
                        </a:gs>
                      </a:gsLst>
                      <a:lin ang="18900000" scaled="1"/>
                      <a:tileRect/>
                    </a:gradFill>
                    <a:latin typeface="OPPOSans H" panose="00020600040101010101" pitchFamily="18" charset="-122"/>
                    <a:ea typeface="OPPOSans H" panose="00020600040101010101" pitchFamily="18" charset="-122"/>
                    <a:cs typeface="OPPOSans H" panose="00020600040101010101" pitchFamily="18" charset="-122"/>
                  </a:rPr>
                  <a:t>合理分配资源</a:t>
                </a:r>
                <a:endParaRPr lang="zh-CN" altLang="en-US" sz="1600" dirty="0">
                  <a:gradFill flip="none" rotWithShape="1">
                    <a:gsLst>
                      <a:gs pos="56000">
                        <a:schemeClr val="accent3"/>
                      </a:gs>
                      <a:gs pos="100000">
                        <a:schemeClr val="accent3">
                          <a:lumMod val="60000"/>
                          <a:lumOff val="40000"/>
                        </a:schemeClr>
                      </a:gs>
                    </a:gsLst>
                    <a:lin ang="18900000" scaled="1"/>
                    <a:tileRect/>
                  </a:gradFill>
                  <a:latin typeface="OPPOSans H" panose="00020600040101010101" pitchFamily="18" charset="-122"/>
                  <a:ea typeface="OPPOSans H" panose="00020600040101010101" pitchFamily="18" charset="-122"/>
                  <a:cs typeface="OPPOSans H" panose="00020600040101010101" pitchFamily="18" charset="-122"/>
                </a:endParaRPr>
              </a:p>
            </p:txBody>
          </p:sp>
        </p:grpSp>
        <p:grpSp>
          <p:nvGrpSpPr>
            <p:cNvPr id="79" name="组合 78"/>
            <p:cNvGrpSpPr/>
            <p:nvPr/>
          </p:nvGrpSpPr>
          <p:grpSpPr>
            <a:xfrm>
              <a:off x="579547" y="5451281"/>
              <a:ext cx="2756897" cy="799961"/>
              <a:chOff x="1100362" y="1338119"/>
              <a:chExt cx="2756897" cy="799961"/>
            </a:xfrm>
          </p:grpSpPr>
          <p:sp>
            <p:nvSpPr>
              <p:cNvPr id="80" name="7 CuadroTexto"/>
              <p:cNvSpPr txBox="1"/>
              <p:nvPr/>
            </p:nvSpPr>
            <p:spPr>
              <a:xfrm flipH="1">
                <a:off x="1100362" y="1667310"/>
                <a:ext cx="2756897" cy="4707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lnSpc>
                    <a:spcPct val="120000"/>
                  </a:lnSpc>
                  <a:defRPr sz="1000">
                    <a:solidFill>
                      <a:schemeClr val="bg2"/>
                    </a:solidFill>
                    <a:latin typeface="OPPOSans R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</a:defRPr>
                </a:lvl1pPr>
              </a:lstStyle>
              <a:p>
                <a:pPr algn="r"/>
                <a:r>
                  <a:rPr lang="zh-CN" altLang="en-US" sz="1050" dirty="0">
                    <a:solidFill>
                      <a:schemeClr val="tx1">
                        <a:alpha val="80000"/>
                      </a:schemeClr>
                    </a:solidFill>
                    <a:latin typeface="OPPOSans R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</a:rPr>
                  <a:t>提供更多培训机会，提升员工技能，增强团队整体竞争力和创新能力</a:t>
                </a:r>
                <a:endParaRPr lang="zh-CN" altLang="en-US" sz="1050" dirty="0">
                  <a:solidFill>
                    <a:schemeClr val="tx1">
                      <a:alpha val="80000"/>
                    </a:schemeClr>
                  </a:solidFill>
                  <a:latin typeface="OPPOSans R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</a:endParaRPr>
              </a:p>
            </p:txBody>
          </p:sp>
          <p:sp>
            <p:nvSpPr>
              <p:cNvPr id="81" name="7 CuadroTexto"/>
              <p:cNvSpPr txBox="1"/>
              <p:nvPr/>
            </p:nvSpPr>
            <p:spPr>
              <a:xfrm flipH="1">
                <a:off x="1117148" y="1338119"/>
                <a:ext cx="2064257" cy="3735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lnSpc>
                    <a:spcPct val="120000"/>
                  </a:lnSpc>
                  <a:defRPr sz="1000">
                    <a:solidFill>
                      <a:schemeClr val="bg2"/>
                    </a:solidFill>
                    <a:latin typeface="OPPOSans R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</a:defRPr>
                </a:lvl1pPr>
              </a:lstStyle>
              <a:p>
                <a:pPr algn="r"/>
                <a:r>
                  <a:rPr lang="zh-CN" altLang="en-US" sz="1600" dirty="0">
                    <a:gradFill flip="none" rotWithShape="1">
                      <a:gsLst>
                        <a:gs pos="56000">
                          <a:schemeClr val="accent3"/>
                        </a:gs>
                        <a:gs pos="100000">
                          <a:schemeClr val="accent3">
                            <a:lumMod val="60000"/>
                            <a:lumOff val="40000"/>
                          </a:schemeClr>
                        </a:gs>
                      </a:gsLst>
                      <a:lin ang="18900000" scaled="1"/>
                      <a:tileRect/>
                    </a:gradFill>
                    <a:latin typeface="OPPOSans H" panose="00020600040101010101" pitchFamily="18" charset="-122"/>
                    <a:ea typeface="OPPOSans H" panose="00020600040101010101" pitchFamily="18" charset="-122"/>
                    <a:cs typeface="OPPOSans H" panose="00020600040101010101" pitchFamily="18" charset="-122"/>
                  </a:rPr>
                  <a:t>增加培训</a:t>
                </a:r>
                <a:endParaRPr lang="zh-CN" altLang="en-US" sz="1600" dirty="0">
                  <a:gradFill flip="none" rotWithShape="1">
                    <a:gsLst>
                      <a:gs pos="56000">
                        <a:schemeClr val="accent3"/>
                      </a:gs>
                      <a:gs pos="100000">
                        <a:schemeClr val="accent3">
                          <a:lumMod val="60000"/>
                          <a:lumOff val="40000"/>
                        </a:schemeClr>
                      </a:gs>
                    </a:gsLst>
                    <a:lin ang="18900000" scaled="1"/>
                    <a:tileRect/>
                  </a:gradFill>
                  <a:latin typeface="OPPOSans H" panose="00020600040101010101" pitchFamily="18" charset="-122"/>
                  <a:ea typeface="OPPOSans H" panose="00020600040101010101" pitchFamily="18" charset="-122"/>
                  <a:cs typeface="OPPOSans H" panose="00020600040101010101" pitchFamily="18" charset="-122"/>
                </a:endParaRPr>
              </a:p>
            </p:txBody>
          </p:sp>
        </p:grpSp>
      </p:grpSp>
      <p:grpSp>
        <p:nvGrpSpPr>
          <p:cNvPr id="93" name="组合 92"/>
          <p:cNvGrpSpPr/>
          <p:nvPr/>
        </p:nvGrpSpPr>
        <p:grpSpPr>
          <a:xfrm flipH="1">
            <a:off x="7800817" y="1695521"/>
            <a:ext cx="1670486" cy="4368665"/>
            <a:chOff x="2710737" y="1682797"/>
            <a:chExt cx="1670486" cy="4368665"/>
          </a:xfrm>
        </p:grpSpPr>
        <p:cxnSp>
          <p:nvCxnSpPr>
            <p:cNvPr id="94" name="直接箭头连接符 93"/>
            <p:cNvCxnSpPr/>
            <p:nvPr/>
          </p:nvCxnSpPr>
          <p:spPr>
            <a:xfrm flipH="1" flipV="1">
              <a:off x="3502717" y="1682797"/>
              <a:ext cx="866429" cy="351196"/>
            </a:xfrm>
            <a:prstGeom prst="straightConnector1">
              <a:avLst/>
            </a:prstGeom>
            <a:ln>
              <a:solidFill>
                <a:schemeClr val="accent6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箭头连接符 94"/>
            <p:cNvCxnSpPr/>
            <p:nvPr/>
          </p:nvCxnSpPr>
          <p:spPr>
            <a:xfrm flipH="1">
              <a:off x="3514794" y="5700266"/>
              <a:ext cx="866429" cy="351196"/>
            </a:xfrm>
            <a:prstGeom prst="straightConnector1">
              <a:avLst/>
            </a:prstGeom>
            <a:ln>
              <a:solidFill>
                <a:schemeClr val="accent6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箭头连接符 95"/>
            <p:cNvCxnSpPr/>
            <p:nvPr/>
          </p:nvCxnSpPr>
          <p:spPr>
            <a:xfrm flipH="1">
              <a:off x="2710737" y="4725107"/>
              <a:ext cx="695899" cy="0"/>
            </a:xfrm>
            <a:prstGeom prst="straightConnector1">
              <a:avLst/>
            </a:prstGeom>
            <a:ln>
              <a:solidFill>
                <a:schemeClr val="accent6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箭头连接符 96"/>
            <p:cNvCxnSpPr/>
            <p:nvPr/>
          </p:nvCxnSpPr>
          <p:spPr>
            <a:xfrm flipH="1">
              <a:off x="2710737" y="3006281"/>
              <a:ext cx="695899" cy="0"/>
            </a:xfrm>
            <a:prstGeom prst="straightConnector1">
              <a:avLst/>
            </a:prstGeom>
            <a:ln>
              <a:solidFill>
                <a:schemeClr val="accent6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8" name="箭头: 上 97"/>
          <p:cNvSpPr/>
          <p:nvPr/>
        </p:nvSpPr>
        <p:spPr>
          <a:xfrm>
            <a:off x="5778380" y="1710946"/>
            <a:ext cx="644509" cy="571018"/>
          </a:xfrm>
          <a:prstGeom prst="upArrow">
            <a:avLst>
              <a:gd name="adj1" fmla="val 57390"/>
              <a:gd name="adj2" fmla="val 52919"/>
            </a:avLst>
          </a:prstGeom>
          <a:gradFill flip="none" rotWithShape="1">
            <a:gsLst>
              <a:gs pos="50000">
                <a:schemeClr val="accent1">
                  <a:alpha val="82000"/>
                </a:schemeClr>
              </a:gs>
              <a:gs pos="89000">
                <a:schemeClr val="accent1"/>
              </a:gs>
              <a:gs pos="0">
                <a:schemeClr val="accent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99" name="箭头: 上 98"/>
          <p:cNvSpPr/>
          <p:nvPr/>
        </p:nvSpPr>
        <p:spPr>
          <a:xfrm flipV="1">
            <a:off x="5735474" y="5451281"/>
            <a:ext cx="644509" cy="571018"/>
          </a:xfrm>
          <a:prstGeom prst="upArrow">
            <a:avLst>
              <a:gd name="adj1" fmla="val 57390"/>
              <a:gd name="adj2" fmla="val 52919"/>
            </a:avLst>
          </a:prstGeom>
          <a:gradFill flip="none" rotWithShape="1">
            <a:gsLst>
              <a:gs pos="50000">
                <a:schemeClr val="accent1">
                  <a:alpha val="82000"/>
                </a:schemeClr>
              </a:gs>
              <a:gs pos="89000">
                <a:schemeClr val="accent1"/>
              </a:gs>
              <a:gs pos="0">
                <a:schemeClr val="accent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100" name="文本框 99"/>
          <p:cNvSpPr txBox="1"/>
          <p:nvPr/>
        </p:nvSpPr>
        <p:spPr>
          <a:xfrm>
            <a:off x="5282062" y="1290956"/>
            <a:ext cx="1617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i="0" dirty="0">
                <a:effectLst/>
                <a:latin typeface="OPPOSans R" panose="00020600040101010101" pitchFamily="18" charset="-122"/>
              </a:rPr>
              <a:t>提升效率</a:t>
            </a:r>
            <a:endParaRPr lang="zh-CN" altLang="en-US" b="1" dirty="0"/>
          </a:p>
        </p:txBody>
      </p:sp>
      <p:sp>
        <p:nvSpPr>
          <p:cNvPr id="101" name="文本框 100"/>
          <p:cNvSpPr txBox="1"/>
          <p:nvPr/>
        </p:nvSpPr>
        <p:spPr>
          <a:xfrm>
            <a:off x="5277621" y="6107704"/>
            <a:ext cx="1617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latin typeface="OPPOSans R" panose="00020600040101010101" pitchFamily="18" charset="-122"/>
              </a:rPr>
              <a:t>优化流程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招聘漏斗分析</a:t>
            </a:r>
            <a:r>
              <a:rPr lang="en-US" altLang="zh-CN" dirty="0"/>
              <a:t>/</a:t>
            </a:r>
            <a:r>
              <a:rPr lang="zh-CN" altLang="en-US" dirty="0"/>
              <a:t>招聘完成情况</a:t>
            </a:r>
            <a:endParaRPr lang="zh-CN" altLang="en-US" dirty="0"/>
          </a:p>
        </p:txBody>
      </p:sp>
      <p:grpSp>
        <p:nvGrpSpPr>
          <p:cNvPr id="4" name="组合 3"/>
          <p:cNvGrpSpPr/>
          <p:nvPr/>
        </p:nvGrpSpPr>
        <p:grpSpPr>
          <a:xfrm>
            <a:off x="1063359" y="1395817"/>
            <a:ext cx="10634180" cy="4503654"/>
            <a:chOff x="449578" y="1348131"/>
            <a:chExt cx="11523401" cy="4880247"/>
          </a:xfrm>
        </p:grpSpPr>
        <p:grpSp>
          <p:nvGrpSpPr>
            <p:cNvPr id="5" name="组合 4"/>
            <p:cNvGrpSpPr/>
            <p:nvPr/>
          </p:nvGrpSpPr>
          <p:grpSpPr>
            <a:xfrm>
              <a:off x="449578" y="1563430"/>
              <a:ext cx="11523401" cy="4664948"/>
              <a:chOff x="447118" y="1558372"/>
              <a:chExt cx="11523401" cy="4664948"/>
            </a:xfrm>
          </p:grpSpPr>
          <p:grpSp>
            <p:nvGrpSpPr>
              <p:cNvPr id="13" name="组合 12"/>
              <p:cNvGrpSpPr/>
              <p:nvPr/>
            </p:nvGrpSpPr>
            <p:grpSpPr>
              <a:xfrm>
                <a:off x="447118" y="1558372"/>
                <a:ext cx="6510537" cy="4658645"/>
                <a:chOff x="684142" y="1514730"/>
                <a:chExt cx="6510537" cy="4658645"/>
              </a:xfrm>
            </p:grpSpPr>
            <p:grpSp>
              <p:nvGrpSpPr>
                <p:cNvPr id="30" name="组合 29"/>
                <p:cNvGrpSpPr/>
                <p:nvPr/>
              </p:nvGrpSpPr>
              <p:grpSpPr>
                <a:xfrm>
                  <a:off x="684142" y="1514730"/>
                  <a:ext cx="6510537" cy="4612482"/>
                  <a:chOff x="720607" y="1469061"/>
                  <a:chExt cx="6510537" cy="4612482"/>
                </a:xfrm>
              </p:grpSpPr>
              <p:grpSp>
                <p:nvGrpSpPr>
                  <p:cNvPr id="32" name="组合 31"/>
                  <p:cNvGrpSpPr/>
                  <p:nvPr/>
                </p:nvGrpSpPr>
                <p:grpSpPr>
                  <a:xfrm>
                    <a:off x="2749199" y="1493262"/>
                    <a:ext cx="4481945" cy="4113557"/>
                    <a:chOff x="4175124" y="1901605"/>
                    <a:chExt cx="3841751" cy="3525983"/>
                  </a:xfrm>
                </p:grpSpPr>
                <p:sp>
                  <p:nvSpPr>
                    <p:cNvPr id="43" name="Freeform 7"/>
                    <p:cNvSpPr/>
                    <p:nvPr/>
                  </p:nvSpPr>
                  <p:spPr bwMode="auto">
                    <a:xfrm>
                      <a:off x="4175124" y="1901605"/>
                      <a:ext cx="3841750" cy="906463"/>
                    </a:xfrm>
                    <a:custGeom>
                      <a:avLst/>
                      <a:gdLst>
                        <a:gd name="T0" fmla="*/ 14413 w 14520"/>
                        <a:gd name="T1" fmla="*/ 446 h 3427"/>
                        <a:gd name="T2" fmla="*/ 14195 w 14520"/>
                        <a:gd name="T3" fmla="*/ 379 h 3427"/>
                        <a:gd name="T4" fmla="*/ 13913 w 14520"/>
                        <a:gd name="T5" fmla="*/ 322 h 3427"/>
                        <a:gd name="T6" fmla="*/ 13603 w 14520"/>
                        <a:gd name="T7" fmla="*/ 276 h 3427"/>
                        <a:gd name="T8" fmla="*/ 13284 w 14520"/>
                        <a:gd name="T9" fmla="*/ 238 h 3427"/>
                        <a:gd name="T10" fmla="*/ 12842 w 14520"/>
                        <a:gd name="T11" fmla="*/ 194 h 3427"/>
                        <a:gd name="T12" fmla="*/ 12268 w 14520"/>
                        <a:gd name="T13" fmla="*/ 148 h 3427"/>
                        <a:gd name="T14" fmla="*/ 11789 w 14520"/>
                        <a:gd name="T15" fmla="*/ 117 h 3427"/>
                        <a:gd name="T16" fmla="*/ 11343 w 14520"/>
                        <a:gd name="T17" fmla="*/ 93 h 3427"/>
                        <a:gd name="T18" fmla="*/ 10901 w 14520"/>
                        <a:gd name="T19" fmla="*/ 72 h 3427"/>
                        <a:gd name="T20" fmla="*/ 10375 w 14520"/>
                        <a:gd name="T21" fmla="*/ 52 h 3427"/>
                        <a:gd name="T22" fmla="*/ 9729 w 14520"/>
                        <a:gd name="T23" fmla="*/ 32 h 3427"/>
                        <a:gd name="T24" fmla="*/ 9159 w 14520"/>
                        <a:gd name="T25" fmla="*/ 19 h 3427"/>
                        <a:gd name="T26" fmla="*/ 8717 w 14520"/>
                        <a:gd name="T27" fmla="*/ 11 h 3427"/>
                        <a:gd name="T28" fmla="*/ 8271 w 14520"/>
                        <a:gd name="T29" fmla="*/ 5 h 3427"/>
                        <a:gd name="T30" fmla="*/ 7809 w 14520"/>
                        <a:gd name="T31" fmla="*/ 1 h 3427"/>
                        <a:gd name="T32" fmla="*/ 7360 w 14520"/>
                        <a:gd name="T33" fmla="*/ 0 h 3427"/>
                        <a:gd name="T34" fmla="*/ 6928 w 14520"/>
                        <a:gd name="T35" fmla="*/ 1 h 3427"/>
                        <a:gd name="T36" fmla="*/ 6465 w 14520"/>
                        <a:gd name="T37" fmla="*/ 3 h 3427"/>
                        <a:gd name="T38" fmla="*/ 5941 w 14520"/>
                        <a:gd name="T39" fmla="*/ 9 h 3427"/>
                        <a:gd name="T40" fmla="*/ 5287 w 14520"/>
                        <a:gd name="T41" fmla="*/ 21 h 3427"/>
                        <a:gd name="T42" fmla="*/ 4721 w 14520"/>
                        <a:gd name="T43" fmla="*/ 34 h 3427"/>
                        <a:gd name="T44" fmla="*/ 4204 w 14520"/>
                        <a:gd name="T45" fmla="*/ 49 h 3427"/>
                        <a:gd name="T46" fmla="*/ 3850 w 14520"/>
                        <a:gd name="T47" fmla="*/ 63 h 3427"/>
                        <a:gd name="T48" fmla="*/ 3170 w 14520"/>
                        <a:gd name="T49" fmla="*/ 94 h 3427"/>
                        <a:gd name="T50" fmla="*/ 2689 w 14520"/>
                        <a:gd name="T51" fmla="*/ 121 h 3427"/>
                        <a:gd name="T52" fmla="*/ 2277 w 14520"/>
                        <a:gd name="T53" fmla="*/ 147 h 3427"/>
                        <a:gd name="T54" fmla="*/ 1759 w 14520"/>
                        <a:gd name="T55" fmla="*/ 186 h 3427"/>
                        <a:gd name="T56" fmla="*/ 1332 w 14520"/>
                        <a:gd name="T57" fmla="*/ 228 h 3427"/>
                        <a:gd name="T58" fmla="*/ 936 w 14520"/>
                        <a:gd name="T59" fmla="*/ 274 h 3427"/>
                        <a:gd name="T60" fmla="*/ 624 w 14520"/>
                        <a:gd name="T61" fmla="*/ 319 h 3427"/>
                        <a:gd name="T62" fmla="*/ 364 w 14520"/>
                        <a:gd name="T63" fmla="*/ 370 h 3427"/>
                        <a:gd name="T64" fmla="*/ 137 w 14520"/>
                        <a:gd name="T65" fmla="*/ 434 h 3427"/>
                        <a:gd name="T66" fmla="*/ 12 w 14520"/>
                        <a:gd name="T67" fmla="*/ 507 h 3427"/>
                        <a:gd name="T68" fmla="*/ 226 w 14520"/>
                        <a:gd name="T69" fmla="*/ 977 h 3427"/>
                        <a:gd name="T70" fmla="*/ 1295 w 14520"/>
                        <a:gd name="T71" fmla="*/ 3003 h 3427"/>
                        <a:gd name="T72" fmla="*/ 1450 w 14520"/>
                        <a:gd name="T73" fmla="*/ 3087 h 3427"/>
                        <a:gd name="T74" fmla="*/ 1733 w 14520"/>
                        <a:gd name="T75" fmla="*/ 3152 h 3427"/>
                        <a:gd name="T76" fmla="*/ 2065 w 14520"/>
                        <a:gd name="T77" fmla="*/ 3203 h 3427"/>
                        <a:gd name="T78" fmla="*/ 2459 w 14520"/>
                        <a:gd name="T79" fmla="*/ 3248 h 3427"/>
                        <a:gd name="T80" fmla="*/ 2824 w 14520"/>
                        <a:gd name="T81" fmla="*/ 3281 h 3427"/>
                        <a:gd name="T82" fmla="*/ 3305 w 14520"/>
                        <a:gd name="T83" fmla="*/ 3316 h 3427"/>
                        <a:gd name="T84" fmla="*/ 3740 w 14520"/>
                        <a:gd name="T85" fmla="*/ 3342 h 3427"/>
                        <a:gd name="T86" fmla="*/ 4224 w 14520"/>
                        <a:gd name="T87" fmla="*/ 3365 h 3427"/>
                        <a:gd name="T88" fmla="*/ 4652 w 14520"/>
                        <a:gd name="T89" fmla="*/ 3383 h 3427"/>
                        <a:gd name="T90" fmla="*/ 5236 w 14520"/>
                        <a:gd name="T91" fmla="*/ 3401 h 3427"/>
                        <a:gd name="T92" fmla="*/ 5765 w 14520"/>
                        <a:gd name="T93" fmla="*/ 3413 h 3427"/>
                        <a:gd name="T94" fmla="*/ 6351 w 14520"/>
                        <a:gd name="T95" fmla="*/ 3422 h 3427"/>
                        <a:gd name="T96" fmla="*/ 6919 w 14520"/>
                        <a:gd name="T97" fmla="*/ 3426 h 3427"/>
                        <a:gd name="T98" fmla="*/ 7730 w 14520"/>
                        <a:gd name="T99" fmla="*/ 3426 h 3427"/>
                        <a:gd name="T100" fmla="*/ 8425 w 14520"/>
                        <a:gd name="T101" fmla="*/ 3419 h 3427"/>
                        <a:gd name="T102" fmla="*/ 9043 w 14520"/>
                        <a:gd name="T103" fmla="*/ 3408 h 3427"/>
                        <a:gd name="T104" fmla="*/ 9558 w 14520"/>
                        <a:gd name="T105" fmla="*/ 3393 h 3427"/>
                        <a:gd name="T106" fmla="*/ 10130 w 14520"/>
                        <a:gd name="T107" fmla="*/ 3373 h 3427"/>
                        <a:gd name="T108" fmla="*/ 10550 w 14520"/>
                        <a:gd name="T109" fmla="*/ 3354 h 3427"/>
                        <a:gd name="T110" fmla="*/ 10948 w 14520"/>
                        <a:gd name="T111" fmla="*/ 3332 h 3427"/>
                        <a:gd name="T112" fmla="*/ 11299 w 14520"/>
                        <a:gd name="T113" fmla="*/ 3311 h 3427"/>
                        <a:gd name="T114" fmla="*/ 11759 w 14520"/>
                        <a:gd name="T115" fmla="*/ 3276 h 3427"/>
                        <a:gd name="T116" fmla="*/ 12286 w 14520"/>
                        <a:gd name="T117" fmla="*/ 3223 h 3427"/>
                        <a:gd name="T118" fmla="*/ 12614 w 14520"/>
                        <a:gd name="T119" fmla="*/ 3181 h 3427"/>
                        <a:gd name="T120" fmla="*/ 12846 w 14520"/>
                        <a:gd name="T121" fmla="*/ 3141 h 3427"/>
                        <a:gd name="T122" fmla="*/ 13092 w 14520"/>
                        <a:gd name="T123" fmla="*/ 3080 h 3427"/>
                        <a:gd name="T124" fmla="*/ 13215 w 14520"/>
                        <a:gd name="T125" fmla="*/ 3016 h 342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  <a:cxn ang="0">
                          <a:pos x="T84" y="T85"/>
                        </a:cxn>
                        <a:cxn ang="0">
                          <a:pos x="T86" y="T87"/>
                        </a:cxn>
                        <a:cxn ang="0">
                          <a:pos x="T88" y="T89"/>
                        </a:cxn>
                        <a:cxn ang="0">
                          <a:pos x="T90" y="T91"/>
                        </a:cxn>
                        <a:cxn ang="0">
                          <a:pos x="T92" y="T93"/>
                        </a:cxn>
                        <a:cxn ang="0">
                          <a:pos x="T94" y="T95"/>
                        </a:cxn>
                        <a:cxn ang="0">
                          <a:pos x="T96" y="T97"/>
                        </a:cxn>
                        <a:cxn ang="0">
                          <a:pos x="T98" y="T99"/>
                        </a:cxn>
                        <a:cxn ang="0">
                          <a:pos x="T100" y="T101"/>
                        </a:cxn>
                        <a:cxn ang="0">
                          <a:pos x="T102" y="T103"/>
                        </a:cxn>
                        <a:cxn ang="0">
                          <a:pos x="T104" y="T105"/>
                        </a:cxn>
                        <a:cxn ang="0">
                          <a:pos x="T106" y="T107"/>
                        </a:cxn>
                        <a:cxn ang="0">
                          <a:pos x="T108" y="T109"/>
                        </a:cxn>
                        <a:cxn ang="0">
                          <a:pos x="T110" y="T111"/>
                        </a:cxn>
                        <a:cxn ang="0">
                          <a:pos x="T112" y="T113"/>
                        </a:cxn>
                        <a:cxn ang="0">
                          <a:pos x="T114" y="T115"/>
                        </a:cxn>
                        <a:cxn ang="0">
                          <a:pos x="T116" y="T117"/>
                        </a:cxn>
                        <a:cxn ang="0">
                          <a:pos x="T118" y="T119"/>
                        </a:cxn>
                        <a:cxn ang="0">
                          <a:pos x="T120" y="T121"/>
                        </a:cxn>
                        <a:cxn ang="0">
                          <a:pos x="T122" y="T123"/>
                        </a:cxn>
                        <a:cxn ang="0">
                          <a:pos x="T124" y="T125"/>
                        </a:cxn>
                      </a:cxnLst>
                      <a:rect l="0" t="0" r="r" b="b"/>
                      <a:pathLst>
                        <a:path w="14520" h="3427">
                          <a:moveTo>
                            <a:pt x="14520" y="536"/>
                          </a:moveTo>
                          <a:lnTo>
                            <a:pt x="14520" y="534"/>
                          </a:lnTo>
                          <a:lnTo>
                            <a:pt x="14519" y="533"/>
                          </a:lnTo>
                          <a:lnTo>
                            <a:pt x="14518" y="526"/>
                          </a:lnTo>
                          <a:lnTo>
                            <a:pt x="14516" y="520"/>
                          </a:lnTo>
                          <a:lnTo>
                            <a:pt x="14516" y="519"/>
                          </a:lnTo>
                          <a:lnTo>
                            <a:pt x="14515" y="518"/>
                          </a:lnTo>
                          <a:lnTo>
                            <a:pt x="14512" y="513"/>
                          </a:lnTo>
                          <a:lnTo>
                            <a:pt x="14509" y="508"/>
                          </a:lnTo>
                          <a:lnTo>
                            <a:pt x="14508" y="507"/>
                          </a:lnTo>
                          <a:lnTo>
                            <a:pt x="14507" y="506"/>
                          </a:lnTo>
                          <a:lnTo>
                            <a:pt x="14501" y="500"/>
                          </a:lnTo>
                          <a:lnTo>
                            <a:pt x="14495" y="493"/>
                          </a:lnTo>
                          <a:lnTo>
                            <a:pt x="14494" y="492"/>
                          </a:lnTo>
                          <a:lnTo>
                            <a:pt x="14492" y="491"/>
                          </a:lnTo>
                          <a:lnTo>
                            <a:pt x="14485" y="485"/>
                          </a:lnTo>
                          <a:lnTo>
                            <a:pt x="14478" y="480"/>
                          </a:lnTo>
                          <a:lnTo>
                            <a:pt x="14477" y="479"/>
                          </a:lnTo>
                          <a:lnTo>
                            <a:pt x="14477" y="479"/>
                          </a:lnTo>
                          <a:lnTo>
                            <a:pt x="14467" y="473"/>
                          </a:lnTo>
                          <a:lnTo>
                            <a:pt x="14457" y="467"/>
                          </a:lnTo>
                          <a:lnTo>
                            <a:pt x="14454" y="466"/>
                          </a:lnTo>
                          <a:lnTo>
                            <a:pt x="14452" y="465"/>
                          </a:lnTo>
                          <a:lnTo>
                            <a:pt x="14441" y="458"/>
                          </a:lnTo>
                          <a:lnTo>
                            <a:pt x="14428" y="452"/>
                          </a:lnTo>
                          <a:lnTo>
                            <a:pt x="14427" y="452"/>
                          </a:lnTo>
                          <a:lnTo>
                            <a:pt x="14425" y="451"/>
                          </a:lnTo>
                          <a:lnTo>
                            <a:pt x="14413" y="446"/>
                          </a:lnTo>
                          <a:lnTo>
                            <a:pt x="14400" y="441"/>
                          </a:lnTo>
                          <a:lnTo>
                            <a:pt x="14397" y="439"/>
                          </a:lnTo>
                          <a:lnTo>
                            <a:pt x="14394" y="438"/>
                          </a:lnTo>
                          <a:lnTo>
                            <a:pt x="14380" y="433"/>
                          </a:lnTo>
                          <a:lnTo>
                            <a:pt x="14364" y="426"/>
                          </a:lnTo>
                          <a:lnTo>
                            <a:pt x="14360" y="425"/>
                          </a:lnTo>
                          <a:lnTo>
                            <a:pt x="14357" y="424"/>
                          </a:lnTo>
                          <a:lnTo>
                            <a:pt x="14350" y="421"/>
                          </a:lnTo>
                          <a:lnTo>
                            <a:pt x="14342" y="419"/>
                          </a:lnTo>
                          <a:lnTo>
                            <a:pt x="14333" y="416"/>
                          </a:lnTo>
                          <a:lnTo>
                            <a:pt x="14325" y="414"/>
                          </a:lnTo>
                          <a:lnTo>
                            <a:pt x="14323" y="413"/>
                          </a:lnTo>
                          <a:lnTo>
                            <a:pt x="14321" y="412"/>
                          </a:lnTo>
                          <a:lnTo>
                            <a:pt x="14312" y="410"/>
                          </a:lnTo>
                          <a:lnTo>
                            <a:pt x="14303" y="407"/>
                          </a:lnTo>
                          <a:lnTo>
                            <a:pt x="14292" y="404"/>
                          </a:lnTo>
                          <a:lnTo>
                            <a:pt x="14283" y="401"/>
                          </a:lnTo>
                          <a:lnTo>
                            <a:pt x="14278" y="400"/>
                          </a:lnTo>
                          <a:lnTo>
                            <a:pt x="14274" y="399"/>
                          </a:lnTo>
                          <a:lnTo>
                            <a:pt x="14263" y="396"/>
                          </a:lnTo>
                          <a:lnTo>
                            <a:pt x="14253" y="394"/>
                          </a:lnTo>
                          <a:lnTo>
                            <a:pt x="14242" y="390"/>
                          </a:lnTo>
                          <a:lnTo>
                            <a:pt x="14231" y="387"/>
                          </a:lnTo>
                          <a:lnTo>
                            <a:pt x="14229" y="387"/>
                          </a:lnTo>
                          <a:lnTo>
                            <a:pt x="14227" y="386"/>
                          </a:lnTo>
                          <a:lnTo>
                            <a:pt x="14217" y="384"/>
                          </a:lnTo>
                          <a:lnTo>
                            <a:pt x="14206" y="381"/>
                          </a:lnTo>
                          <a:lnTo>
                            <a:pt x="14195" y="379"/>
                          </a:lnTo>
                          <a:lnTo>
                            <a:pt x="14184" y="376"/>
                          </a:lnTo>
                          <a:lnTo>
                            <a:pt x="14179" y="375"/>
                          </a:lnTo>
                          <a:lnTo>
                            <a:pt x="14174" y="374"/>
                          </a:lnTo>
                          <a:lnTo>
                            <a:pt x="14162" y="371"/>
                          </a:lnTo>
                          <a:lnTo>
                            <a:pt x="14150" y="368"/>
                          </a:lnTo>
                          <a:lnTo>
                            <a:pt x="14138" y="366"/>
                          </a:lnTo>
                          <a:lnTo>
                            <a:pt x="14125" y="363"/>
                          </a:lnTo>
                          <a:lnTo>
                            <a:pt x="14120" y="362"/>
                          </a:lnTo>
                          <a:lnTo>
                            <a:pt x="14115" y="361"/>
                          </a:lnTo>
                          <a:lnTo>
                            <a:pt x="14104" y="358"/>
                          </a:lnTo>
                          <a:lnTo>
                            <a:pt x="14092" y="355"/>
                          </a:lnTo>
                          <a:lnTo>
                            <a:pt x="14080" y="353"/>
                          </a:lnTo>
                          <a:lnTo>
                            <a:pt x="14068" y="351"/>
                          </a:lnTo>
                          <a:lnTo>
                            <a:pt x="14063" y="350"/>
                          </a:lnTo>
                          <a:lnTo>
                            <a:pt x="14059" y="349"/>
                          </a:lnTo>
                          <a:lnTo>
                            <a:pt x="14046" y="346"/>
                          </a:lnTo>
                          <a:lnTo>
                            <a:pt x="14031" y="344"/>
                          </a:lnTo>
                          <a:lnTo>
                            <a:pt x="14018" y="341"/>
                          </a:lnTo>
                          <a:lnTo>
                            <a:pt x="14004" y="339"/>
                          </a:lnTo>
                          <a:lnTo>
                            <a:pt x="13997" y="337"/>
                          </a:lnTo>
                          <a:lnTo>
                            <a:pt x="13990" y="336"/>
                          </a:lnTo>
                          <a:lnTo>
                            <a:pt x="13976" y="334"/>
                          </a:lnTo>
                          <a:lnTo>
                            <a:pt x="13960" y="331"/>
                          </a:lnTo>
                          <a:lnTo>
                            <a:pt x="13946" y="328"/>
                          </a:lnTo>
                          <a:lnTo>
                            <a:pt x="13930" y="326"/>
                          </a:lnTo>
                          <a:lnTo>
                            <a:pt x="13929" y="326"/>
                          </a:lnTo>
                          <a:lnTo>
                            <a:pt x="13928" y="326"/>
                          </a:lnTo>
                          <a:lnTo>
                            <a:pt x="13913" y="322"/>
                          </a:lnTo>
                          <a:lnTo>
                            <a:pt x="13897" y="320"/>
                          </a:lnTo>
                          <a:lnTo>
                            <a:pt x="13882" y="317"/>
                          </a:lnTo>
                          <a:lnTo>
                            <a:pt x="13867" y="315"/>
                          </a:lnTo>
                          <a:lnTo>
                            <a:pt x="13859" y="313"/>
                          </a:lnTo>
                          <a:lnTo>
                            <a:pt x="13851" y="312"/>
                          </a:lnTo>
                          <a:lnTo>
                            <a:pt x="13836" y="310"/>
                          </a:lnTo>
                          <a:lnTo>
                            <a:pt x="13819" y="307"/>
                          </a:lnTo>
                          <a:lnTo>
                            <a:pt x="13803" y="305"/>
                          </a:lnTo>
                          <a:lnTo>
                            <a:pt x="13786" y="302"/>
                          </a:lnTo>
                          <a:lnTo>
                            <a:pt x="13780" y="301"/>
                          </a:lnTo>
                          <a:lnTo>
                            <a:pt x="13774" y="301"/>
                          </a:lnTo>
                          <a:lnTo>
                            <a:pt x="13758" y="298"/>
                          </a:lnTo>
                          <a:lnTo>
                            <a:pt x="13744" y="296"/>
                          </a:lnTo>
                          <a:lnTo>
                            <a:pt x="13728" y="294"/>
                          </a:lnTo>
                          <a:lnTo>
                            <a:pt x="13712" y="292"/>
                          </a:lnTo>
                          <a:lnTo>
                            <a:pt x="13706" y="290"/>
                          </a:lnTo>
                          <a:lnTo>
                            <a:pt x="13699" y="289"/>
                          </a:lnTo>
                          <a:lnTo>
                            <a:pt x="13695" y="288"/>
                          </a:lnTo>
                          <a:lnTo>
                            <a:pt x="13692" y="288"/>
                          </a:lnTo>
                          <a:lnTo>
                            <a:pt x="13684" y="287"/>
                          </a:lnTo>
                          <a:lnTo>
                            <a:pt x="13677" y="286"/>
                          </a:lnTo>
                          <a:lnTo>
                            <a:pt x="13669" y="285"/>
                          </a:lnTo>
                          <a:lnTo>
                            <a:pt x="13661" y="284"/>
                          </a:lnTo>
                          <a:lnTo>
                            <a:pt x="13649" y="282"/>
                          </a:lnTo>
                          <a:lnTo>
                            <a:pt x="13637" y="281"/>
                          </a:lnTo>
                          <a:lnTo>
                            <a:pt x="13625" y="279"/>
                          </a:lnTo>
                          <a:lnTo>
                            <a:pt x="13613" y="277"/>
                          </a:lnTo>
                          <a:lnTo>
                            <a:pt x="13603" y="276"/>
                          </a:lnTo>
                          <a:lnTo>
                            <a:pt x="13592" y="275"/>
                          </a:lnTo>
                          <a:lnTo>
                            <a:pt x="13582" y="274"/>
                          </a:lnTo>
                          <a:lnTo>
                            <a:pt x="13572" y="272"/>
                          </a:lnTo>
                          <a:lnTo>
                            <a:pt x="13559" y="271"/>
                          </a:lnTo>
                          <a:lnTo>
                            <a:pt x="13548" y="269"/>
                          </a:lnTo>
                          <a:lnTo>
                            <a:pt x="13536" y="268"/>
                          </a:lnTo>
                          <a:lnTo>
                            <a:pt x="13524" y="266"/>
                          </a:lnTo>
                          <a:lnTo>
                            <a:pt x="13513" y="265"/>
                          </a:lnTo>
                          <a:lnTo>
                            <a:pt x="13503" y="264"/>
                          </a:lnTo>
                          <a:lnTo>
                            <a:pt x="13492" y="262"/>
                          </a:lnTo>
                          <a:lnTo>
                            <a:pt x="13481" y="261"/>
                          </a:lnTo>
                          <a:lnTo>
                            <a:pt x="13469" y="260"/>
                          </a:lnTo>
                          <a:lnTo>
                            <a:pt x="13456" y="258"/>
                          </a:lnTo>
                          <a:lnTo>
                            <a:pt x="13444" y="257"/>
                          </a:lnTo>
                          <a:lnTo>
                            <a:pt x="13432" y="254"/>
                          </a:lnTo>
                          <a:lnTo>
                            <a:pt x="13420" y="253"/>
                          </a:lnTo>
                          <a:lnTo>
                            <a:pt x="13410" y="252"/>
                          </a:lnTo>
                          <a:lnTo>
                            <a:pt x="13399" y="251"/>
                          </a:lnTo>
                          <a:lnTo>
                            <a:pt x="13388" y="249"/>
                          </a:lnTo>
                          <a:lnTo>
                            <a:pt x="13375" y="248"/>
                          </a:lnTo>
                          <a:lnTo>
                            <a:pt x="13361" y="246"/>
                          </a:lnTo>
                          <a:lnTo>
                            <a:pt x="13348" y="245"/>
                          </a:lnTo>
                          <a:lnTo>
                            <a:pt x="13335" y="243"/>
                          </a:lnTo>
                          <a:lnTo>
                            <a:pt x="13328" y="243"/>
                          </a:lnTo>
                          <a:lnTo>
                            <a:pt x="13321" y="242"/>
                          </a:lnTo>
                          <a:lnTo>
                            <a:pt x="13309" y="241"/>
                          </a:lnTo>
                          <a:lnTo>
                            <a:pt x="13297" y="239"/>
                          </a:lnTo>
                          <a:lnTo>
                            <a:pt x="13284" y="238"/>
                          </a:lnTo>
                          <a:lnTo>
                            <a:pt x="13272" y="237"/>
                          </a:lnTo>
                          <a:lnTo>
                            <a:pt x="13260" y="235"/>
                          </a:lnTo>
                          <a:lnTo>
                            <a:pt x="13248" y="234"/>
                          </a:lnTo>
                          <a:lnTo>
                            <a:pt x="13225" y="232"/>
                          </a:lnTo>
                          <a:lnTo>
                            <a:pt x="13203" y="229"/>
                          </a:lnTo>
                          <a:lnTo>
                            <a:pt x="13179" y="227"/>
                          </a:lnTo>
                          <a:lnTo>
                            <a:pt x="13155" y="225"/>
                          </a:lnTo>
                          <a:lnTo>
                            <a:pt x="13147" y="224"/>
                          </a:lnTo>
                          <a:lnTo>
                            <a:pt x="13139" y="223"/>
                          </a:lnTo>
                          <a:lnTo>
                            <a:pt x="13119" y="220"/>
                          </a:lnTo>
                          <a:lnTo>
                            <a:pt x="13100" y="218"/>
                          </a:lnTo>
                          <a:lnTo>
                            <a:pt x="13080" y="216"/>
                          </a:lnTo>
                          <a:lnTo>
                            <a:pt x="13060" y="214"/>
                          </a:lnTo>
                          <a:lnTo>
                            <a:pt x="13052" y="213"/>
                          </a:lnTo>
                          <a:lnTo>
                            <a:pt x="13043" y="213"/>
                          </a:lnTo>
                          <a:lnTo>
                            <a:pt x="13035" y="212"/>
                          </a:lnTo>
                          <a:lnTo>
                            <a:pt x="13025" y="211"/>
                          </a:lnTo>
                          <a:lnTo>
                            <a:pt x="13017" y="210"/>
                          </a:lnTo>
                          <a:lnTo>
                            <a:pt x="13008" y="209"/>
                          </a:lnTo>
                          <a:lnTo>
                            <a:pt x="13000" y="209"/>
                          </a:lnTo>
                          <a:lnTo>
                            <a:pt x="12990" y="208"/>
                          </a:lnTo>
                          <a:lnTo>
                            <a:pt x="12982" y="207"/>
                          </a:lnTo>
                          <a:lnTo>
                            <a:pt x="12974" y="206"/>
                          </a:lnTo>
                          <a:lnTo>
                            <a:pt x="12943" y="203"/>
                          </a:lnTo>
                          <a:lnTo>
                            <a:pt x="12911" y="201"/>
                          </a:lnTo>
                          <a:lnTo>
                            <a:pt x="12879" y="198"/>
                          </a:lnTo>
                          <a:lnTo>
                            <a:pt x="12847" y="195"/>
                          </a:lnTo>
                          <a:lnTo>
                            <a:pt x="12842" y="194"/>
                          </a:lnTo>
                          <a:lnTo>
                            <a:pt x="12836" y="194"/>
                          </a:lnTo>
                          <a:lnTo>
                            <a:pt x="12801" y="191"/>
                          </a:lnTo>
                          <a:lnTo>
                            <a:pt x="12765" y="187"/>
                          </a:lnTo>
                          <a:lnTo>
                            <a:pt x="12730" y="184"/>
                          </a:lnTo>
                          <a:lnTo>
                            <a:pt x="12694" y="181"/>
                          </a:lnTo>
                          <a:lnTo>
                            <a:pt x="12686" y="180"/>
                          </a:lnTo>
                          <a:lnTo>
                            <a:pt x="12679" y="180"/>
                          </a:lnTo>
                          <a:lnTo>
                            <a:pt x="12666" y="179"/>
                          </a:lnTo>
                          <a:lnTo>
                            <a:pt x="12653" y="178"/>
                          </a:lnTo>
                          <a:lnTo>
                            <a:pt x="12630" y="176"/>
                          </a:lnTo>
                          <a:lnTo>
                            <a:pt x="12605" y="174"/>
                          </a:lnTo>
                          <a:lnTo>
                            <a:pt x="12581" y="172"/>
                          </a:lnTo>
                          <a:lnTo>
                            <a:pt x="12556" y="170"/>
                          </a:lnTo>
                          <a:lnTo>
                            <a:pt x="12545" y="169"/>
                          </a:lnTo>
                          <a:lnTo>
                            <a:pt x="12534" y="169"/>
                          </a:lnTo>
                          <a:lnTo>
                            <a:pt x="12522" y="168"/>
                          </a:lnTo>
                          <a:lnTo>
                            <a:pt x="12512" y="167"/>
                          </a:lnTo>
                          <a:lnTo>
                            <a:pt x="12484" y="165"/>
                          </a:lnTo>
                          <a:lnTo>
                            <a:pt x="12457" y="163"/>
                          </a:lnTo>
                          <a:lnTo>
                            <a:pt x="12431" y="161"/>
                          </a:lnTo>
                          <a:lnTo>
                            <a:pt x="12403" y="159"/>
                          </a:lnTo>
                          <a:lnTo>
                            <a:pt x="12390" y="158"/>
                          </a:lnTo>
                          <a:lnTo>
                            <a:pt x="12378" y="157"/>
                          </a:lnTo>
                          <a:lnTo>
                            <a:pt x="12374" y="157"/>
                          </a:lnTo>
                          <a:lnTo>
                            <a:pt x="12371" y="156"/>
                          </a:lnTo>
                          <a:lnTo>
                            <a:pt x="12337" y="153"/>
                          </a:lnTo>
                          <a:lnTo>
                            <a:pt x="12303" y="151"/>
                          </a:lnTo>
                          <a:lnTo>
                            <a:pt x="12268" y="148"/>
                          </a:lnTo>
                          <a:lnTo>
                            <a:pt x="12234" y="146"/>
                          </a:lnTo>
                          <a:lnTo>
                            <a:pt x="12225" y="145"/>
                          </a:lnTo>
                          <a:lnTo>
                            <a:pt x="12215" y="145"/>
                          </a:lnTo>
                          <a:lnTo>
                            <a:pt x="12185" y="143"/>
                          </a:lnTo>
                          <a:lnTo>
                            <a:pt x="12154" y="141"/>
                          </a:lnTo>
                          <a:lnTo>
                            <a:pt x="12123" y="139"/>
                          </a:lnTo>
                          <a:lnTo>
                            <a:pt x="12092" y="137"/>
                          </a:lnTo>
                          <a:lnTo>
                            <a:pt x="12086" y="136"/>
                          </a:lnTo>
                          <a:lnTo>
                            <a:pt x="12082" y="136"/>
                          </a:lnTo>
                          <a:lnTo>
                            <a:pt x="12072" y="135"/>
                          </a:lnTo>
                          <a:lnTo>
                            <a:pt x="12062" y="135"/>
                          </a:lnTo>
                          <a:lnTo>
                            <a:pt x="12051" y="134"/>
                          </a:lnTo>
                          <a:lnTo>
                            <a:pt x="12041" y="133"/>
                          </a:lnTo>
                          <a:lnTo>
                            <a:pt x="12020" y="132"/>
                          </a:lnTo>
                          <a:lnTo>
                            <a:pt x="11999" y="131"/>
                          </a:lnTo>
                          <a:lnTo>
                            <a:pt x="11978" y="129"/>
                          </a:lnTo>
                          <a:lnTo>
                            <a:pt x="11957" y="128"/>
                          </a:lnTo>
                          <a:lnTo>
                            <a:pt x="11943" y="127"/>
                          </a:lnTo>
                          <a:lnTo>
                            <a:pt x="11929" y="126"/>
                          </a:lnTo>
                          <a:lnTo>
                            <a:pt x="11914" y="126"/>
                          </a:lnTo>
                          <a:lnTo>
                            <a:pt x="11900" y="125"/>
                          </a:lnTo>
                          <a:lnTo>
                            <a:pt x="11879" y="123"/>
                          </a:lnTo>
                          <a:lnTo>
                            <a:pt x="11858" y="122"/>
                          </a:lnTo>
                          <a:lnTo>
                            <a:pt x="11837" y="121"/>
                          </a:lnTo>
                          <a:lnTo>
                            <a:pt x="11815" y="119"/>
                          </a:lnTo>
                          <a:lnTo>
                            <a:pt x="11806" y="118"/>
                          </a:lnTo>
                          <a:lnTo>
                            <a:pt x="11798" y="118"/>
                          </a:lnTo>
                          <a:lnTo>
                            <a:pt x="11789" y="117"/>
                          </a:lnTo>
                          <a:lnTo>
                            <a:pt x="11778" y="117"/>
                          </a:lnTo>
                          <a:lnTo>
                            <a:pt x="11769" y="116"/>
                          </a:lnTo>
                          <a:lnTo>
                            <a:pt x="11760" y="115"/>
                          </a:lnTo>
                          <a:lnTo>
                            <a:pt x="11739" y="114"/>
                          </a:lnTo>
                          <a:lnTo>
                            <a:pt x="11718" y="113"/>
                          </a:lnTo>
                          <a:lnTo>
                            <a:pt x="11698" y="112"/>
                          </a:lnTo>
                          <a:lnTo>
                            <a:pt x="11677" y="111"/>
                          </a:lnTo>
                          <a:lnTo>
                            <a:pt x="11663" y="110"/>
                          </a:lnTo>
                          <a:lnTo>
                            <a:pt x="11647" y="109"/>
                          </a:lnTo>
                          <a:lnTo>
                            <a:pt x="11633" y="108"/>
                          </a:lnTo>
                          <a:lnTo>
                            <a:pt x="11617" y="108"/>
                          </a:lnTo>
                          <a:lnTo>
                            <a:pt x="11597" y="106"/>
                          </a:lnTo>
                          <a:lnTo>
                            <a:pt x="11575" y="105"/>
                          </a:lnTo>
                          <a:lnTo>
                            <a:pt x="11555" y="104"/>
                          </a:lnTo>
                          <a:lnTo>
                            <a:pt x="11533" y="103"/>
                          </a:lnTo>
                          <a:lnTo>
                            <a:pt x="11523" y="102"/>
                          </a:lnTo>
                          <a:lnTo>
                            <a:pt x="11511" y="102"/>
                          </a:lnTo>
                          <a:lnTo>
                            <a:pt x="11502" y="101"/>
                          </a:lnTo>
                          <a:lnTo>
                            <a:pt x="11493" y="101"/>
                          </a:lnTo>
                          <a:lnTo>
                            <a:pt x="11483" y="101"/>
                          </a:lnTo>
                          <a:lnTo>
                            <a:pt x="11474" y="100"/>
                          </a:lnTo>
                          <a:lnTo>
                            <a:pt x="11455" y="99"/>
                          </a:lnTo>
                          <a:lnTo>
                            <a:pt x="11434" y="98"/>
                          </a:lnTo>
                          <a:lnTo>
                            <a:pt x="11413" y="97"/>
                          </a:lnTo>
                          <a:lnTo>
                            <a:pt x="11393" y="96"/>
                          </a:lnTo>
                          <a:lnTo>
                            <a:pt x="11376" y="95"/>
                          </a:lnTo>
                          <a:lnTo>
                            <a:pt x="11360" y="94"/>
                          </a:lnTo>
                          <a:lnTo>
                            <a:pt x="11343" y="93"/>
                          </a:lnTo>
                          <a:lnTo>
                            <a:pt x="11326" y="93"/>
                          </a:lnTo>
                          <a:lnTo>
                            <a:pt x="11308" y="92"/>
                          </a:lnTo>
                          <a:lnTo>
                            <a:pt x="11290" y="91"/>
                          </a:lnTo>
                          <a:lnTo>
                            <a:pt x="11271" y="90"/>
                          </a:lnTo>
                          <a:lnTo>
                            <a:pt x="11254" y="89"/>
                          </a:lnTo>
                          <a:lnTo>
                            <a:pt x="11239" y="88"/>
                          </a:lnTo>
                          <a:lnTo>
                            <a:pt x="11225" y="88"/>
                          </a:lnTo>
                          <a:lnTo>
                            <a:pt x="11212" y="87"/>
                          </a:lnTo>
                          <a:lnTo>
                            <a:pt x="11199" y="87"/>
                          </a:lnTo>
                          <a:lnTo>
                            <a:pt x="11187" y="86"/>
                          </a:lnTo>
                          <a:lnTo>
                            <a:pt x="11174" y="84"/>
                          </a:lnTo>
                          <a:lnTo>
                            <a:pt x="11158" y="84"/>
                          </a:lnTo>
                          <a:lnTo>
                            <a:pt x="11141" y="83"/>
                          </a:lnTo>
                          <a:lnTo>
                            <a:pt x="11125" y="82"/>
                          </a:lnTo>
                          <a:lnTo>
                            <a:pt x="11108" y="81"/>
                          </a:lnTo>
                          <a:lnTo>
                            <a:pt x="11090" y="81"/>
                          </a:lnTo>
                          <a:lnTo>
                            <a:pt x="11072" y="80"/>
                          </a:lnTo>
                          <a:lnTo>
                            <a:pt x="11054" y="79"/>
                          </a:lnTo>
                          <a:lnTo>
                            <a:pt x="11036" y="78"/>
                          </a:lnTo>
                          <a:lnTo>
                            <a:pt x="11017" y="77"/>
                          </a:lnTo>
                          <a:lnTo>
                            <a:pt x="10998" y="77"/>
                          </a:lnTo>
                          <a:lnTo>
                            <a:pt x="10979" y="76"/>
                          </a:lnTo>
                          <a:lnTo>
                            <a:pt x="10961" y="75"/>
                          </a:lnTo>
                          <a:lnTo>
                            <a:pt x="10952" y="75"/>
                          </a:lnTo>
                          <a:lnTo>
                            <a:pt x="10943" y="74"/>
                          </a:lnTo>
                          <a:lnTo>
                            <a:pt x="10929" y="74"/>
                          </a:lnTo>
                          <a:lnTo>
                            <a:pt x="10916" y="73"/>
                          </a:lnTo>
                          <a:lnTo>
                            <a:pt x="10901" y="72"/>
                          </a:lnTo>
                          <a:lnTo>
                            <a:pt x="10888" y="72"/>
                          </a:lnTo>
                          <a:lnTo>
                            <a:pt x="10869" y="71"/>
                          </a:lnTo>
                          <a:lnTo>
                            <a:pt x="10852" y="70"/>
                          </a:lnTo>
                          <a:lnTo>
                            <a:pt x="10833" y="70"/>
                          </a:lnTo>
                          <a:lnTo>
                            <a:pt x="10816" y="69"/>
                          </a:lnTo>
                          <a:lnTo>
                            <a:pt x="10796" y="68"/>
                          </a:lnTo>
                          <a:lnTo>
                            <a:pt x="10776" y="67"/>
                          </a:lnTo>
                          <a:lnTo>
                            <a:pt x="10758" y="67"/>
                          </a:lnTo>
                          <a:lnTo>
                            <a:pt x="10738" y="66"/>
                          </a:lnTo>
                          <a:lnTo>
                            <a:pt x="10720" y="65"/>
                          </a:lnTo>
                          <a:lnTo>
                            <a:pt x="10702" y="64"/>
                          </a:lnTo>
                          <a:lnTo>
                            <a:pt x="10684" y="64"/>
                          </a:lnTo>
                          <a:lnTo>
                            <a:pt x="10665" y="63"/>
                          </a:lnTo>
                          <a:lnTo>
                            <a:pt x="10662" y="63"/>
                          </a:lnTo>
                          <a:lnTo>
                            <a:pt x="10658" y="63"/>
                          </a:lnTo>
                          <a:lnTo>
                            <a:pt x="10636" y="62"/>
                          </a:lnTo>
                          <a:lnTo>
                            <a:pt x="10615" y="61"/>
                          </a:lnTo>
                          <a:lnTo>
                            <a:pt x="10593" y="60"/>
                          </a:lnTo>
                          <a:lnTo>
                            <a:pt x="10571" y="59"/>
                          </a:lnTo>
                          <a:lnTo>
                            <a:pt x="10552" y="59"/>
                          </a:lnTo>
                          <a:lnTo>
                            <a:pt x="10532" y="58"/>
                          </a:lnTo>
                          <a:lnTo>
                            <a:pt x="10511" y="57"/>
                          </a:lnTo>
                          <a:lnTo>
                            <a:pt x="10492" y="57"/>
                          </a:lnTo>
                          <a:lnTo>
                            <a:pt x="10463" y="55"/>
                          </a:lnTo>
                          <a:lnTo>
                            <a:pt x="10435" y="54"/>
                          </a:lnTo>
                          <a:lnTo>
                            <a:pt x="10406" y="53"/>
                          </a:lnTo>
                          <a:lnTo>
                            <a:pt x="10378" y="53"/>
                          </a:lnTo>
                          <a:lnTo>
                            <a:pt x="10375" y="52"/>
                          </a:lnTo>
                          <a:lnTo>
                            <a:pt x="10373" y="52"/>
                          </a:lnTo>
                          <a:lnTo>
                            <a:pt x="10343" y="50"/>
                          </a:lnTo>
                          <a:lnTo>
                            <a:pt x="10313" y="49"/>
                          </a:lnTo>
                          <a:lnTo>
                            <a:pt x="10282" y="48"/>
                          </a:lnTo>
                          <a:lnTo>
                            <a:pt x="10251" y="47"/>
                          </a:lnTo>
                          <a:lnTo>
                            <a:pt x="10220" y="46"/>
                          </a:lnTo>
                          <a:lnTo>
                            <a:pt x="10189" y="45"/>
                          </a:lnTo>
                          <a:lnTo>
                            <a:pt x="10158" y="44"/>
                          </a:lnTo>
                          <a:lnTo>
                            <a:pt x="10126" y="43"/>
                          </a:lnTo>
                          <a:lnTo>
                            <a:pt x="10114" y="43"/>
                          </a:lnTo>
                          <a:lnTo>
                            <a:pt x="10100" y="42"/>
                          </a:lnTo>
                          <a:lnTo>
                            <a:pt x="10090" y="42"/>
                          </a:lnTo>
                          <a:lnTo>
                            <a:pt x="10080" y="42"/>
                          </a:lnTo>
                          <a:lnTo>
                            <a:pt x="10051" y="41"/>
                          </a:lnTo>
                          <a:lnTo>
                            <a:pt x="10021" y="40"/>
                          </a:lnTo>
                          <a:lnTo>
                            <a:pt x="9991" y="39"/>
                          </a:lnTo>
                          <a:lnTo>
                            <a:pt x="9962" y="38"/>
                          </a:lnTo>
                          <a:lnTo>
                            <a:pt x="9932" y="38"/>
                          </a:lnTo>
                          <a:lnTo>
                            <a:pt x="9902" y="37"/>
                          </a:lnTo>
                          <a:lnTo>
                            <a:pt x="9872" y="36"/>
                          </a:lnTo>
                          <a:lnTo>
                            <a:pt x="9843" y="35"/>
                          </a:lnTo>
                          <a:lnTo>
                            <a:pt x="9837" y="35"/>
                          </a:lnTo>
                          <a:lnTo>
                            <a:pt x="9831" y="35"/>
                          </a:lnTo>
                          <a:lnTo>
                            <a:pt x="9819" y="34"/>
                          </a:lnTo>
                          <a:lnTo>
                            <a:pt x="9807" y="34"/>
                          </a:lnTo>
                          <a:lnTo>
                            <a:pt x="9782" y="33"/>
                          </a:lnTo>
                          <a:lnTo>
                            <a:pt x="9755" y="33"/>
                          </a:lnTo>
                          <a:lnTo>
                            <a:pt x="9729" y="32"/>
                          </a:lnTo>
                          <a:lnTo>
                            <a:pt x="9703" y="31"/>
                          </a:lnTo>
                          <a:lnTo>
                            <a:pt x="9678" y="31"/>
                          </a:lnTo>
                          <a:lnTo>
                            <a:pt x="9651" y="30"/>
                          </a:lnTo>
                          <a:lnTo>
                            <a:pt x="9625" y="29"/>
                          </a:lnTo>
                          <a:lnTo>
                            <a:pt x="9598" y="29"/>
                          </a:lnTo>
                          <a:lnTo>
                            <a:pt x="9587" y="28"/>
                          </a:lnTo>
                          <a:lnTo>
                            <a:pt x="9575" y="28"/>
                          </a:lnTo>
                          <a:lnTo>
                            <a:pt x="9569" y="28"/>
                          </a:lnTo>
                          <a:lnTo>
                            <a:pt x="9563" y="28"/>
                          </a:lnTo>
                          <a:lnTo>
                            <a:pt x="9536" y="27"/>
                          </a:lnTo>
                          <a:lnTo>
                            <a:pt x="9510" y="27"/>
                          </a:lnTo>
                          <a:lnTo>
                            <a:pt x="9483" y="26"/>
                          </a:lnTo>
                          <a:lnTo>
                            <a:pt x="9456" y="25"/>
                          </a:lnTo>
                          <a:lnTo>
                            <a:pt x="9429" y="25"/>
                          </a:lnTo>
                          <a:lnTo>
                            <a:pt x="9401" y="24"/>
                          </a:lnTo>
                          <a:lnTo>
                            <a:pt x="9375" y="24"/>
                          </a:lnTo>
                          <a:lnTo>
                            <a:pt x="9348" y="23"/>
                          </a:lnTo>
                          <a:lnTo>
                            <a:pt x="9343" y="23"/>
                          </a:lnTo>
                          <a:lnTo>
                            <a:pt x="9338" y="23"/>
                          </a:lnTo>
                          <a:lnTo>
                            <a:pt x="9326" y="22"/>
                          </a:lnTo>
                          <a:lnTo>
                            <a:pt x="9313" y="22"/>
                          </a:lnTo>
                          <a:lnTo>
                            <a:pt x="9291" y="22"/>
                          </a:lnTo>
                          <a:lnTo>
                            <a:pt x="9269" y="21"/>
                          </a:lnTo>
                          <a:lnTo>
                            <a:pt x="9248" y="21"/>
                          </a:lnTo>
                          <a:lnTo>
                            <a:pt x="9225" y="20"/>
                          </a:lnTo>
                          <a:lnTo>
                            <a:pt x="9203" y="20"/>
                          </a:lnTo>
                          <a:lnTo>
                            <a:pt x="9182" y="20"/>
                          </a:lnTo>
                          <a:lnTo>
                            <a:pt x="9159" y="19"/>
                          </a:lnTo>
                          <a:lnTo>
                            <a:pt x="9137" y="19"/>
                          </a:lnTo>
                          <a:lnTo>
                            <a:pt x="9129" y="19"/>
                          </a:lnTo>
                          <a:lnTo>
                            <a:pt x="9121" y="18"/>
                          </a:lnTo>
                          <a:lnTo>
                            <a:pt x="9114" y="18"/>
                          </a:lnTo>
                          <a:lnTo>
                            <a:pt x="9106" y="18"/>
                          </a:lnTo>
                          <a:lnTo>
                            <a:pt x="9096" y="18"/>
                          </a:lnTo>
                          <a:lnTo>
                            <a:pt x="9087" y="18"/>
                          </a:lnTo>
                          <a:lnTo>
                            <a:pt x="9078" y="18"/>
                          </a:lnTo>
                          <a:lnTo>
                            <a:pt x="9068" y="16"/>
                          </a:lnTo>
                          <a:lnTo>
                            <a:pt x="9043" y="16"/>
                          </a:lnTo>
                          <a:lnTo>
                            <a:pt x="9016" y="15"/>
                          </a:lnTo>
                          <a:lnTo>
                            <a:pt x="8989" y="15"/>
                          </a:lnTo>
                          <a:lnTo>
                            <a:pt x="8962" y="14"/>
                          </a:lnTo>
                          <a:lnTo>
                            <a:pt x="8951" y="14"/>
                          </a:lnTo>
                          <a:lnTo>
                            <a:pt x="8941" y="14"/>
                          </a:lnTo>
                          <a:lnTo>
                            <a:pt x="8929" y="14"/>
                          </a:lnTo>
                          <a:lnTo>
                            <a:pt x="8919" y="14"/>
                          </a:lnTo>
                          <a:lnTo>
                            <a:pt x="8905" y="13"/>
                          </a:lnTo>
                          <a:lnTo>
                            <a:pt x="8889" y="13"/>
                          </a:lnTo>
                          <a:lnTo>
                            <a:pt x="8861" y="13"/>
                          </a:lnTo>
                          <a:lnTo>
                            <a:pt x="8834" y="12"/>
                          </a:lnTo>
                          <a:lnTo>
                            <a:pt x="8807" y="12"/>
                          </a:lnTo>
                          <a:lnTo>
                            <a:pt x="8779" y="11"/>
                          </a:lnTo>
                          <a:lnTo>
                            <a:pt x="8766" y="11"/>
                          </a:lnTo>
                          <a:lnTo>
                            <a:pt x="8755" y="11"/>
                          </a:lnTo>
                          <a:lnTo>
                            <a:pt x="8743" y="11"/>
                          </a:lnTo>
                          <a:lnTo>
                            <a:pt x="8730" y="11"/>
                          </a:lnTo>
                          <a:lnTo>
                            <a:pt x="8717" y="11"/>
                          </a:lnTo>
                          <a:lnTo>
                            <a:pt x="8704" y="10"/>
                          </a:lnTo>
                          <a:lnTo>
                            <a:pt x="8676" y="10"/>
                          </a:lnTo>
                          <a:lnTo>
                            <a:pt x="8648" y="10"/>
                          </a:lnTo>
                          <a:lnTo>
                            <a:pt x="8620" y="9"/>
                          </a:lnTo>
                          <a:lnTo>
                            <a:pt x="8592" y="9"/>
                          </a:lnTo>
                          <a:lnTo>
                            <a:pt x="8580" y="9"/>
                          </a:lnTo>
                          <a:lnTo>
                            <a:pt x="8569" y="8"/>
                          </a:lnTo>
                          <a:lnTo>
                            <a:pt x="8557" y="8"/>
                          </a:lnTo>
                          <a:lnTo>
                            <a:pt x="8546" y="8"/>
                          </a:lnTo>
                          <a:lnTo>
                            <a:pt x="8533" y="8"/>
                          </a:lnTo>
                          <a:lnTo>
                            <a:pt x="8521" y="8"/>
                          </a:lnTo>
                          <a:lnTo>
                            <a:pt x="8504" y="8"/>
                          </a:lnTo>
                          <a:lnTo>
                            <a:pt x="8485" y="7"/>
                          </a:lnTo>
                          <a:lnTo>
                            <a:pt x="8468" y="7"/>
                          </a:lnTo>
                          <a:lnTo>
                            <a:pt x="8449" y="7"/>
                          </a:lnTo>
                          <a:lnTo>
                            <a:pt x="8438" y="7"/>
                          </a:lnTo>
                          <a:lnTo>
                            <a:pt x="8426" y="7"/>
                          </a:lnTo>
                          <a:lnTo>
                            <a:pt x="8415" y="7"/>
                          </a:lnTo>
                          <a:lnTo>
                            <a:pt x="8404" y="6"/>
                          </a:lnTo>
                          <a:lnTo>
                            <a:pt x="8391" y="6"/>
                          </a:lnTo>
                          <a:lnTo>
                            <a:pt x="8379" y="6"/>
                          </a:lnTo>
                          <a:lnTo>
                            <a:pt x="8366" y="6"/>
                          </a:lnTo>
                          <a:lnTo>
                            <a:pt x="8354" y="6"/>
                          </a:lnTo>
                          <a:lnTo>
                            <a:pt x="8337" y="6"/>
                          </a:lnTo>
                          <a:lnTo>
                            <a:pt x="8318" y="6"/>
                          </a:lnTo>
                          <a:lnTo>
                            <a:pt x="8299" y="5"/>
                          </a:lnTo>
                          <a:lnTo>
                            <a:pt x="8281" y="5"/>
                          </a:lnTo>
                          <a:lnTo>
                            <a:pt x="8271" y="5"/>
                          </a:lnTo>
                          <a:lnTo>
                            <a:pt x="8260" y="5"/>
                          </a:lnTo>
                          <a:lnTo>
                            <a:pt x="8240" y="5"/>
                          </a:lnTo>
                          <a:lnTo>
                            <a:pt x="8219" y="5"/>
                          </a:lnTo>
                          <a:lnTo>
                            <a:pt x="8198" y="4"/>
                          </a:lnTo>
                          <a:lnTo>
                            <a:pt x="8178" y="4"/>
                          </a:lnTo>
                          <a:lnTo>
                            <a:pt x="8163" y="4"/>
                          </a:lnTo>
                          <a:lnTo>
                            <a:pt x="8148" y="4"/>
                          </a:lnTo>
                          <a:lnTo>
                            <a:pt x="8134" y="4"/>
                          </a:lnTo>
                          <a:lnTo>
                            <a:pt x="8119" y="4"/>
                          </a:lnTo>
                          <a:lnTo>
                            <a:pt x="8117" y="4"/>
                          </a:lnTo>
                          <a:lnTo>
                            <a:pt x="8116" y="4"/>
                          </a:lnTo>
                          <a:lnTo>
                            <a:pt x="8080" y="3"/>
                          </a:lnTo>
                          <a:lnTo>
                            <a:pt x="8045" y="3"/>
                          </a:lnTo>
                          <a:lnTo>
                            <a:pt x="8009" y="3"/>
                          </a:lnTo>
                          <a:lnTo>
                            <a:pt x="7973" y="3"/>
                          </a:lnTo>
                          <a:lnTo>
                            <a:pt x="7966" y="2"/>
                          </a:lnTo>
                          <a:lnTo>
                            <a:pt x="7958" y="2"/>
                          </a:lnTo>
                          <a:lnTo>
                            <a:pt x="7948" y="2"/>
                          </a:lnTo>
                          <a:lnTo>
                            <a:pt x="7939" y="2"/>
                          </a:lnTo>
                          <a:lnTo>
                            <a:pt x="7928" y="2"/>
                          </a:lnTo>
                          <a:lnTo>
                            <a:pt x="7918" y="2"/>
                          </a:lnTo>
                          <a:lnTo>
                            <a:pt x="7904" y="2"/>
                          </a:lnTo>
                          <a:lnTo>
                            <a:pt x="7888" y="2"/>
                          </a:lnTo>
                          <a:lnTo>
                            <a:pt x="7873" y="2"/>
                          </a:lnTo>
                          <a:lnTo>
                            <a:pt x="7857" y="2"/>
                          </a:lnTo>
                          <a:lnTo>
                            <a:pt x="7842" y="2"/>
                          </a:lnTo>
                          <a:lnTo>
                            <a:pt x="7825" y="2"/>
                          </a:lnTo>
                          <a:lnTo>
                            <a:pt x="7809" y="1"/>
                          </a:lnTo>
                          <a:lnTo>
                            <a:pt x="7793" y="1"/>
                          </a:lnTo>
                          <a:lnTo>
                            <a:pt x="7781" y="1"/>
                          </a:lnTo>
                          <a:lnTo>
                            <a:pt x="7769" y="1"/>
                          </a:lnTo>
                          <a:lnTo>
                            <a:pt x="7757" y="1"/>
                          </a:lnTo>
                          <a:lnTo>
                            <a:pt x="7745" y="1"/>
                          </a:lnTo>
                          <a:lnTo>
                            <a:pt x="7744" y="1"/>
                          </a:lnTo>
                          <a:lnTo>
                            <a:pt x="7742" y="1"/>
                          </a:lnTo>
                          <a:lnTo>
                            <a:pt x="7713" y="1"/>
                          </a:lnTo>
                          <a:lnTo>
                            <a:pt x="7683" y="1"/>
                          </a:lnTo>
                          <a:lnTo>
                            <a:pt x="7654" y="1"/>
                          </a:lnTo>
                          <a:lnTo>
                            <a:pt x="7625" y="1"/>
                          </a:lnTo>
                          <a:lnTo>
                            <a:pt x="7612" y="1"/>
                          </a:lnTo>
                          <a:lnTo>
                            <a:pt x="7599" y="1"/>
                          </a:lnTo>
                          <a:lnTo>
                            <a:pt x="7585" y="1"/>
                          </a:lnTo>
                          <a:lnTo>
                            <a:pt x="7573" y="0"/>
                          </a:lnTo>
                          <a:lnTo>
                            <a:pt x="7559" y="0"/>
                          </a:lnTo>
                          <a:lnTo>
                            <a:pt x="7546" y="0"/>
                          </a:lnTo>
                          <a:lnTo>
                            <a:pt x="7537" y="0"/>
                          </a:lnTo>
                          <a:lnTo>
                            <a:pt x="7527" y="0"/>
                          </a:lnTo>
                          <a:lnTo>
                            <a:pt x="7518" y="0"/>
                          </a:lnTo>
                          <a:lnTo>
                            <a:pt x="7508" y="0"/>
                          </a:lnTo>
                          <a:lnTo>
                            <a:pt x="7482" y="0"/>
                          </a:lnTo>
                          <a:lnTo>
                            <a:pt x="7455" y="0"/>
                          </a:lnTo>
                          <a:lnTo>
                            <a:pt x="7429" y="0"/>
                          </a:lnTo>
                          <a:lnTo>
                            <a:pt x="7402" y="0"/>
                          </a:lnTo>
                          <a:lnTo>
                            <a:pt x="7395" y="0"/>
                          </a:lnTo>
                          <a:lnTo>
                            <a:pt x="7386" y="0"/>
                          </a:lnTo>
                          <a:lnTo>
                            <a:pt x="7360" y="0"/>
                          </a:lnTo>
                          <a:lnTo>
                            <a:pt x="7334" y="0"/>
                          </a:lnTo>
                          <a:lnTo>
                            <a:pt x="7307" y="0"/>
                          </a:lnTo>
                          <a:lnTo>
                            <a:pt x="7281" y="0"/>
                          </a:lnTo>
                          <a:lnTo>
                            <a:pt x="7268" y="0"/>
                          </a:lnTo>
                          <a:lnTo>
                            <a:pt x="7253" y="0"/>
                          </a:lnTo>
                          <a:lnTo>
                            <a:pt x="7240" y="0"/>
                          </a:lnTo>
                          <a:lnTo>
                            <a:pt x="7227" y="0"/>
                          </a:lnTo>
                          <a:lnTo>
                            <a:pt x="7215" y="0"/>
                          </a:lnTo>
                          <a:lnTo>
                            <a:pt x="7205" y="0"/>
                          </a:lnTo>
                          <a:lnTo>
                            <a:pt x="7195" y="0"/>
                          </a:lnTo>
                          <a:lnTo>
                            <a:pt x="7183" y="0"/>
                          </a:lnTo>
                          <a:lnTo>
                            <a:pt x="7178" y="0"/>
                          </a:lnTo>
                          <a:lnTo>
                            <a:pt x="7172" y="0"/>
                          </a:lnTo>
                          <a:lnTo>
                            <a:pt x="7144" y="0"/>
                          </a:lnTo>
                          <a:lnTo>
                            <a:pt x="7117" y="0"/>
                          </a:lnTo>
                          <a:lnTo>
                            <a:pt x="7090" y="0"/>
                          </a:lnTo>
                          <a:lnTo>
                            <a:pt x="7063" y="0"/>
                          </a:lnTo>
                          <a:lnTo>
                            <a:pt x="7048" y="0"/>
                          </a:lnTo>
                          <a:lnTo>
                            <a:pt x="7034" y="0"/>
                          </a:lnTo>
                          <a:lnTo>
                            <a:pt x="7022" y="0"/>
                          </a:lnTo>
                          <a:lnTo>
                            <a:pt x="7011" y="0"/>
                          </a:lnTo>
                          <a:lnTo>
                            <a:pt x="7000" y="0"/>
                          </a:lnTo>
                          <a:lnTo>
                            <a:pt x="6988" y="0"/>
                          </a:lnTo>
                          <a:lnTo>
                            <a:pt x="6979" y="0"/>
                          </a:lnTo>
                          <a:lnTo>
                            <a:pt x="6971" y="0"/>
                          </a:lnTo>
                          <a:lnTo>
                            <a:pt x="6963" y="0"/>
                          </a:lnTo>
                          <a:lnTo>
                            <a:pt x="6954" y="0"/>
                          </a:lnTo>
                          <a:lnTo>
                            <a:pt x="6928" y="1"/>
                          </a:lnTo>
                          <a:lnTo>
                            <a:pt x="6900" y="1"/>
                          </a:lnTo>
                          <a:lnTo>
                            <a:pt x="6873" y="1"/>
                          </a:lnTo>
                          <a:lnTo>
                            <a:pt x="6846" y="1"/>
                          </a:lnTo>
                          <a:lnTo>
                            <a:pt x="6843" y="1"/>
                          </a:lnTo>
                          <a:lnTo>
                            <a:pt x="6841" y="1"/>
                          </a:lnTo>
                          <a:lnTo>
                            <a:pt x="6830" y="1"/>
                          </a:lnTo>
                          <a:lnTo>
                            <a:pt x="6819" y="1"/>
                          </a:lnTo>
                          <a:lnTo>
                            <a:pt x="6808" y="1"/>
                          </a:lnTo>
                          <a:lnTo>
                            <a:pt x="6798" y="1"/>
                          </a:lnTo>
                          <a:lnTo>
                            <a:pt x="6780" y="1"/>
                          </a:lnTo>
                          <a:lnTo>
                            <a:pt x="6762" y="1"/>
                          </a:lnTo>
                          <a:lnTo>
                            <a:pt x="6744" y="1"/>
                          </a:lnTo>
                          <a:lnTo>
                            <a:pt x="6727" y="1"/>
                          </a:lnTo>
                          <a:lnTo>
                            <a:pt x="6713" y="1"/>
                          </a:lnTo>
                          <a:lnTo>
                            <a:pt x="6700" y="2"/>
                          </a:lnTo>
                          <a:lnTo>
                            <a:pt x="6686" y="2"/>
                          </a:lnTo>
                          <a:lnTo>
                            <a:pt x="6674" y="2"/>
                          </a:lnTo>
                          <a:lnTo>
                            <a:pt x="6662" y="2"/>
                          </a:lnTo>
                          <a:lnTo>
                            <a:pt x="6649" y="2"/>
                          </a:lnTo>
                          <a:lnTo>
                            <a:pt x="6637" y="2"/>
                          </a:lnTo>
                          <a:lnTo>
                            <a:pt x="6625" y="2"/>
                          </a:lnTo>
                          <a:lnTo>
                            <a:pt x="6610" y="2"/>
                          </a:lnTo>
                          <a:lnTo>
                            <a:pt x="6596" y="2"/>
                          </a:lnTo>
                          <a:lnTo>
                            <a:pt x="6563" y="2"/>
                          </a:lnTo>
                          <a:lnTo>
                            <a:pt x="6531" y="3"/>
                          </a:lnTo>
                          <a:lnTo>
                            <a:pt x="6498" y="3"/>
                          </a:lnTo>
                          <a:lnTo>
                            <a:pt x="6465" y="3"/>
                          </a:lnTo>
                          <a:lnTo>
                            <a:pt x="6465" y="3"/>
                          </a:lnTo>
                          <a:lnTo>
                            <a:pt x="6464" y="3"/>
                          </a:lnTo>
                          <a:lnTo>
                            <a:pt x="6454" y="3"/>
                          </a:lnTo>
                          <a:lnTo>
                            <a:pt x="6445" y="3"/>
                          </a:lnTo>
                          <a:lnTo>
                            <a:pt x="6418" y="3"/>
                          </a:lnTo>
                          <a:lnTo>
                            <a:pt x="6391" y="4"/>
                          </a:lnTo>
                          <a:lnTo>
                            <a:pt x="6363" y="4"/>
                          </a:lnTo>
                          <a:lnTo>
                            <a:pt x="6335" y="4"/>
                          </a:lnTo>
                          <a:lnTo>
                            <a:pt x="6320" y="4"/>
                          </a:lnTo>
                          <a:lnTo>
                            <a:pt x="6307" y="4"/>
                          </a:lnTo>
                          <a:lnTo>
                            <a:pt x="6293" y="5"/>
                          </a:lnTo>
                          <a:lnTo>
                            <a:pt x="6277" y="5"/>
                          </a:lnTo>
                          <a:lnTo>
                            <a:pt x="6263" y="5"/>
                          </a:lnTo>
                          <a:lnTo>
                            <a:pt x="6248" y="5"/>
                          </a:lnTo>
                          <a:lnTo>
                            <a:pt x="6238" y="5"/>
                          </a:lnTo>
                          <a:lnTo>
                            <a:pt x="6227" y="5"/>
                          </a:lnTo>
                          <a:lnTo>
                            <a:pt x="6215" y="5"/>
                          </a:lnTo>
                          <a:lnTo>
                            <a:pt x="6205" y="5"/>
                          </a:lnTo>
                          <a:lnTo>
                            <a:pt x="6190" y="6"/>
                          </a:lnTo>
                          <a:lnTo>
                            <a:pt x="6174" y="6"/>
                          </a:lnTo>
                          <a:lnTo>
                            <a:pt x="6146" y="6"/>
                          </a:lnTo>
                          <a:lnTo>
                            <a:pt x="6117" y="6"/>
                          </a:lnTo>
                          <a:lnTo>
                            <a:pt x="6090" y="7"/>
                          </a:lnTo>
                          <a:lnTo>
                            <a:pt x="6062" y="7"/>
                          </a:lnTo>
                          <a:lnTo>
                            <a:pt x="6033" y="7"/>
                          </a:lnTo>
                          <a:lnTo>
                            <a:pt x="6005" y="8"/>
                          </a:lnTo>
                          <a:lnTo>
                            <a:pt x="5977" y="8"/>
                          </a:lnTo>
                          <a:lnTo>
                            <a:pt x="5949" y="9"/>
                          </a:lnTo>
                          <a:lnTo>
                            <a:pt x="5941" y="9"/>
                          </a:lnTo>
                          <a:lnTo>
                            <a:pt x="5934" y="9"/>
                          </a:lnTo>
                          <a:lnTo>
                            <a:pt x="5932" y="9"/>
                          </a:lnTo>
                          <a:lnTo>
                            <a:pt x="5930" y="9"/>
                          </a:lnTo>
                          <a:lnTo>
                            <a:pt x="5900" y="9"/>
                          </a:lnTo>
                          <a:lnTo>
                            <a:pt x="5870" y="10"/>
                          </a:lnTo>
                          <a:lnTo>
                            <a:pt x="5840" y="10"/>
                          </a:lnTo>
                          <a:lnTo>
                            <a:pt x="5810" y="10"/>
                          </a:lnTo>
                          <a:lnTo>
                            <a:pt x="5780" y="11"/>
                          </a:lnTo>
                          <a:lnTo>
                            <a:pt x="5750" y="11"/>
                          </a:lnTo>
                          <a:lnTo>
                            <a:pt x="5721" y="12"/>
                          </a:lnTo>
                          <a:lnTo>
                            <a:pt x="5691" y="12"/>
                          </a:lnTo>
                          <a:lnTo>
                            <a:pt x="5678" y="12"/>
                          </a:lnTo>
                          <a:lnTo>
                            <a:pt x="5666" y="13"/>
                          </a:lnTo>
                          <a:lnTo>
                            <a:pt x="5646" y="13"/>
                          </a:lnTo>
                          <a:lnTo>
                            <a:pt x="5626" y="13"/>
                          </a:lnTo>
                          <a:lnTo>
                            <a:pt x="5605" y="14"/>
                          </a:lnTo>
                          <a:lnTo>
                            <a:pt x="5586" y="14"/>
                          </a:lnTo>
                          <a:lnTo>
                            <a:pt x="5553" y="15"/>
                          </a:lnTo>
                          <a:lnTo>
                            <a:pt x="5520" y="15"/>
                          </a:lnTo>
                          <a:lnTo>
                            <a:pt x="5487" y="16"/>
                          </a:lnTo>
                          <a:lnTo>
                            <a:pt x="5455" y="16"/>
                          </a:lnTo>
                          <a:lnTo>
                            <a:pt x="5422" y="18"/>
                          </a:lnTo>
                          <a:lnTo>
                            <a:pt x="5389" y="19"/>
                          </a:lnTo>
                          <a:lnTo>
                            <a:pt x="5357" y="19"/>
                          </a:lnTo>
                          <a:lnTo>
                            <a:pt x="5324" y="20"/>
                          </a:lnTo>
                          <a:lnTo>
                            <a:pt x="5311" y="20"/>
                          </a:lnTo>
                          <a:lnTo>
                            <a:pt x="5299" y="20"/>
                          </a:lnTo>
                          <a:lnTo>
                            <a:pt x="5287" y="21"/>
                          </a:lnTo>
                          <a:lnTo>
                            <a:pt x="5274" y="21"/>
                          </a:lnTo>
                          <a:lnTo>
                            <a:pt x="5244" y="21"/>
                          </a:lnTo>
                          <a:lnTo>
                            <a:pt x="5215" y="22"/>
                          </a:lnTo>
                          <a:lnTo>
                            <a:pt x="5185" y="23"/>
                          </a:lnTo>
                          <a:lnTo>
                            <a:pt x="5155" y="23"/>
                          </a:lnTo>
                          <a:lnTo>
                            <a:pt x="5125" y="24"/>
                          </a:lnTo>
                          <a:lnTo>
                            <a:pt x="5095" y="25"/>
                          </a:lnTo>
                          <a:lnTo>
                            <a:pt x="5066" y="25"/>
                          </a:lnTo>
                          <a:lnTo>
                            <a:pt x="5036" y="26"/>
                          </a:lnTo>
                          <a:lnTo>
                            <a:pt x="5034" y="26"/>
                          </a:lnTo>
                          <a:lnTo>
                            <a:pt x="5032" y="26"/>
                          </a:lnTo>
                          <a:lnTo>
                            <a:pt x="5023" y="26"/>
                          </a:lnTo>
                          <a:lnTo>
                            <a:pt x="5014" y="27"/>
                          </a:lnTo>
                          <a:lnTo>
                            <a:pt x="5004" y="27"/>
                          </a:lnTo>
                          <a:lnTo>
                            <a:pt x="4995" y="27"/>
                          </a:lnTo>
                          <a:lnTo>
                            <a:pt x="4963" y="28"/>
                          </a:lnTo>
                          <a:lnTo>
                            <a:pt x="4931" y="29"/>
                          </a:lnTo>
                          <a:lnTo>
                            <a:pt x="4899" y="29"/>
                          </a:lnTo>
                          <a:lnTo>
                            <a:pt x="4867" y="30"/>
                          </a:lnTo>
                          <a:lnTo>
                            <a:pt x="4861" y="30"/>
                          </a:lnTo>
                          <a:lnTo>
                            <a:pt x="4855" y="30"/>
                          </a:lnTo>
                          <a:lnTo>
                            <a:pt x="4841" y="31"/>
                          </a:lnTo>
                          <a:lnTo>
                            <a:pt x="4829" y="31"/>
                          </a:lnTo>
                          <a:lnTo>
                            <a:pt x="4816" y="31"/>
                          </a:lnTo>
                          <a:lnTo>
                            <a:pt x="4802" y="32"/>
                          </a:lnTo>
                          <a:lnTo>
                            <a:pt x="4775" y="32"/>
                          </a:lnTo>
                          <a:lnTo>
                            <a:pt x="4748" y="33"/>
                          </a:lnTo>
                          <a:lnTo>
                            <a:pt x="4721" y="34"/>
                          </a:lnTo>
                          <a:lnTo>
                            <a:pt x="4694" y="35"/>
                          </a:lnTo>
                          <a:lnTo>
                            <a:pt x="4687" y="35"/>
                          </a:lnTo>
                          <a:lnTo>
                            <a:pt x="4680" y="35"/>
                          </a:lnTo>
                          <a:lnTo>
                            <a:pt x="4666" y="35"/>
                          </a:lnTo>
                          <a:lnTo>
                            <a:pt x="4653" y="36"/>
                          </a:lnTo>
                          <a:lnTo>
                            <a:pt x="4638" y="36"/>
                          </a:lnTo>
                          <a:lnTo>
                            <a:pt x="4625" y="37"/>
                          </a:lnTo>
                          <a:lnTo>
                            <a:pt x="4602" y="37"/>
                          </a:lnTo>
                          <a:lnTo>
                            <a:pt x="4579" y="38"/>
                          </a:lnTo>
                          <a:lnTo>
                            <a:pt x="4556" y="38"/>
                          </a:lnTo>
                          <a:lnTo>
                            <a:pt x="4533" y="39"/>
                          </a:lnTo>
                          <a:lnTo>
                            <a:pt x="4525" y="39"/>
                          </a:lnTo>
                          <a:lnTo>
                            <a:pt x="4518" y="40"/>
                          </a:lnTo>
                          <a:lnTo>
                            <a:pt x="4490" y="40"/>
                          </a:lnTo>
                          <a:lnTo>
                            <a:pt x="4461" y="41"/>
                          </a:lnTo>
                          <a:lnTo>
                            <a:pt x="4433" y="42"/>
                          </a:lnTo>
                          <a:lnTo>
                            <a:pt x="4405" y="43"/>
                          </a:lnTo>
                          <a:lnTo>
                            <a:pt x="4392" y="43"/>
                          </a:lnTo>
                          <a:lnTo>
                            <a:pt x="4378" y="44"/>
                          </a:lnTo>
                          <a:lnTo>
                            <a:pt x="4348" y="45"/>
                          </a:lnTo>
                          <a:lnTo>
                            <a:pt x="4318" y="46"/>
                          </a:lnTo>
                          <a:lnTo>
                            <a:pt x="4288" y="47"/>
                          </a:lnTo>
                          <a:lnTo>
                            <a:pt x="4258" y="48"/>
                          </a:lnTo>
                          <a:lnTo>
                            <a:pt x="4250" y="48"/>
                          </a:lnTo>
                          <a:lnTo>
                            <a:pt x="4240" y="48"/>
                          </a:lnTo>
                          <a:lnTo>
                            <a:pt x="4229" y="49"/>
                          </a:lnTo>
                          <a:lnTo>
                            <a:pt x="4217" y="49"/>
                          </a:lnTo>
                          <a:lnTo>
                            <a:pt x="4204" y="49"/>
                          </a:lnTo>
                          <a:lnTo>
                            <a:pt x="4192" y="50"/>
                          </a:lnTo>
                          <a:lnTo>
                            <a:pt x="4177" y="50"/>
                          </a:lnTo>
                          <a:lnTo>
                            <a:pt x="4161" y="52"/>
                          </a:lnTo>
                          <a:lnTo>
                            <a:pt x="4146" y="52"/>
                          </a:lnTo>
                          <a:lnTo>
                            <a:pt x="4131" y="53"/>
                          </a:lnTo>
                          <a:lnTo>
                            <a:pt x="4123" y="53"/>
                          </a:lnTo>
                          <a:lnTo>
                            <a:pt x="4115" y="53"/>
                          </a:lnTo>
                          <a:lnTo>
                            <a:pt x="4105" y="54"/>
                          </a:lnTo>
                          <a:lnTo>
                            <a:pt x="4097" y="54"/>
                          </a:lnTo>
                          <a:lnTo>
                            <a:pt x="4083" y="55"/>
                          </a:lnTo>
                          <a:lnTo>
                            <a:pt x="4068" y="55"/>
                          </a:lnTo>
                          <a:lnTo>
                            <a:pt x="4054" y="56"/>
                          </a:lnTo>
                          <a:lnTo>
                            <a:pt x="4038" y="56"/>
                          </a:lnTo>
                          <a:lnTo>
                            <a:pt x="4029" y="56"/>
                          </a:lnTo>
                          <a:lnTo>
                            <a:pt x="4021" y="57"/>
                          </a:lnTo>
                          <a:lnTo>
                            <a:pt x="4012" y="57"/>
                          </a:lnTo>
                          <a:lnTo>
                            <a:pt x="4002" y="57"/>
                          </a:lnTo>
                          <a:lnTo>
                            <a:pt x="3989" y="58"/>
                          </a:lnTo>
                          <a:lnTo>
                            <a:pt x="3977" y="58"/>
                          </a:lnTo>
                          <a:lnTo>
                            <a:pt x="3963" y="59"/>
                          </a:lnTo>
                          <a:lnTo>
                            <a:pt x="3951" y="59"/>
                          </a:lnTo>
                          <a:lnTo>
                            <a:pt x="3935" y="60"/>
                          </a:lnTo>
                          <a:lnTo>
                            <a:pt x="3921" y="60"/>
                          </a:lnTo>
                          <a:lnTo>
                            <a:pt x="3905" y="61"/>
                          </a:lnTo>
                          <a:lnTo>
                            <a:pt x="3891" y="62"/>
                          </a:lnTo>
                          <a:lnTo>
                            <a:pt x="3880" y="62"/>
                          </a:lnTo>
                          <a:lnTo>
                            <a:pt x="3867" y="62"/>
                          </a:lnTo>
                          <a:lnTo>
                            <a:pt x="3850" y="63"/>
                          </a:lnTo>
                          <a:lnTo>
                            <a:pt x="3832" y="64"/>
                          </a:lnTo>
                          <a:lnTo>
                            <a:pt x="3815" y="65"/>
                          </a:lnTo>
                          <a:lnTo>
                            <a:pt x="3796" y="65"/>
                          </a:lnTo>
                          <a:lnTo>
                            <a:pt x="3784" y="66"/>
                          </a:lnTo>
                          <a:lnTo>
                            <a:pt x="3771" y="66"/>
                          </a:lnTo>
                          <a:lnTo>
                            <a:pt x="3759" y="67"/>
                          </a:lnTo>
                          <a:lnTo>
                            <a:pt x="3747" y="67"/>
                          </a:lnTo>
                          <a:lnTo>
                            <a:pt x="3741" y="67"/>
                          </a:lnTo>
                          <a:lnTo>
                            <a:pt x="3735" y="68"/>
                          </a:lnTo>
                          <a:lnTo>
                            <a:pt x="3706" y="69"/>
                          </a:lnTo>
                          <a:lnTo>
                            <a:pt x="3677" y="70"/>
                          </a:lnTo>
                          <a:lnTo>
                            <a:pt x="3648" y="71"/>
                          </a:lnTo>
                          <a:lnTo>
                            <a:pt x="3619" y="72"/>
                          </a:lnTo>
                          <a:lnTo>
                            <a:pt x="3578" y="74"/>
                          </a:lnTo>
                          <a:lnTo>
                            <a:pt x="3536" y="76"/>
                          </a:lnTo>
                          <a:lnTo>
                            <a:pt x="3496" y="78"/>
                          </a:lnTo>
                          <a:lnTo>
                            <a:pt x="3455" y="79"/>
                          </a:lnTo>
                          <a:lnTo>
                            <a:pt x="3415" y="81"/>
                          </a:lnTo>
                          <a:lnTo>
                            <a:pt x="3375" y="83"/>
                          </a:lnTo>
                          <a:lnTo>
                            <a:pt x="3334" y="86"/>
                          </a:lnTo>
                          <a:lnTo>
                            <a:pt x="3294" y="88"/>
                          </a:lnTo>
                          <a:lnTo>
                            <a:pt x="3291" y="88"/>
                          </a:lnTo>
                          <a:lnTo>
                            <a:pt x="3288" y="88"/>
                          </a:lnTo>
                          <a:lnTo>
                            <a:pt x="3275" y="89"/>
                          </a:lnTo>
                          <a:lnTo>
                            <a:pt x="3260" y="89"/>
                          </a:lnTo>
                          <a:lnTo>
                            <a:pt x="3230" y="91"/>
                          </a:lnTo>
                          <a:lnTo>
                            <a:pt x="3199" y="92"/>
                          </a:lnTo>
                          <a:lnTo>
                            <a:pt x="3170" y="94"/>
                          </a:lnTo>
                          <a:lnTo>
                            <a:pt x="3140" y="95"/>
                          </a:lnTo>
                          <a:lnTo>
                            <a:pt x="3132" y="96"/>
                          </a:lnTo>
                          <a:lnTo>
                            <a:pt x="3126" y="96"/>
                          </a:lnTo>
                          <a:lnTo>
                            <a:pt x="3115" y="97"/>
                          </a:lnTo>
                          <a:lnTo>
                            <a:pt x="3103" y="97"/>
                          </a:lnTo>
                          <a:lnTo>
                            <a:pt x="3064" y="99"/>
                          </a:lnTo>
                          <a:lnTo>
                            <a:pt x="3026" y="101"/>
                          </a:lnTo>
                          <a:lnTo>
                            <a:pt x="2989" y="103"/>
                          </a:lnTo>
                          <a:lnTo>
                            <a:pt x="2951" y="105"/>
                          </a:lnTo>
                          <a:lnTo>
                            <a:pt x="2937" y="106"/>
                          </a:lnTo>
                          <a:lnTo>
                            <a:pt x="2922" y="107"/>
                          </a:lnTo>
                          <a:lnTo>
                            <a:pt x="2909" y="107"/>
                          </a:lnTo>
                          <a:lnTo>
                            <a:pt x="2895" y="108"/>
                          </a:lnTo>
                          <a:lnTo>
                            <a:pt x="2885" y="109"/>
                          </a:lnTo>
                          <a:lnTo>
                            <a:pt x="2874" y="109"/>
                          </a:lnTo>
                          <a:lnTo>
                            <a:pt x="2863" y="110"/>
                          </a:lnTo>
                          <a:lnTo>
                            <a:pt x="2852" y="110"/>
                          </a:lnTo>
                          <a:lnTo>
                            <a:pt x="2830" y="112"/>
                          </a:lnTo>
                          <a:lnTo>
                            <a:pt x="2809" y="113"/>
                          </a:lnTo>
                          <a:lnTo>
                            <a:pt x="2788" y="114"/>
                          </a:lnTo>
                          <a:lnTo>
                            <a:pt x="2766" y="115"/>
                          </a:lnTo>
                          <a:lnTo>
                            <a:pt x="2756" y="116"/>
                          </a:lnTo>
                          <a:lnTo>
                            <a:pt x="2746" y="116"/>
                          </a:lnTo>
                          <a:lnTo>
                            <a:pt x="2737" y="117"/>
                          </a:lnTo>
                          <a:lnTo>
                            <a:pt x="2726" y="117"/>
                          </a:lnTo>
                          <a:lnTo>
                            <a:pt x="2714" y="118"/>
                          </a:lnTo>
                          <a:lnTo>
                            <a:pt x="2703" y="119"/>
                          </a:lnTo>
                          <a:lnTo>
                            <a:pt x="2689" y="121"/>
                          </a:lnTo>
                          <a:lnTo>
                            <a:pt x="2676" y="121"/>
                          </a:lnTo>
                          <a:lnTo>
                            <a:pt x="2662" y="122"/>
                          </a:lnTo>
                          <a:lnTo>
                            <a:pt x="2649" y="123"/>
                          </a:lnTo>
                          <a:lnTo>
                            <a:pt x="2634" y="124"/>
                          </a:lnTo>
                          <a:lnTo>
                            <a:pt x="2619" y="125"/>
                          </a:lnTo>
                          <a:lnTo>
                            <a:pt x="2604" y="126"/>
                          </a:lnTo>
                          <a:lnTo>
                            <a:pt x="2589" y="127"/>
                          </a:lnTo>
                          <a:lnTo>
                            <a:pt x="2572" y="128"/>
                          </a:lnTo>
                          <a:lnTo>
                            <a:pt x="2554" y="129"/>
                          </a:lnTo>
                          <a:lnTo>
                            <a:pt x="2537" y="130"/>
                          </a:lnTo>
                          <a:lnTo>
                            <a:pt x="2519" y="131"/>
                          </a:lnTo>
                          <a:lnTo>
                            <a:pt x="2504" y="132"/>
                          </a:lnTo>
                          <a:lnTo>
                            <a:pt x="2488" y="133"/>
                          </a:lnTo>
                          <a:lnTo>
                            <a:pt x="2473" y="134"/>
                          </a:lnTo>
                          <a:lnTo>
                            <a:pt x="2457" y="135"/>
                          </a:lnTo>
                          <a:lnTo>
                            <a:pt x="2448" y="135"/>
                          </a:lnTo>
                          <a:lnTo>
                            <a:pt x="2440" y="136"/>
                          </a:lnTo>
                          <a:lnTo>
                            <a:pt x="2429" y="136"/>
                          </a:lnTo>
                          <a:lnTo>
                            <a:pt x="2420" y="137"/>
                          </a:lnTo>
                          <a:lnTo>
                            <a:pt x="2410" y="138"/>
                          </a:lnTo>
                          <a:lnTo>
                            <a:pt x="2400" y="138"/>
                          </a:lnTo>
                          <a:lnTo>
                            <a:pt x="2379" y="140"/>
                          </a:lnTo>
                          <a:lnTo>
                            <a:pt x="2358" y="141"/>
                          </a:lnTo>
                          <a:lnTo>
                            <a:pt x="2339" y="142"/>
                          </a:lnTo>
                          <a:lnTo>
                            <a:pt x="2318" y="144"/>
                          </a:lnTo>
                          <a:lnTo>
                            <a:pt x="2304" y="145"/>
                          </a:lnTo>
                          <a:lnTo>
                            <a:pt x="2290" y="146"/>
                          </a:lnTo>
                          <a:lnTo>
                            <a:pt x="2277" y="147"/>
                          </a:lnTo>
                          <a:lnTo>
                            <a:pt x="2263" y="148"/>
                          </a:lnTo>
                          <a:lnTo>
                            <a:pt x="2243" y="149"/>
                          </a:lnTo>
                          <a:lnTo>
                            <a:pt x="2222" y="150"/>
                          </a:lnTo>
                          <a:lnTo>
                            <a:pt x="2202" y="152"/>
                          </a:lnTo>
                          <a:lnTo>
                            <a:pt x="2181" y="153"/>
                          </a:lnTo>
                          <a:lnTo>
                            <a:pt x="2169" y="155"/>
                          </a:lnTo>
                          <a:lnTo>
                            <a:pt x="2156" y="156"/>
                          </a:lnTo>
                          <a:lnTo>
                            <a:pt x="2145" y="157"/>
                          </a:lnTo>
                          <a:lnTo>
                            <a:pt x="2134" y="158"/>
                          </a:lnTo>
                          <a:lnTo>
                            <a:pt x="2109" y="159"/>
                          </a:lnTo>
                          <a:lnTo>
                            <a:pt x="2084" y="161"/>
                          </a:lnTo>
                          <a:lnTo>
                            <a:pt x="2059" y="163"/>
                          </a:lnTo>
                          <a:lnTo>
                            <a:pt x="2035" y="165"/>
                          </a:lnTo>
                          <a:lnTo>
                            <a:pt x="2023" y="166"/>
                          </a:lnTo>
                          <a:lnTo>
                            <a:pt x="2013" y="166"/>
                          </a:lnTo>
                          <a:lnTo>
                            <a:pt x="2002" y="167"/>
                          </a:lnTo>
                          <a:lnTo>
                            <a:pt x="1991" y="168"/>
                          </a:lnTo>
                          <a:lnTo>
                            <a:pt x="1959" y="170"/>
                          </a:lnTo>
                          <a:lnTo>
                            <a:pt x="1929" y="173"/>
                          </a:lnTo>
                          <a:lnTo>
                            <a:pt x="1897" y="175"/>
                          </a:lnTo>
                          <a:lnTo>
                            <a:pt x="1866" y="178"/>
                          </a:lnTo>
                          <a:lnTo>
                            <a:pt x="1862" y="178"/>
                          </a:lnTo>
                          <a:lnTo>
                            <a:pt x="1857" y="178"/>
                          </a:lnTo>
                          <a:lnTo>
                            <a:pt x="1857" y="178"/>
                          </a:lnTo>
                          <a:lnTo>
                            <a:pt x="1856" y="179"/>
                          </a:lnTo>
                          <a:lnTo>
                            <a:pt x="1823" y="181"/>
                          </a:lnTo>
                          <a:lnTo>
                            <a:pt x="1791" y="184"/>
                          </a:lnTo>
                          <a:lnTo>
                            <a:pt x="1759" y="186"/>
                          </a:lnTo>
                          <a:lnTo>
                            <a:pt x="1728" y="190"/>
                          </a:lnTo>
                          <a:lnTo>
                            <a:pt x="1718" y="191"/>
                          </a:lnTo>
                          <a:lnTo>
                            <a:pt x="1708" y="192"/>
                          </a:lnTo>
                          <a:lnTo>
                            <a:pt x="1699" y="193"/>
                          </a:lnTo>
                          <a:lnTo>
                            <a:pt x="1688" y="194"/>
                          </a:lnTo>
                          <a:lnTo>
                            <a:pt x="1667" y="195"/>
                          </a:lnTo>
                          <a:lnTo>
                            <a:pt x="1645" y="197"/>
                          </a:lnTo>
                          <a:lnTo>
                            <a:pt x="1622" y="199"/>
                          </a:lnTo>
                          <a:lnTo>
                            <a:pt x="1601" y="201"/>
                          </a:lnTo>
                          <a:lnTo>
                            <a:pt x="1591" y="202"/>
                          </a:lnTo>
                          <a:lnTo>
                            <a:pt x="1582" y="203"/>
                          </a:lnTo>
                          <a:lnTo>
                            <a:pt x="1570" y="204"/>
                          </a:lnTo>
                          <a:lnTo>
                            <a:pt x="1556" y="205"/>
                          </a:lnTo>
                          <a:lnTo>
                            <a:pt x="1539" y="207"/>
                          </a:lnTo>
                          <a:lnTo>
                            <a:pt x="1520" y="209"/>
                          </a:lnTo>
                          <a:lnTo>
                            <a:pt x="1503" y="210"/>
                          </a:lnTo>
                          <a:lnTo>
                            <a:pt x="1485" y="212"/>
                          </a:lnTo>
                          <a:lnTo>
                            <a:pt x="1473" y="213"/>
                          </a:lnTo>
                          <a:lnTo>
                            <a:pt x="1462" y="214"/>
                          </a:lnTo>
                          <a:lnTo>
                            <a:pt x="1449" y="215"/>
                          </a:lnTo>
                          <a:lnTo>
                            <a:pt x="1438" y="216"/>
                          </a:lnTo>
                          <a:lnTo>
                            <a:pt x="1420" y="218"/>
                          </a:lnTo>
                          <a:lnTo>
                            <a:pt x="1403" y="220"/>
                          </a:lnTo>
                          <a:lnTo>
                            <a:pt x="1385" y="223"/>
                          </a:lnTo>
                          <a:lnTo>
                            <a:pt x="1368" y="224"/>
                          </a:lnTo>
                          <a:lnTo>
                            <a:pt x="1353" y="226"/>
                          </a:lnTo>
                          <a:lnTo>
                            <a:pt x="1338" y="227"/>
                          </a:lnTo>
                          <a:lnTo>
                            <a:pt x="1332" y="228"/>
                          </a:lnTo>
                          <a:lnTo>
                            <a:pt x="1326" y="228"/>
                          </a:lnTo>
                          <a:lnTo>
                            <a:pt x="1309" y="230"/>
                          </a:lnTo>
                          <a:lnTo>
                            <a:pt x="1293" y="232"/>
                          </a:lnTo>
                          <a:lnTo>
                            <a:pt x="1276" y="234"/>
                          </a:lnTo>
                          <a:lnTo>
                            <a:pt x="1260" y="235"/>
                          </a:lnTo>
                          <a:lnTo>
                            <a:pt x="1250" y="236"/>
                          </a:lnTo>
                          <a:lnTo>
                            <a:pt x="1240" y="237"/>
                          </a:lnTo>
                          <a:lnTo>
                            <a:pt x="1231" y="238"/>
                          </a:lnTo>
                          <a:lnTo>
                            <a:pt x="1220" y="239"/>
                          </a:lnTo>
                          <a:lnTo>
                            <a:pt x="1202" y="242"/>
                          </a:lnTo>
                          <a:lnTo>
                            <a:pt x="1182" y="244"/>
                          </a:lnTo>
                          <a:lnTo>
                            <a:pt x="1164" y="246"/>
                          </a:lnTo>
                          <a:lnTo>
                            <a:pt x="1145" y="248"/>
                          </a:lnTo>
                          <a:lnTo>
                            <a:pt x="1134" y="249"/>
                          </a:lnTo>
                          <a:lnTo>
                            <a:pt x="1121" y="250"/>
                          </a:lnTo>
                          <a:lnTo>
                            <a:pt x="1120" y="250"/>
                          </a:lnTo>
                          <a:lnTo>
                            <a:pt x="1119" y="251"/>
                          </a:lnTo>
                          <a:lnTo>
                            <a:pt x="1102" y="253"/>
                          </a:lnTo>
                          <a:lnTo>
                            <a:pt x="1085" y="255"/>
                          </a:lnTo>
                          <a:lnTo>
                            <a:pt x="1068" y="258"/>
                          </a:lnTo>
                          <a:lnTo>
                            <a:pt x="1051" y="260"/>
                          </a:lnTo>
                          <a:lnTo>
                            <a:pt x="1037" y="261"/>
                          </a:lnTo>
                          <a:lnTo>
                            <a:pt x="1024" y="263"/>
                          </a:lnTo>
                          <a:lnTo>
                            <a:pt x="1001" y="266"/>
                          </a:lnTo>
                          <a:lnTo>
                            <a:pt x="979" y="268"/>
                          </a:lnTo>
                          <a:lnTo>
                            <a:pt x="958" y="271"/>
                          </a:lnTo>
                          <a:lnTo>
                            <a:pt x="937" y="274"/>
                          </a:lnTo>
                          <a:lnTo>
                            <a:pt x="936" y="274"/>
                          </a:lnTo>
                          <a:lnTo>
                            <a:pt x="935" y="274"/>
                          </a:lnTo>
                          <a:lnTo>
                            <a:pt x="921" y="276"/>
                          </a:lnTo>
                          <a:lnTo>
                            <a:pt x="908" y="277"/>
                          </a:lnTo>
                          <a:lnTo>
                            <a:pt x="895" y="279"/>
                          </a:lnTo>
                          <a:lnTo>
                            <a:pt x="881" y="281"/>
                          </a:lnTo>
                          <a:lnTo>
                            <a:pt x="867" y="283"/>
                          </a:lnTo>
                          <a:lnTo>
                            <a:pt x="852" y="285"/>
                          </a:lnTo>
                          <a:lnTo>
                            <a:pt x="843" y="286"/>
                          </a:lnTo>
                          <a:lnTo>
                            <a:pt x="833" y="287"/>
                          </a:lnTo>
                          <a:lnTo>
                            <a:pt x="824" y="289"/>
                          </a:lnTo>
                          <a:lnTo>
                            <a:pt x="814" y="290"/>
                          </a:lnTo>
                          <a:lnTo>
                            <a:pt x="804" y="292"/>
                          </a:lnTo>
                          <a:lnTo>
                            <a:pt x="793" y="294"/>
                          </a:lnTo>
                          <a:lnTo>
                            <a:pt x="781" y="295"/>
                          </a:lnTo>
                          <a:lnTo>
                            <a:pt x="771" y="297"/>
                          </a:lnTo>
                          <a:lnTo>
                            <a:pt x="771" y="297"/>
                          </a:lnTo>
                          <a:lnTo>
                            <a:pt x="771" y="297"/>
                          </a:lnTo>
                          <a:lnTo>
                            <a:pt x="751" y="300"/>
                          </a:lnTo>
                          <a:lnTo>
                            <a:pt x="733" y="303"/>
                          </a:lnTo>
                          <a:lnTo>
                            <a:pt x="714" y="305"/>
                          </a:lnTo>
                          <a:lnTo>
                            <a:pt x="696" y="308"/>
                          </a:lnTo>
                          <a:lnTo>
                            <a:pt x="684" y="310"/>
                          </a:lnTo>
                          <a:lnTo>
                            <a:pt x="673" y="312"/>
                          </a:lnTo>
                          <a:lnTo>
                            <a:pt x="662" y="313"/>
                          </a:lnTo>
                          <a:lnTo>
                            <a:pt x="649" y="315"/>
                          </a:lnTo>
                          <a:lnTo>
                            <a:pt x="637" y="317"/>
                          </a:lnTo>
                          <a:lnTo>
                            <a:pt x="625" y="319"/>
                          </a:lnTo>
                          <a:lnTo>
                            <a:pt x="624" y="319"/>
                          </a:lnTo>
                          <a:lnTo>
                            <a:pt x="623" y="320"/>
                          </a:lnTo>
                          <a:lnTo>
                            <a:pt x="614" y="321"/>
                          </a:lnTo>
                          <a:lnTo>
                            <a:pt x="607" y="322"/>
                          </a:lnTo>
                          <a:lnTo>
                            <a:pt x="594" y="324"/>
                          </a:lnTo>
                          <a:lnTo>
                            <a:pt x="580" y="327"/>
                          </a:lnTo>
                          <a:lnTo>
                            <a:pt x="568" y="330"/>
                          </a:lnTo>
                          <a:lnTo>
                            <a:pt x="555" y="332"/>
                          </a:lnTo>
                          <a:lnTo>
                            <a:pt x="544" y="334"/>
                          </a:lnTo>
                          <a:lnTo>
                            <a:pt x="534" y="336"/>
                          </a:lnTo>
                          <a:lnTo>
                            <a:pt x="525" y="337"/>
                          </a:lnTo>
                          <a:lnTo>
                            <a:pt x="516" y="339"/>
                          </a:lnTo>
                          <a:lnTo>
                            <a:pt x="507" y="340"/>
                          </a:lnTo>
                          <a:lnTo>
                            <a:pt x="499" y="342"/>
                          </a:lnTo>
                          <a:lnTo>
                            <a:pt x="495" y="343"/>
                          </a:lnTo>
                          <a:lnTo>
                            <a:pt x="491" y="343"/>
                          </a:lnTo>
                          <a:lnTo>
                            <a:pt x="479" y="345"/>
                          </a:lnTo>
                          <a:lnTo>
                            <a:pt x="468" y="348"/>
                          </a:lnTo>
                          <a:lnTo>
                            <a:pt x="459" y="349"/>
                          </a:lnTo>
                          <a:lnTo>
                            <a:pt x="449" y="351"/>
                          </a:lnTo>
                          <a:lnTo>
                            <a:pt x="440" y="353"/>
                          </a:lnTo>
                          <a:lnTo>
                            <a:pt x="432" y="355"/>
                          </a:lnTo>
                          <a:lnTo>
                            <a:pt x="420" y="357"/>
                          </a:lnTo>
                          <a:lnTo>
                            <a:pt x="408" y="360"/>
                          </a:lnTo>
                          <a:lnTo>
                            <a:pt x="397" y="363"/>
                          </a:lnTo>
                          <a:lnTo>
                            <a:pt x="387" y="365"/>
                          </a:lnTo>
                          <a:lnTo>
                            <a:pt x="380" y="366"/>
                          </a:lnTo>
                          <a:lnTo>
                            <a:pt x="375" y="367"/>
                          </a:lnTo>
                          <a:lnTo>
                            <a:pt x="364" y="370"/>
                          </a:lnTo>
                          <a:lnTo>
                            <a:pt x="353" y="372"/>
                          </a:lnTo>
                          <a:lnTo>
                            <a:pt x="338" y="376"/>
                          </a:lnTo>
                          <a:lnTo>
                            <a:pt x="323" y="379"/>
                          </a:lnTo>
                          <a:lnTo>
                            <a:pt x="312" y="382"/>
                          </a:lnTo>
                          <a:lnTo>
                            <a:pt x="302" y="384"/>
                          </a:lnTo>
                          <a:lnTo>
                            <a:pt x="296" y="386"/>
                          </a:lnTo>
                          <a:lnTo>
                            <a:pt x="290" y="387"/>
                          </a:lnTo>
                          <a:lnTo>
                            <a:pt x="281" y="389"/>
                          </a:lnTo>
                          <a:lnTo>
                            <a:pt x="274" y="391"/>
                          </a:lnTo>
                          <a:lnTo>
                            <a:pt x="264" y="394"/>
                          </a:lnTo>
                          <a:lnTo>
                            <a:pt x="255" y="397"/>
                          </a:lnTo>
                          <a:lnTo>
                            <a:pt x="241" y="401"/>
                          </a:lnTo>
                          <a:lnTo>
                            <a:pt x="228" y="404"/>
                          </a:lnTo>
                          <a:lnTo>
                            <a:pt x="220" y="407"/>
                          </a:lnTo>
                          <a:lnTo>
                            <a:pt x="211" y="409"/>
                          </a:lnTo>
                          <a:lnTo>
                            <a:pt x="209" y="410"/>
                          </a:lnTo>
                          <a:lnTo>
                            <a:pt x="206" y="410"/>
                          </a:lnTo>
                          <a:lnTo>
                            <a:pt x="196" y="414"/>
                          </a:lnTo>
                          <a:lnTo>
                            <a:pt x="185" y="417"/>
                          </a:lnTo>
                          <a:lnTo>
                            <a:pt x="178" y="419"/>
                          </a:lnTo>
                          <a:lnTo>
                            <a:pt x="172" y="421"/>
                          </a:lnTo>
                          <a:lnTo>
                            <a:pt x="163" y="424"/>
                          </a:lnTo>
                          <a:lnTo>
                            <a:pt x="155" y="428"/>
                          </a:lnTo>
                          <a:lnTo>
                            <a:pt x="145" y="431"/>
                          </a:lnTo>
                          <a:lnTo>
                            <a:pt x="137" y="434"/>
                          </a:lnTo>
                          <a:lnTo>
                            <a:pt x="137" y="434"/>
                          </a:lnTo>
                          <a:lnTo>
                            <a:pt x="137" y="434"/>
                          </a:lnTo>
                          <a:lnTo>
                            <a:pt x="137" y="434"/>
                          </a:lnTo>
                          <a:lnTo>
                            <a:pt x="137" y="434"/>
                          </a:lnTo>
                          <a:lnTo>
                            <a:pt x="129" y="437"/>
                          </a:lnTo>
                          <a:lnTo>
                            <a:pt x="121" y="440"/>
                          </a:lnTo>
                          <a:lnTo>
                            <a:pt x="113" y="443"/>
                          </a:lnTo>
                          <a:lnTo>
                            <a:pt x="105" y="446"/>
                          </a:lnTo>
                          <a:lnTo>
                            <a:pt x="101" y="448"/>
                          </a:lnTo>
                          <a:lnTo>
                            <a:pt x="97" y="450"/>
                          </a:lnTo>
                          <a:lnTo>
                            <a:pt x="89" y="454"/>
                          </a:lnTo>
                          <a:lnTo>
                            <a:pt x="80" y="458"/>
                          </a:lnTo>
                          <a:lnTo>
                            <a:pt x="79" y="458"/>
                          </a:lnTo>
                          <a:lnTo>
                            <a:pt x="78" y="459"/>
                          </a:lnTo>
                          <a:lnTo>
                            <a:pt x="73" y="461"/>
                          </a:lnTo>
                          <a:lnTo>
                            <a:pt x="69" y="465"/>
                          </a:lnTo>
                          <a:lnTo>
                            <a:pt x="62" y="469"/>
                          </a:lnTo>
                          <a:lnTo>
                            <a:pt x="55" y="472"/>
                          </a:lnTo>
                          <a:lnTo>
                            <a:pt x="51" y="475"/>
                          </a:lnTo>
                          <a:lnTo>
                            <a:pt x="46" y="478"/>
                          </a:lnTo>
                          <a:lnTo>
                            <a:pt x="42" y="480"/>
                          </a:lnTo>
                          <a:lnTo>
                            <a:pt x="39" y="482"/>
                          </a:lnTo>
                          <a:lnTo>
                            <a:pt x="37" y="484"/>
                          </a:lnTo>
                          <a:lnTo>
                            <a:pt x="35" y="485"/>
                          </a:lnTo>
                          <a:lnTo>
                            <a:pt x="32" y="488"/>
                          </a:lnTo>
                          <a:lnTo>
                            <a:pt x="28" y="491"/>
                          </a:lnTo>
                          <a:lnTo>
                            <a:pt x="24" y="494"/>
                          </a:lnTo>
                          <a:lnTo>
                            <a:pt x="21" y="499"/>
                          </a:lnTo>
                          <a:lnTo>
                            <a:pt x="18" y="502"/>
                          </a:lnTo>
                          <a:lnTo>
                            <a:pt x="14" y="505"/>
                          </a:lnTo>
                          <a:lnTo>
                            <a:pt x="12" y="507"/>
                          </a:lnTo>
                          <a:lnTo>
                            <a:pt x="11" y="509"/>
                          </a:lnTo>
                          <a:lnTo>
                            <a:pt x="9" y="511"/>
                          </a:lnTo>
                          <a:lnTo>
                            <a:pt x="8" y="513"/>
                          </a:lnTo>
                          <a:lnTo>
                            <a:pt x="7" y="515"/>
                          </a:lnTo>
                          <a:lnTo>
                            <a:pt x="6" y="516"/>
                          </a:lnTo>
                          <a:lnTo>
                            <a:pt x="3" y="522"/>
                          </a:lnTo>
                          <a:lnTo>
                            <a:pt x="1" y="528"/>
                          </a:lnTo>
                          <a:lnTo>
                            <a:pt x="1" y="533"/>
                          </a:lnTo>
                          <a:lnTo>
                            <a:pt x="0" y="536"/>
                          </a:lnTo>
                          <a:lnTo>
                            <a:pt x="0" y="539"/>
                          </a:lnTo>
                          <a:lnTo>
                            <a:pt x="1" y="542"/>
                          </a:lnTo>
                          <a:lnTo>
                            <a:pt x="1" y="544"/>
                          </a:lnTo>
                          <a:lnTo>
                            <a:pt x="1" y="546"/>
                          </a:lnTo>
                          <a:lnTo>
                            <a:pt x="3" y="553"/>
                          </a:lnTo>
                          <a:lnTo>
                            <a:pt x="6" y="559"/>
                          </a:lnTo>
                          <a:lnTo>
                            <a:pt x="21" y="588"/>
                          </a:lnTo>
                          <a:lnTo>
                            <a:pt x="35" y="616"/>
                          </a:lnTo>
                          <a:lnTo>
                            <a:pt x="51" y="645"/>
                          </a:lnTo>
                          <a:lnTo>
                            <a:pt x="66" y="674"/>
                          </a:lnTo>
                          <a:lnTo>
                            <a:pt x="80" y="703"/>
                          </a:lnTo>
                          <a:lnTo>
                            <a:pt x="96" y="731"/>
                          </a:lnTo>
                          <a:lnTo>
                            <a:pt x="111" y="760"/>
                          </a:lnTo>
                          <a:lnTo>
                            <a:pt x="127" y="790"/>
                          </a:lnTo>
                          <a:lnTo>
                            <a:pt x="180" y="890"/>
                          </a:lnTo>
                          <a:lnTo>
                            <a:pt x="192" y="912"/>
                          </a:lnTo>
                          <a:lnTo>
                            <a:pt x="203" y="933"/>
                          </a:lnTo>
                          <a:lnTo>
                            <a:pt x="214" y="955"/>
                          </a:lnTo>
                          <a:lnTo>
                            <a:pt x="226" y="977"/>
                          </a:lnTo>
                          <a:lnTo>
                            <a:pt x="237" y="998"/>
                          </a:lnTo>
                          <a:lnTo>
                            <a:pt x="248" y="1020"/>
                          </a:lnTo>
                          <a:lnTo>
                            <a:pt x="260" y="1041"/>
                          </a:lnTo>
                          <a:lnTo>
                            <a:pt x="271" y="1063"/>
                          </a:lnTo>
                          <a:lnTo>
                            <a:pt x="390" y="1287"/>
                          </a:lnTo>
                          <a:lnTo>
                            <a:pt x="406" y="1319"/>
                          </a:lnTo>
                          <a:lnTo>
                            <a:pt x="423" y="1350"/>
                          </a:lnTo>
                          <a:lnTo>
                            <a:pt x="439" y="1381"/>
                          </a:lnTo>
                          <a:lnTo>
                            <a:pt x="457" y="1413"/>
                          </a:lnTo>
                          <a:lnTo>
                            <a:pt x="473" y="1445"/>
                          </a:lnTo>
                          <a:lnTo>
                            <a:pt x="490" y="1477"/>
                          </a:lnTo>
                          <a:lnTo>
                            <a:pt x="506" y="1509"/>
                          </a:lnTo>
                          <a:lnTo>
                            <a:pt x="524" y="1541"/>
                          </a:lnTo>
                          <a:lnTo>
                            <a:pt x="650" y="1781"/>
                          </a:lnTo>
                          <a:lnTo>
                            <a:pt x="666" y="1811"/>
                          </a:lnTo>
                          <a:lnTo>
                            <a:pt x="682" y="1841"/>
                          </a:lnTo>
                          <a:lnTo>
                            <a:pt x="698" y="1872"/>
                          </a:lnTo>
                          <a:lnTo>
                            <a:pt x="713" y="1902"/>
                          </a:lnTo>
                          <a:lnTo>
                            <a:pt x="730" y="1931"/>
                          </a:lnTo>
                          <a:lnTo>
                            <a:pt x="745" y="1961"/>
                          </a:lnTo>
                          <a:lnTo>
                            <a:pt x="761" y="1991"/>
                          </a:lnTo>
                          <a:lnTo>
                            <a:pt x="777" y="2021"/>
                          </a:lnTo>
                          <a:lnTo>
                            <a:pt x="1120" y="2672"/>
                          </a:lnTo>
                          <a:lnTo>
                            <a:pt x="1134" y="2697"/>
                          </a:lnTo>
                          <a:lnTo>
                            <a:pt x="1146" y="2723"/>
                          </a:lnTo>
                          <a:lnTo>
                            <a:pt x="1160" y="2747"/>
                          </a:lnTo>
                          <a:lnTo>
                            <a:pt x="1173" y="2772"/>
                          </a:lnTo>
                          <a:lnTo>
                            <a:pt x="1295" y="3003"/>
                          </a:lnTo>
                          <a:lnTo>
                            <a:pt x="1298" y="3008"/>
                          </a:lnTo>
                          <a:lnTo>
                            <a:pt x="1303" y="3014"/>
                          </a:lnTo>
                          <a:lnTo>
                            <a:pt x="1305" y="3016"/>
                          </a:lnTo>
                          <a:lnTo>
                            <a:pt x="1307" y="3018"/>
                          </a:lnTo>
                          <a:lnTo>
                            <a:pt x="1311" y="3021"/>
                          </a:lnTo>
                          <a:lnTo>
                            <a:pt x="1315" y="3025"/>
                          </a:lnTo>
                          <a:lnTo>
                            <a:pt x="1318" y="3028"/>
                          </a:lnTo>
                          <a:lnTo>
                            <a:pt x="1321" y="3030"/>
                          </a:lnTo>
                          <a:lnTo>
                            <a:pt x="1327" y="3034"/>
                          </a:lnTo>
                          <a:lnTo>
                            <a:pt x="1332" y="3037"/>
                          </a:lnTo>
                          <a:lnTo>
                            <a:pt x="1336" y="3040"/>
                          </a:lnTo>
                          <a:lnTo>
                            <a:pt x="1340" y="3042"/>
                          </a:lnTo>
                          <a:lnTo>
                            <a:pt x="1346" y="3045"/>
                          </a:lnTo>
                          <a:lnTo>
                            <a:pt x="1352" y="3049"/>
                          </a:lnTo>
                          <a:lnTo>
                            <a:pt x="1356" y="3051"/>
                          </a:lnTo>
                          <a:lnTo>
                            <a:pt x="1362" y="3053"/>
                          </a:lnTo>
                          <a:lnTo>
                            <a:pt x="1369" y="3056"/>
                          </a:lnTo>
                          <a:lnTo>
                            <a:pt x="1377" y="3061"/>
                          </a:lnTo>
                          <a:lnTo>
                            <a:pt x="1382" y="3063"/>
                          </a:lnTo>
                          <a:lnTo>
                            <a:pt x="1387" y="3065"/>
                          </a:lnTo>
                          <a:lnTo>
                            <a:pt x="1397" y="3069"/>
                          </a:lnTo>
                          <a:lnTo>
                            <a:pt x="1407" y="3072"/>
                          </a:lnTo>
                          <a:lnTo>
                            <a:pt x="1412" y="3074"/>
                          </a:lnTo>
                          <a:lnTo>
                            <a:pt x="1417" y="3076"/>
                          </a:lnTo>
                          <a:lnTo>
                            <a:pt x="1431" y="3081"/>
                          </a:lnTo>
                          <a:lnTo>
                            <a:pt x="1446" y="3085"/>
                          </a:lnTo>
                          <a:lnTo>
                            <a:pt x="1448" y="3086"/>
                          </a:lnTo>
                          <a:lnTo>
                            <a:pt x="1450" y="3087"/>
                          </a:lnTo>
                          <a:lnTo>
                            <a:pt x="1460" y="3090"/>
                          </a:lnTo>
                          <a:lnTo>
                            <a:pt x="1469" y="3092"/>
                          </a:lnTo>
                          <a:lnTo>
                            <a:pt x="1478" y="3096"/>
                          </a:lnTo>
                          <a:lnTo>
                            <a:pt x="1487" y="3099"/>
                          </a:lnTo>
                          <a:lnTo>
                            <a:pt x="1494" y="3100"/>
                          </a:lnTo>
                          <a:lnTo>
                            <a:pt x="1500" y="3102"/>
                          </a:lnTo>
                          <a:lnTo>
                            <a:pt x="1514" y="3105"/>
                          </a:lnTo>
                          <a:lnTo>
                            <a:pt x="1529" y="3109"/>
                          </a:lnTo>
                          <a:lnTo>
                            <a:pt x="1537" y="3111"/>
                          </a:lnTo>
                          <a:lnTo>
                            <a:pt x="1545" y="3113"/>
                          </a:lnTo>
                          <a:lnTo>
                            <a:pt x="1560" y="3116"/>
                          </a:lnTo>
                          <a:lnTo>
                            <a:pt x="1574" y="3120"/>
                          </a:lnTo>
                          <a:lnTo>
                            <a:pt x="1583" y="3122"/>
                          </a:lnTo>
                          <a:lnTo>
                            <a:pt x="1592" y="3124"/>
                          </a:lnTo>
                          <a:lnTo>
                            <a:pt x="1607" y="3127"/>
                          </a:lnTo>
                          <a:lnTo>
                            <a:pt x="1622" y="3131"/>
                          </a:lnTo>
                          <a:lnTo>
                            <a:pt x="1633" y="3133"/>
                          </a:lnTo>
                          <a:lnTo>
                            <a:pt x="1643" y="3135"/>
                          </a:lnTo>
                          <a:lnTo>
                            <a:pt x="1651" y="3137"/>
                          </a:lnTo>
                          <a:lnTo>
                            <a:pt x="1658" y="3138"/>
                          </a:lnTo>
                          <a:lnTo>
                            <a:pt x="1667" y="3140"/>
                          </a:lnTo>
                          <a:lnTo>
                            <a:pt x="1675" y="3141"/>
                          </a:lnTo>
                          <a:lnTo>
                            <a:pt x="1685" y="3143"/>
                          </a:lnTo>
                          <a:lnTo>
                            <a:pt x="1696" y="3145"/>
                          </a:lnTo>
                          <a:lnTo>
                            <a:pt x="1705" y="3147"/>
                          </a:lnTo>
                          <a:lnTo>
                            <a:pt x="1714" y="3149"/>
                          </a:lnTo>
                          <a:lnTo>
                            <a:pt x="1723" y="3150"/>
                          </a:lnTo>
                          <a:lnTo>
                            <a:pt x="1733" y="3152"/>
                          </a:lnTo>
                          <a:lnTo>
                            <a:pt x="1743" y="3154"/>
                          </a:lnTo>
                          <a:lnTo>
                            <a:pt x="1753" y="3155"/>
                          </a:lnTo>
                          <a:lnTo>
                            <a:pt x="1764" y="3157"/>
                          </a:lnTo>
                          <a:lnTo>
                            <a:pt x="1775" y="3159"/>
                          </a:lnTo>
                          <a:lnTo>
                            <a:pt x="1786" y="3161"/>
                          </a:lnTo>
                          <a:lnTo>
                            <a:pt x="1799" y="3164"/>
                          </a:lnTo>
                          <a:lnTo>
                            <a:pt x="1806" y="3165"/>
                          </a:lnTo>
                          <a:lnTo>
                            <a:pt x="1813" y="3166"/>
                          </a:lnTo>
                          <a:lnTo>
                            <a:pt x="1829" y="3169"/>
                          </a:lnTo>
                          <a:lnTo>
                            <a:pt x="1844" y="3171"/>
                          </a:lnTo>
                          <a:lnTo>
                            <a:pt x="1860" y="3174"/>
                          </a:lnTo>
                          <a:lnTo>
                            <a:pt x="1876" y="3176"/>
                          </a:lnTo>
                          <a:lnTo>
                            <a:pt x="1884" y="3177"/>
                          </a:lnTo>
                          <a:lnTo>
                            <a:pt x="1891" y="3179"/>
                          </a:lnTo>
                          <a:lnTo>
                            <a:pt x="1904" y="3180"/>
                          </a:lnTo>
                          <a:lnTo>
                            <a:pt x="1917" y="3182"/>
                          </a:lnTo>
                          <a:lnTo>
                            <a:pt x="1930" y="3184"/>
                          </a:lnTo>
                          <a:lnTo>
                            <a:pt x="1943" y="3186"/>
                          </a:lnTo>
                          <a:lnTo>
                            <a:pt x="1955" y="3188"/>
                          </a:lnTo>
                          <a:lnTo>
                            <a:pt x="1968" y="3189"/>
                          </a:lnTo>
                          <a:lnTo>
                            <a:pt x="1979" y="3191"/>
                          </a:lnTo>
                          <a:lnTo>
                            <a:pt x="1990" y="3192"/>
                          </a:lnTo>
                          <a:lnTo>
                            <a:pt x="2002" y="3194"/>
                          </a:lnTo>
                          <a:lnTo>
                            <a:pt x="2013" y="3196"/>
                          </a:lnTo>
                          <a:lnTo>
                            <a:pt x="2027" y="3198"/>
                          </a:lnTo>
                          <a:lnTo>
                            <a:pt x="2042" y="3200"/>
                          </a:lnTo>
                          <a:lnTo>
                            <a:pt x="2053" y="3202"/>
                          </a:lnTo>
                          <a:lnTo>
                            <a:pt x="2065" y="3203"/>
                          </a:lnTo>
                          <a:lnTo>
                            <a:pt x="2076" y="3205"/>
                          </a:lnTo>
                          <a:lnTo>
                            <a:pt x="2087" y="3206"/>
                          </a:lnTo>
                          <a:lnTo>
                            <a:pt x="2102" y="3208"/>
                          </a:lnTo>
                          <a:lnTo>
                            <a:pt x="2117" y="3210"/>
                          </a:lnTo>
                          <a:lnTo>
                            <a:pt x="2128" y="3211"/>
                          </a:lnTo>
                          <a:lnTo>
                            <a:pt x="2141" y="3212"/>
                          </a:lnTo>
                          <a:lnTo>
                            <a:pt x="2152" y="3214"/>
                          </a:lnTo>
                          <a:lnTo>
                            <a:pt x="2165" y="3215"/>
                          </a:lnTo>
                          <a:lnTo>
                            <a:pt x="2180" y="3217"/>
                          </a:lnTo>
                          <a:lnTo>
                            <a:pt x="2195" y="3219"/>
                          </a:lnTo>
                          <a:lnTo>
                            <a:pt x="2208" y="3220"/>
                          </a:lnTo>
                          <a:lnTo>
                            <a:pt x="2221" y="3222"/>
                          </a:lnTo>
                          <a:lnTo>
                            <a:pt x="2234" y="3223"/>
                          </a:lnTo>
                          <a:lnTo>
                            <a:pt x="2247" y="3225"/>
                          </a:lnTo>
                          <a:lnTo>
                            <a:pt x="2261" y="3226"/>
                          </a:lnTo>
                          <a:lnTo>
                            <a:pt x="2276" y="3228"/>
                          </a:lnTo>
                          <a:lnTo>
                            <a:pt x="2291" y="3230"/>
                          </a:lnTo>
                          <a:lnTo>
                            <a:pt x="2307" y="3232"/>
                          </a:lnTo>
                          <a:lnTo>
                            <a:pt x="2321" y="3234"/>
                          </a:lnTo>
                          <a:lnTo>
                            <a:pt x="2337" y="3235"/>
                          </a:lnTo>
                          <a:lnTo>
                            <a:pt x="2348" y="3237"/>
                          </a:lnTo>
                          <a:lnTo>
                            <a:pt x="2359" y="3238"/>
                          </a:lnTo>
                          <a:lnTo>
                            <a:pt x="2381" y="3240"/>
                          </a:lnTo>
                          <a:lnTo>
                            <a:pt x="2403" y="3242"/>
                          </a:lnTo>
                          <a:lnTo>
                            <a:pt x="2425" y="3244"/>
                          </a:lnTo>
                          <a:lnTo>
                            <a:pt x="2447" y="3247"/>
                          </a:lnTo>
                          <a:lnTo>
                            <a:pt x="2453" y="3247"/>
                          </a:lnTo>
                          <a:lnTo>
                            <a:pt x="2459" y="3248"/>
                          </a:lnTo>
                          <a:lnTo>
                            <a:pt x="2479" y="3250"/>
                          </a:lnTo>
                          <a:lnTo>
                            <a:pt x="2497" y="3252"/>
                          </a:lnTo>
                          <a:lnTo>
                            <a:pt x="2517" y="3253"/>
                          </a:lnTo>
                          <a:lnTo>
                            <a:pt x="2537" y="3255"/>
                          </a:lnTo>
                          <a:lnTo>
                            <a:pt x="2544" y="3256"/>
                          </a:lnTo>
                          <a:lnTo>
                            <a:pt x="2552" y="3257"/>
                          </a:lnTo>
                          <a:lnTo>
                            <a:pt x="2560" y="3257"/>
                          </a:lnTo>
                          <a:lnTo>
                            <a:pt x="2569" y="3258"/>
                          </a:lnTo>
                          <a:lnTo>
                            <a:pt x="2583" y="3259"/>
                          </a:lnTo>
                          <a:lnTo>
                            <a:pt x="2598" y="3261"/>
                          </a:lnTo>
                          <a:lnTo>
                            <a:pt x="2614" y="3262"/>
                          </a:lnTo>
                          <a:lnTo>
                            <a:pt x="2629" y="3264"/>
                          </a:lnTo>
                          <a:lnTo>
                            <a:pt x="2639" y="3264"/>
                          </a:lnTo>
                          <a:lnTo>
                            <a:pt x="2647" y="3265"/>
                          </a:lnTo>
                          <a:lnTo>
                            <a:pt x="2656" y="3267"/>
                          </a:lnTo>
                          <a:lnTo>
                            <a:pt x="2665" y="3268"/>
                          </a:lnTo>
                          <a:lnTo>
                            <a:pt x="2680" y="3269"/>
                          </a:lnTo>
                          <a:lnTo>
                            <a:pt x="2695" y="3270"/>
                          </a:lnTo>
                          <a:lnTo>
                            <a:pt x="2710" y="3272"/>
                          </a:lnTo>
                          <a:lnTo>
                            <a:pt x="2725" y="3273"/>
                          </a:lnTo>
                          <a:lnTo>
                            <a:pt x="2735" y="3274"/>
                          </a:lnTo>
                          <a:lnTo>
                            <a:pt x="2745" y="3274"/>
                          </a:lnTo>
                          <a:lnTo>
                            <a:pt x="2754" y="3275"/>
                          </a:lnTo>
                          <a:lnTo>
                            <a:pt x="2764" y="3276"/>
                          </a:lnTo>
                          <a:lnTo>
                            <a:pt x="2779" y="3277"/>
                          </a:lnTo>
                          <a:lnTo>
                            <a:pt x="2794" y="3278"/>
                          </a:lnTo>
                          <a:lnTo>
                            <a:pt x="2810" y="3280"/>
                          </a:lnTo>
                          <a:lnTo>
                            <a:pt x="2824" y="3281"/>
                          </a:lnTo>
                          <a:lnTo>
                            <a:pt x="2835" y="3282"/>
                          </a:lnTo>
                          <a:lnTo>
                            <a:pt x="2844" y="3283"/>
                          </a:lnTo>
                          <a:lnTo>
                            <a:pt x="2854" y="3283"/>
                          </a:lnTo>
                          <a:lnTo>
                            <a:pt x="2863" y="3284"/>
                          </a:lnTo>
                          <a:lnTo>
                            <a:pt x="2880" y="3285"/>
                          </a:lnTo>
                          <a:lnTo>
                            <a:pt x="2896" y="3287"/>
                          </a:lnTo>
                          <a:lnTo>
                            <a:pt x="2912" y="3288"/>
                          </a:lnTo>
                          <a:lnTo>
                            <a:pt x="2928" y="3289"/>
                          </a:lnTo>
                          <a:lnTo>
                            <a:pt x="2938" y="3290"/>
                          </a:lnTo>
                          <a:lnTo>
                            <a:pt x="2947" y="3290"/>
                          </a:lnTo>
                          <a:lnTo>
                            <a:pt x="2956" y="3291"/>
                          </a:lnTo>
                          <a:lnTo>
                            <a:pt x="2966" y="3292"/>
                          </a:lnTo>
                          <a:lnTo>
                            <a:pt x="2985" y="3293"/>
                          </a:lnTo>
                          <a:lnTo>
                            <a:pt x="3004" y="3295"/>
                          </a:lnTo>
                          <a:lnTo>
                            <a:pt x="3022" y="3296"/>
                          </a:lnTo>
                          <a:lnTo>
                            <a:pt x="3041" y="3297"/>
                          </a:lnTo>
                          <a:lnTo>
                            <a:pt x="3056" y="3298"/>
                          </a:lnTo>
                          <a:lnTo>
                            <a:pt x="3071" y="3299"/>
                          </a:lnTo>
                          <a:lnTo>
                            <a:pt x="3097" y="3302"/>
                          </a:lnTo>
                          <a:lnTo>
                            <a:pt x="3124" y="3304"/>
                          </a:lnTo>
                          <a:lnTo>
                            <a:pt x="3151" y="3306"/>
                          </a:lnTo>
                          <a:lnTo>
                            <a:pt x="3179" y="3308"/>
                          </a:lnTo>
                          <a:lnTo>
                            <a:pt x="3206" y="3310"/>
                          </a:lnTo>
                          <a:lnTo>
                            <a:pt x="3233" y="3312"/>
                          </a:lnTo>
                          <a:lnTo>
                            <a:pt x="3261" y="3313"/>
                          </a:lnTo>
                          <a:lnTo>
                            <a:pt x="3289" y="3315"/>
                          </a:lnTo>
                          <a:lnTo>
                            <a:pt x="3297" y="3316"/>
                          </a:lnTo>
                          <a:lnTo>
                            <a:pt x="3305" y="3316"/>
                          </a:lnTo>
                          <a:lnTo>
                            <a:pt x="3313" y="3317"/>
                          </a:lnTo>
                          <a:lnTo>
                            <a:pt x="3321" y="3317"/>
                          </a:lnTo>
                          <a:lnTo>
                            <a:pt x="3341" y="3318"/>
                          </a:lnTo>
                          <a:lnTo>
                            <a:pt x="3361" y="3320"/>
                          </a:lnTo>
                          <a:lnTo>
                            <a:pt x="3381" y="3321"/>
                          </a:lnTo>
                          <a:lnTo>
                            <a:pt x="3401" y="3322"/>
                          </a:lnTo>
                          <a:lnTo>
                            <a:pt x="3412" y="3323"/>
                          </a:lnTo>
                          <a:lnTo>
                            <a:pt x="3422" y="3323"/>
                          </a:lnTo>
                          <a:lnTo>
                            <a:pt x="3432" y="3324"/>
                          </a:lnTo>
                          <a:lnTo>
                            <a:pt x="3443" y="3325"/>
                          </a:lnTo>
                          <a:lnTo>
                            <a:pt x="3461" y="3326"/>
                          </a:lnTo>
                          <a:lnTo>
                            <a:pt x="3480" y="3327"/>
                          </a:lnTo>
                          <a:lnTo>
                            <a:pt x="3498" y="3328"/>
                          </a:lnTo>
                          <a:lnTo>
                            <a:pt x="3517" y="3329"/>
                          </a:lnTo>
                          <a:lnTo>
                            <a:pt x="3526" y="3330"/>
                          </a:lnTo>
                          <a:lnTo>
                            <a:pt x="3535" y="3330"/>
                          </a:lnTo>
                          <a:lnTo>
                            <a:pt x="3547" y="3331"/>
                          </a:lnTo>
                          <a:lnTo>
                            <a:pt x="3558" y="3331"/>
                          </a:lnTo>
                          <a:lnTo>
                            <a:pt x="3581" y="3333"/>
                          </a:lnTo>
                          <a:lnTo>
                            <a:pt x="3602" y="3335"/>
                          </a:lnTo>
                          <a:lnTo>
                            <a:pt x="3625" y="3336"/>
                          </a:lnTo>
                          <a:lnTo>
                            <a:pt x="3648" y="3337"/>
                          </a:lnTo>
                          <a:lnTo>
                            <a:pt x="3657" y="3338"/>
                          </a:lnTo>
                          <a:lnTo>
                            <a:pt x="3667" y="3339"/>
                          </a:lnTo>
                          <a:lnTo>
                            <a:pt x="3677" y="3339"/>
                          </a:lnTo>
                          <a:lnTo>
                            <a:pt x="3686" y="3340"/>
                          </a:lnTo>
                          <a:lnTo>
                            <a:pt x="3713" y="3341"/>
                          </a:lnTo>
                          <a:lnTo>
                            <a:pt x="3740" y="3342"/>
                          </a:lnTo>
                          <a:lnTo>
                            <a:pt x="3767" y="3344"/>
                          </a:lnTo>
                          <a:lnTo>
                            <a:pt x="3794" y="3345"/>
                          </a:lnTo>
                          <a:lnTo>
                            <a:pt x="3804" y="3346"/>
                          </a:lnTo>
                          <a:lnTo>
                            <a:pt x="3814" y="3346"/>
                          </a:lnTo>
                          <a:lnTo>
                            <a:pt x="3847" y="3348"/>
                          </a:lnTo>
                          <a:lnTo>
                            <a:pt x="3880" y="3350"/>
                          </a:lnTo>
                          <a:lnTo>
                            <a:pt x="3913" y="3351"/>
                          </a:lnTo>
                          <a:lnTo>
                            <a:pt x="3946" y="3353"/>
                          </a:lnTo>
                          <a:lnTo>
                            <a:pt x="3954" y="3353"/>
                          </a:lnTo>
                          <a:lnTo>
                            <a:pt x="3962" y="3354"/>
                          </a:lnTo>
                          <a:lnTo>
                            <a:pt x="3969" y="3354"/>
                          </a:lnTo>
                          <a:lnTo>
                            <a:pt x="3978" y="3354"/>
                          </a:lnTo>
                          <a:lnTo>
                            <a:pt x="4003" y="3356"/>
                          </a:lnTo>
                          <a:lnTo>
                            <a:pt x="4028" y="3357"/>
                          </a:lnTo>
                          <a:lnTo>
                            <a:pt x="4054" y="3358"/>
                          </a:lnTo>
                          <a:lnTo>
                            <a:pt x="4080" y="3359"/>
                          </a:lnTo>
                          <a:lnTo>
                            <a:pt x="4089" y="3359"/>
                          </a:lnTo>
                          <a:lnTo>
                            <a:pt x="4098" y="3360"/>
                          </a:lnTo>
                          <a:lnTo>
                            <a:pt x="4106" y="3360"/>
                          </a:lnTo>
                          <a:lnTo>
                            <a:pt x="4116" y="3361"/>
                          </a:lnTo>
                          <a:lnTo>
                            <a:pt x="4125" y="3361"/>
                          </a:lnTo>
                          <a:lnTo>
                            <a:pt x="4134" y="3361"/>
                          </a:lnTo>
                          <a:lnTo>
                            <a:pt x="4149" y="3362"/>
                          </a:lnTo>
                          <a:lnTo>
                            <a:pt x="4163" y="3363"/>
                          </a:lnTo>
                          <a:lnTo>
                            <a:pt x="4178" y="3363"/>
                          </a:lnTo>
                          <a:lnTo>
                            <a:pt x="4192" y="3364"/>
                          </a:lnTo>
                          <a:lnTo>
                            <a:pt x="4207" y="3365"/>
                          </a:lnTo>
                          <a:lnTo>
                            <a:pt x="4224" y="3365"/>
                          </a:lnTo>
                          <a:lnTo>
                            <a:pt x="4239" y="3366"/>
                          </a:lnTo>
                          <a:lnTo>
                            <a:pt x="4255" y="3367"/>
                          </a:lnTo>
                          <a:lnTo>
                            <a:pt x="4269" y="3367"/>
                          </a:lnTo>
                          <a:lnTo>
                            <a:pt x="4284" y="3369"/>
                          </a:lnTo>
                          <a:lnTo>
                            <a:pt x="4297" y="3369"/>
                          </a:lnTo>
                          <a:lnTo>
                            <a:pt x="4312" y="3370"/>
                          </a:lnTo>
                          <a:lnTo>
                            <a:pt x="4328" y="3371"/>
                          </a:lnTo>
                          <a:lnTo>
                            <a:pt x="4344" y="3371"/>
                          </a:lnTo>
                          <a:lnTo>
                            <a:pt x="4360" y="3372"/>
                          </a:lnTo>
                          <a:lnTo>
                            <a:pt x="4377" y="3373"/>
                          </a:lnTo>
                          <a:lnTo>
                            <a:pt x="4391" y="3373"/>
                          </a:lnTo>
                          <a:lnTo>
                            <a:pt x="4404" y="3374"/>
                          </a:lnTo>
                          <a:lnTo>
                            <a:pt x="4419" y="3374"/>
                          </a:lnTo>
                          <a:lnTo>
                            <a:pt x="4433" y="3375"/>
                          </a:lnTo>
                          <a:lnTo>
                            <a:pt x="4450" y="3376"/>
                          </a:lnTo>
                          <a:lnTo>
                            <a:pt x="4466" y="3376"/>
                          </a:lnTo>
                          <a:lnTo>
                            <a:pt x="4483" y="3377"/>
                          </a:lnTo>
                          <a:lnTo>
                            <a:pt x="4500" y="3377"/>
                          </a:lnTo>
                          <a:lnTo>
                            <a:pt x="4514" y="3378"/>
                          </a:lnTo>
                          <a:lnTo>
                            <a:pt x="4528" y="3378"/>
                          </a:lnTo>
                          <a:lnTo>
                            <a:pt x="4541" y="3379"/>
                          </a:lnTo>
                          <a:lnTo>
                            <a:pt x="4556" y="3380"/>
                          </a:lnTo>
                          <a:lnTo>
                            <a:pt x="4569" y="3380"/>
                          </a:lnTo>
                          <a:lnTo>
                            <a:pt x="4582" y="3381"/>
                          </a:lnTo>
                          <a:lnTo>
                            <a:pt x="4592" y="3381"/>
                          </a:lnTo>
                          <a:lnTo>
                            <a:pt x="4603" y="3381"/>
                          </a:lnTo>
                          <a:lnTo>
                            <a:pt x="4627" y="3382"/>
                          </a:lnTo>
                          <a:lnTo>
                            <a:pt x="4652" y="3383"/>
                          </a:lnTo>
                          <a:lnTo>
                            <a:pt x="4676" y="3384"/>
                          </a:lnTo>
                          <a:lnTo>
                            <a:pt x="4701" y="3385"/>
                          </a:lnTo>
                          <a:lnTo>
                            <a:pt x="4726" y="3385"/>
                          </a:lnTo>
                          <a:lnTo>
                            <a:pt x="4751" y="3386"/>
                          </a:lnTo>
                          <a:lnTo>
                            <a:pt x="4775" y="3387"/>
                          </a:lnTo>
                          <a:lnTo>
                            <a:pt x="4800" y="3388"/>
                          </a:lnTo>
                          <a:lnTo>
                            <a:pt x="4813" y="3388"/>
                          </a:lnTo>
                          <a:lnTo>
                            <a:pt x="4825" y="3389"/>
                          </a:lnTo>
                          <a:lnTo>
                            <a:pt x="4851" y="3390"/>
                          </a:lnTo>
                          <a:lnTo>
                            <a:pt x="4876" y="3390"/>
                          </a:lnTo>
                          <a:lnTo>
                            <a:pt x="4902" y="3391"/>
                          </a:lnTo>
                          <a:lnTo>
                            <a:pt x="4928" y="3392"/>
                          </a:lnTo>
                          <a:lnTo>
                            <a:pt x="4954" y="3393"/>
                          </a:lnTo>
                          <a:lnTo>
                            <a:pt x="4981" y="3394"/>
                          </a:lnTo>
                          <a:lnTo>
                            <a:pt x="5006" y="3394"/>
                          </a:lnTo>
                          <a:lnTo>
                            <a:pt x="5033" y="3395"/>
                          </a:lnTo>
                          <a:lnTo>
                            <a:pt x="5036" y="3395"/>
                          </a:lnTo>
                          <a:lnTo>
                            <a:pt x="5039" y="3395"/>
                          </a:lnTo>
                          <a:lnTo>
                            <a:pt x="5040" y="3395"/>
                          </a:lnTo>
                          <a:lnTo>
                            <a:pt x="5041" y="3395"/>
                          </a:lnTo>
                          <a:lnTo>
                            <a:pt x="5065" y="3396"/>
                          </a:lnTo>
                          <a:lnTo>
                            <a:pt x="5090" y="3397"/>
                          </a:lnTo>
                          <a:lnTo>
                            <a:pt x="5113" y="3397"/>
                          </a:lnTo>
                          <a:lnTo>
                            <a:pt x="5138" y="3398"/>
                          </a:lnTo>
                          <a:lnTo>
                            <a:pt x="5163" y="3399"/>
                          </a:lnTo>
                          <a:lnTo>
                            <a:pt x="5187" y="3399"/>
                          </a:lnTo>
                          <a:lnTo>
                            <a:pt x="5211" y="3400"/>
                          </a:lnTo>
                          <a:lnTo>
                            <a:pt x="5236" y="3401"/>
                          </a:lnTo>
                          <a:lnTo>
                            <a:pt x="5247" y="3401"/>
                          </a:lnTo>
                          <a:lnTo>
                            <a:pt x="5258" y="3401"/>
                          </a:lnTo>
                          <a:lnTo>
                            <a:pt x="5269" y="3403"/>
                          </a:lnTo>
                          <a:lnTo>
                            <a:pt x="5279" y="3403"/>
                          </a:lnTo>
                          <a:lnTo>
                            <a:pt x="5303" y="3403"/>
                          </a:lnTo>
                          <a:lnTo>
                            <a:pt x="5327" y="3404"/>
                          </a:lnTo>
                          <a:lnTo>
                            <a:pt x="5352" y="3405"/>
                          </a:lnTo>
                          <a:lnTo>
                            <a:pt x="5375" y="3405"/>
                          </a:lnTo>
                          <a:lnTo>
                            <a:pt x="5399" y="3406"/>
                          </a:lnTo>
                          <a:lnTo>
                            <a:pt x="5423" y="3406"/>
                          </a:lnTo>
                          <a:lnTo>
                            <a:pt x="5446" y="3407"/>
                          </a:lnTo>
                          <a:lnTo>
                            <a:pt x="5470" y="3407"/>
                          </a:lnTo>
                          <a:lnTo>
                            <a:pt x="5479" y="3408"/>
                          </a:lnTo>
                          <a:lnTo>
                            <a:pt x="5488" y="3408"/>
                          </a:lnTo>
                          <a:lnTo>
                            <a:pt x="5501" y="3408"/>
                          </a:lnTo>
                          <a:lnTo>
                            <a:pt x="5514" y="3408"/>
                          </a:lnTo>
                          <a:lnTo>
                            <a:pt x="5538" y="3409"/>
                          </a:lnTo>
                          <a:lnTo>
                            <a:pt x="5561" y="3409"/>
                          </a:lnTo>
                          <a:lnTo>
                            <a:pt x="5585" y="3410"/>
                          </a:lnTo>
                          <a:lnTo>
                            <a:pt x="5608" y="3410"/>
                          </a:lnTo>
                          <a:lnTo>
                            <a:pt x="5632" y="3411"/>
                          </a:lnTo>
                          <a:lnTo>
                            <a:pt x="5656" y="3411"/>
                          </a:lnTo>
                          <a:lnTo>
                            <a:pt x="5679" y="3412"/>
                          </a:lnTo>
                          <a:lnTo>
                            <a:pt x="5703" y="3412"/>
                          </a:lnTo>
                          <a:lnTo>
                            <a:pt x="5709" y="3412"/>
                          </a:lnTo>
                          <a:lnTo>
                            <a:pt x="5715" y="3412"/>
                          </a:lnTo>
                          <a:lnTo>
                            <a:pt x="5740" y="3413"/>
                          </a:lnTo>
                          <a:lnTo>
                            <a:pt x="5765" y="3413"/>
                          </a:lnTo>
                          <a:lnTo>
                            <a:pt x="5791" y="3414"/>
                          </a:lnTo>
                          <a:lnTo>
                            <a:pt x="5815" y="3414"/>
                          </a:lnTo>
                          <a:lnTo>
                            <a:pt x="5840" y="3415"/>
                          </a:lnTo>
                          <a:lnTo>
                            <a:pt x="5866" y="3415"/>
                          </a:lnTo>
                          <a:lnTo>
                            <a:pt x="5891" y="3416"/>
                          </a:lnTo>
                          <a:lnTo>
                            <a:pt x="5916" y="3416"/>
                          </a:lnTo>
                          <a:lnTo>
                            <a:pt x="5929" y="3416"/>
                          </a:lnTo>
                          <a:lnTo>
                            <a:pt x="5941" y="3417"/>
                          </a:lnTo>
                          <a:lnTo>
                            <a:pt x="5950" y="3417"/>
                          </a:lnTo>
                          <a:lnTo>
                            <a:pt x="5960" y="3417"/>
                          </a:lnTo>
                          <a:lnTo>
                            <a:pt x="5984" y="3417"/>
                          </a:lnTo>
                          <a:lnTo>
                            <a:pt x="6009" y="3418"/>
                          </a:lnTo>
                          <a:lnTo>
                            <a:pt x="6035" y="3418"/>
                          </a:lnTo>
                          <a:lnTo>
                            <a:pt x="6060" y="3418"/>
                          </a:lnTo>
                          <a:lnTo>
                            <a:pt x="6084" y="3419"/>
                          </a:lnTo>
                          <a:lnTo>
                            <a:pt x="6110" y="3419"/>
                          </a:lnTo>
                          <a:lnTo>
                            <a:pt x="6135" y="3419"/>
                          </a:lnTo>
                          <a:lnTo>
                            <a:pt x="6161" y="3420"/>
                          </a:lnTo>
                          <a:lnTo>
                            <a:pt x="6171" y="3420"/>
                          </a:lnTo>
                          <a:lnTo>
                            <a:pt x="6180" y="3420"/>
                          </a:lnTo>
                          <a:lnTo>
                            <a:pt x="6191" y="3420"/>
                          </a:lnTo>
                          <a:lnTo>
                            <a:pt x="6201" y="3420"/>
                          </a:lnTo>
                          <a:lnTo>
                            <a:pt x="6226" y="3421"/>
                          </a:lnTo>
                          <a:lnTo>
                            <a:pt x="6251" y="3421"/>
                          </a:lnTo>
                          <a:lnTo>
                            <a:pt x="6276" y="3421"/>
                          </a:lnTo>
                          <a:lnTo>
                            <a:pt x="6301" y="3422"/>
                          </a:lnTo>
                          <a:lnTo>
                            <a:pt x="6327" y="3422"/>
                          </a:lnTo>
                          <a:lnTo>
                            <a:pt x="6351" y="3422"/>
                          </a:lnTo>
                          <a:lnTo>
                            <a:pt x="6377" y="3422"/>
                          </a:lnTo>
                          <a:lnTo>
                            <a:pt x="6403" y="3423"/>
                          </a:lnTo>
                          <a:lnTo>
                            <a:pt x="6408" y="3423"/>
                          </a:lnTo>
                          <a:lnTo>
                            <a:pt x="6412" y="3423"/>
                          </a:lnTo>
                          <a:lnTo>
                            <a:pt x="6414" y="3423"/>
                          </a:lnTo>
                          <a:lnTo>
                            <a:pt x="6415" y="3423"/>
                          </a:lnTo>
                          <a:lnTo>
                            <a:pt x="6443" y="3423"/>
                          </a:lnTo>
                          <a:lnTo>
                            <a:pt x="6472" y="3423"/>
                          </a:lnTo>
                          <a:lnTo>
                            <a:pt x="6500" y="3424"/>
                          </a:lnTo>
                          <a:lnTo>
                            <a:pt x="6528" y="3424"/>
                          </a:lnTo>
                          <a:lnTo>
                            <a:pt x="6555" y="3424"/>
                          </a:lnTo>
                          <a:lnTo>
                            <a:pt x="6583" y="3424"/>
                          </a:lnTo>
                          <a:lnTo>
                            <a:pt x="6612" y="3425"/>
                          </a:lnTo>
                          <a:lnTo>
                            <a:pt x="6640" y="3425"/>
                          </a:lnTo>
                          <a:lnTo>
                            <a:pt x="6650" y="3425"/>
                          </a:lnTo>
                          <a:lnTo>
                            <a:pt x="6661" y="3425"/>
                          </a:lnTo>
                          <a:lnTo>
                            <a:pt x="6671" y="3425"/>
                          </a:lnTo>
                          <a:lnTo>
                            <a:pt x="6681" y="3425"/>
                          </a:lnTo>
                          <a:lnTo>
                            <a:pt x="6708" y="3425"/>
                          </a:lnTo>
                          <a:lnTo>
                            <a:pt x="6735" y="3425"/>
                          </a:lnTo>
                          <a:lnTo>
                            <a:pt x="6763" y="3426"/>
                          </a:lnTo>
                          <a:lnTo>
                            <a:pt x="6789" y="3426"/>
                          </a:lnTo>
                          <a:lnTo>
                            <a:pt x="6816" y="3426"/>
                          </a:lnTo>
                          <a:lnTo>
                            <a:pt x="6844" y="3426"/>
                          </a:lnTo>
                          <a:lnTo>
                            <a:pt x="6871" y="3426"/>
                          </a:lnTo>
                          <a:lnTo>
                            <a:pt x="6898" y="3426"/>
                          </a:lnTo>
                          <a:lnTo>
                            <a:pt x="6909" y="3426"/>
                          </a:lnTo>
                          <a:lnTo>
                            <a:pt x="6919" y="3426"/>
                          </a:lnTo>
                          <a:lnTo>
                            <a:pt x="6934" y="3426"/>
                          </a:lnTo>
                          <a:lnTo>
                            <a:pt x="6949" y="3426"/>
                          </a:lnTo>
                          <a:lnTo>
                            <a:pt x="6975" y="3427"/>
                          </a:lnTo>
                          <a:lnTo>
                            <a:pt x="7001" y="3427"/>
                          </a:lnTo>
                          <a:lnTo>
                            <a:pt x="7027" y="3427"/>
                          </a:lnTo>
                          <a:lnTo>
                            <a:pt x="7052" y="3427"/>
                          </a:lnTo>
                          <a:lnTo>
                            <a:pt x="7078" y="3427"/>
                          </a:lnTo>
                          <a:lnTo>
                            <a:pt x="7104" y="3427"/>
                          </a:lnTo>
                          <a:lnTo>
                            <a:pt x="7130" y="3427"/>
                          </a:lnTo>
                          <a:lnTo>
                            <a:pt x="7155" y="3427"/>
                          </a:lnTo>
                          <a:lnTo>
                            <a:pt x="7197" y="3427"/>
                          </a:lnTo>
                          <a:lnTo>
                            <a:pt x="7237" y="3427"/>
                          </a:lnTo>
                          <a:lnTo>
                            <a:pt x="7277" y="3427"/>
                          </a:lnTo>
                          <a:lnTo>
                            <a:pt x="7317" y="3427"/>
                          </a:lnTo>
                          <a:lnTo>
                            <a:pt x="7357" y="3427"/>
                          </a:lnTo>
                          <a:lnTo>
                            <a:pt x="7398" y="3427"/>
                          </a:lnTo>
                          <a:lnTo>
                            <a:pt x="7438" y="3427"/>
                          </a:lnTo>
                          <a:lnTo>
                            <a:pt x="7478" y="3427"/>
                          </a:lnTo>
                          <a:lnTo>
                            <a:pt x="7483" y="3427"/>
                          </a:lnTo>
                          <a:lnTo>
                            <a:pt x="7487" y="3427"/>
                          </a:lnTo>
                          <a:lnTo>
                            <a:pt x="7496" y="3427"/>
                          </a:lnTo>
                          <a:lnTo>
                            <a:pt x="7503" y="3427"/>
                          </a:lnTo>
                          <a:lnTo>
                            <a:pt x="7541" y="3427"/>
                          </a:lnTo>
                          <a:lnTo>
                            <a:pt x="7579" y="3426"/>
                          </a:lnTo>
                          <a:lnTo>
                            <a:pt x="7616" y="3426"/>
                          </a:lnTo>
                          <a:lnTo>
                            <a:pt x="7654" y="3426"/>
                          </a:lnTo>
                          <a:lnTo>
                            <a:pt x="7691" y="3426"/>
                          </a:lnTo>
                          <a:lnTo>
                            <a:pt x="7730" y="3426"/>
                          </a:lnTo>
                          <a:lnTo>
                            <a:pt x="7767" y="3426"/>
                          </a:lnTo>
                          <a:lnTo>
                            <a:pt x="7805" y="3425"/>
                          </a:lnTo>
                          <a:lnTo>
                            <a:pt x="7814" y="3425"/>
                          </a:lnTo>
                          <a:lnTo>
                            <a:pt x="7823" y="3425"/>
                          </a:lnTo>
                          <a:lnTo>
                            <a:pt x="7833" y="3425"/>
                          </a:lnTo>
                          <a:lnTo>
                            <a:pt x="7842" y="3425"/>
                          </a:lnTo>
                          <a:lnTo>
                            <a:pt x="7879" y="3425"/>
                          </a:lnTo>
                          <a:lnTo>
                            <a:pt x="7915" y="3424"/>
                          </a:lnTo>
                          <a:lnTo>
                            <a:pt x="7952" y="3424"/>
                          </a:lnTo>
                          <a:lnTo>
                            <a:pt x="7988" y="3424"/>
                          </a:lnTo>
                          <a:lnTo>
                            <a:pt x="8024" y="3424"/>
                          </a:lnTo>
                          <a:lnTo>
                            <a:pt x="8061" y="3423"/>
                          </a:lnTo>
                          <a:lnTo>
                            <a:pt x="8097" y="3423"/>
                          </a:lnTo>
                          <a:lnTo>
                            <a:pt x="8134" y="3422"/>
                          </a:lnTo>
                          <a:lnTo>
                            <a:pt x="8143" y="3422"/>
                          </a:lnTo>
                          <a:lnTo>
                            <a:pt x="8151" y="3422"/>
                          </a:lnTo>
                          <a:lnTo>
                            <a:pt x="8158" y="3422"/>
                          </a:lnTo>
                          <a:lnTo>
                            <a:pt x="8167" y="3422"/>
                          </a:lnTo>
                          <a:lnTo>
                            <a:pt x="8196" y="3422"/>
                          </a:lnTo>
                          <a:lnTo>
                            <a:pt x="8226" y="3421"/>
                          </a:lnTo>
                          <a:lnTo>
                            <a:pt x="8257" y="3421"/>
                          </a:lnTo>
                          <a:lnTo>
                            <a:pt x="8287" y="3421"/>
                          </a:lnTo>
                          <a:lnTo>
                            <a:pt x="8317" y="3420"/>
                          </a:lnTo>
                          <a:lnTo>
                            <a:pt x="8347" y="3420"/>
                          </a:lnTo>
                          <a:lnTo>
                            <a:pt x="8377" y="3420"/>
                          </a:lnTo>
                          <a:lnTo>
                            <a:pt x="8407" y="3419"/>
                          </a:lnTo>
                          <a:lnTo>
                            <a:pt x="8416" y="3419"/>
                          </a:lnTo>
                          <a:lnTo>
                            <a:pt x="8425" y="3419"/>
                          </a:lnTo>
                          <a:lnTo>
                            <a:pt x="8435" y="3419"/>
                          </a:lnTo>
                          <a:lnTo>
                            <a:pt x="8444" y="3419"/>
                          </a:lnTo>
                          <a:lnTo>
                            <a:pt x="8474" y="3418"/>
                          </a:lnTo>
                          <a:lnTo>
                            <a:pt x="8504" y="3418"/>
                          </a:lnTo>
                          <a:lnTo>
                            <a:pt x="8533" y="3417"/>
                          </a:lnTo>
                          <a:lnTo>
                            <a:pt x="8562" y="3417"/>
                          </a:lnTo>
                          <a:lnTo>
                            <a:pt x="8592" y="3416"/>
                          </a:lnTo>
                          <a:lnTo>
                            <a:pt x="8622" y="3416"/>
                          </a:lnTo>
                          <a:lnTo>
                            <a:pt x="8651" y="3415"/>
                          </a:lnTo>
                          <a:lnTo>
                            <a:pt x="8681" y="3415"/>
                          </a:lnTo>
                          <a:lnTo>
                            <a:pt x="8690" y="3415"/>
                          </a:lnTo>
                          <a:lnTo>
                            <a:pt x="8698" y="3414"/>
                          </a:lnTo>
                          <a:lnTo>
                            <a:pt x="8708" y="3414"/>
                          </a:lnTo>
                          <a:lnTo>
                            <a:pt x="8717" y="3414"/>
                          </a:lnTo>
                          <a:lnTo>
                            <a:pt x="8747" y="3414"/>
                          </a:lnTo>
                          <a:lnTo>
                            <a:pt x="8776" y="3413"/>
                          </a:lnTo>
                          <a:lnTo>
                            <a:pt x="8805" y="3412"/>
                          </a:lnTo>
                          <a:lnTo>
                            <a:pt x="8834" y="3412"/>
                          </a:lnTo>
                          <a:lnTo>
                            <a:pt x="8863" y="3411"/>
                          </a:lnTo>
                          <a:lnTo>
                            <a:pt x="8892" y="3411"/>
                          </a:lnTo>
                          <a:lnTo>
                            <a:pt x="8921" y="3410"/>
                          </a:lnTo>
                          <a:lnTo>
                            <a:pt x="8950" y="3410"/>
                          </a:lnTo>
                          <a:lnTo>
                            <a:pt x="8958" y="3409"/>
                          </a:lnTo>
                          <a:lnTo>
                            <a:pt x="8967" y="3409"/>
                          </a:lnTo>
                          <a:lnTo>
                            <a:pt x="8976" y="3409"/>
                          </a:lnTo>
                          <a:lnTo>
                            <a:pt x="8984" y="3409"/>
                          </a:lnTo>
                          <a:lnTo>
                            <a:pt x="9014" y="3408"/>
                          </a:lnTo>
                          <a:lnTo>
                            <a:pt x="9043" y="3408"/>
                          </a:lnTo>
                          <a:lnTo>
                            <a:pt x="9072" y="3407"/>
                          </a:lnTo>
                          <a:lnTo>
                            <a:pt x="9100" y="3406"/>
                          </a:lnTo>
                          <a:lnTo>
                            <a:pt x="9129" y="3406"/>
                          </a:lnTo>
                          <a:lnTo>
                            <a:pt x="9158" y="3405"/>
                          </a:lnTo>
                          <a:lnTo>
                            <a:pt x="9186" y="3404"/>
                          </a:lnTo>
                          <a:lnTo>
                            <a:pt x="9215" y="3403"/>
                          </a:lnTo>
                          <a:lnTo>
                            <a:pt x="9221" y="3403"/>
                          </a:lnTo>
                          <a:lnTo>
                            <a:pt x="9226" y="3403"/>
                          </a:lnTo>
                          <a:lnTo>
                            <a:pt x="9236" y="3403"/>
                          </a:lnTo>
                          <a:lnTo>
                            <a:pt x="9247" y="3403"/>
                          </a:lnTo>
                          <a:lnTo>
                            <a:pt x="9256" y="3401"/>
                          </a:lnTo>
                          <a:lnTo>
                            <a:pt x="9266" y="3401"/>
                          </a:lnTo>
                          <a:lnTo>
                            <a:pt x="9288" y="3401"/>
                          </a:lnTo>
                          <a:lnTo>
                            <a:pt x="9311" y="3400"/>
                          </a:lnTo>
                          <a:lnTo>
                            <a:pt x="9332" y="3399"/>
                          </a:lnTo>
                          <a:lnTo>
                            <a:pt x="9355" y="3399"/>
                          </a:lnTo>
                          <a:lnTo>
                            <a:pt x="9369" y="3398"/>
                          </a:lnTo>
                          <a:lnTo>
                            <a:pt x="9385" y="3398"/>
                          </a:lnTo>
                          <a:lnTo>
                            <a:pt x="9399" y="3398"/>
                          </a:lnTo>
                          <a:lnTo>
                            <a:pt x="9414" y="3397"/>
                          </a:lnTo>
                          <a:lnTo>
                            <a:pt x="9435" y="3397"/>
                          </a:lnTo>
                          <a:lnTo>
                            <a:pt x="9457" y="3396"/>
                          </a:lnTo>
                          <a:lnTo>
                            <a:pt x="9479" y="3395"/>
                          </a:lnTo>
                          <a:lnTo>
                            <a:pt x="9499" y="3395"/>
                          </a:lnTo>
                          <a:lnTo>
                            <a:pt x="9515" y="3394"/>
                          </a:lnTo>
                          <a:lnTo>
                            <a:pt x="9529" y="3394"/>
                          </a:lnTo>
                          <a:lnTo>
                            <a:pt x="9544" y="3393"/>
                          </a:lnTo>
                          <a:lnTo>
                            <a:pt x="9558" y="3393"/>
                          </a:lnTo>
                          <a:lnTo>
                            <a:pt x="9580" y="3392"/>
                          </a:lnTo>
                          <a:lnTo>
                            <a:pt x="9601" y="3392"/>
                          </a:lnTo>
                          <a:lnTo>
                            <a:pt x="9623" y="3391"/>
                          </a:lnTo>
                          <a:lnTo>
                            <a:pt x="9644" y="3390"/>
                          </a:lnTo>
                          <a:lnTo>
                            <a:pt x="9658" y="3390"/>
                          </a:lnTo>
                          <a:lnTo>
                            <a:pt x="9672" y="3390"/>
                          </a:lnTo>
                          <a:lnTo>
                            <a:pt x="9686" y="3389"/>
                          </a:lnTo>
                          <a:lnTo>
                            <a:pt x="9700" y="3389"/>
                          </a:lnTo>
                          <a:lnTo>
                            <a:pt x="9722" y="3388"/>
                          </a:lnTo>
                          <a:lnTo>
                            <a:pt x="9745" y="3387"/>
                          </a:lnTo>
                          <a:lnTo>
                            <a:pt x="9766" y="3386"/>
                          </a:lnTo>
                          <a:lnTo>
                            <a:pt x="9789" y="3386"/>
                          </a:lnTo>
                          <a:lnTo>
                            <a:pt x="9801" y="3385"/>
                          </a:lnTo>
                          <a:lnTo>
                            <a:pt x="9815" y="3385"/>
                          </a:lnTo>
                          <a:lnTo>
                            <a:pt x="9827" y="3384"/>
                          </a:lnTo>
                          <a:lnTo>
                            <a:pt x="9839" y="3384"/>
                          </a:lnTo>
                          <a:lnTo>
                            <a:pt x="9867" y="3383"/>
                          </a:lnTo>
                          <a:lnTo>
                            <a:pt x="9894" y="3382"/>
                          </a:lnTo>
                          <a:lnTo>
                            <a:pt x="9921" y="3381"/>
                          </a:lnTo>
                          <a:lnTo>
                            <a:pt x="9948" y="3380"/>
                          </a:lnTo>
                          <a:lnTo>
                            <a:pt x="9962" y="3380"/>
                          </a:lnTo>
                          <a:lnTo>
                            <a:pt x="9977" y="3379"/>
                          </a:lnTo>
                          <a:lnTo>
                            <a:pt x="10011" y="3378"/>
                          </a:lnTo>
                          <a:lnTo>
                            <a:pt x="10045" y="3377"/>
                          </a:lnTo>
                          <a:lnTo>
                            <a:pt x="10079" y="3375"/>
                          </a:lnTo>
                          <a:lnTo>
                            <a:pt x="10112" y="3374"/>
                          </a:lnTo>
                          <a:lnTo>
                            <a:pt x="10121" y="3374"/>
                          </a:lnTo>
                          <a:lnTo>
                            <a:pt x="10130" y="3373"/>
                          </a:lnTo>
                          <a:lnTo>
                            <a:pt x="10138" y="3373"/>
                          </a:lnTo>
                          <a:lnTo>
                            <a:pt x="10148" y="3372"/>
                          </a:lnTo>
                          <a:lnTo>
                            <a:pt x="10172" y="3372"/>
                          </a:lnTo>
                          <a:lnTo>
                            <a:pt x="10196" y="3371"/>
                          </a:lnTo>
                          <a:lnTo>
                            <a:pt x="10221" y="3370"/>
                          </a:lnTo>
                          <a:lnTo>
                            <a:pt x="10245" y="3369"/>
                          </a:lnTo>
                          <a:lnTo>
                            <a:pt x="10257" y="3367"/>
                          </a:lnTo>
                          <a:lnTo>
                            <a:pt x="10268" y="3367"/>
                          </a:lnTo>
                          <a:lnTo>
                            <a:pt x="10281" y="3366"/>
                          </a:lnTo>
                          <a:lnTo>
                            <a:pt x="10292" y="3366"/>
                          </a:lnTo>
                          <a:lnTo>
                            <a:pt x="10314" y="3365"/>
                          </a:lnTo>
                          <a:lnTo>
                            <a:pt x="10334" y="3364"/>
                          </a:lnTo>
                          <a:lnTo>
                            <a:pt x="10356" y="3363"/>
                          </a:lnTo>
                          <a:lnTo>
                            <a:pt x="10376" y="3362"/>
                          </a:lnTo>
                          <a:lnTo>
                            <a:pt x="10387" y="3361"/>
                          </a:lnTo>
                          <a:lnTo>
                            <a:pt x="10396" y="3361"/>
                          </a:lnTo>
                          <a:lnTo>
                            <a:pt x="10405" y="3361"/>
                          </a:lnTo>
                          <a:lnTo>
                            <a:pt x="10415" y="3360"/>
                          </a:lnTo>
                          <a:lnTo>
                            <a:pt x="10424" y="3360"/>
                          </a:lnTo>
                          <a:lnTo>
                            <a:pt x="10433" y="3359"/>
                          </a:lnTo>
                          <a:lnTo>
                            <a:pt x="10448" y="3359"/>
                          </a:lnTo>
                          <a:lnTo>
                            <a:pt x="10463" y="3358"/>
                          </a:lnTo>
                          <a:lnTo>
                            <a:pt x="10478" y="3357"/>
                          </a:lnTo>
                          <a:lnTo>
                            <a:pt x="10494" y="3357"/>
                          </a:lnTo>
                          <a:lnTo>
                            <a:pt x="10507" y="3356"/>
                          </a:lnTo>
                          <a:lnTo>
                            <a:pt x="10522" y="3355"/>
                          </a:lnTo>
                          <a:lnTo>
                            <a:pt x="10536" y="3355"/>
                          </a:lnTo>
                          <a:lnTo>
                            <a:pt x="10550" y="3354"/>
                          </a:lnTo>
                          <a:lnTo>
                            <a:pt x="10565" y="3353"/>
                          </a:lnTo>
                          <a:lnTo>
                            <a:pt x="10581" y="3352"/>
                          </a:lnTo>
                          <a:lnTo>
                            <a:pt x="10596" y="3352"/>
                          </a:lnTo>
                          <a:lnTo>
                            <a:pt x="10610" y="3351"/>
                          </a:lnTo>
                          <a:lnTo>
                            <a:pt x="10625" y="3350"/>
                          </a:lnTo>
                          <a:lnTo>
                            <a:pt x="10638" y="3350"/>
                          </a:lnTo>
                          <a:lnTo>
                            <a:pt x="10652" y="3349"/>
                          </a:lnTo>
                          <a:lnTo>
                            <a:pt x="10665" y="3348"/>
                          </a:lnTo>
                          <a:lnTo>
                            <a:pt x="10681" y="3348"/>
                          </a:lnTo>
                          <a:lnTo>
                            <a:pt x="10696" y="3347"/>
                          </a:lnTo>
                          <a:lnTo>
                            <a:pt x="10710" y="3346"/>
                          </a:lnTo>
                          <a:lnTo>
                            <a:pt x="10726" y="3345"/>
                          </a:lnTo>
                          <a:lnTo>
                            <a:pt x="10739" y="3345"/>
                          </a:lnTo>
                          <a:lnTo>
                            <a:pt x="10753" y="3344"/>
                          </a:lnTo>
                          <a:lnTo>
                            <a:pt x="10766" y="3343"/>
                          </a:lnTo>
                          <a:lnTo>
                            <a:pt x="10779" y="3342"/>
                          </a:lnTo>
                          <a:lnTo>
                            <a:pt x="10794" y="3342"/>
                          </a:lnTo>
                          <a:lnTo>
                            <a:pt x="10808" y="3341"/>
                          </a:lnTo>
                          <a:lnTo>
                            <a:pt x="10824" y="3340"/>
                          </a:lnTo>
                          <a:lnTo>
                            <a:pt x="10838" y="3339"/>
                          </a:lnTo>
                          <a:lnTo>
                            <a:pt x="10852" y="3339"/>
                          </a:lnTo>
                          <a:lnTo>
                            <a:pt x="10865" y="3338"/>
                          </a:lnTo>
                          <a:lnTo>
                            <a:pt x="10878" y="3337"/>
                          </a:lnTo>
                          <a:lnTo>
                            <a:pt x="10892" y="3336"/>
                          </a:lnTo>
                          <a:lnTo>
                            <a:pt x="10906" y="3336"/>
                          </a:lnTo>
                          <a:lnTo>
                            <a:pt x="10921" y="3335"/>
                          </a:lnTo>
                          <a:lnTo>
                            <a:pt x="10935" y="3333"/>
                          </a:lnTo>
                          <a:lnTo>
                            <a:pt x="10948" y="3332"/>
                          </a:lnTo>
                          <a:lnTo>
                            <a:pt x="10962" y="3331"/>
                          </a:lnTo>
                          <a:lnTo>
                            <a:pt x="10975" y="3331"/>
                          </a:lnTo>
                          <a:lnTo>
                            <a:pt x="10989" y="3330"/>
                          </a:lnTo>
                          <a:lnTo>
                            <a:pt x="11001" y="3329"/>
                          </a:lnTo>
                          <a:lnTo>
                            <a:pt x="11015" y="3328"/>
                          </a:lnTo>
                          <a:lnTo>
                            <a:pt x="11030" y="3328"/>
                          </a:lnTo>
                          <a:lnTo>
                            <a:pt x="11043" y="3327"/>
                          </a:lnTo>
                          <a:lnTo>
                            <a:pt x="11058" y="3326"/>
                          </a:lnTo>
                          <a:lnTo>
                            <a:pt x="11071" y="3325"/>
                          </a:lnTo>
                          <a:lnTo>
                            <a:pt x="11084" y="3324"/>
                          </a:lnTo>
                          <a:lnTo>
                            <a:pt x="11097" y="3324"/>
                          </a:lnTo>
                          <a:lnTo>
                            <a:pt x="11109" y="3323"/>
                          </a:lnTo>
                          <a:lnTo>
                            <a:pt x="11124" y="3322"/>
                          </a:lnTo>
                          <a:lnTo>
                            <a:pt x="11137" y="3321"/>
                          </a:lnTo>
                          <a:lnTo>
                            <a:pt x="11151" y="3320"/>
                          </a:lnTo>
                          <a:lnTo>
                            <a:pt x="11165" y="3319"/>
                          </a:lnTo>
                          <a:lnTo>
                            <a:pt x="11176" y="3319"/>
                          </a:lnTo>
                          <a:lnTo>
                            <a:pt x="11189" y="3318"/>
                          </a:lnTo>
                          <a:lnTo>
                            <a:pt x="11201" y="3317"/>
                          </a:lnTo>
                          <a:lnTo>
                            <a:pt x="11213" y="3316"/>
                          </a:lnTo>
                          <a:lnTo>
                            <a:pt x="11227" y="3315"/>
                          </a:lnTo>
                          <a:lnTo>
                            <a:pt x="11241" y="3315"/>
                          </a:lnTo>
                          <a:lnTo>
                            <a:pt x="11256" y="3314"/>
                          </a:lnTo>
                          <a:lnTo>
                            <a:pt x="11270" y="3313"/>
                          </a:lnTo>
                          <a:lnTo>
                            <a:pt x="11274" y="3312"/>
                          </a:lnTo>
                          <a:lnTo>
                            <a:pt x="11277" y="3312"/>
                          </a:lnTo>
                          <a:lnTo>
                            <a:pt x="11288" y="3312"/>
                          </a:lnTo>
                          <a:lnTo>
                            <a:pt x="11299" y="3311"/>
                          </a:lnTo>
                          <a:lnTo>
                            <a:pt x="11321" y="3309"/>
                          </a:lnTo>
                          <a:lnTo>
                            <a:pt x="11343" y="3308"/>
                          </a:lnTo>
                          <a:lnTo>
                            <a:pt x="11366" y="3306"/>
                          </a:lnTo>
                          <a:lnTo>
                            <a:pt x="11388" y="3305"/>
                          </a:lnTo>
                          <a:lnTo>
                            <a:pt x="11397" y="3304"/>
                          </a:lnTo>
                          <a:lnTo>
                            <a:pt x="11406" y="3304"/>
                          </a:lnTo>
                          <a:lnTo>
                            <a:pt x="11415" y="3303"/>
                          </a:lnTo>
                          <a:lnTo>
                            <a:pt x="11425" y="3302"/>
                          </a:lnTo>
                          <a:lnTo>
                            <a:pt x="11444" y="3301"/>
                          </a:lnTo>
                          <a:lnTo>
                            <a:pt x="11464" y="3298"/>
                          </a:lnTo>
                          <a:lnTo>
                            <a:pt x="11483" y="3297"/>
                          </a:lnTo>
                          <a:lnTo>
                            <a:pt x="11503" y="3296"/>
                          </a:lnTo>
                          <a:lnTo>
                            <a:pt x="11512" y="3295"/>
                          </a:lnTo>
                          <a:lnTo>
                            <a:pt x="11522" y="3294"/>
                          </a:lnTo>
                          <a:lnTo>
                            <a:pt x="11531" y="3294"/>
                          </a:lnTo>
                          <a:lnTo>
                            <a:pt x="11540" y="3293"/>
                          </a:lnTo>
                          <a:lnTo>
                            <a:pt x="11561" y="3291"/>
                          </a:lnTo>
                          <a:lnTo>
                            <a:pt x="11580" y="3290"/>
                          </a:lnTo>
                          <a:lnTo>
                            <a:pt x="11601" y="3288"/>
                          </a:lnTo>
                          <a:lnTo>
                            <a:pt x="11622" y="3287"/>
                          </a:lnTo>
                          <a:lnTo>
                            <a:pt x="11636" y="3286"/>
                          </a:lnTo>
                          <a:lnTo>
                            <a:pt x="11650" y="3285"/>
                          </a:lnTo>
                          <a:lnTo>
                            <a:pt x="11677" y="3282"/>
                          </a:lnTo>
                          <a:lnTo>
                            <a:pt x="11704" y="3280"/>
                          </a:lnTo>
                          <a:lnTo>
                            <a:pt x="11731" y="3278"/>
                          </a:lnTo>
                          <a:lnTo>
                            <a:pt x="11757" y="3276"/>
                          </a:lnTo>
                          <a:lnTo>
                            <a:pt x="11758" y="3276"/>
                          </a:lnTo>
                          <a:lnTo>
                            <a:pt x="11759" y="3276"/>
                          </a:lnTo>
                          <a:lnTo>
                            <a:pt x="11768" y="3275"/>
                          </a:lnTo>
                          <a:lnTo>
                            <a:pt x="11778" y="3274"/>
                          </a:lnTo>
                          <a:lnTo>
                            <a:pt x="11789" y="3273"/>
                          </a:lnTo>
                          <a:lnTo>
                            <a:pt x="11799" y="3272"/>
                          </a:lnTo>
                          <a:lnTo>
                            <a:pt x="11811" y="3271"/>
                          </a:lnTo>
                          <a:lnTo>
                            <a:pt x="11824" y="3270"/>
                          </a:lnTo>
                          <a:lnTo>
                            <a:pt x="11836" y="3269"/>
                          </a:lnTo>
                          <a:lnTo>
                            <a:pt x="11848" y="3268"/>
                          </a:lnTo>
                          <a:lnTo>
                            <a:pt x="11881" y="3264"/>
                          </a:lnTo>
                          <a:lnTo>
                            <a:pt x="11915" y="3261"/>
                          </a:lnTo>
                          <a:lnTo>
                            <a:pt x="11947" y="3259"/>
                          </a:lnTo>
                          <a:lnTo>
                            <a:pt x="11980" y="3256"/>
                          </a:lnTo>
                          <a:lnTo>
                            <a:pt x="12012" y="3253"/>
                          </a:lnTo>
                          <a:lnTo>
                            <a:pt x="12044" y="3250"/>
                          </a:lnTo>
                          <a:lnTo>
                            <a:pt x="12075" y="3246"/>
                          </a:lnTo>
                          <a:lnTo>
                            <a:pt x="12106" y="3243"/>
                          </a:lnTo>
                          <a:lnTo>
                            <a:pt x="12126" y="3241"/>
                          </a:lnTo>
                          <a:lnTo>
                            <a:pt x="12146" y="3239"/>
                          </a:lnTo>
                          <a:lnTo>
                            <a:pt x="12166" y="3237"/>
                          </a:lnTo>
                          <a:lnTo>
                            <a:pt x="12184" y="3235"/>
                          </a:lnTo>
                          <a:lnTo>
                            <a:pt x="12196" y="3234"/>
                          </a:lnTo>
                          <a:lnTo>
                            <a:pt x="12207" y="3233"/>
                          </a:lnTo>
                          <a:lnTo>
                            <a:pt x="12220" y="3232"/>
                          </a:lnTo>
                          <a:lnTo>
                            <a:pt x="12234" y="3229"/>
                          </a:lnTo>
                          <a:lnTo>
                            <a:pt x="12246" y="3228"/>
                          </a:lnTo>
                          <a:lnTo>
                            <a:pt x="12260" y="3226"/>
                          </a:lnTo>
                          <a:lnTo>
                            <a:pt x="12273" y="3225"/>
                          </a:lnTo>
                          <a:lnTo>
                            <a:pt x="12286" y="3223"/>
                          </a:lnTo>
                          <a:lnTo>
                            <a:pt x="12299" y="3222"/>
                          </a:lnTo>
                          <a:lnTo>
                            <a:pt x="12310" y="3221"/>
                          </a:lnTo>
                          <a:lnTo>
                            <a:pt x="12321" y="3219"/>
                          </a:lnTo>
                          <a:lnTo>
                            <a:pt x="12333" y="3218"/>
                          </a:lnTo>
                          <a:lnTo>
                            <a:pt x="12346" y="3216"/>
                          </a:lnTo>
                          <a:lnTo>
                            <a:pt x="12359" y="3215"/>
                          </a:lnTo>
                          <a:lnTo>
                            <a:pt x="12372" y="3213"/>
                          </a:lnTo>
                          <a:lnTo>
                            <a:pt x="12384" y="3212"/>
                          </a:lnTo>
                          <a:lnTo>
                            <a:pt x="12395" y="3211"/>
                          </a:lnTo>
                          <a:lnTo>
                            <a:pt x="12405" y="3209"/>
                          </a:lnTo>
                          <a:lnTo>
                            <a:pt x="12416" y="3208"/>
                          </a:lnTo>
                          <a:lnTo>
                            <a:pt x="12428" y="3207"/>
                          </a:lnTo>
                          <a:lnTo>
                            <a:pt x="12439" y="3205"/>
                          </a:lnTo>
                          <a:lnTo>
                            <a:pt x="12450" y="3204"/>
                          </a:lnTo>
                          <a:lnTo>
                            <a:pt x="12462" y="3202"/>
                          </a:lnTo>
                          <a:lnTo>
                            <a:pt x="12473" y="3201"/>
                          </a:lnTo>
                          <a:lnTo>
                            <a:pt x="12483" y="3200"/>
                          </a:lnTo>
                          <a:lnTo>
                            <a:pt x="12494" y="3198"/>
                          </a:lnTo>
                          <a:lnTo>
                            <a:pt x="12507" y="3196"/>
                          </a:lnTo>
                          <a:lnTo>
                            <a:pt x="12519" y="3194"/>
                          </a:lnTo>
                          <a:lnTo>
                            <a:pt x="12532" y="3192"/>
                          </a:lnTo>
                          <a:lnTo>
                            <a:pt x="12543" y="3191"/>
                          </a:lnTo>
                          <a:lnTo>
                            <a:pt x="12550" y="3190"/>
                          </a:lnTo>
                          <a:lnTo>
                            <a:pt x="12556" y="3189"/>
                          </a:lnTo>
                          <a:lnTo>
                            <a:pt x="12572" y="3187"/>
                          </a:lnTo>
                          <a:lnTo>
                            <a:pt x="12586" y="3185"/>
                          </a:lnTo>
                          <a:lnTo>
                            <a:pt x="12600" y="3183"/>
                          </a:lnTo>
                          <a:lnTo>
                            <a:pt x="12614" y="3181"/>
                          </a:lnTo>
                          <a:lnTo>
                            <a:pt x="12616" y="3180"/>
                          </a:lnTo>
                          <a:lnTo>
                            <a:pt x="12617" y="3180"/>
                          </a:lnTo>
                          <a:lnTo>
                            <a:pt x="12623" y="3179"/>
                          </a:lnTo>
                          <a:lnTo>
                            <a:pt x="12629" y="3178"/>
                          </a:lnTo>
                          <a:lnTo>
                            <a:pt x="12640" y="3177"/>
                          </a:lnTo>
                          <a:lnTo>
                            <a:pt x="12651" y="3175"/>
                          </a:lnTo>
                          <a:lnTo>
                            <a:pt x="12663" y="3173"/>
                          </a:lnTo>
                          <a:lnTo>
                            <a:pt x="12674" y="3172"/>
                          </a:lnTo>
                          <a:lnTo>
                            <a:pt x="12684" y="3170"/>
                          </a:lnTo>
                          <a:lnTo>
                            <a:pt x="12694" y="3169"/>
                          </a:lnTo>
                          <a:lnTo>
                            <a:pt x="12703" y="3167"/>
                          </a:lnTo>
                          <a:lnTo>
                            <a:pt x="12711" y="3166"/>
                          </a:lnTo>
                          <a:lnTo>
                            <a:pt x="12720" y="3164"/>
                          </a:lnTo>
                          <a:lnTo>
                            <a:pt x="12729" y="3162"/>
                          </a:lnTo>
                          <a:lnTo>
                            <a:pt x="12739" y="3160"/>
                          </a:lnTo>
                          <a:lnTo>
                            <a:pt x="12749" y="3159"/>
                          </a:lnTo>
                          <a:lnTo>
                            <a:pt x="12757" y="3157"/>
                          </a:lnTo>
                          <a:lnTo>
                            <a:pt x="12766" y="3156"/>
                          </a:lnTo>
                          <a:lnTo>
                            <a:pt x="12775" y="3154"/>
                          </a:lnTo>
                          <a:lnTo>
                            <a:pt x="12783" y="3153"/>
                          </a:lnTo>
                          <a:lnTo>
                            <a:pt x="12791" y="3151"/>
                          </a:lnTo>
                          <a:lnTo>
                            <a:pt x="12800" y="3150"/>
                          </a:lnTo>
                          <a:lnTo>
                            <a:pt x="12803" y="3149"/>
                          </a:lnTo>
                          <a:lnTo>
                            <a:pt x="12806" y="3149"/>
                          </a:lnTo>
                          <a:lnTo>
                            <a:pt x="12816" y="3147"/>
                          </a:lnTo>
                          <a:lnTo>
                            <a:pt x="12826" y="3145"/>
                          </a:lnTo>
                          <a:lnTo>
                            <a:pt x="12836" y="3143"/>
                          </a:lnTo>
                          <a:lnTo>
                            <a:pt x="12846" y="3141"/>
                          </a:lnTo>
                          <a:lnTo>
                            <a:pt x="12847" y="3141"/>
                          </a:lnTo>
                          <a:lnTo>
                            <a:pt x="12848" y="3141"/>
                          </a:lnTo>
                          <a:lnTo>
                            <a:pt x="12859" y="3139"/>
                          </a:lnTo>
                          <a:lnTo>
                            <a:pt x="12871" y="3136"/>
                          </a:lnTo>
                          <a:lnTo>
                            <a:pt x="12882" y="3134"/>
                          </a:lnTo>
                          <a:lnTo>
                            <a:pt x="12893" y="3132"/>
                          </a:lnTo>
                          <a:lnTo>
                            <a:pt x="12901" y="3131"/>
                          </a:lnTo>
                          <a:lnTo>
                            <a:pt x="12907" y="3128"/>
                          </a:lnTo>
                          <a:lnTo>
                            <a:pt x="12921" y="3125"/>
                          </a:lnTo>
                          <a:lnTo>
                            <a:pt x="12937" y="3122"/>
                          </a:lnTo>
                          <a:lnTo>
                            <a:pt x="12944" y="3120"/>
                          </a:lnTo>
                          <a:lnTo>
                            <a:pt x="12952" y="3118"/>
                          </a:lnTo>
                          <a:lnTo>
                            <a:pt x="12958" y="3117"/>
                          </a:lnTo>
                          <a:lnTo>
                            <a:pt x="12965" y="3116"/>
                          </a:lnTo>
                          <a:lnTo>
                            <a:pt x="12971" y="3114"/>
                          </a:lnTo>
                          <a:lnTo>
                            <a:pt x="12977" y="3113"/>
                          </a:lnTo>
                          <a:lnTo>
                            <a:pt x="12984" y="3111"/>
                          </a:lnTo>
                          <a:lnTo>
                            <a:pt x="12992" y="3109"/>
                          </a:lnTo>
                          <a:lnTo>
                            <a:pt x="13004" y="3106"/>
                          </a:lnTo>
                          <a:lnTo>
                            <a:pt x="13016" y="3103"/>
                          </a:lnTo>
                          <a:lnTo>
                            <a:pt x="13022" y="3101"/>
                          </a:lnTo>
                          <a:lnTo>
                            <a:pt x="13029" y="3099"/>
                          </a:lnTo>
                          <a:lnTo>
                            <a:pt x="13042" y="3096"/>
                          </a:lnTo>
                          <a:lnTo>
                            <a:pt x="13055" y="3091"/>
                          </a:lnTo>
                          <a:lnTo>
                            <a:pt x="13059" y="3090"/>
                          </a:lnTo>
                          <a:lnTo>
                            <a:pt x="13063" y="3089"/>
                          </a:lnTo>
                          <a:lnTo>
                            <a:pt x="13078" y="3084"/>
                          </a:lnTo>
                          <a:lnTo>
                            <a:pt x="13092" y="3080"/>
                          </a:lnTo>
                          <a:lnTo>
                            <a:pt x="13092" y="3079"/>
                          </a:lnTo>
                          <a:lnTo>
                            <a:pt x="13093" y="3079"/>
                          </a:lnTo>
                          <a:lnTo>
                            <a:pt x="13099" y="3077"/>
                          </a:lnTo>
                          <a:lnTo>
                            <a:pt x="13104" y="3075"/>
                          </a:lnTo>
                          <a:lnTo>
                            <a:pt x="13113" y="3072"/>
                          </a:lnTo>
                          <a:lnTo>
                            <a:pt x="13122" y="3069"/>
                          </a:lnTo>
                          <a:lnTo>
                            <a:pt x="13127" y="3067"/>
                          </a:lnTo>
                          <a:lnTo>
                            <a:pt x="13133" y="3065"/>
                          </a:lnTo>
                          <a:lnTo>
                            <a:pt x="13140" y="3062"/>
                          </a:lnTo>
                          <a:lnTo>
                            <a:pt x="13147" y="3058"/>
                          </a:lnTo>
                          <a:lnTo>
                            <a:pt x="13152" y="3056"/>
                          </a:lnTo>
                          <a:lnTo>
                            <a:pt x="13157" y="3053"/>
                          </a:lnTo>
                          <a:lnTo>
                            <a:pt x="13164" y="3051"/>
                          </a:lnTo>
                          <a:lnTo>
                            <a:pt x="13170" y="3048"/>
                          </a:lnTo>
                          <a:lnTo>
                            <a:pt x="13174" y="3045"/>
                          </a:lnTo>
                          <a:lnTo>
                            <a:pt x="13178" y="3043"/>
                          </a:lnTo>
                          <a:lnTo>
                            <a:pt x="13182" y="3041"/>
                          </a:lnTo>
                          <a:lnTo>
                            <a:pt x="13186" y="3039"/>
                          </a:lnTo>
                          <a:lnTo>
                            <a:pt x="13187" y="3038"/>
                          </a:lnTo>
                          <a:lnTo>
                            <a:pt x="13188" y="3037"/>
                          </a:lnTo>
                          <a:lnTo>
                            <a:pt x="13191" y="3035"/>
                          </a:lnTo>
                          <a:lnTo>
                            <a:pt x="13194" y="3034"/>
                          </a:lnTo>
                          <a:lnTo>
                            <a:pt x="13199" y="3030"/>
                          </a:lnTo>
                          <a:lnTo>
                            <a:pt x="13204" y="3027"/>
                          </a:lnTo>
                          <a:lnTo>
                            <a:pt x="13206" y="3024"/>
                          </a:lnTo>
                          <a:lnTo>
                            <a:pt x="13208" y="3022"/>
                          </a:lnTo>
                          <a:lnTo>
                            <a:pt x="13212" y="3019"/>
                          </a:lnTo>
                          <a:lnTo>
                            <a:pt x="13215" y="3016"/>
                          </a:lnTo>
                          <a:lnTo>
                            <a:pt x="13217" y="3014"/>
                          </a:lnTo>
                          <a:lnTo>
                            <a:pt x="13218" y="3012"/>
                          </a:lnTo>
                          <a:lnTo>
                            <a:pt x="13222" y="3007"/>
                          </a:lnTo>
                          <a:lnTo>
                            <a:pt x="13225" y="3002"/>
                          </a:lnTo>
                          <a:lnTo>
                            <a:pt x="14515" y="559"/>
                          </a:lnTo>
                          <a:lnTo>
                            <a:pt x="14517" y="553"/>
                          </a:lnTo>
                          <a:lnTo>
                            <a:pt x="14519" y="548"/>
                          </a:lnTo>
                          <a:lnTo>
                            <a:pt x="14520" y="542"/>
                          </a:lnTo>
                          <a:lnTo>
                            <a:pt x="14520" y="536"/>
                          </a:lnTo>
                          <a:close/>
                        </a:path>
                      </a:pathLst>
                    </a:custGeom>
                    <a:gradFill flip="none" rotWithShape="1">
                      <a:gsLst>
                        <a:gs pos="0">
                          <a:schemeClr val="accent1">
                            <a:lumMod val="40000"/>
                            <a:lumOff val="60000"/>
                          </a:schemeClr>
                        </a:gs>
                        <a:gs pos="88000">
                          <a:schemeClr val="accent1"/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  <a:ln>
                      <a:noFill/>
                    </a:ln>
                    <a:effectLst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00" dirty="0">
                        <a:solidFill>
                          <a:schemeClr val="lt1"/>
                        </a:solidFill>
                        <a:latin typeface="OPPOSans R" panose="00020600040101010101" pitchFamily="18" charset="-122"/>
                        <a:ea typeface="OPPOSans R" panose="00020600040101010101" pitchFamily="18" charset="-122"/>
                        <a:cs typeface="OPPOSans R" panose="00020600040101010101" pitchFamily="18" charset="-122"/>
                      </a:endParaRPr>
                    </a:p>
                  </p:txBody>
                </p:sp>
                <p:sp>
                  <p:nvSpPr>
                    <p:cNvPr id="44" name="Freeform 8"/>
                    <p:cNvSpPr/>
                    <p:nvPr/>
                  </p:nvSpPr>
                  <p:spPr bwMode="auto">
                    <a:xfrm>
                      <a:off x="4175125" y="1901605"/>
                      <a:ext cx="3841750" cy="284163"/>
                    </a:xfrm>
                    <a:custGeom>
                      <a:avLst/>
                      <a:gdLst>
                        <a:gd name="T0" fmla="*/ 14467 w 14518"/>
                        <a:gd name="T1" fmla="*/ 603 h 1076"/>
                        <a:gd name="T2" fmla="*/ 14257 w 14518"/>
                        <a:gd name="T3" fmla="*/ 682 h 1076"/>
                        <a:gd name="T4" fmla="*/ 13898 w 14518"/>
                        <a:gd name="T5" fmla="*/ 756 h 1076"/>
                        <a:gd name="T6" fmla="*/ 13402 w 14518"/>
                        <a:gd name="T7" fmla="*/ 825 h 1076"/>
                        <a:gd name="T8" fmla="*/ 12780 w 14518"/>
                        <a:gd name="T9" fmla="*/ 888 h 1076"/>
                        <a:gd name="T10" fmla="*/ 12046 w 14518"/>
                        <a:gd name="T11" fmla="*/ 943 h 1076"/>
                        <a:gd name="T12" fmla="*/ 11212 w 14518"/>
                        <a:gd name="T13" fmla="*/ 990 h 1076"/>
                        <a:gd name="T14" fmla="*/ 10292 w 14518"/>
                        <a:gd name="T15" fmla="*/ 1027 h 1076"/>
                        <a:gd name="T16" fmla="*/ 9296 w 14518"/>
                        <a:gd name="T17" fmla="*/ 1055 h 1076"/>
                        <a:gd name="T18" fmla="*/ 8239 w 14518"/>
                        <a:gd name="T19" fmla="*/ 1071 h 1076"/>
                        <a:gd name="T20" fmla="*/ 7133 w 14518"/>
                        <a:gd name="T21" fmla="*/ 1076 h 1076"/>
                        <a:gd name="T22" fmla="*/ 6028 w 14518"/>
                        <a:gd name="T23" fmla="*/ 1069 h 1076"/>
                        <a:gd name="T24" fmla="*/ 4980 w 14518"/>
                        <a:gd name="T25" fmla="*/ 1050 h 1076"/>
                        <a:gd name="T26" fmla="*/ 3998 w 14518"/>
                        <a:gd name="T27" fmla="*/ 1019 h 1076"/>
                        <a:gd name="T28" fmla="*/ 3095 w 14518"/>
                        <a:gd name="T29" fmla="*/ 980 h 1076"/>
                        <a:gd name="T30" fmla="*/ 2284 w 14518"/>
                        <a:gd name="T31" fmla="*/ 930 h 1076"/>
                        <a:gd name="T32" fmla="*/ 1577 w 14518"/>
                        <a:gd name="T33" fmla="*/ 874 h 1076"/>
                        <a:gd name="T34" fmla="*/ 985 w 14518"/>
                        <a:gd name="T35" fmla="*/ 810 h 1076"/>
                        <a:gd name="T36" fmla="*/ 522 w 14518"/>
                        <a:gd name="T37" fmla="*/ 739 h 1076"/>
                        <a:gd name="T38" fmla="*/ 197 w 14518"/>
                        <a:gd name="T39" fmla="*/ 663 h 1076"/>
                        <a:gd name="T40" fmla="*/ 25 w 14518"/>
                        <a:gd name="T41" fmla="*/ 584 h 1076"/>
                        <a:gd name="T42" fmla="*/ 17 w 14518"/>
                        <a:gd name="T43" fmla="*/ 502 h 1076"/>
                        <a:gd name="T44" fmla="*/ 173 w 14518"/>
                        <a:gd name="T45" fmla="*/ 420 h 1076"/>
                        <a:gd name="T46" fmla="*/ 484 w 14518"/>
                        <a:gd name="T47" fmla="*/ 344 h 1076"/>
                        <a:gd name="T48" fmla="*/ 937 w 14518"/>
                        <a:gd name="T49" fmla="*/ 273 h 1076"/>
                        <a:gd name="T50" fmla="*/ 1518 w 14518"/>
                        <a:gd name="T51" fmla="*/ 209 h 1076"/>
                        <a:gd name="T52" fmla="*/ 2216 w 14518"/>
                        <a:gd name="T53" fmla="*/ 151 h 1076"/>
                        <a:gd name="T54" fmla="*/ 3017 w 14518"/>
                        <a:gd name="T55" fmla="*/ 101 h 1076"/>
                        <a:gd name="T56" fmla="*/ 3911 w 14518"/>
                        <a:gd name="T57" fmla="*/ 61 h 1076"/>
                        <a:gd name="T58" fmla="*/ 4883 w 14518"/>
                        <a:gd name="T59" fmla="*/ 30 h 1076"/>
                        <a:gd name="T60" fmla="*/ 5921 w 14518"/>
                        <a:gd name="T61" fmla="*/ 9 h 1076"/>
                        <a:gd name="T62" fmla="*/ 7012 w 14518"/>
                        <a:gd name="T63" fmla="*/ 0 h 1076"/>
                        <a:gd name="T64" fmla="*/ 8127 w 14518"/>
                        <a:gd name="T65" fmla="*/ 4 h 1076"/>
                        <a:gd name="T66" fmla="*/ 9196 w 14518"/>
                        <a:gd name="T67" fmla="*/ 20 h 1076"/>
                        <a:gd name="T68" fmla="*/ 10201 w 14518"/>
                        <a:gd name="T69" fmla="*/ 46 h 1076"/>
                        <a:gd name="T70" fmla="*/ 11131 w 14518"/>
                        <a:gd name="T71" fmla="*/ 82 h 1076"/>
                        <a:gd name="T72" fmla="*/ 11974 w 14518"/>
                        <a:gd name="T73" fmla="*/ 129 h 1076"/>
                        <a:gd name="T74" fmla="*/ 12717 w 14518"/>
                        <a:gd name="T75" fmla="*/ 183 h 1076"/>
                        <a:gd name="T76" fmla="*/ 13349 w 14518"/>
                        <a:gd name="T77" fmla="*/ 245 h 1076"/>
                        <a:gd name="T78" fmla="*/ 13857 w 14518"/>
                        <a:gd name="T79" fmla="*/ 313 h 1076"/>
                        <a:gd name="T80" fmla="*/ 14229 w 14518"/>
                        <a:gd name="T81" fmla="*/ 387 h 1076"/>
                        <a:gd name="T82" fmla="*/ 14453 w 14518"/>
                        <a:gd name="T83" fmla="*/ 466 h 1076"/>
                        <a:gd name="T84" fmla="*/ 14518 w 14518"/>
                        <a:gd name="T85" fmla="*/ 548 h 107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  <a:cxn ang="0">
                          <a:pos x="T84" y="T85"/>
                        </a:cxn>
                      </a:cxnLst>
                      <a:rect l="0" t="0" r="r" b="b"/>
                      <a:pathLst>
                        <a:path w="14518" h="1076">
                          <a:moveTo>
                            <a:pt x="14518" y="548"/>
                          </a:moveTo>
                          <a:lnTo>
                            <a:pt x="14501" y="576"/>
                          </a:lnTo>
                          <a:lnTo>
                            <a:pt x="14467" y="603"/>
                          </a:lnTo>
                          <a:lnTo>
                            <a:pt x="14415" y="629"/>
                          </a:lnTo>
                          <a:lnTo>
                            <a:pt x="14345" y="656"/>
                          </a:lnTo>
                          <a:lnTo>
                            <a:pt x="14257" y="682"/>
                          </a:lnTo>
                          <a:lnTo>
                            <a:pt x="14154" y="708"/>
                          </a:lnTo>
                          <a:lnTo>
                            <a:pt x="14034" y="732"/>
                          </a:lnTo>
                          <a:lnTo>
                            <a:pt x="13898" y="756"/>
                          </a:lnTo>
                          <a:lnTo>
                            <a:pt x="13747" y="780"/>
                          </a:lnTo>
                          <a:lnTo>
                            <a:pt x="13581" y="803"/>
                          </a:lnTo>
                          <a:lnTo>
                            <a:pt x="13402" y="825"/>
                          </a:lnTo>
                          <a:lnTo>
                            <a:pt x="13207" y="847"/>
                          </a:lnTo>
                          <a:lnTo>
                            <a:pt x="13000" y="867"/>
                          </a:lnTo>
                          <a:lnTo>
                            <a:pt x="12780" y="888"/>
                          </a:lnTo>
                          <a:lnTo>
                            <a:pt x="12547" y="908"/>
                          </a:lnTo>
                          <a:lnTo>
                            <a:pt x="12302" y="925"/>
                          </a:lnTo>
                          <a:lnTo>
                            <a:pt x="12046" y="943"/>
                          </a:lnTo>
                          <a:lnTo>
                            <a:pt x="11778" y="959"/>
                          </a:lnTo>
                          <a:lnTo>
                            <a:pt x="11501" y="976"/>
                          </a:lnTo>
                          <a:lnTo>
                            <a:pt x="11212" y="990"/>
                          </a:lnTo>
                          <a:lnTo>
                            <a:pt x="10915" y="1003"/>
                          </a:lnTo>
                          <a:lnTo>
                            <a:pt x="10607" y="1016"/>
                          </a:lnTo>
                          <a:lnTo>
                            <a:pt x="10292" y="1027"/>
                          </a:lnTo>
                          <a:lnTo>
                            <a:pt x="9967" y="1037"/>
                          </a:lnTo>
                          <a:lnTo>
                            <a:pt x="9635" y="1047"/>
                          </a:lnTo>
                          <a:lnTo>
                            <a:pt x="9296" y="1055"/>
                          </a:lnTo>
                          <a:lnTo>
                            <a:pt x="8950" y="1062"/>
                          </a:lnTo>
                          <a:lnTo>
                            <a:pt x="8597" y="1067"/>
                          </a:lnTo>
                          <a:lnTo>
                            <a:pt x="8239" y="1071"/>
                          </a:lnTo>
                          <a:lnTo>
                            <a:pt x="7875" y="1074"/>
                          </a:lnTo>
                          <a:lnTo>
                            <a:pt x="7506" y="1076"/>
                          </a:lnTo>
                          <a:lnTo>
                            <a:pt x="7133" y="1076"/>
                          </a:lnTo>
                          <a:lnTo>
                            <a:pt x="6759" y="1075"/>
                          </a:lnTo>
                          <a:lnTo>
                            <a:pt x="6391" y="1072"/>
                          </a:lnTo>
                          <a:lnTo>
                            <a:pt x="6028" y="1069"/>
                          </a:lnTo>
                          <a:lnTo>
                            <a:pt x="5672" y="1064"/>
                          </a:lnTo>
                          <a:lnTo>
                            <a:pt x="5322" y="1057"/>
                          </a:lnTo>
                          <a:lnTo>
                            <a:pt x="4980" y="1050"/>
                          </a:lnTo>
                          <a:lnTo>
                            <a:pt x="4645" y="1040"/>
                          </a:lnTo>
                          <a:lnTo>
                            <a:pt x="4317" y="1030"/>
                          </a:lnTo>
                          <a:lnTo>
                            <a:pt x="3998" y="1019"/>
                          </a:lnTo>
                          <a:lnTo>
                            <a:pt x="3688" y="1007"/>
                          </a:lnTo>
                          <a:lnTo>
                            <a:pt x="3387" y="994"/>
                          </a:lnTo>
                          <a:lnTo>
                            <a:pt x="3095" y="980"/>
                          </a:lnTo>
                          <a:lnTo>
                            <a:pt x="2814" y="964"/>
                          </a:lnTo>
                          <a:lnTo>
                            <a:pt x="2544" y="948"/>
                          </a:lnTo>
                          <a:lnTo>
                            <a:pt x="2284" y="930"/>
                          </a:lnTo>
                          <a:lnTo>
                            <a:pt x="2037" y="912"/>
                          </a:lnTo>
                          <a:lnTo>
                            <a:pt x="1801" y="893"/>
                          </a:lnTo>
                          <a:lnTo>
                            <a:pt x="1577" y="874"/>
                          </a:lnTo>
                          <a:lnTo>
                            <a:pt x="1367" y="853"/>
                          </a:lnTo>
                          <a:lnTo>
                            <a:pt x="1169" y="831"/>
                          </a:lnTo>
                          <a:lnTo>
                            <a:pt x="985" y="810"/>
                          </a:lnTo>
                          <a:lnTo>
                            <a:pt x="815" y="787"/>
                          </a:lnTo>
                          <a:lnTo>
                            <a:pt x="661" y="763"/>
                          </a:lnTo>
                          <a:lnTo>
                            <a:pt x="522" y="739"/>
                          </a:lnTo>
                          <a:lnTo>
                            <a:pt x="397" y="715"/>
                          </a:lnTo>
                          <a:lnTo>
                            <a:pt x="289" y="689"/>
                          </a:lnTo>
                          <a:lnTo>
                            <a:pt x="197" y="663"/>
                          </a:lnTo>
                          <a:lnTo>
                            <a:pt x="122" y="638"/>
                          </a:lnTo>
                          <a:lnTo>
                            <a:pt x="65" y="611"/>
                          </a:lnTo>
                          <a:lnTo>
                            <a:pt x="25" y="584"/>
                          </a:lnTo>
                          <a:lnTo>
                            <a:pt x="3" y="556"/>
                          </a:lnTo>
                          <a:lnTo>
                            <a:pt x="0" y="528"/>
                          </a:lnTo>
                          <a:lnTo>
                            <a:pt x="17" y="502"/>
                          </a:lnTo>
                          <a:lnTo>
                            <a:pt x="51" y="474"/>
                          </a:lnTo>
                          <a:lnTo>
                            <a:pt x="103" y="447"/>
                          </a:lnTo>
                          <a:lnTo>
                            <a:pt x="173" y="420"/>
                          </a:lnTo>
                          <a:lnTo>
                            <a:pt x="261" y="395"/>
                          </a:lnTo>
                          <a:lnTo>
                            <a:pt x="364" y="369"/>
                          </a:lnTo>
                          <a:lnTo>
                            <a:pt x="484" y="344"/>
                          </a:lnTo>
                          <a:lnTo>
                            <a:pt x="620" y="320"/>
                          </a:lnTo>
                          <a:lnTo>
                            <a:pt x="771" y="297"/>
                          </a:lnTo>
                          <a:lnTo>
                            <a:pt x="937" y="273"/>
                          </a:lnTo>
                          <a:lnTo>
                            <a:pt x="1116" y="251"/>
                          </a:lnTo>
                          <a:lnTo>
                            <a:pt x="1311" y="230"/>
                          </a:lnTo>
                          <a:lnTo>
                            <a:pt x="1518" y="209"/>
                          </a:lnTo>
                          <a:lnTo>
                            <a:pt x="1738" y="189"/>
                          </a:lnTo>
                          <a:lnTo>
                            <a:pt x="1971" y="169"/>
                          </a:lnTo>
                          <a:lnTo>
                            <a:pt x="2216" y="151"/>
                          </a:lnTo>
                          <a:lnTo>
                            <a:pt x="2472" y="134"/>
                          </a:lnTo>
                          <a:lnTo>
                            <a:pt x="2740" y="117"/>
                          </a:lnTo>
                          <a:lnTo>
                            <a:pt x="3017" y="101"/>
                          </a:lnTo>
                          <a:lnTo>
                            <a:pt x="3306" y="87"/>
                          </a:lnTo>
                          <a:lnTo>
                            <a:pt x="3603" y="73"/>
                          </a:lnTo>
                          <a:lnTo>
                            <a:pt x="3911" y="61"/>
                          </a:lnTo>
                          <a:lnTo>
                            <a:pt x="4226" y="49"/>
                          </a:lnTo>
                          <a:lnTo>
                            <a:pt x="4551" y="39"/>
                          </a:lnTo>
                          <a:lnTo>
                            <a:pt x="4883" y="30"/>
                          </a:lnTo>
                          <a:lnTo>
                            <a:pt x="5222" y="22"/>
                          </a:lnTo>
                          <a:lnTo>
                            <a:pt x="5568" y="14"/>
                          </a:lnTo>
                          <a:lnTo>
                            <a:pt x="5921" y="9"/>
                          </a:lnTo>
                          <a:lnTo>
                            <a:pt x="6279" y="5"/>
                          </a:lnTo>
                          <a:lnTo>
                            <a:pt x="6643" y="2"/>
                          </a:lnTo>
                          <a:lnTo>
                            <a:pt x="7012" y="0"/>
                          </a:lnTo>
                          <a:lnTo>
                            <a:pt x="7385" y="0"/>
                          </a:lnTo>
                          <a:lnTo>
                            <a:pt x="7759" y="1"/>
                          </a:lnTo>
                          <a:lnTo>
                            <a:pt x="8127" y="4"/>
                          </a:lnTo>
                          <a:lnTo>
                            <a:pt x="8490" y="7"/>
                          </a:lnTo>
                          <a:lnTo>
                            <a:pt x="8846" y="13"/>
                          </a:lnTo>
                          <a:lnTo>
                            <a:pt x="9196" y="20"/>
                          </a:lnTo>
                          <a:lnTo>
                            <a:pt x="9538" y="27"/>
                          </a:lnTo>
                          <a:lnTo>
                            <a:pt x="9873" y="36"/>
                          </a:lnTo>
                          <a:lnTo>
                            <a:pt x="10201" y="46"/>
                          </a:lnTo>
                          <a:lnTo>
                            <a:pt x="10520" y="58"/>
                          </a:lnTo>
                          <a:lnTo>
                            <a:pt x="10830" y="69"/>
                          </a:lnTo>
                          <a:lnTo>
                            <a:pt x="11131" y="82"/>
                          </a:lnTo>
                          <a:lnTo>
                            <a:pt x="11423" y="97"/>
                          </a:lnTo>
                          <a:lnTo>
                            <a:pt x="11704" y="112"/>
                          </a:lnTo>
                          <a:lnTo>
                            <a:pt x="11974" y="129"/>
                          </a:lnTo>
                          <a:lnTo>
                            <a:pt x="12234" y="146"/>
                          </a:lnTo>
                          <a:lnTo>
                            <a:pt x="12481" y="165"/>
                          </a:lnTo>
                          <a:lnTo>
                            <a:pt x="12717" y="183"/>
                          </a:lnTo>
                          <a:lnTo>
                            <a:pt x="12941" y="203"/>
                          </a:lnTo>
                          <a:lnTo>
                            <a:pt x="13151" y="224"/>
                          </a:lnTo>
                          <a:lnTo>
                            <a:pt x="13349" y="245"/>
                          </a:lnTo>
                          <a:lnTo>
                            <a:pt x="13533" y="267"/>
                          </a:lnTo>
                          <a:lnTo>
                            <a:pt x="13703" y="290"/>
                          </a:lnTo>
                          <a:lnTo>
                            <a:pt x="13857" y="313"/>
                          </a:lnTo>
                          <a:lnTo>
                            <a:pt x="13996" y="338"/>
                          </a:lnTo>
                          <a:lnTo>
                            <a:pt x="14121" y="362"/>
                          </a:lnTo>
                          <a:lnTo>
                            <a:pt x="14229" y="387"/>
                          </a:lnTo>
                          <a:lnTo>
                            <a:pt x="14321" y="413"/>
                          </a:lnTo>
                          <a:lnTo>
                            <a:pt x="14396" y="439"/>
                          </a:lnTo>
                          <a:lnTo>
                            <a:pt x="14453" y="466"/>
                          </a:lnTo>
                          <a:lnTo>
                            <a:pt x="14493" y="492"/>
                          </a:lnTo>
                          <a:lnTo>
                            <a:pt x="14515" y="520"/>
                          </a:lnTo>
                          <a:lnTo>
                            <a:pt x="14518" y="548"/>
                          </a:lnTo>
                          <a:close/>
                        </a:path>
                      </a:pathLst>
                    </a:custGeom>
                    <a:gradFill flip="none" rotWithShape="1">
                      <a:gsLst>
                        <a:gs pos="0">
                          <a:schemeClr val="accent1">
                            <a:lumMod val="40000"/>
                            <a:lumOff val="60000"/>
                          </a:schemeClr>
                        </a:gs>
                        <a:gs pos="61000">
                          <a:schemeClr val="accent1"/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  <a:ln>
                      <a:noFill/>
                    </a:ln>
                    <a:effectLst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00">
                        <a:solidFill>
                          <a:schemeClr val="lt1"/>
                        </a:solidFill>
                        <a:latin typeface="OPPOSans R" panose="00020600040101010101" pitchFamily="18" charset="-122"/>
                        <a:ea typeface="OPPOSans R" panose="00020600040101010101" pitchFamily="18" charset="-122"/>
                        <a:cs typeface="OPPOSans R" panose="00020600040101010101" pitchFamily="18" charset="-122"/>
                      </a:endParaRPr>
                    </a:p>
                  </p:txBody>
                </p:sp>
                <p:sp>
                  <p:nvSpPr>
                    <p:cNvPr id="45" name="Rectangle 4"/>
                    <p:cNvSpPr/>
                    <p:nvPr/>
                  </p:nvSpPr>
                  <p:spPr>
                    <a:xfrm>
                      <a:off x="5686879" y="2191270"/>
                      <a:ext cx="818242" cy="371637"/>
                    </a:xfrm>
                    <a:prstGeom prst="rect">
                      <a:avLst/>
                    </a:prstGeom>
                  </p:spPr>
                  <p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2"/>
                          </a:solidFill>
                          <a:latin typeface="OPPOSans H" panose="00020600040101010101" pitchFamily="18" charset="-122"/>
                          <a:ea typeface="OPPOSans H" panose="00020600040101010101" pitchFamily="18" charset="-122"/>
                          <a:cs typeface="OPPOSans H" panose="00020600040101010101" pitchFamily="18" charset="-122"/>
                        </a:rPr>
                        <a:t>265</a:t>
                      </a:r>
                      <a:endParaRPr lang="en-US" sz="2000" b="1" dirty="0">
                        <a:solidFill>
                          <a:schemeClr val="bg2"/>
                        </a:solidFill>
                        <a:latin typeface="OPPOSans H" panose="00020600040101010101" pitchFamily="18" charset="-122"/>
                        <a:ea typeface="OPPOSans H" panose="00020600040101010101" pitchFamily="18" charset="-122"/>
                        <a:cs typeface="OPPOSans H" panose="00020600040101010101" pitchFamily="18" charset="-122"/>
                      </a:endParaRPr>
                    </a:p>
                  </p:txBody>
                </p:sp>
                <p:sp>
                  <p:nvSpPr>
                    <p:cNvPr id="46" name="Freeform 11"/>
                    <p:cNvSpPr/>
                    <p:nvPr/>
                  </p:nvSpPr>
                  <p:spPr bwMode="auto">
                    <a:xfrm>
                      <a:off x="4558506" y="2861562"/>
                      <a:ext cx="3074988" cy="879475"/>
                    </a:xfrm>
                    <a:custGeom>
                      <a:avLst/>
                      <a:gdLst>
                        <a:gd name="T0" fmla="*/ 11508 w 11623"/>
                        <a:gd name="T1" fmla="*/ 345 h 3321"/>
                        <a:gd name="T2" fmla="*/ 11315 w 11623"/>
                        <a:gd name="T3" fmla="*/ 292 h 3321"/>
                        <a:gd name="T4" fmla="*/ 11036 w 11623"/>
                        <a:gd name="T5" fmla="*/ 242 h 3321"/>
                        <a:gd name="T6" fmla="*/ 10780 w 11623"/>
                        <a:gd name="T7" fmla="*/ 207 h 3321"/>
                        <a:gd name="T8" fmla="*/ 10530 w 11623"/>
                        <a:gd name="T9" fmla="*/ 179 h 3321"/>
                        <a:gd name="T10" fmla="*/ 10139 w 11623"/>
                        <a:gd name="T11" fmla="*/ 143 h 3321"/>
                        <a:gd name="T12" fmla="*/ 9726 w 11623"/>
                        <a:gd name="T13" fmla="*/ 112 h 3321"/>
                        <a:gd name="T14" fmla="*/ 9415 w 11623"/>
                        <a:gd name="T15" fmla="*/ 92 h 3321"/>
                        <a:gd name="T16" fmla="*/ 9091 w 11623"/>
                        <a:gd name="T17" fmla="*/ 75 h 3321"/>
                        <a:gd name="T18" fmla="*/ 8768 w 11623"/>
                        <a:gd name="T19" fmla="*/ 59 h 3321"/>
                        <a:gd name="T20" fmla="*/ 8307 w 11623"/>
                        <a:gd name="T21" fmla="*/ 42 h 3321"/>
                        <a:gd name="T22" fmla="*/ 7855 w 11623"/>
                        <a:gd name="T23" fmla="*/ 27 h 3321"/>
                        <a:gd name="T24" fmla="*/ 7315 w 11623"/>
                        <a:gd name="T25" fmla="*/ 14 h 3321"/>
                        <a:gd name="T26" fmla="*/ 6999 w 11623"/>
                        <a:gd name="T27" fmla="*/ 9 h 3321"/>
                        <a:gd name="T28" fmla="*/ 6674 w 11623"/>
                        <a:gd name="T29" fmla="*/ 5 h 3321"/>
                        <a:gd name="T30" fmla="*/ 6231 w 11623"/>
                        <a:gd name="T31" fmla="*/ 1 h 3321"/>
                        <a:gd name="T32" fmla="*/ 5916 w 11623"/>
                        <a:gd name="T33" fmla="*/ 0 h 3321"/>
                        <a:gd name="T34" fmla="*/ 5601 w 11623"/>
                        <a:gd name="T35" fmla="*/ 0 h 3321"/>
                        <a:gd name="T36" fmla="*/ 5292 w 11623"/>
                        <a:gd name="T37" fmla="*/ 2 h 3321"/>
                        <a:gd name="T38" fmla="*/ 4857 w 11623"/>
                        <a:gd name="T39" fmla="*/ 6 h 3321"/>
                        <a:gd name="T40" fmla="*/ 4419 w 11623"/>
                        <a:gd name="T41" fmla="*/ 12 h 3321"/>
                        <a:gd name="T42" fmla="*/ 3960 w 11623"/>
                        <a:gd name="T43" fmla="*/ 22 h 3321"/>
                        <a:gd name="T44" fmla="*/ 3625 w 11623"/>
                        <a:gd name="T45" fmla="*/ 32 h 3321"/>
                        <a:gd name="T46" fmla="*/ 3222 w 11623"/>
                        <a:gd name="T47" fmla="*/ 45 h 3321"/>
                        <a:gd name="T48" fmla="*/ 2802 w 11623"/>
                        <a:gd name="T49" fmla="*/ 63 h 3321"/>
                        <a:gd name="T50" fmla="*/ 2421 w 11623"/>
                        <a:gd name="T51" fmla="*/ 81 h 3321"/>
                        <a:gd name="T52" fmla="*/ 2003 w 11623"/>
                        <a:gd name="T53" fmla="*/ 106 h 3321"/>
                        <a:gd name="T54" fmla="*/ 1668 w 11623"/>
                        <a:gd name="T55" fmla="*/ 128 h 3321"/>
                        <a:gd name="T56" fmla="*/ 1299 w 11623"/>
                        <a:gd name="T57" fmla="*/ 159 h 3321"/>
                        <a:gd name="T58" fmla="*/ 1005 w 11623"/>
                        <a:gd name="T59" fmla="*/ 188 h 3321"/>
                        <a:gd name="T60" fmla="*/ 736 w 11623"/>
                        <a:gd name="T61" fmla="*/ 220 h 3321"/>
                        <a:gd name="T62" fmla="*/ 498 w 11623"/>
                        <a:gd name="T63" fmla="*/ 256 h 3321"/>
                        <a:gd name="T64" fmla="*/ 269 w 11623"/>
                        <a:gd name="T65" fmla="*/ 300 h 3321"/>
                        <a:gd name="T66" fmla="*/ 84 w 11623"/>
                        <a:gd name="T67" fmla="*/ 357 h 3321"/>
                        <a:gd name="T68" fmla="*/ 7 w 11623"/>
                        <a:gd name="T69" fmla="*/ 409 h 3321"/>
                        <a:gd name="T70" fmla="*/ 1015 w 11623"/>
                        <a:gd name="T71" fmla="*/ 2364 h 3321"/>
                        <a:gd name="T72" fmla="*/ 1429 w 11623"/>
                        <a:gd name="T73" fmla="*/ 3052 h 3321"/>
                        <a:gd name="T74" fmla="*/ 1636 w 11623"/>
                        <a:gd name="T75" fmla="*/ 3107 h 3321"/>
                        <a:gd name="T76" fmla="*/ 1901 w 11623"/>
                        <a:gd name="T77" fmla="*/ 3149 h 3321"/>
                        <a:gd name="T78" fmla="*/ 2181 w 11623"/>
                        <a:gd name="T79" fmla="*/ 3182 h 3321"/>
                        <a:gd name="T80" fmla="*/ 2445 w 11623"/>
                        <a:gd name="T81" fmla="*/ 3206 h 3321"/>
                        <a:gd name="T82" fmla="*/ 2682 w 11623"/>
                        <a:gd name="T83" fmla="*/ 3226 h 3321"/>
                        <a:gd name="T84" fmla="*/ 2976 w 11623"/>
                        <a:gd name="T85" fmla="*/ 3246 h 3321"/>
                        <a:gd name="T86" fmla="*/ 3333 w 11623"/>
                        <a:gd name="T87" fmla="*/ 3265 h 3321"/>
                        <a:gd name="T88" fmla="*/ 3779 w 11623"/>
                        <a:gd name="T89" fmla="*/ 3285 h 3321"/>
                        <a:gd name="T90" fmla="*/ 4315 w 11623"/>
                        <a:gd name="T91" fmla="*/ 3301 h 3321"/>
                        <a:gd name="T92" fmla="*/ 4877 w 11623"/>
                        <a:gd name="T93" fmla="*/ 3314 h 3321"/>
                        <a:gd name="T94" fmla="*/ 5419 w 11623"/>
                        <a:gd name="T95" fmla="*/ 3320 h 3321"/>
                        <a:gd name="T96" fmla="*/ 5947 w 11623"/>
                        <a:gd name="T97" fmla="*/ 3321 h 3321"/>
                        <a:gd name="T98" fmla="*/ 6477 w 11623"/>
                        <a:gd name="T99" fmla="*/ 3317 h 3321"/>
                        <a:gd name="T100" fmla="*/ 6967 w 11623"/>
                        <a:gd name="T101" fmla="*/ 3309 h 3321"/>
                        <a:gd name="T102" fmla="*/ 7400 w 11623"/>
                        <a:gd name="T103" fmla="*/ 3299 h 3321"/>
                        <a:gd name="T104" fmla="*/ 7729 w 11623"/>
                        <a:gd name="T105" fmla="*/ 3289 h 3321"/>
                        <a:gd name="T106" fmla="*/ 8090 w 11623"/>
                        <a:gd name="T107" fmla="*/ 3274 h 3321"/>
                        <a:gd name="T108" fmla="*/ 8659 w 11623"/>
                        <a:gd name="T109" fmla="*/ 3245 h 3321"/>
                        <a:gd name="T110" fmla="*/ 9012 w 11623"/>
                        <a:gd name="T111" fmla="*/ 3220 h 3321"/>
                        <a:gd name="T112" fmla="*/ 9410 w 11623"/>
                        <a:gd name="T113" fmla="*/ 3186 h 3321"/>
                        <a:gd name="T114" fmla="*/ 9774 w 11623"/>
                        <a:gd name="T115" fmla="*/ 3142 h 3321"/>
                        <a:gd name="T116" fmla="*/ 10017 w 11623"/>
                        <a:gd name="T117" fmla="*/ 3100 h 3321"/>
                        <a:gd name="T118" fmla="*/ 10179 w 11623"/>
                        <a:gd name="T119" fmla="*/ 3058 h 3321"/>
                        <a:gd name="T120" fmla="*/ 10263 w 11623"/>
                        <a:gd name="T121" fmla="*/ 3012 h 332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  <a:cxn ang="0">
                          <a:pos x="T84" y="T85"/>
                        </a:cxn>
                        <a:cxn ang="0">
                          <a:pos x="T86" y="T87"/>
                        </a:cxn>
                        <a:cxn ang="0">
                          <a:pos x="T88" y="T89"/>
                        </a:cxn>
                        <a:cxn ang="0">
                          <a:pos x="T90" y="T91"/>
                        </a:cxn>
                        <a:cxn ang="0">
                          <a:pos x="T92" y="T93"/>
                        </a:cxn>
                        <a:cxn ang="0">
                          <a:pos x="T94" y="T95"/>
                        </a:cxn>
                        <a:cxn ang="0">
                          <a:pos x="T96" y="T97"/>
                        </a:cxn>
                        <a:cxn ang="0">
                          <a:pos x="T98" y="T99"/>
                        </a:cxn>
                        <a:cxn ang="0">
                          <a:pos x="T100" y="T101"/>
                        </a:cxn>
                        <a:cxn ang="0">
                          <a:pos x="T102" y="T103"/>
                        </a:cxn>
                        <a:cxn ang="0">
                          <a:pos x="T104" y="T105"/>
                        </a:cxn>
                        <a:cxn ang="0">
                          <a:pos x="T106" y="T107"/>
                        </a:cxn>
                        <a:cxn ang="0">
                          <a:pos x="T108" y="T109"/>
                        </a:cxn>
                        <a:cxn ang="0">
                          <a:pos x="T110" y="T111"/>
                        </a:cxn>
                        <a:cxn ang="0">
                          <a:pos x="T112" y="T113"/>
                        </a:cxn>
                        <a:cxn ang="0">
                          <a:pos x="T114" y="T115"/>
                        </a:cxn>
                        <a:cxn ang="0">
                          <a:pos x="T116" y="T117"/>
                        </a:cxn>
                        <a:cxn ang="0">
                          <a:pos x="T118" y="T119"/>
                        </a:cxn>
                        <a:cxn ang="0">
                          <a:pos x="T120" y="T121"/>
                        </a:cxn>
                      </a:cxnLst>
                      <a:rect l="0" t="0" r="r" b="b"/>
                      <a:pathLst>
                        <a:path w="11623" h="3321">
                          <a:moveTo>
                            <a:pt x="11622" y="425"/>
                          </a:moveTo>
                          <a:lnTo>
                            <a:pt x="11622" y="423"/>
                          </a:lnTo>
                          <a:lnTo>
                            <a:pt x="11621" y="421"/>
                          </a:lnTo>
                          <a:lnTo>
                            <a:pt x="11620" y="417"/>
                          </a:lnTo>
                          <a:lnTo>
                            <a:pt x="11617" y="413"/>
                          </a:lnTo>
                          <a:lnTo>
                            <a:pt x="11616" y="411"/>
                          </a:lnTo>
                          <a:lnTo>
                            <a:pt x="11615" y="409"/>
                          </a:lnTo>
                          <a:lnTo>
                            <a:pt x="11610" y="403"/>
                          </a:lnTo>
                          <a:lnTo>
                            <a:pt x="11607" y="399"/>
                          </a:lnTo>
                          <a:lnTo>
                            <a:pt x="11605" y="397"/>
                          </a:lnTo>
                          <a:lnTo>
                            <a:pt x="11603" y="395"/>
                          </a:lnTo>
                          <a:lnTo>
                            <a:pt x="11596" y="389"/>
                          </a:lnTo>
                          <a:lnTo>
                            <a:pt x="11588" y="383"/>
                          </a:lnTo>
                          <a:lnTo>
                            <a:pt x="11587" y="383"/>
                          </a:lnTo>
                          <a:lnTo>
                            <a:pt x="11586" y="382"/>
                          </a:lnTo>
                          <a:lnTo>
                            <a:pt x="11576" y="377"/>
                          </a:lnTo>
                          <a:lnTo>
                            <a:pt x="11566" y="371"/>
                          </a:lnTo>
                          <a:lnTo>
                            <a:pt x="11563" y="368"/>
                          </a:lnTo>
                          <a:lnTo>
                            <a:pt x="11559" y="366"/>
                          </a:lnTo>
                          <a:lnTo>
                            <a:pt x="11550" y="362"/>
                          </a:lnTo>
                          <a:lnTo>
                            <a:pt x="11540" y="358"/>
                          </a:lnTo>
                          <a:lnTo>
                            <a:pt x="11535" y="356"/>
                          </a:lnTo>
                          <a:lnTo>
                            <a:pt x="11530" y="354"/>
                          </a:lnTo>
                          <a:lnTo>
                            <a:pt x="11520" y="350"/>
                          </a:lnTo>
                          <a:lnTo>
                            <a:pt x="11508" y="345"/>
                          </a:lnTo>
                          <a:lnTo>
                            <a:pt x="11503" y="344"/>
                          </a:lnTo>
                          <a:lnTo>
                            <a:pt x="11499" y="342"/>
                          </a:lnTo>
                          <a:lnTo>
                            <a:pt x="11490" y="339"/>
                          </a:lnTo>
                          <a:lnTo>
                            <a:pt x="11482" y="335"/>
                          </a:lnTo>
                          <a:lnTo>
                            <a:pt x="11472" y="332"/>
                          </a:lnTo>
                          <a:lnTo>
                            <a:pt x="11463" y="330"/>
                          </a:lnTo>
                          <a:lnTo>
                            <a:pt x="11459" y="329"/>
                          </a:lnTo>
                          <a:lnTo>
                            <a:pt x="11456" y="328"/>
                          </a:lnTo>
                          <a:lnTo>
                            <a:pt x="11448" y="325"/>
                          </a:lnTo>
                          <a:lnTo>
                            <a:pt x="11439" y="323"/>
                          </a:lnTo>
                          <a:lnTo>
                            <a:pt x="11430" y="320"/>
                          </a:lnTo>
                          <a:lnTo>
                            <a:pt x="11422" y="318"/>
                          </a:lnTo>
                          <a:lnTo>
                            <a:pt x="11415" y="316"/>
                          </a:lnTo>
                          <a:lnTo>
                            <a:pt x="11406" y="314"/>
                          </a:lnTo>
                          <a:lnTo>
                            <a:pt x="11399" y="312"/>
                          </a:lnTo>
                          <a:lnTo>
                            <a:pt x="11392" y="310"/>
                          </a:lnTo>
                          <a:lnTo>
                            <a:pt x="11384" y="308"/>
                          </a:lnTo>
                          <a:lnTo>
                            <a:pt x="11375" y="307"/>
                          </a:lnTo>
                          <a:lnTo>
                            <a:pt x="11367" y="305"/>
                          </a:lnTo>
                          <a:lnTo>
                            <a:pt x="11359" y="303"/>
                          </a:lnTo>
                          <a:lnTo>
                            <a:pt x="11350" y="300"/>
                          </a:lnTo>
                          <a:lnTo>
                            <a:pt x="11340" y="297"/>
                          </a:lnTo>
                          <a:lnTo>
                            <a:pt x="11331" y="295"/>
                          </a:lnTo>
                          <a:lnTo>
                            <a:pt x="11322" y="293"/>
                          </a:lnTo>
                          <a:lnTo>
                            <a:pt x="11315" y="292"/>
                          </a:lnTo>
                          <a:lnTo>
                            <a:pt x="11307" y="290"/>
                          </a:lnTo>
                          <a:lnTo>
                            <a:pt x="11294" y="288"/>
                          </a:lnTo>
                          <a:lnTo>
                            <a:pt x="11281" y="285"/>
                          </a:lnTo>
                          <a:lnTo>
                            <a:pt x="11267" y="282"/>
                          </a:lnTo>
                          <a:lnTo>
                            <a:pt x="11253" y="279"/>
                          </a:lnTo>
                          <a:lnTo>
                            <a:pt x="11246" y="278"/>
                          </a:lnTo>
                          <a:lnTo>
                            <a:pt x="11239" y="277"/>
                          </a:lnTo>
                          <a:lnTo>
                            <a:pt x="11228" y="275"/>
                          </a:lnTo>
                          <a:lnTo>
                            <a:pt x="11217" y="273"/>
                          </a:lnTo>
                          <a:lnTo>
                            <a:pt x="11205" y="271"/>
                          </a:lnTo>
                          <a:lnTo>
                            <a:pt x="11193" y="267"/>
                          </a:lnTo>
                          <a:lnTo>
                            <a:pt x="11183" y="266"/>
                          </a:lnTo>
                          <a:lnTo>
                            <a:pt x="11171" y="264"/>
                          </a:lnTo>
                          <a:lnTo>
                            <a:pt x="11161" y="262"/>
                          </a:lnTo>
                          <a:lnTo>
                            <a:pt x="11150" y="260"/>
                          </a:lnTo>
                          <a:lnTo>
                            <a:pt x="11139" y="258"/>
                          </a:lnTo>
                          <a:lnTo>
                            <a:pt x="11128" y="256"/>
                          </a:lnTo>
                          <a:lnTo>
                            <a:pt x="11117" y="255"/>
                          </a:lnTo>
                          <a:lnTo>
                            <a:pt x="11104" y="253"/>
                          </a:lnTo>
                          <a:lnTo>
                            <a:pt x="11092" y="251"/>
                          </a:lnTo>
                          <a:lnTo>
                            <a:pt x="11080" y="249"/>
                          </a:lnTo>
                          <a:lnTo>
                            <a:pt x="11066" y="247"/>
                          </a:lnTo>
                          <a:lnTo>
                            <a:pt x="11054" y="245"/>
                          </a:lnTo>
                          <a:lnTo>
                            <a:pt x="11045" y="243"/>
                          </a:lnTo>
                          <a:lnTo>
                            <a:pt x="11036" y="242"/>
                          </a:lnTo>
                          <a:lnTo>
                            <a:pt x="11018" y="240"/>
                          </a:lnTo>
                          <a:lnTo>
                            <a:pt x="11000" y="237"/>
                          </a:lnTo>
                          <a:lnTo>
                            <a:pt x="10983" y="234"/>
                          </a:lnTo>
                          <a:lnTo>
                            <a:pt x="10964" y="231"/>
                          </a:lnTo>
                          <a:lnTo>
                            <a:pt x="10962" y="231"/>
                          </a:lnTo>
                          <a:lnTo>
                            <a:pt x="10960" y="230"/>
                          </a:lnTo>
                          <a:lnTo>
                            <a:pt x="10946" y="228"/>
                          </a:lnTo>
                          <a:lnTo>
                            <a:pt x="10931" y="227"/>
                          </a:lnTo>
                          <a:lnTo>
                            <a:pt x="10923" y="225"/>
                          </a:lnTo>
                          <a:lnTo>
                            <a:pt x="10914" y="224"/>
                          </a:lnTo>
                          <a:lnTo>
                            <a:pt x="10905" y="223"/>
                          </a:lnTo>
                          <a:lnTo>
                            <a:pt x="10896" y="222"/>
                          </a:lnTo>
                          <a:lnTo>
                            <a:pt x="10888" y="221"/>
                          </a:lnTo>
                          <a:lnTo>
                            <a:pt x="10880" y="220"/>
                          </a:lnTo>
                          <a:lnTo>
                            <a:pt x="10870" y="219"/>
                          </a:lnTo>
                          <a:lnTo>
                            <a:pt x="10862" y="217"/>
                          </a:lnTo>
                          <a:lnTo>
                            <a:pt x="10853" y="216"/>
                          </a:lnTo>
                          <a:lnTo>
                            <a:pt x="10844" y="215"/>
                          </a:lnTo>
                          <a:lnTo>
                            <a:pt x="10834" y="214"/>
                          </a:lnTo>
                          <a:lnTo>
                            <a:pt x="10826" y="213"/>
                          </a:lnTo>
                          <a:lnTo>
                            <a:pt x="10817" y="212"/>
                          </a:lnTo>
                          <a:lnTo>
                            <a:pt x="10808" y="211"/>
                          </a:lnTo>
                          <a:lnTo>
                            <a:pt x="10798" y="210"/>
                          </a:lnTo>
                          <a:lnTo>
                            <a:pt x="10788" y="208"/>
                          </a:lnTo>
                          <a:lnTo>
                            <a:pt x="10780" y="207"/>
                          </a:lnTo>
                          <a:lnTo>
                            <a:pt x="10770" y="206"/>
                          </a:lnTo>
                          <a:lnTo>
                            <a:pt x="10761" y="205"/>
                          </a:lnTo>
                          <a:lnTo>
                            <a:pt x="10752" y="204"/>
                          </a:lnTo>
                          <a:lnTo>
                            <a:pt x="10743" y="203"/>
                          </a:lnTo>
                          <a:lnTo>
                            <a:pt x="10732" y="202"/>
                          </a:lnTo>
                          <a:lnTo>
                            <a:pt x="10722" y="201"/>
                          </a:lnTo>
                          <a:lnTo>
                            <a:pt x="10713" y="200"/>
                          </a:lnTo>
                          <a:lnTo>
                            <a:pt x="10703" y="198"/>
                          </a:lnTo>
                          <a:lnTo>
                            <a:pt x="10694" y="197"/>
                          </a:lnTo>
                          <a:lnTo>
                            <a:pt x="10685" y="196"/>
                          </a:lnTo>
                          <a:lnTo>
                            <a:pt x="10676" y="195"/>
                          </a:lnTo>
                          <a:lnTo>
                            <a:pt x="10669" y="194"/>
                          </a:lnTo>
                          <a:lnTo>
                            <a:pt x="10663" y="193"/>
                          </a:lnTo>
                          <a:lnTo>
                            <a:pt x="10663" y="193"/>
                          </a:lnTo>
                          <a:lnTo>
                            <a:pt x="10663" y="193"/>
                          </a:lnTo>
                          <a:lnTo>
                            <a:pt x="10652" y="192"/>
                          </a:lnTo>
                          <a:lnTo>
                            <a:pt x="10642" y="191"/>
                          </a:lnTo>
                          <a:lnTo>
                            <a:pt x="10630" y="190"/>
                          </a:lnTo>
                          <a:lnTo>
                            <a:pt x="10619" y="188"/>
                          </a:lnTo>
                          <a:lnTo>
                            <a:pt x="10612" y="188"/>
                          </a:lnTo>
                          <a:lnTo>
                            <a:pt x="10605" y="187"/>
                          </a:lnTo>
                          <a:lnTo>
                            <a:pt x="10587" y="185"/>
                          </a:lnTo>
                          <a:lnTo>
                            <a:pt x="10568" y="183"/>
                          </a:lnTo>
                          <a:lnTo>
                            <a:pt x="10550" y="181"/>
                          </a:lnTo>
                          <a:lnTo>
                            <a:pt x="10530" y="179"/>
                          </a:lnTo>
                          <a:lnTo>
                            <a:pt x="10523" y="179"/>
                          </a:lnTo>
                          <a:lnTo>
                            <a:pt x="10515" y="178"/>
                          </a:lnTo>
                          <a:lnTo>
                            <a:pt x="10500" y="176"/>
                          </a:lnTo>
                          <a:lnTo>
                            <a:pt x="10485" y="175"/>
                          </a:lnTo>
                          <a:lnTo>
                            <a:pt x="10469" y="173"/>
                          </a:lnTo>
                          <a:lnTo>
                            <a:pt x="10454" y="172"/>
                          </a:lnTo>
                          <a:lnTo>
                            <a:pt x="10441" y="171"/>
                          </a:lnTo>
                          <a:lnTo>
                            <a:pt x="10428" y="169"/>
                          </a:lnTo>
                          <a:lnTo>
                            <a:pt x="10413" y="168"/>
                          </a:lnTo>
                          <a:lnTo>
                            <a:pt x="10398" y="167"/>
                          </a:lnTo>
                          <a:lnTo>
                            <a:pt x="10391" y="166"/>
                          </a:lnTo>
                          <a:lnTo>
                            <a:pt x="10384" y="164"/>
                          </a:lnTo>
                          <a:lnTo>
                            <a:pt x="10359" y="162"/>
                          </a:lnTo>
                          <a:lnTo>
                            <a:pt x="10333" y="160"/>
                          </a:lnTo>
                          <a:lnTo>
                            <a:pt x="10309" y="158"/>
                          </a:lnTo>
                          <a:lnTo>
                            <a:pt x="10283" y="155"/>
                          </a:lnTo>
                          <a:lnTo>
                            <a:pt x="10279" y="155"/>
                          </a:lnTo>
                          <a:lnTo>
                            <a:pt x="10275" y="155"/>
                          </a:lnTo>
                          <a:lnTo>
                            <a:pt x="10246" y="152"/>
                          </a:lnTo>
                          <a:lnTo>
                            <a:pt x="10218" y="150"/>
                          </a:lnTo>
                          <a:lnTo>
                            <a:pt x="10189" y="147"/>
                          </a:lnTo>
                          <a:lnTo>
                            <a:pt x="10160" y="145"/>
                          </a:lnTo>
                          <a:lnTo>
                            <a:pt x="10155" y="145"/>
                          </a:lnTo>
                          <a:lnTo>
                            <a:pt x="10149" y="144"/>
                          </a:lnTo>
                          <a:lnTo>
                            <a:pt x="10139" y="143"/>
                          </a:lnTo>
                          <a:lnTo>
                            <a:pt x="10127" y="142"/>
                          </a:lnTo>
                          <a:lnTo>
                            <a:pt x="10109" y="141"/>
                          </a:lnTo>
                          <a:lnTo>
                            <a:pt x="10090" y="139"/>
                          </a:lnTo>
                          <a:lnTo>
                            <a:pt x="10071" y="138"/>
                          </a:lnTo>
                          <a:lnTo>
                            <a:pt x="10052" y="136"/>
                          </a:lnTo>
                          <a:lnTo>
                            <a:pt x="10043" y="136"/>
                          </a:lnTo>
                          <a:lnTo>
                            <a:pt x="10033" y="135"/>
                          </a:lnTo>
                          <a:lnTo>
                            <a:pt x="10023" y="134"/>
                          </a:lnTo>
                          <a:lnTo>
                            <a:pt x="10014" y="134"/>
                          </a:lnTo>
                          <a:lnTo>
                            <a:pt x="9993" y="132"/>
                          </a:lnTo>
                          <a:lnTo>
                            <a:pt x="9973" y="130"/>
                          </a:lnTo>
                          <a:lnTo>
                            <a:pt x="9952" y="128"/>
                          </a:lnTo>
                          <a:lnTo>
                            <a:pt x="9931" y="126"/>
                          </a:lnTo>
                          <a:lnTo>
                            <a:pt x="9919" y="126"/>
                          </a:lnTo>
                          <a:lnTo>
                            <a:pt x="9908" y="125"/>
                          </a:lnTo>
                          <a:lnTo>
                            <a:pt x="9905" y="125"/>
                          </a:lnTo>
                          <a:lnTo>
                            <a:pt x="9901" y="124"/>
                          </a:lnTo>
                          <a:lnTo>
                            <a:pt x="9875" y="122"/>
                          </a:lnTo>
                          <a:lnTo>
                            <a:pt x="9847" y="120"/>
                          </a:lnTo>
                          <a:lnTo>
                            <a:pt x="9820" y="119"/>
                          </a:lnTo>
                          <a:lnTo>
                            <a:pt x="9793" y="117"/>
                          </a:lnTo>
                          <a:lnTo>
                            <a:pt x="9781" y="116"/>
                          </a:lnTo>
                          <a:lnTo>
                            <a:pt x="9770" y="115"/>
                          </a:lnTo>
                          <a:lnTo>
                            <a:pt x="9748" y="114"/>
                          </a:lnTo>
                          <a:lnTo>
                            <a:pt x="9726" y="112"/>
                          </a:lnTo>
                          <a:lnTo>
                            <a:pt x="9704" y="111"/>
                          </a:lnTo>
                          <a:lnTo>
                            <a:pt x="9682" y="109"/>
                          </a:lnTo>
                          <a:lnTo>
                            <a:pt x="9676" y="109"/>
                          </a:lnTo>
                          <a:lnTo>
                            <a:pt x="9671" y="109"/>
                          </a:lnTo>
                          <a:lnTo>
                            <a:pt x="9660" y="108"/>
                          </a:lnTo>
                          <a:lnTo>
                            <a:pt x="9649" y="107"/>
                          </a:lnTo>
                          <a:lnTo>
                            <a:pt x="9639" y="107"/>
                          </a:lnTo>
                          <a:lnTo>
                            <a:pt x="9628" y="106"/>
                          </a:lnTo>
                          <a:lnTo>
                            <a:pt x="9614" y="105"/>
                          </a:lnTo>
                          <a:lnTo>
                            <a:pt x="9601" y="104"/>
                          </a:lnTo>
                          <a:lnTo>
                            <a:pt x="9586" y="103"/>
                          </a:lnTo>
                          <a:lnTo>
                            <a:pt x="9573" y="103"/>
                          </a:lnTo>
                          <a:lnTo>
                            <a:pt x="9559" y="102"/>
                          </a:lnTo>
                          <a:lnTo>
                            <a:pt x="9547" y="101"/>
                          </a:lnTo>
                          <a:lnTo>
                            <a:pt x="9534" y="100"/>
                          </a:lnTo>
                          <a:lnTo>
                            <a:pt x="9521" y="100"/>
                          </a:lnTo>
                          <a:lnTo>
                            <a:pt x="9506" y="99"/>
                          </a:lnTo>
                          <a:lnTo>
                            <a:pt x="9491" y="98"/>
                          </a:lnTo>
                          <a:lnTo>
                            <a:pt x="9476" y="96"/>
                          </a:lnTo>
                          <a:lnTo>
                            <a:pt x="9460" y="95"/>
                          </a:lnTo>
                          <a:lnTo>
                            <a:pt x="9452" y="94"/>
                          </a:lnTo>
                          <a:lnTo>
                            <a:pt x="9444" y="94"/>
                          </a:lnTo>
                          <a:lnTo>
                            <a:pt x="9434" y="93"/>
                          </a:lnTo>
                          <a:lnTo>
                            <a:pt x="9424" y="93"/>
                          </a:lnTo>
                          <a:lnTo>
                            <a:pt x="9415" y="92"/>
                          </a:lnTo>
                          <a:lnTo>
                            <a:pt x="9406" y="92"/>
                          </a:lnTo>
                          <a:lnTo>
                            <a:pt x="9391" y="91"/>
                          </a:lnTo>
                          <a:lnTo>
                            <a:pt x="9378" y="90"/>
                          </a:lnTo>
                          <a:lnTo>
                            <a:pt x="9364" y="89"/>
                          </a:lnTo>
                          <a:lnTo>
                            <a:pt x="9350" y="89"/>
                          </a:lnTo>
                          <a:lnTo>
                            <a:pt x="9336" y="88"/>
                          </a:lnTo>
                          <a:lnTo>
                            <a:pt x="9321" y="87"/>
                          </a:lnTo>
                          <a:lnTo>
                            <a:pt x="9307" y="86"/>
                          </a:lnTo>
                          <a:lnTo>
                            <a:pt x="9292" y="85"/>
                          </a:lnTo>
                          <a:lnTo>
                            <a:pt x="9278" y="85"/>
                          </a:lnTo>
                          <a:lnTo>
                            <a:pt x="9264" y="84"/>
                          </a:lnTo>
                          <a:lnTo>
                            <a:pt x="9251" y="83"/>
                          </a:lnTo>
                          <a:lnTo>
                            <a:pt x="9237" y="83"/>
                          </a:lnTo>
                          <a:lnTo>
                            <a:pt x="9225" y="82"/>
                          </a:lnTo>
                          <a:lnTo>
                            <a:pt x="9214" y="81"/>
                          </a:lnTo>
                          <a:lnTo>
                            <a:pt x="9205" y="81"/>
                          </a:lnTo>
                          <a:lnTo>
                            <a:pt x="9195" y="80"/>
                          </a:lnTo>
                          <a:lnTo>
                            <a:pt x="9186" y="80"/>
                          </a:lnTo>
                          <a:lnTo>
                            <a:pt x="9177" y="79"/>
                          </a:lnTo>
                          <a:lnTo>
                            <a:pt x="9163" y="79"/>
                          </a:lnTo>
                          <a:lnTo>
                            <a:pt x="9150" y="78"/>
                          </a:lnTo>
                          <a:lnTo>
                            <a:pt x="9136" y="77"/>
                          </a:lnTo>
                          <a:lnTo>
                            <a:pt x="9122" y="77"/>
                          </a:lnTo>
                          <a:lnTo>
                            <a:pt x="9107" y="76"/>
                          </a:lnTo>
                          <a:lnTo>
                            <a:pt x="9091" y="75"/>
                          </a:lnTo>
                          <a:lnTo>
                            <a:pt x="9077" y="74"/>
                          </a:lnTo>
                          <a:lnTo>
                            <a:pt x="9061" y="74"/>
                          </a:lnTo>
                          <a:lnTo>
                            <a:pt x="9049" y="73"/>
                          </a:lnTo>
                          <a:lnTo>
                            <a:pt x="9036" y="72"/>
                          </a:lnTo>
                          <a:lnTo>
                            <a:pt x="9023" y="72"/>
                          </a:lnTo>
                          <a:lnTo>
                            <a:pt x="9010" y="71"/>
                          </a:lnTo>
                          <a:lnTo>
                            <a:pt x="8998" y="71"/>
                          </a:lnTo>
                          <a:lnTo>
                            <a:pt x="8985" y="70"/>
                          </a:lnTo>
                          <a:lnTo>
                            <a:pt x="8973" y="69"/>
                          </a:lnTo>
                          <a:lnTo>
                            <a:pt x="8961" y="69"/>
                          </a:lnTo>
                          <a:lnTo>
                            <a:pt x="8950" y="68"/>
                          </a:lnTo>
                          <a:lnTo>
                            <a:pt x="8939" y="68"/>
                          </a:lnTo>
                          <a:lnTo>
                            <a:pt x="8927" y="67"/>
                          </a:lnTo>
                          <a:lnTo>
                            <a:pt x="8916" y="67"/>
                          </a:lnTo>
                          <a:lnTo>
                            <a:pt x="8905" y="66"/>
                          </a:lnTo>
                          <a:lnTo>
                            <a:pt x="8893" y="66"/>
                          </a:lnTo>
                          <a:lnTo>
                            <a:pt x="8877" y="65"/>
                          </a:lnTo>
                          <a:lnTo>
                            <a:pt x="8860" y="64"/>
                          </a:lnTo>
                          <a:lnTo>
                            <a:pt x="8844" y="64"/>
                          </a:lnTo>
                          <a:lnTo>
                            <a:pt x="8827" y="63"/>
                          </a:lnTo>
                          <a:lnTo>
                            <a:pt x="8815" y="61"/>
                          </a:lnTo>
                          <a:lnTo>
                            <a:pt x="8802" y="61"/>
                          </a:lnTo>
                          <a:lnTo>
                            <a:pt x="8788" y="60"/>
                          </a:lnTo>
                          <a:lnTo>
                            <a:pt x="8776" y="60"/>
                          </a:lnTo>
                          <a:lnTo>
                            <a:pt x="8768" y="59"/>
                          </a:lnTo>
                          <a:lnTo>
                            <a:pt x="8759" y="59"/>
                          </a:lnTo>
                          <a:lnTo>
                            <a:pt x="8751" y="59"/>
                          </a:lnTo>
                          <a:lnTo>
                            <a:pt x="8742" y="58"/>
                          </a:lnTo>
                          <a:lnTo>
                            <a:pt x="8717" y="57"/>
                          </a:lnTo>
                          <a:lnTo>
                            <a:pt x="8691" y="56"/>
                          </a:lnTo>
                          <a:lnTo>
                            <a:pt x="8666" y="55"/>
                          </a:lnTo>
                          <a:lnTo>
                            <a:pt x="8640" y="54"/>
                          </a:lnTo>
                          <a:lnTo>
                            <a:pt x="8614" y="53"/>
                          </a:lnTo>
                          <a:lnTo>
                            <a:pt x="8588" y="52"/>
                          </a:lnTo>
                          <a:lnTo>
                            <a:pt x="8563" y="51"/>
                          </a:lnTo>
                          <a:lnTo>
                            <a:pt x="8537" y="50"/>
                          </a:lnTo>
                          <a:lnTo>
                            <a:pt x="8534" y="50"/>
                          </a:lnTo>
                          <a:lnTo>
                            <a:pt x="8532" y="50"/>
                          </a:lnTo>
                          <a:lnTo>
                            <a:pt x="8523" y="49"/>
                          </a:lnTo>
                          <a:lnTo>
                            <a:pt x="8516" y="49"/>
                          </a:lnTo>
                          <a:lnTo>
                            <a:pt x="8492" y="48"/>
                          </a:lnTo>
                          <a:lnTo>
                            <a:pt x="8469" y="47"/>
                          </a:lnTo>
                          <a:lnTo>
                            <a:pt x="8444" y="46"/>
                          </a:lnTo>
                          <a:lnTo>
                            <a:pt x="8420" y="46"/>
                          </a:lnTo>
                          <a:lnTo>
                            <a:pt x="8396" y="45"/>
                          </a:lnTo>
                          <a:lnTo>
                            <a:pt x="8372" y="44"/>
                          </a:lnTo>
                          <a:lnTo>
                            <a:pt x="8347" y="43"/>
                          </a:lnTo>
                          <a:lnTo>
                            <a:pt x="8322" y="42"/>
                          </a:lnTo>
                          <a:lnTo>
                            <a:pt x="8315" y="42"/>
                          </a:lnTo>
                          <a:lnTo>
                            <a:pt x="8307" y="42"/>
                          </a:lnTo>
                          <a:lnTo>
                            <a:pt x="8304" y="41"/>
                          </a:lnTo>
                          <a:lnTo>
                            <a:pt x="8301" y="41"/>
                          </a:lnTo>
                          <a:lnTo>
                            <a:pt x="8277" y="41"/>
                          </a:lnTo>
                          <a:lnTo>
                            <a:pt x="8253" y="40"/>
                          </a:lnTo>
                          <a:lnTo>
                            <a:pt x="8229" y="39"/>
                          </a:lnTo>
                          <a:lnTo>
                            <a:pt x="8205" y="38"/>
                          </a:lnTo>
                          <a:lnTo>
                            <a:pt x="8181" y="37"/>
                          </a:lnTo>
                          <a:lnTo>
                            <a:pt x="8157" y="37"/>
                          </a:lnTo>
                          <a:lnTo>
                            <a:pt x="8133" y="36"/>
                          </a:lnTo>
                          <a:lnTo>
                            <a:pt x="8109" y="35"/>
                          </a:lnTo>
                          <a:lnTo>
                            <a:pt x="8097" y="35"/>
                          </a:lnTo>
                          <a:lnTo>
                            <a:pt x="8084" y="34"/>
                          </a:lnTo>
                          <a:lnTo>
                            <a:pt x="8075" y="34"/>
                          </a:lnTo>
                          <a:lnTo>
                            <a:pt x="8066" y="34"/>
                          </a:lnTo>
                          <a:lnTo>
                            <a:pt x="8043" y="33"/>
                          </a:lnTo>
                          <a:lnTo>
                            <a:pt x="8020" y="32"/>
                          </a:lnTo>
                          <a:lnTo>
                            <a:pt x="7998" y="32"/>
                          </a:lnTo>
                          <a:lnTo>
                            <a:pt x="7974" y="31"/>
                          </a:lnTo>
                          <a:lnTo>
                            <a:pt x="7951" y="30"/>
                          </a:lnTo>
                          <a:lnTo>
                            <a:pt x="7929" y="30"/>
                          </a:lnTo>
                          <a:lnTo>
                            <a:pt x="7905" y="29"/>
                          </a:lnTo>
                          <a:lnTo>
                            <a:pt x="7882" y="29"/>
                          </a:lnTo>
                          <a:lnTo>
                            <a:pt x="7876" y="27"/>
                          </a:lnTo>
                          <a:lnTo>
                            <a:pt x="7869" y="27"/>
                          </a:lnTo>
                          <a:lnTo>
                            <a:pt x="7855" y="27"/>
                          </a:lnTo>
                          <a:lnTo>
                            <a:pt x="7843" y="26"/>
                          </a:lnTo>
                          <a:lnTo>
                            <a:pt x="7805" y="25"/>
                          </a:lnTo>
                          <a:lnTo>
                            <a:pt x="7767" y="24"/>
                          </a:lnTo>
                          <a:lnTo>
                            <a:pt x="7728" y="23"/>
                          </a:lnTo>
                          <a:lnTo>
                            <a:pt x="7690" y="23"/>
                          </a:lnTo>
                          <a:lnTo>
                            <a:pt x="7677" y="22"/>
                          </a:lnTo>
                          <a:lnTo>
                            <a:pt x="7664" y="22"/>
                          </a:lnTo>
                          <a:lnTo>
                            <a:pt x="7658" y="22"/>
                          </a:lnTo>
                          <a:lnTo>
                            <a:pt x="7651" y="22"/>
                          </a:lnTo>
                          <a:lnTo>
                            <a:pt x="7631" y="21"/>
                          </a:lnTo>
                          <a:lnTo>
                            <a:pt x="7610" y="21"/>
                          </a:lnTo>
                          <a:lnTo>
                            <a:pt x="7589" y="20"/>
                          </a:lnTo>
                          <a:lnTo>
                            <a:pt x="7568" y="20"/>
                          </a:lnTo>
                          <a:lnTo>
                            <a:pt x="7547" y="19"/>
                          </a:lnTo>
                          <a:lnTo>
                            <a:pt x="7526" y="19"/>
                          </a:lnTo>
                          <a:lnTo>
                            <a:pt x="7505" y="18"/>
                          </a:lnTo>
                          <a:lnTo>
                            <a:pt x="7483" y="18"/>
                          </a:lnTo>
                          <a:lnTo>
                            <a:pt x="7479" y="18"/>
                          </a:lnTo>
                          <a:lnTo>
                            <a:pt x="7475" y="18"/>
                          </a:lnTo>
                          <a:lnTo>
                            <a:pt x="7462" y="17"/>
                          </a:lnTo>
                          <a:lnTo>
                            <a:pt x="7449" y="17"/>
                          </a:lnTo>
                          <a:lnTo>
                            <a:pt x="7415" y="16"/>
                          </a:lnTo>
                          <a:lnTo>
                            <a:pt x="7382" y="16"/>
                          </a:lnTo>
                          <a:lnTo>
                            <a:pt x="7348" y="15"/>
                          </a:lnTo>
                          <a:lnTo>
                            <a:pt x="7315" y="14"/>
                          </a:lnTo>
                          <a:lnTo>
                            <a:pt x="7302" y="14"/>
                          </a:lnTo>
                          <a:lnTo>
                            <a:pt x="7289" y="14"/>
                          </a:lnTo>
                          <a:lnTo>
                            <a:pt x="7279" y="14"/>
                          </a:lnTo>
                          <a:lnTo>
                            <a:pt x="7271" y="13"/>
                          </a:lnTo>
                          <a:lnTo>
                            <a:pt x="7263" y="13"/>
                          </a:lnTo>
                          <a:lnTo>
                            <a:pt x="7255" y="13"/>
                          </a:lnTo>
                          <a:lnTo>
                            <a:pt x="7237" y="13"/>
                          </a:lnTo>
                          <a:lnTo>
                            <a:pt x="7220" y="13"/>
                          </a:lnTo>
                          <a:lnTo>
                            <a:pt x="7202" y="12"/>
                          </a:lnTo>
                          <a:lnTo>
                            <a:pt x="7183" y="12"/>
                          </a:lnTo>
                          <a:lnTo>
                            <a:pt x="7172" y="12"/>
                          </a:lnTo>
                          <a:lnTo>
                            <a:pt x="7161" y="12"/>
                          </a:lnTo>
                          <a:lnTo>
                            <a:pt x="7150" y="11"/>
                          </a:lnTo>
                          <a:lnTo>
                            <a:pt x="7139" y="11"/>
                          </a:lnTo>
                          <a:lnTo>
                            <a:pt x="7131" y="11"/>
                          </a:lnTo>
                          <a:lnTo>
                            <a:pt x="7123" y="11"/>
                          </a:lnTo>
                          <a:lnTo>
                            <a:pt x="7115" y="11"/>
                          </a:lnTo>
                          <a:lnTo>
                            <a:pt x="7107" y="11"/>
                          </a:lnTo>
                          <a:lnTo>
                            <a:pt x="7089" y="10"/>
                          </a:lnTo>
                          <a:lnTo>
                            <a:pt x="7070" y="10"/>
                          </a:lnTo>
                          <a:lnTo>
                            <a:pt x="7050" y="10"/>
                          </a:lnTo>
                          <a:lnTo>
                            <a:pt x="7032" y="9"/>
                          </a:lnTo>
                          <a:lnTo>
                            <a:pt x="7021" y="9"/>
                          </a:lnTo>
                          <a:lnTo>
                            <a:pt x="7010" y="9"/>
                          </a:lnTo>
                          <a:lnTo>
                            <a:pt x="6999" y="9"/>
                          </a:lnTo>
                          <a:lnTo>
                            <a:pt x="6988" y="9"/>
                          </a:lnTo>
                          <a:lnTo>
                            <a:pt x="6976" y="9"/>
                          </a:lnTo>
                          <a:lnTo>
                            <a:pt x="6965" y="8"/>
                          </a:lnTo>
                          <a:lnTo>
                            <a:pt x="6946" y="8"/>
                          </a:lnTo>
                          <a:lnTo>
                            <a:pt x="6928" y="8"/>
                          </a:lnTo>
                          <a:lnTo>
                            <a:pt x="6909" y="8"/>
                          </a:lnTo>
                          <a:lnTo>
                            <a:pt x="6891" y="7"/>
                          </a:lnTo>
                          <a:lnTo>
                            <a:pt x="6878" y="7"/>
                          </a:lnTo>
                          <a:lnTo>
                            <a:pt x="6866" y="7"/>
                          </a:lnTo>
                          <a:lnTo>
                            <a:pt x="6853" y="7"/>
                          </a:lnTo>
                          <a:lnTo>
                            <a:pt x="6840" y="7"/>
                          </a:lnTo>
                          <a:lnTo>
                            <a:pt x="6826" y="7"/>
                          </a:lnTo>
                          <a:lnTo>
                            <a:pt x="6811" y="6"/>
                          </a:lnTo>
                          <a:lnTo>
                            <a:pt x="6802" y="6"/>
                          </a:lnTo>
                          <a:lnTo>
                            <a:pt x="6792" y="6"/>
                          </a:lnTo>
                          <a:lnTo>
                            <a:pt x="6782" y="6"/>
                          </a:lnTo>
                          <a:lnTo>
                            <a:pt x="6772" y="6"/>
                          </a:lnTo>
                          <a:lnTo>
                            <a:pt x="6761" y="6"/>
                          </a:lnTo>
                          <a:lnTo>
                            <a:pt x="6749" y="6"/>
                          </a:lnTo>
                          <a:lnTo>
                            <a:pt x="6738" y="5"/>
                          </a:lnTo>
                          <a:lnTo>
                            <a:pt x="6727" y="5"/>
                          </a:lnTo>
                          <a:lnTo>
                            <a:pt x="6713" y="5"/>
                          </a:lnTo>
                          <a:lnTo>
                            <a:pt x="6700" y="5"/>
                          </a:lnTo>
                          <a:lnTo>
                            <a:pt x="6687" y="5"/>
                          </a:lnTo>
                          <a:lnTo>
                            <a:pt x="6674" y="5"/>
                          </a:lnTo>
                          <a:lnTo>
                            <a:pt x="6665" y="5"/>
                          </a:lnTo>
                          <a:lnTo>
                            <a:pt x="6657" y="5"/>
                          </a:lnTo>
                          <a:lnTo>
                            <a:pt x="6648" y="5"/>
                          </a:lnTo>
                          <a:lnTo>
                            <a:pt x="6640" y="4"/>
                          </a:lnTo>
                          <a:lnTo>
                            <a:pt x="6626" y="4"/>
                          </a:lnTo>
                          <a:lnTo>
                            <a:pt x="6611" y="4"/>
                          </a:lnTo>
                          <a:lnTo>
                            <a:pt x="6583" y="4"/>
                          </a:lnTo>
                          <a:lnTo>
                            <a:pt x="6554" y="4"/>
                          </a:lnTo>
                          <a:lnTo>
                            <a:pt x="6525" y="3"/>
                          </a:lnTo>
                          <a:lnTo>
                            <a:pt x="6496" y="3"/>
                          </a:lnTo>
                          <a:lnTo>
                            <a:pt x="6468" y="3"/>
                          </a:lnTo>
                          <a:lnTo>
                            <a:pt x="6439" y="3"/>
                          </a:lnTo>
                          <a:lnTo>
                            <a:pt x="6410" y="2"/>
                          </a:lnTo>
                          <a:lnTo>
                            <a:pt x="6382" y="2"/>
                          </a:lnTo>
                          <a:lnTo>
                            <a:pt x="6374" y="2"/>
                          </a:lnTo>
                          <a:lnTo>
                            <a:pt x="6367" y="2"/>
                          </a:lnTo>
                          <a:lnTo>
                            <a:pt x="6356" y="2"/>
                          </a:lnTo>
                          <a:lnTo>
                            <a:pt x="6344" y="2"/>
                          </a:lnTo>
                          <a:lnTo>
                            <a:pt x="6331" y="2"/>
                          </a:lnTo>
                          <a:lnTo>
                            <a:pt x="6317" y="2"/>
                          </a:lnTo>
                          <a:lnTo>
                            <a:pt x="6303" y="2"/>
                          </a:lnTo>
                          <a:lnTo>
                            <a:pt x="6290" y="2"/>
                          </a:lnTo>
                          <a:lnTo>
                            <a:pt x="6270" y="1"/>
                          </a:lnTo>
                          <a:lnTo>
                            <a:pt x="6251" y="1"/>
                          </a:lnTo>
                          <a:lnTo>
                            <a:pt x="6231" y="1"/>
                          </a:lnTo>
                          <a:lnTo>
                            <a:pt x="6211" y="1"/>
                          </a:lnTo>
                          <a:lnTo>
                            <a:pt x="6211" y="1"/>
                          </a:lnTo>
                          <a:lnTo>
                            <a:pt x="6211" y="1"/>
                          </a:lnTo>
                          <a:lnTo>
                            <a:pt x="6204" y="1"/>
                          </a:lnTo>
                          <a:lnTo>
                            <a:pt x="6197" y="1"/>
                          </a:lnTo>
                          <a:lnTo>
                            <a:pt x="6197" y="1"/>
                          </a:lnTo>
                          <a:lnTo>
                            <a:pt x="6197" y="1"/>
                          </a:lnTo>
                          <a:lnTo>
                            <a:pt x="6173" y="1"/>
                          </a:lnTo>
                          <a:lnTo>
                            <a:pt x="6150" y="1"/>
                          </a:lnTo>
                          <a:lnTo>
                            <a:pt x="6127" y="1"/>
                          </a:lnTo>
                          <a:lnTo>
                            <a:pt x="6103" y="1"/>
                          </a:lnTo>
                          <a:lnTo>
                            <a:pt x="6091" y="1"/>
                          </a:lnTo>
                          <a:lnTo>
                            <a:pt x="6078" y="1"/>
                          </a:lnTo>
                          <a:lnTo>
                            <a:pt x="6069" y="1"/>
                          </a:lnTo>
                          <a:lnTo>
                            <a:pt x="6061" y="1"/>
                          </a:lnTo>
                          <a:lnTo>
                            <a:pt x="6052" y="1"/>
                          </a:lnTo>
                          <a:lnTo>
                            <a:pt x="6043" y="1"/>
                          </a:lnTo>
                          <a:lnTo>
                            <a:pt x="6035" y="0"/>
                          </a:lnTo>
                          <a:lnTo>
                            <a:pt x="6027" y="0"/>
                          </a:lnTo>
                          <a:lnTo>
                            <a:pt x="6018" y="0"/>
                          </a:lnTo>
                          <a:lnTo>
                            <a:pt x="6009" y="0"/>
                          </a:lnTo>
                          <a:lnTo>
                            <a:pt x="5987" y="0"/>
                          </a:lnTo>
                          <a:lnTo>
                            <a:pt x="5963" y="0"/>
                          </a:lnTo>
                          <a:lnTo>
                            <a:pt x="5939" y="0"/>
                          </a:lnTo>
                          <a:lnTo>
                            <a:pt x="5916" y="0"/>
                          </a:lnTo>
                          <a:lnTo>
                            <a:pt x="5915" y="0"/>
                          </a:lnTo>
                          <a:lnTo>
                            <a:pt x="5913" y="0"/>
                          </a:lnTo>
                          <a:lnTo>
                            <a:pt x="5891" y="0"/>
                          </a:lnTo>
                          <a:lnTo>
                            <a:pt x="5870" y="0"/>
                          </a:lnTo>
                          <a:lnTo>
                            <a:pt x="5849" y="0"/>
                          </a:lnTo>
                          <a:lnTo>
                            <a:pt x="5828" y="0"/>
                          </a:lnTo>
                          <a:lnTo>
                            <a:pt x="5815" y="0"/>
                          </a:lnTo>
                          <a:lnTo>
                            <a:pt x="5802" y="0"/>
                          </a:lnTo>
                          <a:lnTo>
                            <a:pt x="5790" y="0"/>
                          </a:lnTo>
                          <a:lnTo>
                            <a:pt x="5776" y="0"/>
                          </a:lnTo>
                          <a:lnTo>
                            <a:pt x="5766" y="0"/>
                          </a:lnTo>
                          <a:lnTo>
                            <a:pt x="5755" y="0"/>
                          </a:lnTo>
                          <a:lnTo>
                            <a:pt x="5748" y="0"/>
                          </a:lnTo>
                          <a:lnTo>
                            <a:pt x="5740" y="0"/>
                          </a:lnTo>
                          <a:lnTo>
                            <a:pt x="5740" y="0"/>
                          </a:lnTo>
                          <a:lnTo>
                            <a:pt x="5740" y="0"/>
                          </a:lnTo>
                          <a:lnTo>
                            <a:pt x="5740" y="0"/>
                          </a:lnTo>
                          <a:lnTo>
                            <a:pt x="5719" y="0"/>
                          </a:lnTo>
                          <a:lnTo>
                            <a:pt x="5697" y="0"/>
                          </a:lnTo>
                          <a:lnTo>
                            <a:pt x="5674" y="0"/>
                          </a:lnTo>
                          <a:lnTo>
                            <a:pt x="5653" y="0"/>
                          </a:lnTo>
                          <a:lnTo>
                            <a:pt x="5639" y="0"/>
                          </a:lnTo>
                          <a:lnTo>
                            <a:pt x="5626" y="0"/>
                          </a:lnTo>
                          <a:lnTo>
                            <a:pt x="5614" y="0"/>
                          </a:lnTo>
                          <a:lnTo>
                            <a:pt x="5601" y="0"/>
                          </a:lnTo>
                          <a:lnTo>
                            <a:pt x="5592" y="0"/>
                          </a:lnTo>
                          <a:lnTo>
                            <a:pt x="5584" y="0"/>
                          </a:lnTo>
                          <a:lnTo>
                            <a:pt x="5574" y="0"/>
                          </a:lnTo>
                          <a:lnTo>
                            <a:pt x="5566" y="1"/>
                          </a:lnTo>
                          <a:lnTo>
                            <a:pt x="5545" y="1"/>
                          </a:lnTo>
                          <a:lnTo>
                            <a:pt x="5523" y="1"/>
                          </a:lnTo>
                          <a:lnTo>
                            <a:pt x="5501" y="1"/>
                          </a:lnTo>
                          <a:lnTo>
                            <a:pt x="5480" y="1"/>
                          </a:lnTo>
                          <a:lnTo>
                            <a:pt x="5474" y="1"/>
                          </a:lnTo>
                          <a:lnTo>
                            <a:pt x="5469" y="1"/>
                          </a:lnTo>
                          <a:lnTo>
                            <a:pt x="5462" y="1"/>
                          </a:lnTo>
                          <a:lnTo>
                            <a:pt x="5454" y="1"/>
                          </a:lnTo>
                          <a:lnTo>
                            <a:pt x="5436" y="1"/>
                          </a:lnTo>
                          <a:lnTo>
                            <a:pt x="5419" y="1"/>
                          </a:lnTo>
                          <a:lnTo>
                            <a:pt x="5401" y="1"/>
                          </a:lnTo>
                          <a:lnTo>
                            <a:pt x="5384" y="1"/>
                          </a:lnTo>
                          <a:lnTo>
                            <a:pt x="5372" y="1"/>
                          </a:lnTo>
                          <a:lnTo>
                            <a:pt x="5360" y="1"/>
                          </a:lnTo>
                          <a:lnTo>
                            <a:pt x="5348" y="1"/>
                          </a:lnTo>
                          <a:lnTo>
                            <a:pt x="5336" y="2"/>
                          </a:lnTo>
                          <a:lnTo>
                            <a:pt x="5328" y="2"/>
                          </a:lnTo>
                          <a:lnTo>
                            <a:pt x="5320" y="2"/>
                          </a:lnTo>
                          <a:lnTo>
                            <a:pt x="5312" y="2"/>
                          </a:lnTo>
                          <a:lnTo>
                            <a:pt x="5304" y="2"/>
                          </a:lnTo>
                          <a:lnTo>
                            <a:pt x="5292" y="2"/>
                          </a:lnTo>
                          <a:lnTo>
                            <a:pt x="5279" y="2"/>
                          </a:lnTo>
                          <a:lnTo>
                            <a:pt x="5253" y="2"/>
                          </a:lnTo>
                          <a:lnTo>
                            <a:pt x="5227" y="2"/>
                          </a:lnTo>
                          <a:lnTo>
                            <a:pt x="5200" y="2"/>
                          </a:lnTo>
                          <a:lnTo>
                            <a:pt x="5175" y="3"/>
                          </a:lnTo>
                          <a:lnTo>
                            <a:pt x="5149" y="3"/>
                          </a:lnTo>
                          <a:lnTo>
                            <a:pt x="5123" y="3"/>
                          </a:lnTo>
                          <a:lnTo>
                            <a:pt x="5097" y="3"/>
                          </a:lnTo>
                          <a:lnTo>
                            <a:pt x="5070" y="4"/>
                          </a:lnTo>
                          <a:lnTo>
                            <a:pt x="5056" y="4"/>
                          </a:lnTo>
                          <a:lnTo>
                            <a:pt x="5043" y="4"/>
                          </a:lnTo>
                          <a:lnTo>
                            <a:pt x="5033" y="4"/>
                          </a:lnTo>
                          <a:lnTo>
                            <a:pt x="5025" y="4"/>
                          </a:lnTo>
                          <a:lnTo>
                            <a:pt x="5017" y="4"/>
                          </a:lnTo>
                          <a:lnTo>
                            <a:pt x="5009" y="4"/>
                          </a:lnTo>
                          <a:lnTo>
                            <a:pt x="4998" y="4"/>
                          </a:lnTo>
                          <a:lnTo>
                            <a:pt x="4987" y="4"/>
                          </a:lnTo>
                          <a:lnTo>
                            <a:pt x="4977" y="4"/>
                          </a:lnTo>
                          <a:lnTo>
                            <a:pt x="4966" y="5"/>
                          </a:lnTo>
                          <a:lnTo>
                            <a:pt x="4952" y="5"/>
                          </a:lnTo>
                          <a:lnTo>
                            <a:pt x="4937" y="5"/>
                          </a:lnTo>
                          <a:lnTo>
                            <a:pt x="4917" y="5"/>
                          </a:lnTo>
                          <a:lnTo>
                            <a:pt x="4897" y="5"/>
                          </a:lnTo>
                          <a:lnTo>
                            <a:pt x="4877" y="6"/>
                          </a:lnTo>
                          <a:lnTo>
                            <a:pt x="4857" y="6"/>
                          </a:lnTo>
                          <a:lnTo>
                            <a:pt x="4836" y="6"/>
                          </a:lnTo>
                          <a:lnTo>
                            <a:pt x="4817" y="6"/>
                          </a:lnTo>
                          <a:lnTo>
                            <a:pt x="4797" y="7"/>
                          </a:lnTo>
                          <a:lnTo>
                            <a:pt x="4777" y="7"/>
                          </a:lnTo>
                          <a:lnTo>
                            <a:pt x="4763" y="7"/>
                          </a:lnTo>
                          <a:lnTo>
                            <a:pt x="4750" y="7"/>
                          </a:lnTo>
                          <a:lnTo>
                            <a:pt x="4746" y="7"/>
                          </a:lnTo>
                          <a:lnTo>
                            <a:pt x="4742" y="7"/>
                          </a:lnTo>
                          <a:lnTo>
                            <a:pt x="4719" y="8"/>
                          </a:lnTo>
                          <a:lnTo>
                            <a:pt x="4695" y="8"/>
                          </a:lnTo>
                          <a:lnTo>
                            <a:pt x="4673" y="8"/>
                          </a:lnTo>
                          <a:lnTo>
                            <a:pt x="4650" y="9"/>
                          </a:lnTo>
                          <a:lnTo>
                            <a:pt x="4626" y="9"/>
                          </a:lnTo>
                          <a:lnTo>
                            <a:pt x="4603" y="9"/>
                          </a:lnTo>
                          <a:lnTo>
                            <a:pt x="4581" y="10"/>
                          </a:lnTo>
                          <a:lnTo>
                            <a:pt x="4558" y="10"/>
                          </a:lnTo>
                          <a:lnTo>
                            <a:pt x="4547" y="10"/>
                          </a:lnTo>
                          <a:lnTo>
                            <a:pt x="4535" y="10"/>
                          </a:lnTo>
                          <a:lnTo>
                            <a:pt x="4515" y="11"/>
                          </a:lnTo>
                          <a:lnTo>
                            <a:pt x="4495" y="11"/>
                          </a:lnTo>
                          <a:lnTo>
                            <a:pt x="4475" y="11"/>
                          </a:lnTo>
                          <a:lnTo>
                            <a:pt x="4455" y="12"/>
                          </a:lnTo>
                          <a:lnTo>
                            <a:pt x="4448" y="12"/>
                          </a:lnTo>
                          <a:lnTo>
                            <a:pt x="4442" y="12"/>
                          </a:lnTo>
                          <a:lnTo>
                            <a:pt x="4419" y="12"/>
                          </a:lnTo>
                          <a:lnTo>
                            <a:pt x="4397" y="13"/>
                          </a:lnTo>
                          <a:lnTo>
                            <a:pt x="4376" y="13"/>
                          </a:lnTo>
                          <a:lnTo>
                            <a:pt x="4354" y="13"/>
                          </a:lnTo>
                          <a:lnTo>
                            <a:pt x="4332" y="14"/>
                          </a:lnTo>
                          <a:lnTo>
                            <a:pt x="4310" y="14"/>
                          </a:lnTo>
                          <a:lnTo>
                            <a:pt x="4288" y="15"/>
                          </a:lnTo>
                          <a:lnTo>
                            <a:pt x="4266" y="15"/>
                          </a:lnTo>
                          <a:lnTo>
                            <a:pt x="4254" y="15"/>
                          </a:lnTo>
                          <a:lnTo>
                            <a:pt x="4242" y="16"/>
                          </a:lnTo>
                          <a:lnTo>
                            <a:pt x="4229" y="16"/>
                          </a:lnTo>
                          <a:lnTo>
                            <a:pt x="4217" y="16"/>
                          </a:lnTo>
                          <a:lnTo>
                            <a:pt x="4194" y="17"/>
                          </a:lnTo>
                          <a:lnTo>
                            <a:pt x="4172" y="17"/>
                          </a:lnTo>
                          <a:lnTo>
                            <a:pt x="4150" y="18"/>
                          </a:lnTo>
                          <a:lnTo>
                            <a:pt x="4127" y="18"/>
                          </a:lnTo>
                          <a:lnTo>
                            <a:pt x="4105" y="19"/>
                          </a:lnTo>
                          <a:lnTo>
                            <a:pt x="4083" y="19"/>
                          </a:lnTo>
                          <a:lnTo>
                            <a:pt x="4060" y="19"/>
                          </a:lnTo>
                          <a:lnTo>
                            <a:pt x="4038" y="20"/>
                          </a:lnTo>
                          <a:lnTo>
                            <a:pt x="4032" y="20"/>
                          </a:lnTo>
                          <a:lnTo>
                            <a:pt x="4027" y="20"/>
                          </a:lnTo>
                          <a:lnTo>
                            <a:pt x="4011" y="21"/>
                          </a:lnTo>
                          <a:lnTo>
                            <a:pt x="3994" y="21"/>
                          </a:lnTo>
                          <a:lnTo>
                            <a:pt x="3977" y="21"/>
                          </a:lnTo>
                          <a:lnTo>
                            <a:pt x="3960" y="22"/>
                          </a:lnTo>
                          <a:lnTo>
                            <a:pt x="3945" y="22"/>
                          </a:lnTo>
                          <a:lnTo>
                            <a:pt x="3928" y="23"/>
                          </a:lnTo>
                          <a:lnTo>
                            <a:pt x="3913" y="23"/>
                          </a:lnTo>
                          <a:lnTo>
                            <a:pt x="3897" y="23"/>
                          </a:lnTo>
                          <a:lnTo>
                            <a:pt x="3891" y="24"/>
                          </a:lnTo>
                          <a:lnTo>
                            <a:pt x="3886" y="24"/>
                          </a:lnTo>
                          <a:lnTo>
                            <a:pt x="3874" y="24"/>
                          </a:lnTo>
                          <a:lnTo>
                            <a:pt x="3862" y="24"/>
                          </a:lnTo>
                          <a:lnTo>
                            <a:pt x="3851" y="25"/>
                          </a:lnTo>
                          <a:lnTo>
                            <a:pt x="3839" y="25"/>
                          </a:lnTo>
                          <a:lnTo>
                            <a:pt x="3819" y="25"/>
                          </a:lnTo>
                          <a:lnTo>
                            <a:pt x="3800" y="26"/>
                          </a:lnTo>
                          <a:lnTo>
                            <a:pt x="3779" y="26"/>
                          </a:lnTo>
                          <a:lnTo>
                            <a:pt x="3759" y="27"/>
                          </a:lnTo>
                          <a:lnTo>
                            <a:pt x="3752" y="27"/>
                          </a:lnTo>
                          <a:lnTo>
                            <a:pt x="3746" y="27"/>
                          </a:lnTo>
                          <a:lnTo>
                            <a:pt x="3729" y="29"/>
                          </a:lnTo>
                          <a:lnTo>
                            <a:pt x="3713" y="29"/>
                          </a:lnTo>
                          <a:lnTo>
                            <a:pt x="3697" y="30"/>
                          </a:lnTo>
                          <a:lnTo>
                            <a:pt x="3681" y="30"/>
                          </a:lnTo>
                          <a:lnTo>
                            <a:pt x="3670" y="30"/>
                          </a:lnTo>
                          <a:lnTo>
                            <a:pt x="3658" y="31"/>
                          </a:lnTo>
                          <a:lnTo>
                            <a:pt x="3646" y="31"/>
                          </a:lnTo>
                          <a:lnTo>
                            <a:pt x="3635" y="32"/>
                          </a:lnTo>
                          <a:lnTo>
                            <a:pt x="3625" y="32"/>
                          </a:lnTo>
                          <a:lnTo>
                            <a:pt x="3616" y="32"/>
                          </a:lnTo>
                          <a:lnTo>
                            <a:pt x="3589" y="33"/>
                          </a:lnTo>
                          <a:lnTo>
                            <a:pt x="3563" y="34"/>
                          </a:lnTo>
                          <a:lnTo>
                            <a:pt x="3538" y="34"/>
                          </a:lnTo>
                          <a:lnTo>
                            <a:pt x="3512" y="35"/>
                          </a:lnTo>
                          <a:lnTo>
                            <a:pt x="3485" y="36"/>
                          </a:lnTo>
                          <a:lnTo>
                            <a:pt x="3459" y="37"/>
                          </a:lnTo>
                          <a:lnTo>
                            <a:pt x="3434" y="38"/>
                          </a:lnTo>
                          <a:lnTo>
                            <a:pt x="3408" y="38"/>
                          </a:lnTo>
                          <a:lnTo>
                            <a:pt x="3400" y="39"/>
                          </a:lnTo>
                          <a:lnTo>
                            <a:pt x="3391" y="39"/>
                          </a:lnTo>
                          <a:lnTo>
                            <a:pt x="3379" y="39"/>
                          </a:lnTo>
                          <a:lnTo>
                            <a:pt x="3368" y="40"/>
                          </a:lnTo>
                          <a:lnTo>
                            <a:pt x="3352" y="40"/>
                          </a:lnTo>
                          <a:lnTo>
                            <a:pt x="3337" y="41"/>
                          </a:lnTo>
                          <a:lnTo>
                            <a:pt x="3321" y="41"/>
                          </a:lnTo>
                          <a:lnTo>
                            <a:pt x="3306" y="42"/>
                          </a:lnTo>
                          <a:lnTo>
                            <a:pt x="3298" y="42"/>
                          </a:lnTo>
                          <a:lnTo>
                            <a:pt x="3288" y="43"/>
                          </a:lnTo>
                          <a:lnTo>
                            <a:pt x="3279" y="43"/>
                          </a:lnTo>
                          <a:lnTo>
                            <a:pt x="3270" y="43"/>
                          </a:lnTo>
                          <a:lnTo>
                            <a:pt x="3255" y="44"/>
                          </a:lnTo>
                          <a:lnTo>
                            <a:pt x="3241" y="44"/>
                          </a:lnTo>
                          <a:lnTo>
                            <a:pt x="3232" y="45"/>
                          </a:lnTo>
                          <a:lnTo>
                            <a:pt x="3222" y="45"/>
                          </a:lnTo>
                          <a:lnTo>
                            <a:pt x="3213" y="45"/>
                          </a:lnTo>
                          <a:lnTo>
                            <a:pt x="3203" y="46"/>
                          </a:lnTo>
                          <a:lnTo>
                            <a:pt x="3190" y="46"/>
                          </a:lnTo>
                          <a:lnTo>
                            <a:pt x="3177" y="47"/>
                          </a:lnTo>
                          <a:lnTo>
                            <a:pt x="3164" y="47"/>
                          </a:lnTo>
                          <a:lnTo>
                            <a:pt x="3151" y="47"/>
                          </a:lnTo>
                          <a:lnTo>
                            <a:pt x="3136" y="48"/>
                          </a:lnTo>
                          <a:lnTo>
                            <a:pt x="3120" y="49"/>
                          </a:lnTo>
                          <a:lnTo>
                            <a:pt x="3108" y="49"/>
                          </a:lnTo>
                          <a:lnTo>
                            <a:pt x="3096" y="50"/>
                          </a:lnTo>
                          <a:lnTo>
                            <a:pt x="3076" y="50"/>
                          </a:lnTo>
                          <a:lnTo>
                            <a:pt x="3056" y="51"/>
                          </a:lnTo>
                          <a:lnTo>
                            <a:pt x="3037" y="52"/>
                          </a:lnTo>
                          <a:lnTo>
                            <a:pt x="3017" y="53"/>
                          </a:lnTo>
                          <a:lnTo>
                            <a:pt x="3011" y="53"/>
                          </a:lnTo>
                          <a:lnTo>
                            <a:pt x="3004" y="53"/>
                          </a:lnTo>
                          <a:lnTo>
                            <a:pt x="2997" y="53"/>
                          </a:lnTo>
                          <a:lnTo>
                            <a:pt x="2989" y="54"/>
                          </a:lnTo>
                          <a:lnTo>
                            <a:pt x="2963" y="55"/>
                          </a:lnTo>
                          <a:lnTo>
                            <a:pt x="2937" y="56"/>
                          </a:lnTo>
                          <a:lnTo>
                            <a:pt x="2910" y="57"/>
                          </a:lnTo>
                          <a:lnTo>
                            <a:pt x="2884" y="58"/>
                          </a:lnTo>
                          <a:lnTo>
                            <a:pt x="2856" y="59"/>
                          </a:lnTo>
                          <a:lnTo>
                            <a:pt x="2830" y="60"/>
                          </a:lnTo>
                          <a:lnTo>
                            <a:pt x="2802" y="63"/>
                          </a:lnTo>
                          <a:lnTo>
                            <a:pt x="2775" y="64"/>
                          </a:lnTo>
                          <a:lnTo>
                            <a:pt x="2770" y="64"/>
                          </a:lnTo>
                          <a:lnTo>
                            <a:pt x="2765" y="64"/>
                          </a:lnTo>
                          <a:lnTo>
                            <a:pt x="2765" y="64"/>
                          </a:lnTo>
                          <a:lnTo>
                            <a:pt x="2764" y="64"/>
                          </a:lnTo>
                          <a:lnTo>
                            <a:pt x="2762" y="64"/>
                          </a:lnTo>
                          <a:lnTo>
                            <a:pt x="2758" y="64"/>
                          </a:lnTo>
                          <a:lnTo>
                            <a:pt x="2728" y="66"/>
                          </a:lnTo>
                          <a:lnTo>
                            <a:pt x="2698" y="67"/>
                          </a:lnTo>
                          <a:lnTo>
                            <a:pt x="2668" y="69"/>
                          </a:lnTo>
                          <a:lnTo>
                            <a:pt x="2638" y="70"/>
                          </a:lnTo>
                          <a:lnTo>
                            <a:pt x="2635" y="70"/>
                          </a:lnTo>
                          <a:lnTo>
                            <a:pt x="2632" y="70"/>
                          </a:lnTo>
                          <a:lnTo>
                            <a:pt x="2617" y="71"/>
                          </a:lnTo>
                          <a:lnTo>
                            <a:pt x="2603" y="72"/>
                          </a:lnTo>
                          <a:lnTo>
                            <a:pt x="2581" y="73"/>
                          </a:lnTo>
                          <a:lnTo>
                            <a:pt x="2559" y="74"/>
                          </a:lnTo>
                          <a:lnTo>
                            <a:pt x="2536" y="75"/>
                          </a:lnTo>
                          <a:lnTo>
                            <a:pt x="2514" y="76"/>
                          </a:lnTo>
                          <a:lnTo>
                            <a:pt x="2508" y="76"/>
                          </a:lnTo>
                          <a:lnTo>
                            <a:pt x="2502" y="77"/>
                          </a:lnTo>
                          <a:lnTo>
                            <a:pt x="2492" y="77"/>
                          </a:lnTo>
                          <a:lnTo>
                            <a:pt x="2480" y="78"/>
                          </a:lnTo>
                          <a:lnTo>
                            <a:pt x="2450" y="79"/>
                          </a:lnTo>
                          <a:lnTo>
                            <a:pt x="2421" y="81"/>
                          </a:lnTo>
                          <a:lnTo>
                            <a:pt x="2393" y="82"/>
                          </a:lnTo>
                          <a:lnTo>
                            <a:pt x="2364" y="84"/>
                          </a:lnTo>
                          <a:lnTo>
                            <a:pt x="2351" y="84"/>
                          </a:lnTo>
                          <a:lnTo>
                            <a:pt x="2339" y="85"/>
                          </a:lnTo>
                          <a:lnTo>
                            <a:pt x="2332" y="85"/>
                          </a:lnTo>
                          <a:lnTo>
                            <a:pt x="2325" y="86"/>
                          </a:lnTo>
                          <a:lnTo>
                            <a:pt x="2287" y="88"/>
                          </a:lnTo>
                          <a:lnTo>
                            <a:pt x="2250" y="90"/>
                          </a:lnTo>
                          <a:lnTo>
                            <a:pt x="2213" y="92"/>
                          </a:lnTo>
                          <a:lnTo>
                            <a:pt x="2176" y="94"/>
                          </a:lnTo>
                          <a:lnTo>
                            <a:pt x="2170" y="94"/>
                          </a:lnTo>
                          <a:lnTo>
                            <a:pt x="2163" y="95"/>
                          </a:lnTo>
                          <a:lnTo>
                            <a:pt x="2151" y="96"/>
                          </a:lnTo>
                          <a:lnTo>
                            <a:pt x="2139" y="96"/>
                          </a:lnTo>
                          <a:lnTo>
                            <a:pt x="2128" y="98"/>
                          </a:lnTo>
                          <a:lnTo>
                            <a:pt x="2115" y="99"/>
                          </a:lnTo>
                          <a:lnTo>
                            <a:pt x="2105" y="99"/>
                          </a:lnTo>
                          <a:lnTo>
                            <a:pt x="2095" y="100"/>
                          </a:lnTo>
                          <a:lnTo>
                            <a:pt x="2084" y="101"/>
                          </a:lnTo>
                          <a:lnTo>
                            <a:pt x="2074" y="101"/>
                          </a:lnTo>
                          <a:lnTo>
                            <a:pt x="2059" y="102"/>
                          </a:lnTo>
                          <a:lnTo>
                            <a:pt x="2044" y="103"/>
                          </a:lnTo>
                          <a:lnTo>
                            <a:pt x="2030" y="104"/>
                          </a:lnTo>
                          <a:lnTo>
                            <a:pt x="2015" y="105"/>
                          </a:lnTo>
                          <a:lnTo>
                            <a:pt x="2003" y="106"/>
                          </a:lnTo>
                          <a:lnTo>
                            <a:pt x="1990" y="106"/>
                          </a:lnTo>
                          <a:lnTo>
                            <a:pt x="1977" y="107"/>
                          </a:lnTo>
                          <a:lnTo>
                            <a:pt x="1965" y="108"/>
                          </a:lnTo>
                          <a:lnTo>
                            <a:pt x="1959" y="108"/>
                          </a:lnTo>
                          <a:lnTo>
                            <a:pt x="1952" y="109"/>
                          </a:lnTo>
                          <a:lnTo>
                            <a:pt x="1938" y="110"/>
                          </a:lnTo>
                          <a:lnTo>
                            <a:pt x="1924" y="111"/>
                          </a:lnTo>
                          <a:lnTo>
                            <a:pt x="1906" y="112"/>
                          </a:lnTo>
                          <a:lnTo>
                            <a:pt x="1890" y="113"/>
                          </a:lnTo>
                          <a:lnTo>
                            <a:pt x="1872" y="114"/>
                          </a:lnTo>
                          <a:lnTo>
                            <a:pt x="1855" y="115"/>
                          </a:lnTo>
                          <a:lnTo>
                            <a:pt x="1843" y="116"/>
                          </a:lnTo>
                          <a:lnTo>
                            <a:pt x="1832" y="117"/>
                          </a:lnTo>
                          <a:lnTo>
                            <a:pt x="1822" y="117"/>
                          </a:lnTo>
                          <a:lnTo>
                            <a:pt x="1810" y="118"/>
                          </a:lnTo>
                          <a:lnTo>
                            <a:pt x="1795" y="119"/>
                          </a:lnTo>
                          <a:lnTo>
                            <a:pt x="1779" y="120"/>
                          </a:lnTo>
                          <a:lnTo>
                            <a:pt x="1764" y="121"/>
                          </a:lnTo>
                          <a:lnTo>
                            <a:pt x="1748" y="122"/>
                          </a:lnTo>
                          <a:lnTo>
                            <a:pt x="1737" y="123"/>
                          </a:lnTo>
                          <a:lnTo>
                            <a:pt x="1726" y="124"/>
                          </a:lnTo>
                          <a:lnTo>
                            <a:pt x="1715" y="125"/>
                          </a:lnTo>
                          <a:lnTo>
                            <a:pt x="1704" y="126"/>
                          </a:lnTo>
                          <a:lnTo>
                            <a:pt x="1685" y="127"/>
                          </a:lnTo>
                          <a:lnTo>
                            <a:pt x="1668" y="128"/>
                          </a:lnTo>
                          <a:lnTo>
                            <a:pt x="1649" y="130"/>
                          </a:lnTo>
                          <a:lnTo>
                            <a:pt x="1631" y="132"/>
                          </a:lnTo>
                          <a:lnTo>
                            <a:pt x="1622" y="133"/>
                          </a:lnTo>
                          <a:lnTo>
                            <a:pt x="1611" y="133"/>
                          </a:lnTo>
                          <a:lnTo>
                            <a:pt x="1602" y="134"/>
                          </a:lnTo>
                          <a:lnTo>
                            <a:pt x="1592" y="135"/>
                          </a:lnTo>
                          <a:lnTo>
                            <a:pt x="1570" y="136"/>
                          </a:lnTo>
                          <a:lnTo>
                            <a:pt x="1547" y="138"/>
                          </a:lnTo>
                          <a:lnTo>
                            <a:pt x="1526" y="140"/>
                          </a:lnTo>
                          <a:lnTo>
                            <a:pt x="1504" y="142"/>
                          </a:lnTo>
                          <a:lnTo>
                            <a:pt x="1495" y="142"/>
                          </a:lnTo>
                          <a:lnTo>
                            <a:pt x="1487" y="143"/>
                          </a:lnTo>
                          <a:lnTo>
                            <a:pt x="1486" y="143"/>
                          </a:lnTo>
                          <a:lnTo>
                            <a:pt x="1484" y="143"/>
                          </a:lnTo>
                          <a:lnTo>
                            <a:pt x="1459" y="145"/>
                          </a:lnTo>
                          <a:lnTo>
                            <a:pt x="1433" y="147"/>
                          </a:lnTo>
                          <a:lnTo>
                            <a:pt x="1408" y="149"/>
                          </a:lnTo>
                          <a:lnTo>
                            <a:pt x="1382" y="152"/>
                          </a:lnTo>
                          <a:lnTo>
                            <a:pt x="1375" y="152"/>
                          </a:lnTo>
                          <a:lnTo>
                            <a:pt x="1367" y="153"/>
                          </a:lnTo>
                          <a:lnTo>
                            <a:pt x="1359" y="154"/>
                          </a:lnTo>
                          <a:lnTo>
                            <a:pt x="1352" y="154"/>
                          </a:lnTo>
                          <a:lnTo>
                            <a:pt x="1333" y="156"/>
                          </a:lnTo>
                          <a:lnTo>
                            <a:pt x="1315" y="157"/>
                          </a:lnTo>
                          <a:lnTo>
                            <a:pt x="1299" y="159"/>
                          </a:lnTo>
                          <a:lnTo>
                            <a:pt x="1281" y="160"/>
                          </a:lnTo>
                          <a:lnTo>
                            <a:pt x="1273" y="161"/>
                          </a:lnTo>
                          <a:lnTo>
                            <a:pt x="1266" y="162"/>
                          </a:lnTo>
                          <a:lnTo>
                            <a:pt x="1256" y="163"/>
                          </a:lnTo>
                          <a:lnTo>
                            <a:pt x="1245" y="164"/>
                          </a:lnTo>
                          <a:lnTo>
                            <a:pt x="1231" y="166"/>
                          </a:lnTo>
                          <a:lnTo>
                            <a:pt x="1216" y="167"/>
                          </a:lnTo>
                          <a:lnTo>
                            <a:pt x="1202" y="169"/>
                          </a:lnTo>
                          <a:lnTo>
                            <a:pt x="1188" y="170"/>
                          </a:lnTo>
                          <a:lnTo>
                            <a:pt x="1178" y="171"/>
                          </a:lnTo>
                          <a:lnTo>
                            <a:pt x="1169" y="172"/>
                          </a:lnTo>
                          <a:lnTo>
                            <a:pt x="1160" y="173"/>
                          </a:lnTo>
                          <a:lnTo>
                            <a:pt x="1151" y="174"/>
                          </a:lnTo>
                          <a:lnTo>
                            <a:pt x="1136" y="175"/>
                          </a:lnTo>
                          <a:lnTo>
                            <a:pt x="1122" y="176"/>
                          </a:lnTo>
                          <a:lnTo>
                            <a:pt x="1107" y="178"/>
                          </a:lnTo>
                          <a:lnTo>
                            <a:pt x="1093" y="179"/>
                          </a:lnTo>
                          <a:lnTo>
                            <a:pt x="1081" y="180"/>
                          </a:lnTo>
                          <a:lnTo>
                            <a:pt x="1070" y="181"/>
                          </a:lnTo>
                          <a:lnTo>
                            <a:pt x="1066" y="182"/>
                          </a:lnTo>
                          <a:lnTo>
                            <a:pt x="1062" y="182"/>
                          </a:lnTo>
                          <a:lnTo>
                            <a:pt x="1047" y="184"/>
                          </a:lnTo>
                          <a:lnTo>
                            <a:pt x="1033" y="185"/>
                          </a:lnTo>
                          <a:lnTo>
                            <a:pt x="1020" y="187"/>
                          </a:lnTo>
                          <a:lnTo>
                            <a:pt x="1005" y="188"/>
                          </a:lnTo>
                          <a:lnTo>
                            <a:pt x="991" y="190"/>
                          </a:lnTo>
                          <a:lnTo>
                            <a:pt x="977" y="191"/>
                          </a:lnTo>
                          <a:lnTo>
                            <a:pt x="961" y="193"/>
                          </a:lnTo>
                          <a:lnTo>
                            <a:pt x="945" y="195"/>
                          </a:lnTo>
                          <a:lnTo>
                            <a:pt x="930" y="196"/>
                          </a:lnTo>
                          <a:lnTo>
                            <a:pt x="914" y="198"/>
                          </a:lnTo>
                          <a:lnTo>
                            <a:pt x="906" y="200"/>
                          </a:lnTo>
                          <a:lnTo>
                            <a:pt x="897" y="201"/>
                          </a:lnTo>
                          <a:lnTo>
                            <a:pt x="897" y="201"/>
                          </a:lnTo>
                          <a:lnTo>
                            <a:pt x="896" y="201"/>
                          </a:lnTo>
                          <a:lnTo>
                            <a:pt x="884" y="203"/>
                          </a:lnTo>
                          <a:lnTo>
                            <a:pt x="871" y="204"/>
                          </a:lnTo>
                          <a:lnTo>
                            <a:pt x="859" y="205"/>
                          </a:lnTo>
                          <a:lnTo>
                            <a:pt x="847" y="207"/>
                          </a:lnTo>
                          <a:lnTo>
                            <a:pt x="838" y="208"/>
                          </a:lnTo>
                          <a:lnTo>
                            <a:pt x="829" y="209"/>
                          </a:lnTo>
                          <a:lnTo>
                            <a:pt x="820" y="210"/>
                          </a:lnTo>
                          <a:lnTo>
                            <a:pt x="811" y="211"/>
                          </a:lnTo>
                          <a:lnTo>
                            <a:pt x="795" y="213"/>
                          </a:lnTo>
                          <a:lnTo>
                            <a:pt x="779" y="215"/>
                          </a:lnTo>
                          <a:lnTo>
                            <a:pt x="764" y="217"/>
                          </a:lnTo>
                          <a:lnTo>
                            <a:pt x="749" y="219"/>
                          </a:lnTo>
                          <a:lnTo>
                            <a:pt x="749" y="219"/>
                          </a:lnTo>
                          <a:lnTo>
                            <a:pt x="749" y="219"/>
                          </a:lnTo>
                          <a:lnTo>
                            <a:pt x="736" y="220"/>
                          </a:lnTo>
                          <a:lnTo>
                            <a:pt x="725" y="222"/>
                          </a:lnTo>
                          <a:lnTo>
                            <a:pt x="713" y="223"/>
                          </a:lnTo>
                          <a:lnTo>
                            <a:pt x="703" y="225"/>
                          </a:lnTo>
                          <a:lnTo>
                            <a:pt x="692" y="226"/>
                          </a:lnTo>
                          <a:lnTo>
                            <a:pt x="682" y="228"/>
                          </a:lnTo>
                          <a:lnTo>
                            <a:pt x="671" y="229"/>
                          </a:lnTo>
                          <a:lnTo>
                            <a:pt x="662" y="230"/>
                          </a:lnTo>
                          <a:lnTo>
                            <a:pt x="652" y="232"/>
                          </a:lnTo>
                          <a:lnTo>
                            <a:pt x="642" y="234"/>
                          </a:lnTo>
                          <a:lnTo>
                            <a:pt x="629" y="236"/>
                          </a:lnTo>
                          <a:lnTo>
                            <a:pt x="618" y="238"/>
                          </a:lnTo>
                          <a:lnTo>
                            <a:pt x="617" y="238"/>
                          </a:lnTo>
                          <a:lnTo>
                            <a:pt x="617" y="238"/>
                          </a:lnTo>
                          <a:lnTo>
                            <a:pt x="601" y="240"/>
                          </a:lnTo>
                          <a:lnTo>
                            <a:pt x="586" y="242"/>
                          </a:lnTo>
                          <a:lnTo>
                            <a:pt x="571" y="244"/>
                          </a:lnTo>
                          <a:lnTo>
                            <a:pt x="557" y="247"/>
                          </a:lnTo>
                          <a:lnTo>
                            <a:pt x="545" y="248"/>
                          </a:lnTo>
                          <a:lnTo>
                            <a:pt x="535" y="250"/>
                          </a:lnTo>
                          <a:lnTo>
                            <a:pt x="526" y="251"/>
                          </a:lnTo>
                          <a:lnTo>
                            <a:pt x="517" y="253"/>
                          </a:lnTo>
                          <a:lnTo>
                            <a:pt x="508" y="254"/>
                          </a:lnTo>
                          <a:lnTo>
                            <a:pt x="499" y="255"/>
                          </a:lnTo>
                          <a:lnTo>
                            <a:pt x="499" y="256"/>
                          </a:lnTo>
                          <a:lnTo>
                            <a:pt x="498" y="256"/>
                          </a:lnTo>
                          <a:lnTo>
                            <a:pt x="490" y="257"/>
                          </a:lnTo>
                          <a:lnTo>
                            <a:pt x="483" y="258"/>
                          </a:lnTo>
                          <a:lnTo>
                            <a:pt x="472" y="260"/>
                          </a:lnTo>
                          <a:lnTo>
                            <a:pt x="463" y="262"/>
                          </a:lnTo>
                          <a:lnTo>
                            <a:pt x="454" y="263"/>
                          </a:lnTo>
                          <a:lnTo>
                            <a:pt x="444" y="265"/>
                          </a:lnTo>
                          <a:lnTo>
                            <a:pt x="434" y="266"/>
                          </a:lnTo>
                          <a:lnTo>
                            <a:pt x="425" y="269"/>
                          </a:lnTo>
                          <a:lnTo>
                            <a:pt x="411" y="272"/>
                          </a:lnTo>
                          <a:lnTo>
                            <a:pt x="398" y="274"/>
                          </a:lnTo>
                          <a:lnTo>
                            <a:pt x="396" y="274"/>
                          </a:lnTo>
                          <a:lnTo>
                            <a:pt x="394" y="275"/>
                          </a:lnTo>
                          <a:lnTo>
                            <a:pt x="384" y="277"/>
                          </a:lnTo>
                          <a:lnTo>
                            <a:pt x="373" y="279"/>
                          </a:lnTo>
                          <a:lnTo>
                            <a:pt x="359" y="281"/>
                          </a:lnTo>
                          <a:lnTo>
                            <a:pt x="346" y="284"/>
                          </a:lnTo>
                          <a:lnTo>
                            <a:pt x="335" y="286"/>
                          </a:lnTo>
                          <a:lnTo>
                            <a:pt x="326" y="288"/>
                          </a:lnTo>
                          <a:lnTo>
                            <a:pt x="318" y="290"/>
                          </a:lnTo>
                          <a:lnTo>
                            <a:pt x="308" y="291"/>
                          </a:lnTo>
                          <a:lnTo>
                            <a:pt x="304" y="292"/>
                          </a:lnTo>
                          <a:lnTo>
                            <a:pt x="300" y="293"/>
                          </a:lnTo>
                          <a:lnTo>
                            <a:pt x="291" y="295"/>
                          </a:lnTo>
                          <a:lnTo>
                            <a:pt x="282" y="297"/>
                          </a:lnTo>
                          <a:lnTo>
                            <a:pt x="269" y="300"/>
                          </a:lnTo>
                          <a:lnTo>
                            <a:pt x="258" y="304"/>
                          </a:lnTo>
                          <a:lnTo>
                            <a:pt x="250" y="306"/>
                          </a:lnTo>
                          <a:lnTo>
                            <a:pt x="241" y="308"/>
                          </a:lnTo>
                          <a:lnTo>
                            <a:pt x="236" y="309"/>
                          </a:lnTo>
                          <a:lnTo>
                            <a:pt x="231" y="310"/>
                          </a:lnTo>
                          <a:lnTo>
                            <a:pt x="225" y="312"/>
                          </a:lnTo>
                          <a:lnTo>
                            <a:pt x="219" y="313"/>
                          </a:lnTo>
                          <a:lnTo>
                            <a:pt x="210" y="315"/>
                          </a:lnTo>
                          <a:lnTo>
                            <a:pt x="203" y="317"/>
                          </a:lnTo>
                          <a:lnTo>
                            <a:pt x="193" y="320"/>
                          </a:lnTo>
                          <a:lnTo>
                            <a:pt x="183" y="323"/>
                          </a:lnTo>
                          <a:lnTo>
                            <a:pt x="175" y="325"/>
                          </a:lnTo>
                          <a:lnTo>
                            <a:pt x="169" y="327"/>
                          </a:lnTo>
                          <a:lnTo>
                            <a:pt x="167" y="327"/>
                          </a:lnTo>
                          <a:lnTo>
                            <a:pt x="165" y="328"/>
                          </a:lnTo>
                          <a:lnTo>
                            <a:pt x="156" y="331"/>
                          </a:lnTo>
                          <a:lnTo>
                            <a:pt x="148" y="333"/>
                          </a:lnTo>
                          <a:lnTo>
                            <a:pt x="142" y="335"/>
                          </a:lnTo>
                          <a:lnTo>
                            <a:pt x="137" y="338"/>
                          </a:lnTo>
                          <a:lnTo>
                            <a:pt x="125" y="342"/>
                          </a:lnTo>
                          <a:lnTo>
                            <a:pt x="113" y="346"/>
                          </a:lnTo>
                          <a:lnTo>
                            <a:pt x="111" y="347"/>
                          </a:lnTo>
                          <a:lnTo>
                            <a:pt x="108" y="348"/>
                          </a:lnTo>
                          <a:lnTo>
                            <a:pt x="96" y="352"/>
                          </a:lnTo>
                          <a:lnTo>
                            <a:pt x="84" y="357"/>
                          </a:lnTo>
                          <a:lnTo>
                            <a:pt x="81" y="359"/>
                          </a:lnTo>
                          <a:lnTo>
                            <a:pt x="76" y="360"/>
                          </a:lnTo>
                          <a:lnTo>
                            <a:pt x="70" y="363"/>
                          </a:lnTo>
                          <a:lnTo>
                            <a:pt x="64" y="366"/>
                          </a:lnTo>
                          <a:lnTo>
                            <a:pt x="63" y="366"/>
                          </a:lnTo>
                          <a:lnTo>
                            <a:pt x="62" y="367"/>
                          </a:lnTo>
                          <a:lnTo>
                            <a:pt x="58" y="369"/>
                          </a:lnTo>
                          <a:lnTo>
                            <a:pt x="55" y="372"/>
                          </a:lnTo>
                          <a:lnTo>
                            <a:pt x="49" y="375"/>
                          </a:lnTo>
                          <a:lnTo>
                            <a:pt x="44" y="378"/>
                          </a:lnTo>
                          <a:lnTo>
                            <a:pt x="40" y="380"/>
                          </a:lnTo>
                          <a:lnTo>
                            <a:pt x="36" y="382"/>
                          </a:lnTo>
                          <a:lnTo>
                            <a:pt x="33" y="384"/>
                          </a:lnTo>
                          <a:lnTo>
                            <a:pt x="30" y="386"/>
                          </a:lnTo>
                          <a:lnTo>
                            <a:pt x="29" y="387"/>
                          </a:lnTo>
                          <a:lnTo>
                            <a:pt x="28" y="388"/>
                          </a:lnTo>
                          <a:lnTo>
                            <a:pt x="25" y="391"/>
                          </a:lnTo>
                          <a:lnTo>
                            <a:pt x="22" y="393"/>
                          </a:lnTo>
                          <a:lnTo>
                            <a:pt x="19" y="396"/>
                          </a:lnTo>
                          <a:lnTo>
                            <a:pt x="16" y="398"/>
                          </a:lnTo>
                          <a:lnTo>
                            <a:pt x="14" y="401"/>
                          </a:lnTo>
                          <a:lnTo>
                            <a:pt x="12" y="403"/>
                          </a:lnTo>
                          <a:lnTo>
                            <a:pt x="9" y="406"/>
                          </a:lnTo>
                          <a:lnTo>
                            <a:pt x="8" y="407"/>
                          </a:lnTo>
                          <a:lnTo>
                            <a:pt x="7" y="409"/>
                          </a:lnTo>
                          <a:lnTo>
                            <a:pt x="6" y="411"/>
                          </a:lnTo>
                          <a:lnTo>
                            <a:pt x="5" y="412"/>
                          </a:lnTo>
                          <a:lnTo>
                            <a:pt x="4" y="413"/>
                          </a:lnTo>
                          <a:lnTo>
                            <a:pt x="2" y="418"/>
                          </a:lnTo>
                          <a:lnTo>
                            <a:pt x="0" y="423"/>
                          </a:lnTo>
                          <a:lnTo>
                            <a:pt x="0" y="426"/>
                          </a:lnTo>
                          <a:lnTo>
                            <a:pt x="0" y="428"/>
                          </a:lnTo>
                          <a:lnTo>
                            <a:pt x="0" y="431"/>
                          </a:lnTo>
                          <a:lnTo>
                            <a:pt x="0" y="433"/>
                          </a:lnTo>
                          <a:lnTo>
                            <a:pt x="0" y="435"/>
                          </a:lnTo>
                          <a:lnTo>
                            <a:pt x="0" y="436"/>
                          </a:lnTo>
                          <a:lnTo>
                            <a:pt x="2" y="443"/>
                          </a:lnTo>
                          <a:lnTo>
                            <a:pt x="4" y="448"/>
                          </a:lnTo>
                          <a:lnTo>
                            <a:pt x="89" y="607"/>
                          </a:lnTo>
                          <a:lnTo>
                            <a:pt x="172" y="767"/>
                          </a:lnTo>
                          <a:lnTo>
                            <a:pt x="257" y="927"/>
                          </a:lnTo>
                          <a:lnTo>
                            <a:pt x="341" y="1086"/>
                          </a:lnTo>
                          <a:lnTo>
                            <a:pt x="426" y="1246"/>
                          </a:lnTo>
                          <a:lnTo>
                            <a:pt x="509" y="1406"/>
                          </a:lnTo>
                          <a:lnTo>
                            <a:pt x="594" y="1565"/>
                          </a:lnTo>
                          <a:lnTo>
                            <a:pt x="678" y="1725"/>
                          </a:lnTo>
                          <a:lnTo>
                            <a:pt x="763" y="1885"/>
                          </a:lnTo>
                          <a:lnTo>
                            <a:pt x="846" y="2044"/>
                          </a:lnTo>
                          <a:lnTo>
                            <a:pt x="931" y="2204"/>
                          </a:lnTo>
                          <a:lnTo>
                            <a:pt x="1015" y="2364"/>
                          </a:lnTo>
                          <a:lnTo>
                            <a:pt x="1100" y="2523"/>
                          </a:lnTo>
                          <a:lnTo>
                            <a:pt x="1184" y="2683"/>
                          </a:lnTo>
                          <a:lnTo>
                            <a:pt x="1268" y="2843"/>
                          </a:lnTo>
                          <a:lnTo>
                            <a:pt x="1353" y="3002"/>
                          </a:lnTo>
                          <a:lnTo>
                            <a:pt x="1356" y="3008"/>
                          </a:lnTo>
                          <a:lnTo>
                            <a:pt x="1359" y="3012"/>
                          </a:lnTo>
                          <a:lnTo>
                            <a:pt x="1360" y="3013"/>
                          </a:lnTo>
                          <a:lnTo>
                            <a:pt x="1362" y="3015"/>
                          </a:lnTo>
                          <a:lnTo>
                            <a:pt x="1365" y="3018"/>
                          </a:lnTo>
                          <a:lnTo>
                            <a:pt x="1368" y="3020"/>
                          </a:lnTo>
                          <a:lnTo>
                            <a:pt x="1370" y="3022"/>
                          </a:lnTo>
                          <a:lnTo>
                            <a:pt x="1372" y="3024"/>
                          </a:lnTo>
                          <a:lnTo>
                            <a:pt x="1376" y="3026"/>
                          </a:lnTo>
                          <a:lnTo>
                            <a:pt x="1380" y="3029"/>
                          </a:lnTo>
                          <a:lnTo>
                            <a:pt x="1383" y="3030"/>
                          </a:lnTo>
                          <a:lnTo>
                            <a:pt x="1387" y="3032"/>
                          </a:lnTo>
                          <a:lnTo>
                            <a:pt x="1391" y="3035"/>
                          </a:lnTo>
                          <a:lnTo>
                            <a:pt x="1396" y="3038"/>
                          </a:lnTo>
                          <a:lnTo>
                            <a:pt x="1399" y="3040"/>
                          </a:lnTo>
                          <a:lnTo>
                            <a:pt x="1403" y="3042"/>
                          </a:lnTo>
                          <a:lnTo>
                            <a:pt x="1408" y="3044"/>
                          </a:lnTo>
                          <a:lnTo>
                            <a:pt x="1414" y="3046"/>
                          </a:lnTo>
                          <a:lnTo>
                            <a:pt x="1419" y="3048"/>
                          </a:lnTo>
                          <a:lnTo>
                            <a:pt x="1422" y="3050"/>
                          </a:lnTo>
                          <a:lnTo>
                            <a:pt x="1429" y="3052"/>
                          </a:lnTo>
                          <a:lnTo>
                            <a:pt x="1436" y="3055"/>
                          </a:lnTo>
                          <a:lnTo>
                            <a:pt x="1440" y="3056"/>
                          </a:lnTo>
                          <a:lnTo>
                            <a:pt x="1444" y="3058"/>
                          </a:lnTo>
                          <a:lnTo>
                            <a:pt x="1455" y="3061"/>
                          </a:lnTo>
                          <a:lnTo>
                            <a:pt x="1465" y="3064"/>
                          </a:lnTo>
                          <a:lnTo>
                            <a:pt x="1467" y="3065"/>
                          </a:lnTo>
                          <a:lnTo>
                            <a:pt x="1469" y="3066"/>
                          </a:lnTo>
                          <a:lnTo>
                            <a:pt x="1482" y="3070"/>
                          </a:lnTo>
                          <a:lnTo>
                            <a:pt x="1497" y="3075"/>
                          </a:lnTo>
                          <a:lnTo>
                            <a:pt x="1502" y="3076"/>
                          </a:lnTo>
                          <a:lnTo>
                            <a:pt x="1506" y="3077"/>
                          </a:lnTo>
                          <a:lnTo>
                            <a:pt x="1516" y="3080"/>
                          </a:lnTo>
                          <a:lnTo>
                            <a:pt x="1528" y="3083"/>
                          </a:lnTo>
                          <a:lnTo>
                            <a:pt x="1534" y="3084"/>
                          </a:lnTo>
                          <a:lnTo>
                            <a:pt x="1540" y="3086"/>
                          </a:lnTo>
                          <a:lnTo>
                            <a:pt x="1550" y="3088"/>
                          </a:lnTo>
                          <a:lnTo>
                            <a:pt x="1561" y="3091"/>
                          </a:lnTo>
                          <a:lnTo>
                            <a:pt x="1568" y="3092"/>
                          </a:lnTo>
                          <a:lnTo>
                            <a:pt x="1575" y="3094"/>
                          </a:lnTo>
                          <a:lnTo>
                            <a:pt x="1587" y="3096"/>
                          </a:lnTo>
                          <a:lnTo>
                            <a:pt x="1597" y="3098"/>
                          </a:lnTo>
                          <a:lnTo>
                            <a:pt x="1605" y="3100"/>
                          </a:lnTo>
                          <a:lnTo>
                            <a:pt x="1613" y="3102"/>
                          </a:lnTo>
                          <a:lnTo>
                            <a:pt x="1625" y="3104"/>
                          </a:lnTo>
                          <a:lnTo>
                            <a:pt x="1636" y="3107"/>
                          </a:lnTo>
                          <a:lnTo>
                            <a:pt x="1644" y="3109"/>
                          </a:lnTo>
                          <a:lnTo>
                            <a:pt x="1654" y="3110"/>
                          </a:lnTo>
                          <a:lnTo>
                            <a:pt x="1666" y="3113"/>
                          </a:lnTo>
                          <a:lnTo>
                            <a:pt x="1678" y="3115"/>
                          </a:lnTo>
                          <a:lnTo>
                            <a:pt x="1687" y="3116"/>
                          </a:lnTo>
                          <a:lnTo>
                            <a:pt x="1696" y="3118"/>
                          </a:lnTo>
                          <a:lnTo>
                            <a:pt x="1710" y="3120"/>
                          </a:lnTo>
                          <a:lnTo>
                            <a:pt x="1726" y="3123"/>
                          </a:lnTo>
                          <a:lnTo>
                            <a:pt x="1733" y="3124"/>
                          </a:lnTo>
                          <a:lnTo>
                            <a:pt x="1740" y="3125"/>
                          </a:lnTo>
                          <a:lnTo>
                            <a:pt x="1751" y="3127"/>
                          </a:lnTo>
                          <a:lnTo>
                            <a:pt x="1763" y="3129"/>
                          </a:lnTo>
                          <a:lnTo>
                            <a:pt x="1775" y="3131"/>
                          </a:lnTo>
                          <a:lnTo>
                            <a:pt x="1786" y="3132"/>
                          </a:lnTo>
                          <a:lnTo>
                            <a:pt x="1795" y="3134"/>
                          </a:lnTo>
                          <a:lnTo>
                            <a:pt x="1803" y="3135"/>
                          </a:lnTo>
                          <a:lnTo>
                            <a:pt x="1811" y="3136"/>
                          </a:lnTo>
                          <a:lnTo>
                            <a:pt x="1819" y="3137"/>
                          </a:lnTo>
                          <a:lnTo>
                            <a:pt x="1828" y="3138"/>
                          </a:lnTo>
                          <a:lnTo>
                            <a:pt x="1836" y="3141"/>
                          </a:lnTo>
                          <a:lnTo>
                            <a:pt x="1847" y="3142"/>
                          </a:lnTo>
                          <a:lnTo>
                            <a:pt x="1859" y="3144"/>
                          </a:lnTo>
                          <a:lnTo>
                            <a:pt x="1873" y="3146"/>
                          </a:lnTo>
                          <a:lnTo>
                            <a:pt x="1889" y="3148"/>
                          </a:lnTo>
                          <a:lnTo>
                            <a:pt x="1901" y="3149"/>
                          </a:lnTo>
                          <a:lnTo>
                            <a:pt x="1912" y="3151"/>
                          </a:lnTo>
                          <a:lnTo>
                            <a:pt x="1928" y="3153"/>
                          </a:lnTo>
                          <a:lnTo>
                            <a:pt x="1943" y="3155"/>
                          </a:lnTo>
                          <a:lnTo>
                            <a:pt x="1957" y="3156"/>
                          </a:lnTo>
                          <a:lnTo>
                            <a:pt x="1969" y="3158"/>
                          </a:lnTo>
                          <a:lnTo>
                            <a:pt x="1977" y="3159"/>
                          </a:lnTo>
                          <a:lnTo>
                            <a:pt x="1984" y="3160"/>
                          </a:lnTo>
                          <a:lnTo>
                            <a:pt x="1993" y="3161"/>
                          </a:lnTo>
                          <a:lnTo>
                            <a:pt x="2001" y="3162"/>
                          </a:lnTo>
                          <a:lnTo>
                            <a:pt x="2013" y="3163"/>
                          </a:lnTo>
                          <a:lnTo>
                            <a:pt x="2027" y="3165"/>
                          </a:lnTo>
                          <a:lnTo>
                            <a:pt x="2036" y="3166"/>
                          </a:lnTo>
                          <a:lnTo>
                            <a:pt x="2044" y="3167"/>
                          </a:lnTo>
                          <a:lnTo>
                            <a:pt x="2052" y="3168"/>
                          </a:lnTo>
                          <a:lnTo>
                            <a:pt x="2061" y="3169"/>
                          </a:lnTo>
                          <a:lnTo>
                            <a:pt x="2074" y="3170"/>
                          </a:lnTo>
                          <a:lnTo>
                            <a:pt x="2087" y="3172"/>
                          </a:lnTo>
                          <a:lnTo>
                            <a:pt x="2097" y="3173"/>
                          </a:lnTo>
                          <a:lnTo>
                            <a:pt x="2106" y="3175"/>
                          </a:lnTo>
                          <a:lnTo>
                            <a:pt x="2115" y="3176"/>
                          </a:lnTo>
                          <a:lnTo>
                            <a:pt x="2126" y="3177"/>
                          </a:lnTo>
                          <a:lnTo>
                            <a:pt x="2138" y="3178"/>
                          </a:lnTo>
                          <a:lnTo>
                            <a:pt x="2150" y="3179"/>
                          </a:lnTo>
                          <a:lnTo>
                            <a:pt x="2166" y="3181"/>
                          </a:lnTo>
                          <a:lnTo>
                            <a:pt x="2181" y="3182"/>
                          </a:lnTo>
                          <a:lnTo>
                            <a:pt x="2197" y="3184"/>
                          </a:lnTo>
                          <a:lnTo>
                            <a:pt x="2212" y="3186"/>
                          </a:lnTo>
                          <a:lnTo>
                            <a:pt x="2225" y="3187"/>
                          </a:lnTo>
                          <a:lnTo>
                            <a:pt x="2236" y="3188"/>
                          </a:lnTo>
                          <a:lnTo>
                            <a:pt x="2246" y="3189"/>
                          </a:lnTo>
                          <a:lnTo>
                            <a:pt x="2258" y="3190"/>
                          </a:lnTo>
                          <a:lnTo>
                            <a:pt x="2269" y="3191"/>
                          </a:lnTo>
                          <a:lnTo>
                            <a:pt x="2279" y="3192"/>
                          </a:lnTo>
                          <a:lnTo>
                            <a:pt x="2295" y="3193"/>
                          </a:lnTo>
                          <a:lnTo>
                            <a:pt x="2310" y="3195"/>
                          </a:lnTo>
                          <a:lnTo>
                            <a:pt x="2319" y="3196"/>
                          </a:lnTo>
                          <a:lnTo>
                            <a:pt x="2329" y="3196"/>
                          </a:lnTo>
                          <a:lnTo>
                            <a:pt x="2338" y="3197"/>
                          </a:lnTo>
                          <a:lnTo>
                            <a:pt x="2348" y="3198"/>
                          </a:lnTo>
                          <a:lnTo>
                            <a:pt x="2356" y="3199"/>
                          </a:lnTo>
                          <a:lnTo>
                            <a:pt x="2365" y="3200"/>
                          </a:lnTo>
                          <a:lnTo>
                            <a:pt x="2373" y="3200"/>
                          </a:lnTo>
                          <a:lnTo>
                            <a:pt x="2381" y="3201"/>
                          </a:lnTo>
                          <a:lnTo>
                            <a:pt x="2390" y="3202"/>
                          </a:lnTo>
                          <a:lnTo>
                            <a:pt x="2400" y="3203"/>
                          </a:lnTo>
                          <a:lnTo>
                            <a:pt x="2410" y="3203"/>
                          </a:lnTo>
                          <a:lnTo>
                            <a:pt x="2419" y="3204"/>
                          </a:lnTo>
                          <a:lnTo>
                            <a:pt x="2428" y="3205"/>
                          </a:lnTo>
                          <a:lnTo>
                            <a:pt x="2437" y="3206"/>
                          </a:lnTo>
                          <a:lnTo>
                            <a:pt x="2445" y="3206"/>
                          </a:lnTo>
                          <a:lnTo>
                            <a:pt x="2453" y="3207"/>
                          </a:lnTo>
                          <a:lnTo>
                            <a:pt x="2464" y="3209"/>
                          </a:lnTo>
                          <a:lnTo>
                            <a:pt x="2473" y="3210"/>
                          </a:lnTo>
                          <a:lnTo>
                            <a:pt x="2483" y="3211"/>
                          </a:lnTo>
                          <a:lnTo>
                            <a:pt x="2494" y="3211"/>
                          </a:lnTo>
                          <a:lnTo>
                            <a:pt x="2502" y="3212"/>
                          </a:lnTo>
                          <a:lnTo>
                            <a:pt x="2510" y="3213"/>
                          </a:lnTo>
                          <a:lnTo>
                            <a:pt x="2519" y="3213"/>
                          </a:lnTo>
                          <a:lnTo>
                            <a:pt x="2528" y="3214"/>
                          </a:lnTo>
                          <a:lnTo>
                            <a:pt x="2538" y="3215"/>
                          </a:lnTo>
                          <a:lnTo>
                            <a:pt x="2548" y="3216"/>
                          </a:lnTo>
                          <a:lnTo>
                            <a:pt x="2559" y="3216"/>
                          </a:lnTo>
                          <a:lnTo>
                            <a:pt x="2569" y="3217"/>
                          </a:lnTo>
                          <a:lnTo>
                            <a:pt x="2578" y="3218"/>
                          </a:lnTo>
                          <a:lnTo>
                            <a:pt x="2586" y="3219"/>
                          </a:lnTo>
                          <a:lnTo>
                            <a:pt x="2596" y="3219"/>
                          </a:lnTo>
                          <a:lnTo>
                            <a:pt x="2604" y="3220"/>
                          </a:lnTo>
                          <a:lnTo>
                            <a:pt x="2615" y="3221"/>
                          </a:lnTo>
                          <a:lnTo>
                            <a:pt x="2626" y="3221"/>
                          </a:lnTo>
                          <a:lnTo>
                            <a:pt x="2637" y="3222"/>
                          </a:lnTo>
                          <a:lnTo>
                            <a:pt x="2647" y="3223"/>
                          </a:lnTo>
                          <a:lnTo>
                            <a:pt x="2656" y="3224"/>
                          </a:lnTo>
                          <a:lnTo>
                            <a:pt x="2665" y="3224"/>
                          </a:lnTo>
                          <a:lnTo>
                            <a:pt x="2673" y="3225"/>
                          </a:lnTo>
                          <a:lnTo>
                            <a:pt x="2682" y="3226"/>
                          </a:lnTo>
                          <a:lnTo>
                            <a:pt x="2697" y="3227"/>
                          </a:lnTo>
                          <a:lnTo>
                            <a:pt x="2711" y="3228"/>
                          </a:lnTo>
                          <a:lnTo>
                            <a:pt x="2725" y="3229"/>
                          </a:lnTo>
                          <a:lnTo>
                            <a:pt x="2740" y="3230"/>
                          </a:lnTo>
                          <a:lnTo>
                            <a:pt x="2751" y="3230"/>
                          </a:lnTo>
                          <a:lnTo>
                            <a:pt x="2764" y="3231"/>
                          </a:lnTo>
                          <a:lnTo>
                            <a:pt x="2775" y="3232"/>
                          </a:lnTo>
                          <a:lnTo>
                            <a:pt x="2786" y="3233"/>
                          </a:lnTo>
                          <a:lnTo>
                            <a:pt x="2800" y="3234"/>
                          </a:lnTo>
                          <a:lnTo>
                            <a:pt x="2813" y="3234"/>
                          </a:lnTo>
                          <a:lnTo>
                            <a:pt x="2826" y="3235"/>
                          </a:lnTo>
                          <a:lnTo>
                            <a:pt x="2841" y="3236"/>
                          </a:lnTo>
                          <a:lnTo>
                            <a:pt x="2850" y="3237"/>
                          </a:lnTo>
                          <a:lnTo>
                            <a:pt x="2859" y="3237"/>
                          </a:lnTo>
                          <a:lnTo>
                            <a:pt x="2869" y="3238"/>
                          </a:lnTo>
                          <a:lnTo>
                            <a:pt x="2878" y="3239"/>
                          </a:lnTo>
                          <a:lnTo>
                            <a:pt x="2889" y="3239"/>
                          </a:lnTo>
                          <a:lnTo>
                            <a:pt x="2901" y="3240"/>
                          </a:lnTo>
                          <a:lnTo>
                            <a:pt x="2913" y="3241"/>
                          </a:lnTo>
                          <a:lnTo>
                            <a:pt x="2924" y="3242"/>
                          </a:lnTo>
                          <a:lnTo>
                            <a:pt x="2935" y="3242"/>
                          </a:lnTo>
                          <a:lnTo>
                            <a:pt x="2944" y="3244"/>
                          </a:lnTo>
                          <a:lnTo>
                            <a:pt x="2954" y="3244"/>
                          </a:lnTo>
                          <a:lnTo>
                            <a:pt x="2965" y="3245"/>
                          </a:lnTo>
                          <a:lnTo>
                            <a:pt x="2976" y="3246"/>
                          </a:lnTo>
                          <a:lnTo>
                            <a:pt x="2987" y="3246"/>
                          </a:lnTo>
                          <a:lnTo>
                            <a:pt x="2999" y="3247"/>
                          </a:lnTo>
                          <a:lnTo>
                            <a:pt x="3010" y="3248"/>
                          </a:lnTo>
                          <a:lnTo>
                            <a:pt x="3018" y="3248"/>
                          </a:lnTo>
                          <a:lnTo>
                            <a:pt x="3027" y="3249"/>
                          </a:lnTo>
                          <a:lnTo>
                            <a:pt x="3039" y="3249"/>
                          </a:lnTo>
                          <a:lnTo>
                            <a:pt x="3049" y="3250"/>
                          </a:lnTo>
                          <a:lnTo>
                            <a:pt x="3064" y="3251"/>
                          </a:lnTo>
                          <a:lnTo>
                            <a:pt x="3078" y="3251"/>
                          </a:lnTo>
                          <a:lnTo>
                            <a:pt x="3092" y="3252"/>
                          </a:lnTo>
                          <a:lnTo>
                            <a:pt x="3107" y="3253"/>
                          </a:lnTo>
                          <a:lnTo>
                            <a:pt x="3116" y="3254"/>
                          </a:lnTo>
                          <a:lnTo>
                            <a:pt x="3124" y="3254"/>
                          </a:lnTo>
                          <a:lnTo>
                            <a:pt x="3134" y="3255"/>
                          </a:lnTo>
                          <a:lnTo>
                            <a:pt x="3142" y="3255"/>
                          </a:lnTo>
                          <a:lnTo>
                            <a:pt x="3159" y="3256"/>
                          </a:lnTo>
                          <a:lnTo>
                            <a:pt x="3178" y="3257"/>
                          </a:lnTo>
                          <a:lnTo>
                            <a:pt x="3196" y="3258"/>
                          </a:lnTo>
                          <a:lnTo>
                            <a:pt x="3213" y="3259"/>
                          </a:lnTo>
                          <a:lnTo>
                            <a:pt x="3225" y="3259"/>
                          </a:lnTo>
                          <a:lnTo>
                            <a:pt x="3238" y="3260"/>
                          </a:lnTo>
                          <a:lnTo>
                            <a:pt x="3261" y="3261"/>
                          </a:lnTo>
                          <a:lnTo>
                            <a:pt x="3285" y="3262"/>
                          </a:lnTo>
                          <a:lnTo>
                            <a:pt x="3309" y="3264"/>
                          </a:lnTo>
                          <a:lnTo>
                            <a:pt x="3333" y="3265"/>
                          </a:lnTo>
                          <a:lnTo>
                            <a:pt x="3341" y="3265"/>
                          </a:lnTo>
                          <a:lnTo>
                            <a:pt x="3349" y="3265"/>
                          </a:lnTo>
                          <a:lnTo>
                            <a:pt x="3356" y="3266"/>
                          </a:lnTo>
                          <a:lnTo>
                            <a:pt x="3365" y="3266"/>
                          </a:lnTo>
                          <a:lnTo>
                            <a:pt x="3381" y="3267"/>
                          </a:lnTo>
                          <a:lnTo>
                            <a:pt x="3398" y="3268"/>
                          </a:lnTo>
                          <a:lnTo>
                            <a:pt x="3413" y="3268"/>
                          </a:lnTo>
                          <a:lnTo>
                            <a:pt x="3429" y="3269"/>
                          </a:lnTo>
                          <a:lnTo>
                            <a:pt x="3439" y="3270"/>
                          </a:lnTo>
                          <a:lnTo>
                            <a:pt x="3448" y="3270"/>
                          </a:lnTo>
                          <a:lnTo>
                            <a:pt x="3455" y="3270"/>
                          </a:lnTo>
                          <a:lnTo>
                            <a:pt x="3462" y="3271"/>
                          </a:lnTo>
                          <a:lnTo>
                            <a:pt x="3501" y="3272"/>
                          </a:lnTo>
                          <a:lnTo>
                            <a:pt x="3539" y="3274"/>
                          </a:lnTo>
                          <a:lnTo>
                            <a:pt x="3577" y="3276"/>
                          </a:lnTo>
                          <a:lnTo>
                            <a:pt x="3615" y="3278"/>
                          </a:lnTo>
                          <a:lnTo>
                            <a:pt x="3627" y="3279"/>
                          </a:lnTo>
                          <a:lnTo>
                            <a:pt x="3640" y="3279"/>
                          </a:lnTo>
                          <a:lnTo>
                            <a:pt x="3659" y="3280"/>
                          </a:lnTo>
                          <a:lnTo>
                            <a:pt x="3679" y="3281"/>
                          </a:lnTo>
                          <a:lnTo>
                            <a:pt x="3700" y="3282"/>
                          </a:lnTo>
                          <a:lnTo>
                            <a:pt x="3719" y="3282"/>
                          </a:lnTo>
                          <a:lnTo>
                            <a:pt x="3739" y="3283"/>
                          </a:lnTo>
                          <a:lnTo>
                            <a:pt x="3758" y="3284"/>
                          </a:lnTo>
                          <a:lnTo>
                            <a:pt x="3779" y="3285"/>
                          </a:lnTo>
                          <a:lnTo>
                            <a:pt x="3798" y="3285"/>
                          </a:lnTo>
                          <a:lnTo>
                            <a:pt x="3804" y="3286"/>
                          </a:lnTo>
                          <a:lnTo>
                            <a:pt x="3810" y="3286"/>
                          </a:lnTo>
                          <a:lnTo>
                            <a:pt x="3817" y="3286"/>
                          </a:lnTo>
                          <a:lnTo>
                            <a:pt x="3825" y="3286"/>
                          </a:lnTo>
                          <a:lnTo>
                            <a:pt x="3861" y="3288"/>
                          </a:lnTo>
                          <a:lnTo>
                            <a:pt x="3897" y="3289"/>
                          </a:lnTo>
                          <a:lnTo>
                            <a:pt x="3935" y="3290"/>
                          </a:lnTo>
                          <a:lnTo>
                            <a:pt x="3971" y="3291"/>
                          </a:lnTo>
                          <a:lnTo>
                            <a:pt x="3983" y="3292"/>
                          </a:lnTo>
                          <a:lnTo>
                            <a:pt x="3995" y="3292"/>
                          </a:lnTo>
                          <a:lnTo>
                            <a:pt x="4030" y="3293"/>
                          </a:lnTo>
                          <a:lnTo>
                            <a:pt x="4066" y="3294"/>
                          </a:lnTo>
                          <a:lnTo>
                            <a:pt x="4103" y="3295"/>
                          </a:lnTo>
                          <a:lnTo>
                            <a:pt x="4139" y="3296"/>
                          </a:lnTo>
                          <a:lnTo>
                            <a:pt x="4145" y="3297"/>
                          </a:lnTo>
                          <a:lnTo>
                            <a:pt x="4151" y="3297"/>
                          </a:lnTo>
                          <a:lnTo>
                            <a:pt x="4153" y="3297"/>
                          </a:lnTo>
                          <a:lnTo>
                            <a:pt x="4155" y="3297"/>
                          </a:lnTo>
                          <a:lnTo>
                            <a:pt x="4191" y="3298"/>
                          </a:lnTo>
                          <a:lnTo>
                            <a:pt x="4227" y="3299"/>
                          </a:lnTo>
                          <a:lnTo>
                            <a:pt x="4263" y="3300"/>
                          </a:lnTo>
                          <a:lnTo>
                            <a:pt x="4299" y="3301"/>
                          </a:lnTo>
                          <a:lnTo>
                            <a:pt x="4307" y="3301"/>
                          </a:lnTo>
                          <a:lnTo>
                            <a:pt x="4315" y="3301"/>
                          </a:lnTo>
                          <a:lnTo>
                            <a:pt x="4322" y="3301"/>
                          </a:lnTo>
                          <a:lnTo>
                            <a:pt x="4330" y="3302"/>
                          </a:lnTo>
                          <a:lnTo>
                            <a:pt x="4365" y="3303"/>
                          </a:lnTo>
                          <a:lnTo>
                            <a:pt x="4401" y="3303"/>
                          </a:lnTo>
                          <a:lnTo>
                            <a:pt x="4438" y="3304"/>
                          </a:lnTo>
                          <a:lnTo>
                            <a:pt x="4473" y="3305"/>
                          </a:lnTo>
                          <a:lnTo>
                            <a:pt x="4480" y="3305"/>
                          </a:lnTo>
                          <a:lnTo>
                            <a:pt x="4487" y="3305"/>
                          </a:lnTo>
                          <a:lnTo>
                            <a:pt x="4497" y="3306"/>
                          </a:lnTo>
                          <a:lnTo>
                            <a:pt x="4508" y="3306"/>
                          </a:lnTo>
                          <a:lnTo>
                            <a:pt x="4544" y="3307"/>
                          </a:lnTo>
                          <a:lnTo>
                            <a:pt x="4580" y="3307"/>
                          </a:lnTo>
                          <a:lnTo>
                            <a:pt x="4616" y="3308"/>
                          </a:lnTo>
                          <a:lnTo>
                            <a:pt x="4652" y="3309"/>
                          </a:lnTo>
                          <a:lnTo>
                            <a:pt x="4654" y="3309"/>
                          </a:lnTo>
                          <a:lnTo>
                            <a:pt x="4655" y="3309"/>
                          </a:lnTo>
                          <a:lnTo>
                            <a:pt x="4693" y="3310"/>
                          </a:lnTo>
                          <a:lnTo>
                            <a:pt x="4730" y="3310"/>
                          </a:lnTo>
                          <a:lnTo>
                            <a:pt x="4768" y="3312"/>
                          </a:lnTo>
                          <a:lnTo>
                            <a:pt x="4807" y="3313"/>
                          </a:lnTo>
                          <a:lnTo>
                            <a:pt x="4816" y="3313"/>
                          </a:lnTo>
                          <a:lnTo>
                            <a:pt x="4825" y="3313"/>
                          </a:lnTo>
                          <a:lnTo>
                            <a:pt x="4832" y="3313"/>
                          </a:lnTo>
                          <a:lnTo>
                            <a:pt x="4840" y="3313"/>
                          </a:lnTo>
                          <a:lnTo>
                            <a:pt x="4877" y="3314"/>
                          </a:lnTo>
                          <a:lnTo>
                            <a:pt x="4915" y="3314"/>
                          </a:lnTo>
                          <a:lnTo>
                            <a:pt x="4953" y="3315"/>
                          </a:lnTo>
                          <a:lnTo>
                            <a:pt x="4991" y="3315"/>
                          </a:lnTo>
                          <a:lnTo>
                            <a:pt x="5004" y="3315"/>
                          </a:lnTo>
                          <a:lnTo>
                            <a:pt x="5018" y="3316"/>
                          </a:lnTo>
                          <a:lnTo>
                            <a:pt x="5055" y="3316"/>
                          </a:lnTo>
                          <a:lnTo>
                            <a:pt x="5093" y="3317"/>
                          </a:lnTo>
                          <a:lnTo>
                            <a:pt x="5131" y="3317"/>
                          </a:lnTo>
                          <a:lnTo>
                            <a:pt x="5169" y="3317"/>
                          </a:lnTo>
                          <a:lnTo>
                            <a:pt x="5173" y="3318"/>
                          </a:lnTo>
                          <a:lnTo>
                            <a:pt x="5178" y="3318"/>
                          </a:lnTo>
                          <a:lnTo>
                            <a:pt x="5180" y="3318"/>
                          </a:lnTo>
                          <a:lnTo>
                            <a:pt x="5181" y="3318"/>
                          </a:lnTo>
                          <a:lnTo>
                            <a:pt x="5202" y="3318"/>
                          </a:lnTo>
                          <a:lnTo>
                            <a:pt x="5223" y="3318"/>
                          </a:lnTo>
                          <a:lnTo>
                            <a:pt x="5245" y="3318"/>
                          </a:lnTo>
                          <a:lnTo>
                            <a:pt x="5266" y="3318"/>
                          </a:lnTo>
                          <a:lnTo>
                            <a:pt x="5288" y="3319"/>
                          </a:lnTo>
                          <a:lnTo>
                            <a:pt x="5309" y="3319"/>
                          </a:lnTo>
                          <a:lnTo>
                            <a:pt x="5330" y="3319"/>
                          </a:lnTo>
                          <a:lnTo>
                            <a:pt x="5352" y="3319"/>
                          </a:lnTo>
                          <a:lnTo>
                            <a:pt x="5364" y="3319"/>
                          </a:lnTo>
                          <a:lnTo>
                            <a:pt x="5376" y="3319"/>
                          </a:lnTo>
                          <a:lnTo>
                            <a:pt x="5397" y="3319"/>
                          </a:lnTo>
                          <a:lnTo>
                            <a:pt x="5419" y="3320"/>
                          </a:lnTo>
                          <a:lnTo>
                            <a:pt x="5439" y="3320"/>
                          </a:lnTo>
                          <a:lnTo>
                            <a:pt x="5461" y="3320"/>
                          </a:lnTo>
                          <a:lnTo>
                            <a:pt x="5483" y="3320"/>
                          </a:lnTo>
                          <a:lnTo>
                            <a:pt x="5504" y="3320"/>
                          </a:lnTo>
                          <a:lnTo>
                            <a:pt x="5526" y="3320"/>
                          </a:lnTo>
                          <a:lnTo>
                            <a:pt x="5548" y="3320"/>
                          </a:lnTo>
                          <a:lnTo>
                            <a:pt x="5552" y="3320"/>
                          </a:lnTo>
                          <a:lnTo>
                            <a:pt x="5557" y="3320"/>
                          </a:lnTo>
                          <a:lnTo>
                            <a:pt x="5564" y="3320"/>
                          </a:lnTo>
                          <a:lnTo>
                            <a:pt x="5570" y="3320"/>
                          </a:lnTo>
                          <a:lnTo>
                            <a:pt x="5591" y="3320"/>
                          </a:lnTo>
                          <a:lnTo>
                            <a:pt x="5612" y="3320"/>
                          </a:lnTo>
                          <a:lnTo>
                            <a:pt x="5631" y="3320"/>
                          </a:lnTo>
                          <a:lnTo>
                            <a:pt x="5652" y="3321"/>
                          </a:lnTo>
                          <a:lnTo>
                            <a:pt x="5672" y="3321"/>
                          </a:lnTo>
                          <a:lnTo>
                            <a:pt x="5692" y="3321"/>
                          </a:lnTo>
                          <a:lnTo>
                            <a:pt x="5713" y="3321"/>
                          </a:lnTo>
                          <a:lnTo>
                            <a:pt x="5733" y="3321"/>
                          </a:lnTo>
                          <a:lnTo>
                            <a:pt x="5764" y="3321"/>
                          </a:lnTo>
                          <a:lnTo>
                            <a:pt x="5794" y="3321"/>
                          </a:lnTo>
                          <a:lnTo>
                            <a:pt x="5825" y="3321"/>
                          </a:lnTo>
                          <a:lnTo>
                            <a:pt x="5856" y="3321"/>
                          </a:lnTo>
                          <a:lnTo>
                            <a:pt x="5886" y="3321"/>
                          </a:lnTo>
                          <a:lnTo>
                            <a:pt x="5917" y="3321"/>
                          </a:lnTo>
                          <a:lnTo>
                            <a:pt x="5947" y="3321"/>
                          </a:lnTo>
                          <a:lnTo>
                            <a:pt x="5977" y="3321"/>
                          </a:lnTo>
                          <a:lnTo>
                            <a:pt x="5980" y="3321"/>
                          </a:lnTo>
                          <a:lnTo>
                            <a:pt x="5982" y="3321"/>
                          </a:lnTo>
                          <a:lnTo>
                            <a:pt x="5985" y="3321"/>
                          </a:lnTo>
                          <a:lnTo>
                            <a:pt x="5988" y="3320"/>
                          </a:lnTo>
                          <a:lnTo>
                            <a:pt x="6018" y="3320"/>
                          </a:lnTo>
                          <a:lnTo>
                            <a:pt x="6047" y="3320"/>
                          </a:lnTo>
                          <a:lnTo>
                            <a:pt x="6076" y="3320"/>
                          </a:lnTo>
                          <a:lnTo>
                            <a:pt x="6105" y="3320"/>
                          </a:lnTo>
                          <a:lnTo>
                            <a:pt x="6135" y="3320"/>
                          </a:lnTo>
                          <a:lnTo>
                            <a:pt x="6164" y="3320"/>
                          </a:lnTo>
                          <a:lnTo>
                            <a:pt x="6193" y="3320"/>
                          </a:lnTo>
                          <a:lnTo>
                            <a:pt x="6222" y="3319"/>
                          </a:lnTo>
                          <a:lnTo>
                            <a:pt x="6232" y="3319"/>
                          </a:lnTo>
                          <a:lnTo>
                            <a:pt x="6242" y="3319"/>
                          </a:lnTo>
                          <a:lnTo>
                            <a:pt x="6270" y="3319"/>
                          </a:lnTo>
                          <a:lnTo>
                            <a:pt x="6298" y="3319"/>
                          </a:lnTo>
                          <a:lnTo>
                            <a:pt x="6327" y="3319"/>
                          </a:lnTo>
                          <a:lnTo>
                            <a:pt x="6355" y="3318"/>
                          </a:lnTo>
                          <a:lnTo>
                            <a:pt x="6383" y="3318"/>
                          </a:lnTo>
                          <a:lnTo>
                            <a:pt x="6410" y="3318"/>
                          </a:lnTo>
                          <a:lnTo>
                            <a:pt x="6438" y="3318"/>
                          </a:lnTo>
                          <a:lnTo>
                            <a:pt x="6466" y="3317"/>
                          </a:lnTo>
                          <a:lnTo>
                            <a:pt x="6472" y="3317"/>
                          </a:lnTo>
                          <a:lnTo>
                            <a:pt x="6477" y="3317"/>
                          </a:lnTo>
                          <a:lnTo>
                            <a:pt x="6483" y="3317"/>
                          </a:lnTo>
                          <a:lnTo>
                            <a:pt x="6488" y="3317"/>
                          </a:lnTo>
                          <a:lnTo>
                            <a:pt x="6510" y="3317"/>
                          </a:lnTo>
                          <a:lnTo>
                            <a:pt x="6533" y="3317"/>
                          </a:lnTo>
                          <a:lnTo>
                            <a:pt x="6556" y="3316"/>
                          </a:lnTo>
                          <a:lnTo>
                            <a:pt x="6578" y="3316"/>
                          </a:lnTo>
                          <a:lnTo>
                            <a:pt x="6601" y="3316"/>
                          </a:lnTo>
                          <a:lnTo>
                            <a:pt x="6624" y="3315"/>
                          </a:lnTo>
                          <a:lnTo>
                            <a:pt x="6646" y="3315"/>
                          </a:lnTo>
                          <a:lnTo>
                            <a:pt x="6669" y="3315"/>
                          </a:lnTo>
                          <a:lnTo>
                            <a:pt x="6682" y="3315"/>
                          </a:lnTo>
                          <a:lnTo>
                            <a:pt x="6697" y="3314"/>
                          </a:lnTo>
                          <a:lnTo>
                            <a:pt x="6720" y="3314"/>
                          </a:lnTo>
                          <a:lnTo>
                            <a:pt x="6741" y="3314"/>
                          </a:lnTo>
                          <a:lnTo>
                            <a:pt x="6763" y="3313"/>
                          </a:lnTo>
                          <a:lnTo>
                            <a:pt x="6786" y="3313"/>
                          </a:lnTo>
                          <a:lnTo>
                            <a:pt x="6807" y="3313"/>
                          </a:lnTo>
                          <a:lnTo>
                            <a:pt x="6829" y="3312"/>
                          </a:lnTo>
                          <a:lnTo>
                            <a:pt x="6852" y="3312"/>
                          </a:lnTo>
                          <a:lnTo>
                            <a:pt x="6873" y="3312"/>
                          </a:lnTo>
                          <a:lnTo>
                            <a:pt x="6888" y="3310"/>
                          </a:lnTo>
                          <a:lnTo>
                            <a:pt x="6901" y="3310"/>
                          </a:lnTo>
                          <a:lnTo>
                            <a:pt x="6924" y="3310"/>
                          </a:lnTo>
                          <a:lnTo>
                            <a:pt x="6945" y="3309"/>
                          </a:lnTo>
                          <a:lnTo>
                            <a:pt x="6967" y="3309"/>
                          </a:lnTo>
                          <a:lnTo>
                            <a:pt x="6989" y="3308"/>
                          </a:lnTo>
                          <a:lnTo>
                            <a:pt x="7010" y="3308"/>
                          </a:lnTo>
                          <a:lnTo>
                            <a:pt x="7032" y="3308"/>
                          </a:lnTo>
                          <a:lnTo>
                            <a:pt x="7054" y="3307"/>
                          </a:lnTo>
                          <a:lnTo>
                            <a:pt x="7075" y="3307"/>
                          </a:lnTo>
                          <a:lnTo>
                            <a:pt x="7088" y="3306"/>
                          </a:lnTo>
                          <a:lnTo>
                            <a:pt x="7101" y="3306"/>
                          </a:lnTo>
                          <a:lnTo>
                            <a:pt x="7123" y="3306"/>
                          </a:lnTo>
                          <a:lnTo>
                            <a:pt x="7144" y="3305"/>
                          </a:lnTo>
                          <a:lnTo>
                            <a:pt x="7166" y="3305"/>
                          </a:lnTo>
                          <a:lnTo>
                            <a:pt x="7188" y="3304"/>
                          </a:lnTo>
                          <a:lnTo>
                            <a:pt x="7209" y="3304"/>
                          </a:lnTo>
                          <a:lnTo>
                            <a:pt x="7231" y="3303"/>
                          </a:lnTo>
                          <a:lnTo>
                            <a:pt x="7251" y="3303"/>
                          </a:lnTo>
                          <a:lnTo>
                            <a:pt x="7273" y="3302"/>
                          </a:lnTo>
                          <a:lnTo>
                            <a:pt x="7277" y="3302"/>
                          </a:lnTo>
                          <a:lnTo>
                            <a:pt x="7282" y="3302"/>
                          </a:lnTo>
                          <a:lnTo>
                            <a:pt x="7298" y="3301"/>
                          </a:lnTo>
                          <a:lnTo>
                            <a:pt x="7313" y="3301"/>
                          </a:lnTo>
                          <a:lnTo>
                            <a:pt x="7329" y="3301"/>
                          </a:lnTo>
                          <a:lnTo>
                            <a:pt x="7344" y="3300"/>
                          </a:lnTo>
                          <a:lnTo>
                            <a:pt x="7360" y="3300"/>
                          </a:lnTo>
                          <a:lnTo>
                            <a:pt x="7375" y="3299"/>
                          </a:lnTo>
                          <a:lnTo>
                            <a:pt x="7388" y="3299"/>
                          </a:lnTo>
                          <a:lnTo>
                            <a:pt x="7400" y="3299"/>
                          </a:lnTo>
                          <a:lnTo>
                            <a:pt x="7413" y="3298"/>
                          </a:lnTo>
                          <a:lnTo>
                            <a:pt x="7426" y="3298"/>
                          </a:lnTo>
                          <a:lnTo>
                            <a:pt x="7439" y="3298"/>
                          </a:lnTo>
                          <a:lnTo>
                            <a:pt x="7453" y="3297"/>
                          </a:lnTo>
                          <a:lnTo>
                            <a:pt x="7468" y="3297"/>
                          </a:lnTo>
                          <a:lnTo>
                            <a:pt x="7481" y="3296"/>
                          </a:lnTo>
                          <a:lnTo>
                            <a:pt x="7495" y="3296"/>
                          </a:lnTo>
                          <a:lnTo>
                            <a:pt x="7507" y="3296"/>
                          </a:lnTo>
                          <a:lnTo>
                            <a:pt x="7519" y="3295"/>
                          </a:lnTo>
                          <a:lnTo>
                            <a:pt x="7532" y="3295"/>
                          </a:lnTo>
                          <a:lnTo>
                            <a:pt x="7546" y="3295"/>
                          </a:lnTo>
                          <a:lnTo>
                            <a:pt x="7560" y="3294"/>
                          </a:lnTo>
                          <a:lnTo>
                            <a:pt x="7574" y="3294"/>
                          </a:lnTo>
                          <a:lnTo>
                            <a:pt x="7587" y="3293"/>
                          </a:lnTo>
                          <a:lnTo>
                            <a:pt x="7601" y="3293"/>
                          </a:lnTo>
                          <a:lnTo>
                            <a:pt x="7613" y="3292"/>
                          </a:lnTo>
                          <a:lnTo>
                            <a:pt x="7626" y="3292"/>
                          </a:lnTo>
                          <a:lnTo>
                            <a:pt x="7638" y="3292"/>
                          </a:lnTo>
                          <a:lnTo>
                            <a:pt x="7651" y="3291"/>
                          </a:lnTo>
                          <a:lnTo>
                            <a:pt x="7665" y="3291"/>
                          </a:lnTo>
                          <a:lnTo>
                            <a:pt x="7678" y="3290"/>
                          </a:lnTo>
                          <a:lnTo>
                            <a:pt x="7692" y="3290"/>
                          </a:lnTo>
                          <a:lnTo>
                            <a:pt x="7704" y="3289"/>
                          </a:lnTo>
                          <a:lnTo>
                            <a:pt x="7716" y="3289"/>
                          </a:lnTo>
                          <a:lnTo>
                            <a:pt x="7729" y="3289"/>
                          </a:lnTo>
                          <a:lnTo>
                            <a:pt x="7741" y="3288"/>
                          </a:lnTo>
                          <a:lnTo>
                            <a:pt x="7755" y="3288"/>
                          </a:lnTo>
                          <a:lnTo>
                            <a:pt x="7770" y="3287"/>
                          </a:lnTo>
                          <a:lnTo>
                            <a:pt x="7784" y="3287"/>
                          </a:lnTo>
                          <a:lnTo>
                            <a:pt x="7799" y="3286"/>
                          </a:lnTo>
                          <a:lnTo>
                            <a:pt x="7811" y="3286"/>
                          </a:lnTo>
                          <a:lnTo>
                            <a:pt x="7825" y="3285"/>
                          </a:lnTo>
                          <a:lnTo>
                            <a:pt x="7837" y="3285"/>
                          </a:lnTo>
                          <a:lnTo>
                            <a:pt x="7849" y="3284"/>
                          </a:lnTo>
                          <a:lnTo>
                            <a:pt x="7872" y="3283"/>
                          </a:lnTo>
                          <a:lnTo>
                            <a:pt x="7895" y="3283"/>
                          </a:lnTo>
                          <a:lnTo>
                            <a:pt x="7917" y="3282"/>
                          </a:lnTo>
                          <a:lnTo>
                            <a:pt x="7939" y="3281"/>
                          </a:lnTo>
                          <a:lnTo>
                            <a:pt x="7952" y="3280"/>
                          </a:lnTo>
                          <a:lnTo>
                            <a:pt x="7965" y="3280"/>
                          </a:lnTo>
                          <a:lnTo>
                            <a:pt x="7978" y="3279"/>
                          </a:lnTo>
                          <a:lnTo>
                            <a:pt x="7992" y="3279"/>
                          </a:lnTo>
                          <a:lnTo>
                            <a:pt x="8003" y="3278"/>
                          </a:lnTo>
                          <a:lnTo>
                            <a:pt x="8014" y="3278"/>
                          </a:lnTo>
                          <a:lnTo>
                            <a:pt x="8026" y="3276"/>
                          </a:lnTo>
                          <a:lnTo>
                            <a:pt x="8037" y="3276"/>
                          </a:lnTo>
                          <a:lnTo>
                            <a:pt x="8050" y="3275"/>
                          </a:lnTo>
                          <a:lnTo>
                            <a:pt x="8064" y="3275"/>
                          </a:lnTo>
                          <a:lnTo>
                            <a:pt x="8077" y="3274"/>
                          </a:lnTo>
                          <a:lnTo>
                            <a:pt x="8090" y="3274"/>
                          </a:lnTo>
                          <a:lnTo>
                            <a:pt x="8102" y="3273"/>
                          </a:lnTo>
                          <a:lnTo>
                            <a:pt x="8112" y="3273"/>
                          </a:lnTo>
                          <a:lnTo>
                            <a:pt x="8123" y="3272"/>
                          </a:lnTo>
                          <a:lnTo>
                            <a:pt x="8134" y="3272"/>
                          </a:lnTo>
                          <a:lnTo>
                            <a:pt x="8144" y="3271"/>
                          </a:lnTo>
                          <a:lnTo>
                            <a:pt x="8153" y="3271"/>
                          </a:lnTo>
                          <a:lnTo>
                            <a:pt x="8162" y="3271"/>
                          </a:lnTo>
                          <a:lnTo>
                            <a:pt x="8170" y="3270"/>
                          </a:lnTo>
                          <a:lnTo>
                            <a:pt x="8207" y="3269"/>
                          </a:lnTo>
                          <a:lnTo>
                            <a:pt x="8244" y="3267"/>
                          </a:lnTo>
                          <a:lnTo>
                            <a:pt x="8281" y="3265"/>
                          </a:lnTo>
                          <a:lnTo>
                            <a:pt x="8317" y="3263"/>
                          </a:lnTo>
                          <a:lnTo>
                            <a:pt x="8330" y="3263"/>
                          </a:lnTo>
                          <a:lnTo>
                            <a:pt x="8342" y="3262"/>
                          </a:lnTo>
                          <a:lnTo>
                            <a:pt x="8379" y="3260"/>
                          </a:lnTo>
                          <a:lnTo>
                            <a:pt x="8415" y="3258"/>
                          </a:lnTo>
                          <a:lnTo>
                            <a:pt x="8451" y="3257"/>
                          </a:lnTo>
                          <a:lnTo>
                            <a:pt x="8487" y="3255"/>
                          </a:lnTo>
                          <a:lnTo>
                            <a:pt x="8498" y="3254"/>
                          </a:lnTo>
                          <a:lnTo>
                            <a:pt x="8508" y="3253"/>
                          </a:lnTo>
                          <a:lnTo>
                            <a:pt x="8544" y="3251"/>
                          </a:lnTo>
                          <a:lnTo>
                            <a:pt x="8580" y="3249"/>
                          </a:lnTo>
                          <a:lnTo>
                            <a:pt x="8616" y="3247"/>
                          </a:lnTo>
                          <a:lnTo>
                            <a:pt x="8651" y="3245"/>
                          </a:lnTo>
                          <a:lnTo>
                            <a:pt x="8659" y="3245"/>
                          </a:lnTo>
                          <a:lnTo>
                            <a:pt x="8669" y="3244"/>
                          </a:lnTo>
                          <a:lnTo>
                            <a:pt x="8704" y="3241"/>
                          </a:lnTo>
                          <a:lnTo>
                            <a:pt x="8739" y="3239"/>
                          </a:lnTo>
                          <a:lnTo>
                            <a:pt x="8773" y="3237"/>
                          </a:lnTo>
                          <a:lnTo>
                            <a:pt x="8808" y="3235"/>
                          </a:lnTo>
                          <a:lnTo>
                            <a:pt x="8810" y="3234"/>
                          </a:lnTo>
                          <a:lnTo>
                            <a:pt x="8813" y="3234"/>
                          </a:lnTo>
                          <a:lnTo>
                            <a:pt x="8826" y="3233"/>
                          </a:lnTo>
                          <a:lnTo>
                            <a:pt x="8840" y="3232"/>
                          </a:lnTo>
                          <a:lnTo>
                            <a:pt x="8853" y="3232"/>
                          </a:lnTo>
                          <a:lnTo>
                            <a:pt x="8866" y="3231"/>
                          </a:lnTo>
                          <a:lnTo>
                            <a:pt x="8879" y="3230"/>
                          </a:lnTo>
                          <a:lnTo>
                            <a:pt x="8891" y="3229"/>
                          </a:lnTo>
                          <a:lnTo>
                            <a:pt x="8901" y="3228"/>
                          </a:lnTo>
                          <a:lnTo>
                            <a:pt x="8910" y="3228"/>
                          </a:lnTo>
                          <a:lnTo>
                            <a:pt x="8919" y="3227"/>
                          </a:lnTo>
                          <a:lnTo>
                            <a:pt x="8928" y="3226"/>
                          </a:lnTo>
                          <a:lnTo>
                            <a:pt x="8941" y="3225"/>
                          </a:lnTo>
                          <a:lnTo>
                            <a:pt x="8953" y="3225"/>
                          </a:lnTo>
                          <a:lnTo>
                            <a:pt x="8966" y="3224"/>
                          </a:lnTo>
                          <a:lnTo>
                            <a:pt x="8978" y="3223"/>
                          </a:lnTo>
                          <a:lnTo>
                            <a:pt x="8986" y="3222"/>
                          </a:lnTo>
                          <a:lnTo>
                            <a:pt x="8995" y="3222"/>
                          </a:lnTo>
                          <a:lnTo>
                            <a:pt x="9004" y="3221"/>
                          </a:lnTo>
                          <a:lnTo>
                            <a:pt x="9012" y="3220"/>
                          </a:lnTo>
                          <a:lnTo>
                            <a:pt x="9025" y="3219"/>
                          </a:lnTo>
                          <a:lnTo>
                            <a:pt x="9039" y="3218"/>
                          </a:lnTo>
                          <a:lnTo>
                            <a:pt x="9052" y="3217"/>
                          </a:lnTo>
                          <a:lnTo>
                            <a:pt x="9066" y="3216"/>
                          </a:lnTo>
                          <a:lnTo>
                            <a:pt x="9079" y="3215"/>
                          </a:lnTo>
                          <a:lnTo>
                            <a:pt x="9093" y="3214"/>
                          </a:lnTo>
                          <a:lnTo>
                            <a:pt x="9113" y="3213"/>
                          </a:lnTo>
                          <a:lnTo>
                            <a:pt x="9133" y="3211"/>
                          </a:lnTo>
                          <a:lnTo>
                            <a:pt x="9152" y="3209"/>
                          </a:lnTo>
                          <a:lnTo>
                            <a:pt x="9172" y="3207"/>
                          </a:lnTo>
                          <a:lnTo>
                            <a:pt x="9172" y="3207"/>
                          </a:lnTo>
                          <a:lnTo>
                            <a:pt x="9173" y="3207"/>
                          </a:lnTo>
                          <a:lnTo>
                            <a:pt x="9187" y="3206"/>
                          </a:lnTo>
                          <a:lnTo>
                            <a:pt x="9202" y="3204"/>
                          </a:lnTo>
                          <a:lnTo>
                            <a:pt x="9216" y="3203"/>
                          </a:lnTo>
                          <a:lnTo>
                            <a:pt x="9230" y="3202"/>
                          </a:lnTo>
                          <a:lnTo>
                            <a:pt x="9235" y="3202"/>
                          </a:lnTo>
                          <a:lnTo>
                            <a:pt x="9240" y="3201"/>
                          </a:lnTo>
                          <a:lnTo>
                            <a:pt x="9264" y="3199"/>
                          </a:lnTo>
                          <a:lnTo>
                            <a:pt x="9289" y="3197"/>
                          </a:lnTo>
                          <a:lnTo>
                            <a:pt x="9314" y="3195"/>
                          </a:lnTo>
                          <a:lnTo>
                            <a:pt x="9338" y="3192"/>
                          </a:lnTo>
                          <a:lnTo>
                            <a:pt x="9362" y="3190"/>
                          </a:lnTo>
                          <a:lnTo>
                            <a:pt x="9386" y="3188"/>
                          </a:lnTo>
                          <a:lnTo>
                            <a:pt x="9410" y="3186"/>
                          </a:lnTo>
                          <a:lnTo>
                            <a:pt x="9432" y="3183"/>
                          </a:lnTo>
                          <a:lnTo>
                            <a:pt x="9434" y="3183"/>
                          </a:lnTo>
                          <a:lnTo>
                            <a:pt x="9434" y="3183"/>
                          </a:lnTo>
                          <a:lnTo>
                            <a:pt x="9458" y="3181"/>
                          </a:lnTo>
                          <a:lnTo>
                            <a:pt x="9483" y="3178"/>
                          </a:lnTo>
                          <a:lnTo>
                            <a:pt x="9508" y="3176"/>
                          </a:lnTo>
                          <a:lnTo>
                            <a:pt x="9531" y="3172"/>
                          </a:lnTo>
                          <a:lnTo>
                            <a:pt x="9538" y="3171"/>
                          </a:lnTo>
                          <a:lnTo>
                            <a:pt x="9545" y="3171"/>
                          </a:lnTo>
                          <a:lnTo>
                            <a:pt x="9566" y="3168"/>
                          </a:lnTo>
                          <a:lnTo>
                            <a:pt x="9589" y="3166"/>
                          </a:lnTo>
                          <a:lnTo>
                            <a:pt x="9611" y="3163"/>
                          </a:lnTo>
                          <a:lnTo>
                            <a:pt x="9632" y="3160"/>
                          </a:lnTo>
                          <a:lnTo>
                            <a:pt x="9637" y="3160"/>
                          </a:lnTo>
                          <a:lnTo>
                            <a:pt x="9641" y="3159"/>
                          </a:lnTo>
                          <a:lnTo>
                            <a:pt x="9645" y="3159"/>
                          </a:lnTo>
                          <a:lnTo>
                            <a:pt x="9648" y="3159"/>
                          </a:lnTo>
                          <a:lnTo>
                            <a:pt x="9668" y="3156"/>
                          </a:lnTo>
                          <a:lnTo>
                            <a:pt x="9687" y="3154"/>
                          </a:lnTo>
                          <a:lnTo>
                            <a:pt x="9707" y="3151"/>
                          </a:lnTo>
                          <a:lnTo>
                            <a:pt x="9725" y="3149"/>
                          </a:lnTo>
                          <a:lnTo>
                            <a:pt x="9731" y="3148"/>
                          </a:lnTo>
                          <a:lnTo>
                            <a:pt x="9739" y="3147"/>
                          </a:lnTo>
                          <a:lnTo>
                            <a:pt x="9756" y="3145"/>
                          </a:lnTo>
                          <a:lnTo>
                            <a:pt x="9774" y="3142"/>
                          </a:lnTo>
                          <a:lnTo>
                            <a:pt x="9791" y="3139"/>
                          </a:lnTo>
                          <a:lnTo>
                            <a:pt x="9808" y="3137"/>
                          </a:lnTo>
                          <a:lnTo>
                            <a:pt x="9810" y="3136"/>
                          </a:lnTo>
                          <a:lnTo>
                            <a:pt x="9813" y="3136"/>
                          </a:lnTo>
                          <a:lnTo>
                            <a:pt x="9813" y="3136"/>
                          </a:lnTo>
                          <a:lnTo>
                            <a:pt x="9814" y="3136"/>
                          </a:lnTo>
                          <a:lnTo>
                            <a:pt x="9831" y="3133"/>
                          </a:lnTo>
                          <a:lnTo>
                            <a:pt x="9848" y="3131"/>
                          </a:lnTo>
                          <a:lnTo>
                            <a:pt x="9863" y="3128"/>
                          </a:lnTo>
                          <a:lnTo>
                            <a:pt x="9880" y="3126"/>
                          </a:lnTo>
                          <a:lnTo>
                            <a:pt x="9886" y="3125"/>
                          </a:lnTo>
                          <a:lnTo>
                            <a:pt x="9893" y="3123"/>
                          </a:lnTo>
                          <a:lnTo>
                            <a:pt x="9909" y="3121"/>
                          </a:lnTo>
                          <a:lnTo>
                            <a:pt x="9924" y="3118"/>
                          </a:lnTo>
                          <a:lnTo>
                            <a:pt x="9939" y="3116"/>
                          </a:lnTo>
                          <a:lnTo>
                            <a:pt x="9953" y="3113"/>
                          </a:lnTo>
                          <a:lnTo>
                            <a:pt x="9954" y="3113"/>
                          </a:lnTo>
                          <a:lnTo>
                            <a:pt x="9956" y="3113"/>
                          </a:lnTo>
                          <a:lnTo>
                            <a:pt x="9958" y="3112"/>
                          </a:lnTo>
                          <a:lnTo>
                            <a:pt x="9961" y="3112"/>
                          </a:lnTo>
                          <a:lnTo>
                            <a:pt x="9975" y="3109"/>
                          </a:lnTo>
                          <a:lnTo>
                            <a:pt x="9987" y="3107"/>
                          </a:lnTo>
                          <a:lnTo>
                            <a:pt x="10000" y="3103"/>
                          </a:lnTo>
                          <a:lnTo>
                            <a:pt x="10013" y="3101"/>
                          </a:lnTo>
                          <a:lnTo>
                            <a:pt x="10017" y="3100"/>
                          </a:lnTo>
                          <a:lnTo>
                            <a:pt x="10020" y="3099"/>
                          </a:lnTo>
                          <a:lnTo>
                            <a:pt x="10033" y="3097"/>
                          </a:lnTo>
                          <a:lnTo>
                            <a:pt x="10046" y="3094"/>
                          </a:lnTo>
                          <a:lnTo>
                            <a:pt x="10057" y="3091"/>
                          </a:lnTo>
                          <a:lnTo>
                            <a:pt x="10069" y="3089"/>
                          </a:lnTo>
                          <a:lnTo>
                            <a:pt x="10072" y="3088"/>
                          </a:lnTo>
                          <a:lnTo>
                            <a:pt x="10075" y="3088"/>
                          </a:lnTo>
                          <a:lnTo>
                            <a:pt x="10079" y="3087"/>
                          </a:lnTo>
                          <a:lnTo>
                            <a:pt x="10084" y="3085"/>
                          </a:lnTo>
                          <a:lnTo>
                            <a:pt x="10089" y="3084"/>
                          </a:lnTo>
                          <a:lnTo>
                            <a:pt x="10095" y="3083"/>
                          </a:lnTo>
                          <a:lnTo>
                            <a:pt x="10105" y="3080"/>
                          </a:lnTo>
                          <a:lnTo>
                            <a:pt x="10113" y="3078"/>
                          </a:lnTo>
                          <a:lnTo>
                            <a:pt x="10118" y="3077"/>
                          </a:lnTo>
                          <a:lnTo>
                            <a:pt x="10123" y="3076"/>
                          </a:lnTo>
                          <a:lnTo>
                            <a:pt x="10132" y="3073"/>
                          </a:lnTo>
                          <a:lnTo>
                            <a:pt x="10142" y="3069"/>
                          </a:lnTo>
                          <a:lnTo>
                            <a:pt x="10145" y="3068"/>
                          </a:lnTo>
                          <a:lnTo>
                            <a:pt x="10148" y="3067"/>
                          </a:lnTo>
                          <a:lnTo>
                            <a:pt x="10159" y="3064"/>
                          </a:lnTo>
                          <a:lnTo>
                            <a:pt x="10169" y="3061"/>
                          </a:lnTo>
                          <a:lnTo>
                            <a:pt x="10171" y="3060"/>
                          </a:lnTo>
                          <a:lnTo>
                            <a:pt x="10171" y="3060"/>
                          </a:lnTo>
                          <a:lnTo>
                            <a:pt x="10175" y="3059"/>
                          </a:lnTo>
                          <a:lnTo>
                            <a:pt x="10179" y="3058"/>
                          </a:lnTo>
                          <a:lnTo>
                            <a:pt x="10186" y="3055"/>
                          </a:lnTo>
                          <a:lnTo>
                            <a:pt x="10192" y="3053"/>
                          </a:lnTo>
                          <a:lnTo>
                            <a:pt x="10196" y="3051"/>
                          </a:lnTo>
                          <a:lnTo>
                            <a:pt x="10199" y="3050"/>
                          </a:lnTo>
                          <a:lnTo>
                            <a:pt x="10206" y="3047"/>
                          </a:lnTo>
                          <a:lnTo>
                            <a:pt x="10212" y="3045"/>
                          </a:lnTo>
                          <a:lnTo>
                            <a:pt x="10215" y="3044"/>
                          </a:lnTo>
                          <a:lnTo>
                            <a:pt x="10218" y="3042"/>
                          </a:lnTo>
                          <a:lnTo>
                            <a:pt x="10223" y="3040"/>
                          </a:lnTo>
                          <a:lnTo>
                            <a:pt x="10228" y="3036"/>
                          </a:lnTo>
                          <a:lnTo>
                            <a:pt x="10231" y="3035"/>
                          </a:lnTo>
                          <a:lnTo>
                            <a:pt x="10233" y="3033"/>
                          </a:lnTo>
                          <a:lnTo>
                            <a:pt x="10236" y="3032"/>
                          </a:lnTo>
                          <a:lnTo>
                            <a:pt x="10240" y="3030"/>
                          </a:lnTo>
                          <a:lnTo>
                            <a:pt x="10241" y="3029"/>
                          </a:lnTo>
                          <a:lnTo>
                            <a:pt x="10243" y="3028"/>
                          </a:lnTo>
                          <a:lnTo>
                            <a:pt x="10244" y="3027"/>
                          </a:lnTo>
                          <a:lnTo>
                            <a:pt x="10246" y="3026"/>
                          </a:lnTo>
                          <a:lnTo>
                            <a:pt x="10250" y="3024"/>
                          </a:lnTo>
                          <a:lnTo>
                            <a:pt x="10253" y="3021"/>
                          </a:lnTo>
                          <a:lnTo>
                            <a:pt x="10255" y="3020"/>
                          </a:lnTo>
                          <a:lnTo>
                            <a:pt x="10256" y="3018"/>
                          </a:lnTo>
                          <a:lnTo>
                            <a:pt x="10259" y="3016"/>
                          </a:lnTo>
                          <a:lnTo>
                            <a:pt x="10262" y="3013"/>
                          </a:lnTo>
                          <a:lnTo>
                            <a:pt x="10263" y="3012"/>
                          </a:lnTo>
                          <a:lnTo>
                            <a:pt x="10264" y="3011"/>
                          </a:lnTo>
                          <a:lnTo>
                            <a:pt x="10267" y="3007"/>
                          </a:lnTo>
                          <a:lnTo>
                            <a:pt x="10269" y="3002"/>
                          </a:lnTo>
                          <a:lnTo>
                            <a:pt x="10354" y="2843"/>
                          </a:lnTo>
                          <a:lnTo>
                            <a:pt x="10438" y="2683"/>
                          </a:lnTo>
                          <a:lnTo>
                            <a:pt x="10522" y="2523"/>
                          </a:lnTo>
                          <a:lnTo>
                            <a:pt x="10607" y="2364"/>
                          </a:lnTo>
                          <a:lnTo>
                            <a:pt x="10691" y="2204"/>
                          </a:lnTo>
                          <a:lnTo>
                            <a:pt x="10776" y="2044"/>
                          </a:lnTo>
                          <a:lnTo>
                            <a:pt x="10859" y="1885"/>
                          </a:lnTo>
                          <a:lnTo>
                            <a:pt x="10944" y="1725"/>
                          </a:lnTo>
                          <a:lnTo>
                            <a:pt x="11028" y="1565"/>
                          </a:lnTo>
                          <a:lnTo>
                            <a:pt x="11113" y="1406"/>
                          </a:lnTo>
                          <a:lnTo>
                            <a:pt x="11196" y="1246"/>
                          </a:lnTo>
                          <a:lnTo>
                            <a:pt x="11281" y="1086"/>
                          </a:lnTo>
                          <a:lnTo>
                            <a:pt x="11365" y="927"/>
                          </a:lnTo>
                          <a:lnTo>
                            <a:pt x="11450" y="767"/>
                          </a:lnTo>
                          <a:lnTo>
                            <a:pt x="11534" y="607"/>
                          </a:lnTo>
                          <a:lnTo>
                            <a:pt x="11618" y="448"/>
                          </a:lnTo>
                          <a:lnTo>
                            <a:pt x="11620" y="443"/>
                          </a:lnTo>
                          <a:lnTo>
                            <a:pt x="11622" y="438"/>
                          </a:lnTo>
                          <a:lnTo>
                            <a:pt x="11623" y="432"/>
                          </a:lnTo>
                          <a:lnTo>
                            <a:pt x="11622" y="425"/>
                          </a:lnTo>
                          <a:close/>
                        </a:path>
                      </a:pathLst>
                    </a:custGeom>
                    <a:gradFill flip="none" rotWithShape="1">
                      <a:gsLst>
                        <a:gs pos="0">
                          <a:schemeClr val="accent1">
                            <a:lumMod val="75000"/>
                          </a:schemeClr>
                        </a:gs>
                        <a:gs pos="61000">
                          <a:schemeClr val="accent1"/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  <a:ln>
                      <a:noFill/>
                    </a:ln>
                    <a:effectLst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00" dirty="0">
                        <a:solidFill>
                          <a:schemeClr val="lt1"/>
                        </a:solidFill>
                        <a:latin typeface="OPPOSans R" panose="00020600040101010101" pitchFamily="18" charset="-122"/>
                        <a:ea typeface="OPPOSans R" panose="00020600040101010101" pitchFamily="18" charset="-122"/>
                        <a:cs typeface="OPPOSans R" panose="00020600040101010101" pitchFamily="18" charset="-122"/>
                      </a:endParaRPr>
                    </a:p>
                  </p:txBody>
                </p:sp>
                <p:sp>
                  <p:nvSpPr>
                    <p:cNvPr id="47" name="Freeform 12"/>
                    <p:cNvSpPr/>
                    <p:nvPr/>
                  </p:nvSpPr>
                  <p:spPr bwMode="auto">
                    <a:xfrm>
                      <a:off x="4558506" y="2861563"/>
                      <a:ext cx="3073400" cy="228600"/>
                    </a:xfrm>
                    <a:custGeom>
                      <a:avLst/>
                      <a:gdLst>
                        <a:gd name="T0" fmla="*/ 11582 w 11622"/>
                        <a:gd name="T1" fmla="*/ 482 h 862"/>
                        <a:gd name="T2" fmla="*/ 11414 w 11622"/>
                        <a:gd name="T3" fmla="*/ 546 h 862"/>
                        <a:gd name="T4" fmla="*/ 11125 w 11622"/>
                        <a:gd name="T5" fmla="*/ 605 h 862"/>
                        <a:gd name="T6" fmla="*/ 10728 w 11622"/>
                        <a:gd name="T7" fmla="*/ 661 h 862"/>
                        <a:gd name="T8" fmla="*/ 10230 w 11622"/>
                        <a:gd name="T9" fmla="*/ 710 h 862"/>
                        <a:gd name="T10" fmla="*/ 9643 w 11622"/>
                        <a:gd name="T11" fmla="*/ 755 h 862"/>
                        <a:gd name="T12" fmla="*/ 8976 w 11622"/>
                        <a:gd name="T13" fmla="*/ 792 h 862"/>
                        <a:gd name="T14" fmla="*/ 8239 w 11622"/>
                        <a:gd name="T15" fmla="*/ 823 h 862"/>
                        <a:gd name="T16" fmla="*/ 7442 w 11622"/>
                        <a:gd name="T17" fmla="*/ 844 h 862"/>
                        <a:gd name="T18" fmla="*/ 6596 w 11622"/>
                        <a:gd name="T19" fmla="*/ 858 h 862"/>
                        <a:gd name="T20" fmla="*/ 5709 w 11622"/>
                        <a:gd name="T21" fmla="*/ 862 h 862"/>
                        <a:gd name="T22" fmla="*/ 4826 w 11622"/>
                        <a:gd name="T23" fmla="*/ 856 h 862"/>
                        <a:gd name="T24" fmla="*/ 3986 w 11622"/>
                        <a:gd name="T25" fmla="*/ 840 h 862"/>
                        <a:gd name="T26" fmla="*/ 3201 w 11622"/>
                        <a:gd name="T27" fmla="*/ 816 h 862"/>
                        <a:gd name="T28" fmla="*/ 2478 w 11622"/>
                        <a:gd name="T29" fmla="*/ 784 h 862"/>
                        <a:gd name="T30" fmla="*/ 1829 w 11622"/>
                        <a:gd name="T31" fmla="*/ 744 h 862"/>
                        <a:gd name="T32" fmla="*/ 1263 w 11622"/>
                        <a:gd name="T33" fmla="*/ 699 h 862"/>
                        <a:gd name="T34" fmla="*/ 789 w 11622"/>
                        <a:gd name="T35" fmla="*/ 648 h 862"/>
                        <a:gd name="T36" fmla="*/ 418 w 11622"/>
                        <a:gd name="T37" fmla="*/ 591 h 862"/>
                        <a:gd name="T38" fmla="*/ 158 w 11622"/>
                        <a:gd name="T39" fmla="*/ 531 h 862"/>
                        <a:gd name="T40" fmla="*/ 20 w 11622"/>
                        <a:gd name="T41" fmla="*/ 467 h 862"/>
                        <a:gd name="T42" fmla="*/ 14 w 11622"/>
                        <a:gd name="T43" fmla="*/ 401 h 862"/>
                        <a:gd name="T44" fmla="*/ 139 w 11622"/>
                        <a:gd name="T45" fmla="*/ 337 h 862"/>
                        <a:gd name="T46" fmla="*/ 388 w 11622"/>
                        <a:gd name="T47" fmla="*/ 276 h 862"/>
                        <a:gd name="T48" fmla="*/ 751 w 11622"/>
                        <a:gd name="T49" fmla="*/ 219 h 862"/>
                        <a:gd name="T50" fmla="*/ 1215 w 11622"/>
                        <a:gd name="T51" fmla="*/ 167 h 862"/>
                        <a:gd name="T52" fmla="*/ 1774 w 11622"/>
                        <a:gd name="T53" fmla="*/ 121 h 862"/>
                        <a:gd name="T54" fmla="*/ 2416 w 11622"/>
                        <a:gd name="T55" fmla="*/ 81 h 862"/>
                        <a:gd name="T56" fmla="*/ 3131 w 11622"/>
                        <a:gd name="T57" fmla="*/ 48 h 862"/>
                        <a:gd name="T58" fmla="*/ 3909 w 11622"/>
                        <a:gd name="T59" fmla="*/ 23 h 862"/>
                        <a:gd name="T60" fmla="*/ 4740 w 11622"/>
                        <a:gd name="T61" fmla="*/ 7 h 862"/>
                        <a:gd name="T62" fmla="*/ 5614 w 11622"/>
                        <a:gd name="T63" fmla="*/ 0 h 862"/>
                        <a:gd name="T64" fmla="*/ 6506 w 11622"/>
                        <a:gd name="T65" fmla="*/ 3 h 862"/>
                        <a:gd name="T66" fmla="*/ 7362 w 11622"/>
                        <a:gd name="T67" fmla="*/ 15 h 862"/>
                        <a:gd name="T68" fmla="*/ 8166 w 11622"/>
                        <a:gd name="T69" fmla="*/ 37 h 862"/>
                        <a:gd name="T70" fmla="*/ 8911 w 11622"/>
                        <a:gd name="T71" fmla="*/ 67 h 862"/>
                        <a:gd name="T72" fmla="*/ 9585 w 11622"/>
                        <a:gd name="T73" fmla="*/ 103 h 862"/>
                        <a:gd name="T74" fmla="*/ 10180 w 11622"/>
                        <a:gd name="T75" fmla="*/ 147 h 862"/>
                        <a:gd name="T76" fmla="*/ 10686 w 11622"/>
                        <a:gd name="T77" fmla="*/ 196 h 862"/>
                        <a:gd name="T78" fmla="*/ 11092 w 11622"/>
                        <a:gd name="T79" fmla="*/ 251 h 862"/>
                        <a:gd name="T80" fmla="*/ 11391 w 11622"/>
                        <a:gd name="T81" fmla="*/ 310 h 862"/>
                        <a:gd name="T82" fmla="*/ 11570 w 11622"/>
                        <a:gd name="T83" fmla="*/ 373 h 862"/>
                        <a:gd name="T84" fmla="*/ 11622 w 11622"/>
                        <a:gd name="T85" fmla="*/ 438 h 86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  <a:cxn ang="0">
                          <a:pos x="T84" y="T85"/>
                        </a:cxn>
                      </a:cxnLst>
                      <a:rect l="0" t="0" r="r" b="b"/>
                      <a:pathLst>
                        <a:path w="11622" h="862">
                          <a:moveTo>
                            <a:pt x="11622" y="438"/>
                          </a:moveTo>
                          <a:lnTo>
                            <a:pt x="11608" y="460"/>
                          </a:lnTo>
                          <a:lnTo>
                            <a:pt x="11582" y="482"/>
                          </a:lnTo>
                          <a:lnTo>
                            <a:pt x="11539" y="503"/>
                          </a:lnTo>
                          <a:lnTo>
                            <a:pt x="11483" y="525"/>
                          </a:lnTo>
                          <a:lnTo>
                            <a:pt x="11414" y="546"/>
                          </a:lnTo>
                          <a:lnTo>
                            <a:pt x="11330" y="566"/>
                          </a:lnTo>
                          <a:lnTo>
                            <a:pt x="11234" y="586"/>
                          </a:lnTo>
                          <a:lnTo>
                            <a:pt x="11125" y="605"/>
                          </a:lnTo>
                          <a:lnTo>
                            <a:pt x="11004" y="624"/>
                          </a:lnTo>
                          <a:lnTo>
                            <a:pt x="10871" y="642"/>
                          </a:lnTo>
                          <a:lnTo>
                            <a:pt x="10728" y="661"/>
                          </a:lnTo>
                          <a:lnTo>
                            <a:pt x="10572" y="677"/>
                          </a:lnTo>
                          <a:lnTo>
                            <a:pt x="10407" y="694"/>
                          </a:lnTo>
                          <a:lnTo>
                            <a:pt x="10230" y="710"/>
                          </a:lnTo>
                          <a:lnTo>
                            <a:pt x="10044" y="726"/>
                          </a:lnTo>
                          <a:lnTo>
                            <a:pt x="9848" y="740"/>
                          </a:lnTo>
                          <a:lnTo>
                            <a:pt x="9643" y="755"/>
                          </a:lnTo>
                          <a:lnTo>
                            <a:pt x="9428" y="768"/>
                          </a:lnTo>
                          <a:lnTo>
                            <a:pt x="9206" y="781"/>
                          </a:lnTo>
                          <a:lnTo>
                            <a:pt x="8976" y="792"/>
                          </a:lnTo>
                          <a:lnTo>
                            <a:pt x="8737" y="803"/>
                          </a:lnTo>
                          <a:lnTo>
                            <a:pt x="8491" y="813"/>
                          </a:lnTo>
                          <a:lnTo>
                            <a:pt x="8239" y="823"/>
                          </a:lnTo>
                          <a:lnTo>
                            <a:pt x="7979" y="831"/>
                          </a:lnTo>
                          <a:lnTo>
                            <a:pt x="7713" y="838"/>
                          </a:lnTo>
                          <a:lnTo>
                            <a:pt x="7442" y="844"/>
                          </a:lnTo>
                          <a:lnTo>
                            <a:pt x="7165" y="850"/>
                          </a:lnTo>
                          <a:lnTo>
                            <a:pt x="6882" y="855"/>
                          </a:lnTo>
                          <a:lnTo>
                            <a:pt x="6596" y="858"/>
                          </a:lnTo>
                          <a:lnTo>
                            <a:pt x="6304" y="860"/>
                          </a:lnTo>
                          <a:lnTo>
                            <a:pt x="6008" y="861"/>
                          </a:lnTo>
                          <a:lnTo>
                            <a:pt x="5709" y="862"/>
                          </a:lnTo>
                          <a:lnTo>
                            <a:pt x="5411" y="861"/>
                          </a:lnTo>
                          <a:lnTo>
                            <a:pt x="5116" y="859"/>
                          </a:lnTo>
                          <a:lnTo>
                            <a:pt x="4826" y="856"/>
                          </a:lnTo>
                          <a:lnTo>
                            <a:pt x="4541" y="852"/>
                          </a:lnTo>
                          <a:lnTo>
                            <a:pt x="4260" y="846"/>
                          </a:lnTo>
                          <a:lnTo>
                            <a:pt x="3986" y="840"/>
                          </a:lnTo>
                          <a:lnTo>
                            <a:pt x="3718" y="833"/>
                          </a:lnTo>
                          <a:lnTo>
                            <a:pt x="3456" y="825"/>
                          </a:lnTo>
                          <a:lnTo>
                            <a:pt x="3201" y="816"/>
                          </a:lnTo>
                          <a:lnTo>
                            <a:pt x="2952" y="806"/>
                          </a:lnTo>
                          <a:lnTo>
                            <a:pt x="2711" y="795"/>
                          </a:lnTo>
                          <a:lnTo>
                            <a:pt x="2478" y="784"/>
                          </a:lnTo>
                          <a:lnTo>
                            <a:pt x="2253" y="771"/>
                          </a:lnTo>
                          <a:lnTo>
                            <a:pt x="2037" y="758"/>
                          </a:lnTo>
                          <a:lnTo>
                            <a:pt x="1829" y="744"/>
                          </a:lnTo>
                          <a:lnTo>
                            <a:pt x="1631" y="730"/>
                          </a:lnTo>
                          <a:lnTo>
                            <a:pt x="1442" y="715"/>
                          </a:lnTo>
                          <a:lnTo>
                            <a:pt x="1263" y="699"/>
                          </a:lnTo>
                          <a:lnTo>
                            <a:pt x="1094" y="683"/>
                          </a:lnTo>
                          <a:lnTo>
                            <a:pt x="936" y="665"/>
                          </a:lnTo>
                          <a:lnTo>
                            <a:pt x="789" y="648"/>
                          </a:lnTo>
                          <a:lnTo>
                            <a:pt x="654" y="629"/>
                          </a:lnTo>
                          <a:lnTo>
                            <a:pt x="529" y="611"/>
                          </a:lnTo>
                          <a:lnTo>
                            <a:pt x="418" y="591"/>
                          </a:lnTo>
                          <a:lnTo>
                            <a:pt x="319" y="571"/>
                          </a:lnTo>
                          <a:lnTo>
                            <a:pt x="231" y="552"/>
                          </a:lnTo>
                          <a:lnTo>
                            <a:pt x="158" y="531"/>
                          </a:lnTo>
                          <a:lnTo>
                            <a:pt x="98" y="511"/>
                          </a:lnTo>
                          <a:lnTo>
                            <a:pt x="52" y="489"/>
                          </a:lnTo>
                          <a:lnTo>
                            <a:pt x="20" y="467"/>
                          </a:lnTo>
                          <a:lnTo>
                            <a:pt x="3" y="446"/>
                          </a:lnTo>
                          <a:lnTo>
                            <a:pt x="0" y="423"/>
                          </a:lnTo>
                          <a:lnTo>
                            <a:pt x="14" y="401"/>
                          </a:lnTo>
                          <a:lnTo>
                            <a:pt x="40" y="379"/>
                          </a:lnTo>
                          <a:lnTo>
                            <a:pt x="83" y="358"/>
                          </a:lnTo>
                          <a:lnTo>
                            <a:pt x="139" y="337"/>
                          </a:lnTo>
                          <a:lnTo>
                            <a:pt x="208" y="316"/>
                          </a:lnTo>
                          <a:lnTo>
                            <a:pt x="292" y="295"/>
                          </a:lnTo>
                          <a:lnTo>
                            <a:pt x="388" y="276"/>
                          </a:lnTo>
                          <a:lnTo>
                            <a:pt x="497" y="256"/>
                          </a:lnTo>
                          <a:lnTo>
                            <a:pt x="618" y="238"/>
                          </a:lnTo>
                          <a:lnTo>
                            <a:pt x="751" y="219"/>
                          </a:lnTo>
                          <a:lnTo>
                            <a:pt x="894" y="201"/>
                          </a:lnTo>
                          <a:lnTo>
                            <a:pt x="1050" y="184"/>
                          </a:lnTo>
                          <a:lnTo>
                            <a:pt x="1215" y="167"/>
                          </a:lnTo>
                          <a:lnTo>
                            <a:pt x="1392" y="151"/>
                          </a:lnTo>
                          <a:lnTo>
                            <a:pt x="1578" y="136"/>
                          </a:lnTo>
                          <a:lnTo>
                            <a:pt x="1774" y="121"/>
                          </a:lnTo>
                          <a:lnTo>
                            <a:pt x="1979" y="107"/>
                          </a:lnTo>
                          <a:lnTo>
                            <a:pt x="2194" y="93"/>
                          </a:lnTo>
                          <a:lnTo>
                            <a:pt x="2416" y="81"/>
                          </a:lnTo>
                          <a:lnTo>
                            <a:pt x="2646" y="70"/>
                          </a:lnTo>
                          <a:lnTo>
                            <a:pt x="2885" y="58"/>
                          </a:lnTo>
                          <a:lnTo>
                            <a:pt x="3131" y="48"/>
                          </a:lnTo>
                          <a:lnTo>
                            <a:pt x="3383" y="39"/>
                          </a:lnTo>
                          <a:lnTo>
                            <a:pt x="3643" y="31"/>
                          </a:lnTo>
                          <a:lnTo>
                            <a:pt x="3909" y="23"/>
                          </a:lnTo>
                          <a:lnTo>
                            <a:pt x="4180" y="17"/>
                          </a:lnTo>
                          <a:lnTo>
                            <a:pt x="4457" y="12"/>
                          </a:lnTo>
                          <a:lnTo>
                            <a:pt x="4740" y="7"/>
                          </a:lnTo>
                          <a:lnTo>
                            <a:pt x="5026" y="4"/>
                          </a:lnTo>
                          <a:lnTo>
                            <a:pt x="5318" y="2"/>
                          </a:lnTo>
                          <a:lnTo>
                            <a:pt x="5614" y="0"/>
                          </a:lnTo>
                          <a:lnTo>
                            <a:pt x="5913" y="0"/>
                          </a:lnTo>
                          <a:lnTo>
                            <a:pt x="6211" y="1"/>
                          </a:lnTo>
                          <a:lnTo>
                            <a:pt x="6506" y="3"/>
                          </a:lnTo>
                          <a:lnTo>
                            <a:pt x="6796" y="6"/>
                          </a:lnTo>
                          <a:lnTo>
                            <a:pt x="7081" y="10"/>
                          </a:lnTo>
                          <a:lnTo>
                            <a:pt x="7362" y="15"/>
                          </a:lnTo>
                          <a:lnTo>
                            <a:pt x="7636" y="21"/>
                          </a:lnTo>
                          <a:lnTo>
                            <a:pt x="7904" y="29"/>
                          </a:lnTo>
                          <a:lnTo>
                            <a:pt x="8166" y="37"/>
                          </a:lnTo>
                          <a:lnTo>
                            <a:pt x="8421" y="46"/>
                          </a:lnTo>
                          <a:lnTo>
                            <a:pt x="8670" y="55"/>
                          </a:lnTo>
                          <a:lnTo>
                            <a:pt x="8911" y="67"/>
                          </a:lnTo>
                          <a:lnTo>
                            <a:pt x="9144" y="78"/>
                          </a:lnTo>
                          <a:lnTo>
                            <a:pt x="9369" y="90"/>
                          </a:lnTo>
                          <a:lnTo>
                            <a:pt x="9585" y="103"/>
                          </a:lnTo>
                          <a:lnTo>
                            <a:pt x="9793" y="117"/>
                          </a:lnTo>
                          <a:lnTo>
                            <a:pt x="9991" y="132"/>
                          </a:lnTo>
                          <a:lnTo>
                            <a:pt x="10180" y="147"/>
                          </a:lnTo>
                          <a:lnTo>
                            <a:pt x="10359" y="162"/>
                          </a:lnTo>
                          <a:lnTo>
                            <a:pt x="10528" y="179"/>
                          </a:lnTo>
                          <a:lnTo>
                            <a:pt x="10686" y="196"/>
                          </a:lnTo>
                          <a:lnTo>
                            <a:pt x="10833" y="214"/>
                          </a:lnTo>
                          <a:lnTo>
                            <a:pt x="10968" y="231"/>
                          </a:lnTo>
                          <a:lnTo>
                            <a:pt x="11092" y="251"/>
                          </a:lnTo>
                          <a:lnTo>
                            <a:pt x="11204" y="270"/>
                          </a:lnTo>
                          <a:lnTo>
                            <a:pt x="11303" y="289"/>
                          </a:lnTo>
                          <a:lnTo>
                            <a:pt x="11391" y="310"/>
                          </a:lnTo>
                          <a:lnTo>
                            <a:pt x="11464" y="330"/>
                          </a:lnTo>
                          <a:lnTo>
                            <a:pt x="11524" y="351"/>
                          </a:lnTo>
                          <a:lnTo>
                            <a:pt x="11570" y="373"/>
                          </a:lnTo>
                          <a:lnTo>
                            <a:pt x="11602" y="394"/>
                          </a:lnTo>
                          <a:lnTo>
                            <a:pt x="11619" y="416"/>
                          </a:lnTo>
                          <a:lnTo>
                            <a:pt x="11622" y="438"/>
                          </a:lnTo>
                          <a:close/>
                        </a:path>
                      </a:pathLst>
                    </a:custGeom>
                    <a:gradFill flip="none" rotWithShape="1">
                      <a:gsLst>
                        <a:gs pos="0">
                          <a:schemeClr val="accent1">
                            <a:lumMod val="61000"/>
                            <a:lumOff val="39000"/>
                          </a:schemeClr>
                        </a:gs>
                        <a:gs pos="61000">
                          <a:schemeClr val="accent1">
                            <a:lumMod val="75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  <a:ln>
                      <a:noFill/>
                    </a:ln>
                    <a:effectLst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00">
                        <a:solidFill>
                          <a:schemeClr val="lt1"/>
                        </a:solidFill>
                        <a:latin typeface="OPPOSans R" panose="00020600040101010101" pitchFamily="18" charset="-122"/>
                        <a:ea typeface="OPPOSans R" panose="00020600040101010101" pitchFamily="18" charset="-122"/>
                        <a:cs typeface="OPPOSans R" panose="00020600040101010101" pitchFamily="18" charset="-122"/>
                      </a:endParaRPr>
                    </a:p>
                  </p:txBody>
                </p:sp>
                <p:sp>
                  <p:nvSpPr>
                    <p:cNvPr id="48" name="Rectangle 8"/>
                    <p:cNvSpPr/>
                    <p:nvPr/>
                  </p:nvSpPr>
                  <p:spPr>
                    <a:xfrm>
                      <a:off x="5686879" y="3168511"/>
                      <a:ext cx="818242" cy="342959"/>
                    </a:xfrm>
                    <a:prstGeom prst="rect">
                      <a:avLst/>
                    </a:prstGeom>
                  </p:spPr>
                  <p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2"/>
                          </a:solidFill>
                          <a:latin typeface="OPPOSans H" panose="00020600040101010101" pitchFamily="18" charset="-122"/>
                          <a:ea typeface="OPPOSans H" panose="00020600040101010101" pitchFamily="18" charset="-122"/>
                          <a:cs typeface="OPPOSans H" panose="00020600040101010101" pitchFamily="18" charset="-122"/>
                        </a:rPr>
                        <a:t>120</a:t>
                      </a:r>
                      <a:endParaRPr lang="en-US" b="1" dirty="0">
                        <a:solidFill>
                          <a:schemeClr val="bg2"/>
                        </a:solidFill>
                        <a:latin typeface="OPPOSans H" panose="00020600040101010101" pitchFamily="18" charset="-122"/>
                        <a:ea typeface="OPPOSans H" panose="00020600040101010101" pitchFamily="18" charset="-122"/>
                        <a:cs typeface="OPPOSans H" panose="00020600040101010101" pitchFamily="18" charset="-122"/>
                      </a:endParaRPr>
                    </a:p>
                  </p:txBody>
                </p:sp>
                <p:sp>
                  <p:nvSpPr>
                    <p:cNvPr id="49" name="Freeform 5"/>
                    <p:cNvSpPr/>
                    <p:nvPr/>
                  </p:nvSpPr>
                  <p:spPr bwMode="auto">
                    <a:xfrm>
                      <a:off x="4957762" y="3794531"/>
                      <a:ext cx="2276475" cy="819150"/>
                    </a:xfrm>
                    <a:custGeom>
                      <a:avLst/>
                      <a:gdLst>
                        <a:gd name="T0" fmla="*/ 8518 w 8606"/>
                        <a:gd name="T1" fmla="*/ 254 h 3097"/>
                        <a:gd name="T2" fmla="*/ 8298 w 8606"/>
                        <a:gd name="T3" fmla="*/ 200 h 3097"/>
                        <a:gd name="T4" fmla="*/ 8055 w 8606"/>
                        <a:gd name="T5" fmla="*/ 163 h 3097"/>
                        <a:gd name="T6" fmla="*/ 7705 w 8606"/>
                        <a:gd name="T7" fmla="*/ 124 h 3097"/>
                        <a:gd name="T8" fmla="*/ 7400 w 8606"/>
                        <a:gd name="T9" fmla="*/ 97 h 3097"/>
                        <a:gd name="T10" fmla="*/ 7078 w 8606"/>
                        <a:gd name="T11" fmla="*/ 75 h 3097"/>
                        <a:gd name="T12" fmla="*/ 6816 w 8606"/>
                        <a:gd name="T13" fmla="*/ 60 h 3097"/>
                        <a:gd name="T14" fmla="*/ 6319 w 8606"/>
                        <a:gd name="T15" fmla="*/ 37 h 3097"/>
                        <a:gd name="T16" fmla="*/ 5818 w 8606"/>
                        <a:gd name="T17" fmla="*/ 20 h 3097"/>
                        <a:gd name="T18" fmla="*/ 5359 w 8606"/>
                        <a:gd name="T19" fmla="*/ 9 h 3097"/>
                        <a:gd name="T20" fmla="*/ 5056 w 8606"/>
                        <a:gd name="T21" fmla="*/ 4 h 3097"/>
                        <a:gd name="T22" fmla="*/ 4814 w 8606"/>
                        <a:gd name="T23" fmla="*/ 2 h 3097"/>
                        <a:gd name="T24" fmla="*/ 4476 w 8606"/>
                        <a:gd name="T25" fmla="*/ 0 h 3097"/>
                        <a:gd name="T26" fmla="*/ 4106 w 8606"/>
                        <a:gd name="T27" fmla="*/ 0 h 3097"/>
                        <a:gd name="T28" fmla="*/ 3828 w 8606"/>
                        <a:gd name="T29" fmla="*/ 2 h 3097"/>
                        <a:gd name="T30" fmla="*/ 3408 w 8606"/>
                        <a:gd name="T31" fmla="*/ 6 h 3097"/>
                        <a:gd name="T32" fmla="*/ 2947 w 8606"/>
                        <a:gd name="T33" fmla="*/ 15 h 3097"/>
                        <a:gd name="T34" fmla="*/ 2682 w 8606"/>
                        <a:gd name="T35" fmla="*/ 23 h 3097"/>
                        <a:gd name="T36" fmla="*/ 2391 w 8606"/>
                        <a:gd name="T37" fmla="*/ 33 h 3097"/>
                        <a:gd name="T38" fmla="*/ 2047 w 8606"/>
                        <a:gd name="T39" fmla="*/ 47 h 3097"/>
                        <a:gd name="T40" fmla="*/ 1724 w 8606"/>
                        <a:gd name="T41" fmla="*/ 64 h 3097"/>
                        <a:gd name="T42" fmla="*/ 1295 w 8606"/>
                        <a:gd name="T43" fmla="*/ 91 h 3097"/>
                        <a:gd name="T44" fmla="*/ 937 w 8606"/>
                        <a:gd name="T45" fmla="*/ 120 h 3097"/>
                        <a:gd name="T46" fmla="*/ 686 w 8606"/>
                        <a:gd name="T47" fmla="*/ 146 h 3097"/>
                        <a:gd name="T48" fmla="*/ 456 w 8606"/>
                        <a:gd name="T49" fmla="*/ 176 h 3097"/>
                        <a:gd name="T50" fmla="*/ 277 w 8606"/>
                        <a:gd name="T51" fmla="*/ 206 h 3097"/>
                        <a:gd name="T52" fmla="*/ 122 w 8606"/>
                        <a:gd name="T53" fmla="*/ 243 h 3097"/>
                        <a:gd name="T54" fmla="*/ 23 w 8606"/>
                        <a:gd name="T55" fmla="*/ 285 h 3097"/>
                        <a:gd name="T56" fmla="*/ 340 w 8606"/>
                        <a:gd name="T57" fmla="*/ 970 h 3097"/>
                        <a:gd name="T58" fmla="*/ 1362 w 8606"/>
                        <a:gd name="T59" fmla="*/ 2898 h 3097"/>
                        <a:gd name="T60" fmla="*/ 1412 w 8606"/>
                        <a:gd name="T61" fmla="*/ 2924 h 3097"/>
                        <a:gd name="T62" fmla="*/ 1476 w 8606"/>
                        <a:gd name="T63" fmla="*/ 2942 h 3097"/>
                        <a:gd name="T64" fmla="*/ 1585 w 8606"/>
                        <a:gd name="T65" fmla="*/ 2964 h 3097"/>
                        <a:gd name="T66" fmla="*/ 1724 w 8606"/>
                        <a:gd name="T67" fmla="*/ 2984 h 3097"/>
                        <a:gd name="T68" fmla="*/ 1912 w 8606"/>
                        <a:gd name="T69" fmla="*/ 3007 h 3097"/>
                        <a:gd name="T70" fmla="*/ 2107 w 8606"/>
                        <a:gd name="T71" fmla="*/ 3024 h 3097"/>
                        <a:gd name="T72" fmla="*/ 2284 w 8606"/>
                        <a:gd name="T73" fmla="*/ 3038 h 3097"/>
                        <a:gd name="T74" fmla="*/ 2465 w 8606"/>
                        <a:gd name="T75" fmla="*/ 3049 h 3097"/>
                        <a:gd name="T76" fmla="*/ 2722 w 8606"/>
                        <a:gd name="T77" fmla="*/ 3063 h 3097"/>
                        <a:gd name="T78" fmla="*/ 2905 w 8606"/>
                        <a:gd name="T79" fmla="*/ 3071 h 3097"/>
                        <a:gd name="T80" fmla="*/ 3093 w 8606"/>
                        <a:gd name="T81" fmla="*/ 3078 h 3097"/>
                        <a:gd name="T82" fmla="*/ 3321 w 8606"/>
                        <a:gd name="T83" fmla="*/ 3084 h 3097"/>
                        <a:gd name="T84" fmla="*/ 3567 w 8606"/>
                        <a:gd name="T85" fmla="*/ 3090 h 3097"/>
                        <a:gd name="T86" fmla="*/ 3850 w 8606"/>
                        <a:gd name="T87" fmla="*/ 3095 h 3097"/>
                        <a:gd name="T88" fmla="*/ 4101 w 8606"/>
                        <a:gd name="T89" fmla="*/ 3097 h 3097"/>
                        <a:gd name="T90" fmla="*/ 4428 w 8606"/>
                        <a:gd name="T91" fmla="*/ 3097 h 3097"/>
                        <a:gd name="T92" fmla="*/ 4726 w 8606"/>
                        <a:gd name="T93" fmla="*/ 3095 h 3097"/>
                        <a:gd name="T94" fmla="*/ 4988 w 8606"/>
                        <a:gd name="T95" fmla="*/ 3091 h 3097"/>
                        <a:gd name="T96" fmla="*/ 5222 w 8606"/>
                        <a:gd name="T97" fmla="*/ 3086 h 3097"/>
                        <a:gd name="T98" fmla="*/ 5491 w 8606"/>
                        <a:gd name="T99" fmla="*/ 3078 h 3097"/>
                        <a:gd name="T100" fmla="*/ 5746 w 8606"/>
                        <a:gd name="T101" fmla="*/ 3069 h 3097"/>
                        <a:gd name="T102" fmla="*/ 6003 w 8606"/>
                        <a:gd name="T103" fmla="*/ 3057 h 3097"/>
                        <a:gd name="T104" fmla="*/ 6226 w 8606"/>
                        <a:gd name="T105" fmla="*/ 3044 h 3097"/>
                        <a:gd name="T106" fmla="*/ 6397 w 8606"/>
                        <a:gd name="T107" fmla="*/ 3033 h 3097"/>
                        <a:gd name="T108" fmla="*/ 6587 w 8606"/>
                        <a:gd name="T109" fmla="*/ 3017 h 3097"/>
                        <a:gd name="T110" fmla="*/ 6756 w 8606"/>
                        <a:gd name="T111" fmla="*/ 3000 h 3097"/>
                        <a:gd name="T112" fmla="*/ 6914 w 8606"/>
                        <a:gd name="T113" fmla="*/ 2980 h 3097"/>
                        <a:gd name="T114" fmla="*/ 7036 w 8606"/>
                        <a:gd name="T115" fmla="*/ 2961 h 3097"/>
                        <a:gd name="T116" fmla="*/ 7128 w 8606"/>
                        <a:gd name="T117" fmla="*/ 2942 h 3097"/>
                        <a:gd name="T118" fmla="*/ 7203 w 8606"/>
                        <a:gd name="T119" fmla="*/ 2919 h 3097"/>
                        <a:gd name="T120" fmla="*/ 7246 w 8606"/>
                        <a:gd name="T121" fmla="*/ 2897 h 3097"/>
                        <a:gd name="T122" fmla="*/ 8378 w 8606"/>
                        <a:gd name="T123" fmla="*/ 758 h 309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  <a:cxn ang="0">
                          <a:pos x="T84" y="T85"/>
                        </a:cxn>
                        <a:cxn ang="0">
                          <a:pos x="T86" y="T87"/>
                        </a:cxn>
                        <a:cxn ang="0">
                          <a:pos x="T88" y="T89"/>
                        </a:cxn>
                        <a:cxn ang="0">
                          <a:pos x="T90" y="T91"/>
                        </a:cxn>
                        <a:cxn ang="0">
                          <a:pos x="T92" y="T93"/>
                        </a:cxn>
                        <a:cxn ang="0">
                          <a:pos x="T94" y="T95"/>
                        </a:cxn>
                        <a:cxn ang="0">
                          <a:pos x="T96" y="T97"/>
                        </a:cxn>
                        <a:cxn ang="0">
                          <a:pos x="T98" y="T99"/>
                        </a:cxn>
                        <a:cxn ang="0">
                          <a:pos x="T100" y="T101"/>
                        </a:cxn>
                        <a:cxn ang="0">
                          <a:pos x="T102" y="T103"/>
                        </a:cxn>
                        <a:cxn ang="0">
                          <a:pos x="T104" y="T105"/>
                        </a:cxn>
                        <a:cxn ang="0">
                          <a:pos x="T106" y="T107"/>
                        </a:cxn>
                        <a:cxn ang="0">
                          <a:pos x="T108" y="T109"/>
                        </a:cxn>
                        <a:cxn ang="0">
                          <a:pos x="T110" y="T111"/>
                        </a:cxn>
                        <a:cxn ang="0">
                          <a:pos x="T112" y="T113"/>
                        </a:cxn>
                        <a:cxn ang="0">
                          <a:pos x="T114" y="T115"/>
                        </a:cxn>
                        <a:cxn ang="0">
                          <a:pos x="T116" y="T117"/>
                        </a:cxn>
                        <a:cxn ang="0">
                          <a:pos x="T118" y="T119"/>
                        </a:cxn>
                        <a:cxn ang="0">
                          <a:pos x="T120" y="T121"/>
                        </a:cxn>
                        <a:cxn ang="0">
                          <a:pos x="T122" y="T123"/>
                        </a:cxn>
                      </a:cxnLst>
                      <a:rect l="0" t="0" r="r" b="b"/>
                      <a:pathLst>
                        <a:path w="8606" h="3097">
                          <a:moveTo>
                            <a:pt x="8606" y="315"/>
                          </a:moveTo>
                          <a:lnTo>
                            <a:pt x="8606" y="313"/>
                          </a:lnTo>
                          <a:lnTo>
                            <a:pt x="8605" y="312"/>
                          </a:lnTo>
                          <a:lnTo>
                            <a:pt x="8604" y="309"/>
                          </a:lnTo>
                          <a:lnTo>
                            <a:pt x="8603" y="305"/>
                          </a:lnTo>
                          <a:lnTo>
                            <a:pt x="8602" y="304"/>
                          </a:lnTo>
                          <a:lnTo>
                            <a:pt x="8601" y="302"/>
                          </a:lnTo>
                          <a:lnTo>
                            <a:pt x="8598" y="299"/>
                          </a:lnTo>
                          <a:lnTo>
                            <a:pt x="8594" y="296"/>
                          </a:lnTo>
                          <a:lnTo>
                            <a:pt x="8593" y="295"/>
                          </a:lnTo>
                          <a:lnTo>
                            <a:pt x="8592" y="293"/>
                          </a:lnTo>
                          <a:lnTo>
                            <a:pt x="8586" y="288"/>
                          </a:lnTo>
                          <a:lnTo>
                            <a:pt x="8580" y="283"/>
                          </a:lnTo>
                          <a:lnTo>
                            <a:pt x="8579" y="283"/>
                          </a:lnTo>
                          <a:lnTo>
                            <a:pt x="8578" y="282"/>
                          </a:lnTo>
                          <a:lnTo>
                            <a:pt x="8572" y="278"/>
                          </a:lnTo>
                          <a:lnTo>
                            <a:pt x="8565" y="274"/>
                          </a:lnTo>
                          <a:lnTo>
                            <a:pt x="8561" y="273"/>
                          </a:lnTo>
                          <a:lnTo>
                            <a:pt x="8558" y="271"/>
                          </a:lnTo>
                          <a:lnTo>
                            <a:pt x="8552" y="268"/>
                          </a:lnTo>
                          <a:lnTo>
                            <a:pt x="8546" y="265"/>
                          </a:lnTo>
                          <a:lnTo>
                            <a:pt x="8542" y="264"/>
                          </a:lnTo>
                          <a:lnTo>
                            <a:pt x="8538" y="262"/>
                          </a:lnTo>
                          <a:lnTo>
                            <a:pt x="8531" y="259"/>
                          </a:lnTo>
                          <a:lnTo>
                            <a:pt x="8522" y="255"/>
                          </a:lnTo>
                          <a:lnTo>
                            <a:pt x="8518" y="254"/>
                          </a:lnTo>
                          <a:lnTo>
                            <a:pt x="8514" y="253"/>
                          </a:lnTo>
                          <a:lnTo>
                            <a:pt x="8502" y="248"/>
                          </a:lnTo>
                          <a:lnTo>
                            <a:pt x="8488" y="244"/>
                          </a:lnTo>
                          <a:lnTo>
                            <a:pt x="8485" y="243"/>
                          </a:lnTo>
                          <a:lnTo>
                            <a:pt x="8482" y="242"/>
                          </a:lnTo>
                          <a:lnTo>
                            <a:pt x="8470" y="239"/>
                          </a:lnTo>
                          <a:lnTo>
                            <a:pt x="8457" y="236"/>
                          </a:lnTo>
                          <a:lnTo>
                            <a:pt x="8452" y="234"/>
                          </a:lnTo>
                          <a:lnTo>
                            <a:pt x="8446" y="233"/>
                          </a:lnTo>
                          <a:lnTo>
                            <a:pt x="8435" y="230"/>
                          </a:lnTo>
                          <a:lnTo>
                            <a:pt x="8423" y="227"/>
                          </a:lnTo>
                          <a:lnTo>
                            <a:pt x="8417" y="225"/>
                          </a:lnTo>
                          <a:lnTo>
                            <a:pt x="8411" y="224"/>
                          </a:lnTo>
                          <a:lnTo>
                            <a:pt x="8398" y="220"/>
                          </a:lnTo>
                          <a:lnTo>
                            <a:pt x="8384" y="217"/>
                          </a:lnTo>
                          <a:lnTo>
                            <a:pt x="8379" y="216"/>
                          </a:lnTo>
                          <a:lnTo>
                            <a:pt x="8373" y="215"/>
                          </a:lnTo>
                          <a:lnTo>
                            <a:pt x="8364" y="213"/>
                          </a:lnTo>
                          <a:lnTo>
                            <a:pt x="8353" y="211"/>
                          </a:lnTo>
                          <a:lnTo>
                            <a:pt x="8343" y="209"/>
                          </a:lnTo>
                          <a:lnTo>
                            <a:pt x="8333" y="207"/>
                          </a:lnTo>
                          <a:lnTo>
                            <a:pt x="8328" y="206"/>
                          </a:lnTo>
                          <a:lnTo>
                            <a:pt x="8322" y="205"/>
                          </a:lnTo>
                          <a:lnTo>
                            <a:pt x="8314" y="203"/>
                          </a:lnTo>
                          <a:lnTo>
                            <a:pt x="8306" y="202"/>
                          </a:lnTo>
                          <a:lnTo>
                            <a:pt x="8298" y="200"/>
                          </a:lnTo>
                          <a:lnTo>
                            <a:pt x="8288" y="199"/>
                          </a:lnTo>
                          <a:lnTo>
                            <a:pt x="8280" y="197"/>
                          </a:lnTo>
                          <a:lnTo>
                            <a:pt x="8272" y="196"/>
                          </a:lnTo>
                          <a:lnTo>
                            <a:pt x="8265" y="194"/>
                          </a:lnTo>
                          <a:lnTo>
                            <a:pt x="8256" y="193"/>
                          </a:lnTo>
                          <a:lnTo>
                            <a:pt x="8248" y="192"/>
                          </a:lnTo>
                          <a:lnTo>
                            <a:pt x="8241" y="190"/>
                          </a:lnTo>
                          <a:lnTo>
                            <a:pt x="8232" y="189"/>
                          </a:lnTo>
                          <a:lnTo>
                            <a:pt x="8223" y="188"/>
                          </a:lnTo>
                          <a:lnTo>
                            <a:pt x="8214" y="185"/>
                          </a:lnTo>
                          <a:lnTo>
                            <a:pt x="8205" y="184"/>
                          </a:lnTo>
                          <a:lnTo>
                            <a:pt x="8195" y="182"/>
                          </a:lnTo>
                          <a:lnTo>
                            <a:pt x="8185" y="181"/>
                          </a:lnTo>
                          <a:lnTo>
                            <a:pt x="8179" y="180"/>
                          </a:lnTo>
                          <a:lnTo>
                            <a:pt x="8172" y="179"/>
                          </a:lnTo>
                          <a:lnTo>
                            <a:pt x="8158" y="177"/>
                          </a:lnTo>
                          <a:lnTo>
                            <a:pt x="8146" y="175"/>
                          </a:lnTo>
                          <a:lnTo>
                            <a:pt x="8133" y="173"/>
                          </a:lnTo>
                          <a:lnTo>
                            <a:pt x="8118" y="171"/>
                          </a:lnTo>
                          <a:lnTo>
                            <a:pt x="8117" y="171"/>
                          </a:lnTo>
                          <a:lnTo>
                            <a:pt x="8115" y="171"/>
                          </a:lnTo>
                          <a:lnTo>
                            <a:pt x="8105" y="169"/>
                          </a:lnTo>
                          <a:lnTo>
                            <a:pt x="8095" y="168"/>
                          </a:lnTo>
                          <a:lnTo>
                            <a:pt x="8082" y="166"/>
                          </a:lnTo>
                          <a:lnTo>
                            <a:pt x="8069" y="165"/>
                          </a:lnTo>
                          <a:lnTo>
                            <a:pt x="8055" y="163"/>
                          </a:lnTo>
                          <a:lnTo>
                            <a:pt x="8042" y="161"/>
                          </a:lnTo>
                          <a:lnTo>
                            <a:pt x="8030" y="160"/>
                          </a:lnTo>
                          <a:lnTo>
                            <a:pt x="8016" y="158"/>
                          </a:lnTo>
                          <a:lnTo>
                            <a:pt x="8003" y="156"/>
                          </a:lnTo>
                          <a:lnTo>
                            <a:pt x="7988" y="155"/>
                          </a:lnTo>
                          <a:lnTo>
                            <a:pt x="7975" y="152"/>
                          </a:lnTo>
                          <a:lnTo>
                            <a:pt x="7962" y="150"/>
                          </a:lnTo>
                          <a:lnTo>
                            <a:pt x="7947" y="149"/>
                          </a:lnTo>
                          <a:lnTo>
                            <a:pt x="7932" y="147"/>
                          </a:lnTo>
                          <a:lnTo>
                            <a:pt x="7918" y="145"/>
                          </a:lnTo>
                          <a:lnTo>
                            <a:pt x="7906" y="144"/>
                          </a:lnTo>
                          <a:lnTo>
                            <a:pt x="7901" y="143"/>
                          </a:lnTo>
                          <a:lnTo>
                            <a:pt x="7896" y="143"/>
                          </a:lnTo>
                          <a:lnTo>
                            <a:pt x="7890" y="142"/>
                          </a:lnTo>
                          <a:lnTo>
                            <a:pt x="7884" y="142"/>
                          </a:lnTo>
                          <a:lnTo>
                            <a:pt x="7866" y="140"/>
                          </a:lnTo>
                          <a:lnTo>
                            <a:pt x="7846" y="138"/>
                          </a:lnTo>
                          <a:lnTo>
                            <a:pt x="7827" y="136"/>
                          </a:lnTo>
                          <a:lnTo>
                            <a:pt x="7807" y="134"/>
                          </a:lnTo>
                          <a:lnTo>
                            <a:pt x="7803" y="133"/>
                          </a:lnTo>
                          <a:lnTo>
                            <a:pt x="7798" y="133"/>
                          </a:lnTo>
                          <a:lnTo>
                            <a:pt x="7777" y="131"/>
                          </a:lnTo>
                          <a:lnTo>
                            <a:pt x="7754" y="128"/>
                          </a:lnTo>
                          <a:lnTo>
                            <a:pt x="7733" y="126"/>
                          </a:lnTo>
                          <a:lnTo>
                            <a:pt x="7710" y="124"/>
                          </a:lnTo>
                          <a:lnTo>
                            <a:pt x="7705" y="124"/>
                          </a:lnTo>
                          <a:lnTo>
                            <a:pt x="7700" y="123"/>
                          </a:lnTo>
                          <a:lnTo>
                            <a:pt x="7694" y="123"/>
                          </a:lnTo>
                          <a:lnTo>
                            <a:pt x="7688" y="122"/>
                          </a:lnTo>
                          <a:lnTo>
                            <a:pt x="7671" y="121"/>
                          </a:lnTo>
                          <a:lnTo>
                            <a:pt x="7653" y="118"/>
                          </a:lnTo>
                          <a:lnTo>
                            <a:pt x="7635" y="117"/>
                          </a:lnTo>
                          <a:lnTo>
                            <a:pt x="7617" y="115"/>
                          </a:lnTo>
                          <a:lnTo>
                            <a:pt x="7612" y="115"/>
                          </a:lnTo>
                          <a:lnTo>
                            <a:pt x="7607" y="114"/>
                          </a:lnTo>
                          <a:lnTo>
                            <a:pt x="7587" y="112"/>
                          </a:lnTo>
                          <a:lnTo>
                            <a:pt x="7567" y="111"/>
                          </a:lnTo>
                          <a:lnTo>
                            <a:pt x="7546" y="109"/>
                          </a:lnTo>
                          <a:lnTo>
                            <a:pt x="7525" y="107"/>
                          </a:lnTo>
                          <a:lnTo>
                            <a:pt x="7520" y="107"/>
                          </a:lnTo>
                          <a:lnTo>
                            <a:pt x="7515" y="106"/>
                          </a:lnTo>
                          <a:lnTo>
                            <a:pt x="7506" y="106"/>
                          </a:lnTo>
                          <a:lnTo>
                            <a:pt x="7497" y="105"/>
                          </a:lnTo>
                          <a:lnTo>
                            <a:pt x="7483" y="104"/>
                          </a:lnTo>
                          <a:lnTo>
                            <a:pt x="7471" y="103"/>
                          </a:lnTo>
                          <a:lnTo>
                            <a:pt x="7459" y="102"/>
                          </a:lnTo>
                          <a:lnTo>
                            <a:pt x="7446" y="101"/>
                          </a:lnTo>
                          <a:lnTo>
                            <a:pt x="7438" y="100"/>
                          </a:lnTo>
                          <a:lnTo>
                            <a:pt x="7430" y="100"/>
                          </a:lnTo>
                          <a:lnTo>
                            <a:pt x="7421" y="99"/>
                          </a:lnTo>
                          <a:lnTo>
                            <a:pt x="7413" y="98"/>
                          </a:lnTo>
                          <a:lnTo>
                            <a:pt x="7400" y="97"/>
                          </a:lnTo>
                          <a:lnTo>
                            <a:pt x="7386" y="96"/>
                          </a:lnTo>
                          <a:lnTo>
                            <a:pt x="7374" y="95"/>
                          </a:lnTo>
                          <a:lnTo>
                            <a:pt x="7361" y="95"/>
                          </a:lnTo>
                          <a:lnTo>
                            <a:pt x="7348" y="94"/>
                          </a:lnTo>
                          <a:lnTo>
                            <a:pt x="7337" y="93"/>
                          </a:lnTo>
                          <a:lnTo>
                            <a:pt x="7335" y="93"/>
                          </a:lnTo>
                          <a:lnTo>
                            <a:pt x="7333" y="93"/>
                          </a:lnTo>
                          <a:lnTo>
                            <a:pt x="7313" y="91"/>
                          </a:lnTo>
                          <a:lnTo>
                            <a:pt x="7293" y="90"/>
                          </a:lnTo>
                          <a:lnTo>
                            <a:pt x="7272" y="88"/>
                          </a:lnTo>
                          <a:lnTo>
                            <a:pt x="7251" y="87"/>
                          </a:lnTo>
                          <a:lnTo>
                            <a:pt x="7245" y="86"/>
                          </a:lnTo>
                          <a:lnTo>
                            <a:pt x="7239" y="86"/>
                          </a:lnTo>
                          <a:lnTo>
                            <a:pt x="7222" y="84"/>
                          </a:lnTo>
                          <a:lnTo>
                            <a:pt x="7204" y="83"/>
                          </a:lnTo>
                          <a:lnTo>
                            <a:pt x="7185" y="82"/>
                          </a:lnTo>
                          <a:lnTo>
                            <a:pt x="7168" y="80"/>
                          </a:lnTo>
                          <a:lnTo>
                            <a:pt x="7165" y="80"/>
                          </a:lnTo>
                          <a:lnTo>
                            <a:pt x="7161" y="80"/>
                          </a:lnTo>
                          <a:lnTo>
                            <a:pt x="7146" y="79"/>
                          </a:lnTo>
                          <a:lnTo>
                            <a:pt x="7132" y="78"/>
                          </a:lnTo>
                          <a:lnTo>
                            <a:pt x="7122" y="77"/>
                          </a:lnTo>
                          <a:lnTo>
                            <a:pt x="7110" y="77"/>
                          </a:lnTo>
                          <a:lnTo>
                            <a:pt x="7100" y="76"/>
                          </a:lnTo>
                          <a:lnTo>
                            <a:pt x="7089" y="75"/>
                          </a:lnTo>
                          <a:lnTo>
                            <a:pt x="7078" y="75"/>
                          </a:lnTo>
                          <a:lnTo>
                            <a:pt x="7068" y="74"/>
                          </a:lnTo>
                          <a:lnTo>
                            <a:pt x="7058" y="74"/>
                          </a:lnTo>
                          <a:lnTo>
                            <a:pt x="7047" y="73"/>
                          </a:lnTo>
                          <a:lnTo>
                            <a:pt x="7037" y="72"/>
                          </a:lnTo>
                          <a:lnTo>
                            <a:pt x="7027" y="72"/>
                          </a:lnTo>
                          <a:lnTo>
                            <a:pt x="7016" y="71"/>
                          </a:lnTo>
                          <a:lnTo>
                            <a:pt x="7007" y="71"/>
                          </a:lnTo>
                          <a:lnTo>
                            <a:pt x="7000" y="70"/>
                          </a:lnTo>
                          <a:lnTo>
                            <a:pt x="6993" y="70"/>
                          </a:lnTo>
                          <a:lnTo>
                            <a:pt x="6978" y="69"/>
                          </a:lnTo>
                          <a:lnTo>
                            <a:pt x="6965" y="68"/>
                          </a:lnTo>
                          <a:lnTo>
                            <a:pt x="6954" y="68"/>
                          </a:lnTo>
                          <a:lnTo>
                            <a:pt x="6943" y="67"/>
                          </a:lnTo>
                          <a:lnTo>
                            <a:pt x="6933" y="66"/>
                          </a:lnTo>
                          <a:lnTo>
                            <a:pt x="6922" y="66"/>
                          </a:lnTo>
                          <a:lnTo>
                            <a:pt x="6912" y="65"/>
                          </a:lnTo>
                          <a:lnTo>
                            <a:pt x="6903" y="65"/>
                          </a:lnTo>
                          <a:lnTo>
                            <a:pt x="6893" y="64"/>
                          </a:lnTo>
                          <a:lnTo>
                            <a:pt x="6883" y="64"/>
                          </a:lnTo>
                          <a:lnTo>
                            <a:pt x="6872" y="63"/>
                          </a:lnTo>
                          <a:lnTo>
                            <a:pt x="6862" y="62"/>
                          </a:lnTo>
                          <a:lnTo>
                            <a:pt x="6850" y="62"/>
                          </a:lnTo>
                          <a:lnTo>
                            <a:pt x="6840" y="61"/>
                          </a:lnTo>
                          <a:lnTo>
                            <a:pt x="6831" y="61"/>
                          </a:lnTo>
                          <a:lnTo>
                            <a:pt x="6823" y="60"/>
                          </a:lnTo>
                          <a:lnTo>
                            <a:pt x="6816" y="60"/>
                          </a:lnTo>
                          <a:lnTo>
                            <a:pt x="6810" y="60"/>
                          </a:lnTo>
                          <a:lnTo>
                            <a:pt x="6773" y="58"/>
                          </a:lnTo>
                          <a:lnTo>
                            <a:pt x="6736" y="56"/>
                          </a:lnTo>
                          <a:lnTo>
                            <a:pt x="6698" y="54"/>
                          </a:lnTo>
                          <a:lnTo>
                            <a:pt x="6661" y="52"/>
                          </a:lnTo>
                          <a:lnTo>
                            <a:pt x="6657" y="52"/>
                          </a:lnTo>
                          <a:lnTo>
                            <a:pt x="6653" y="52"/>
                          </a:lnTo>
                          <a:lnTo>
                            <a:pt x="6647" y="52"/>
                          </a:lnTo>
                          <a:lnTo>
                            <a:pt x="6643" y="52"/>
                          </a:lnTo>
                          <a:lnTo>
                            <a:pt x="6605" y="49"/>
                          </a:lnTo>
                          <a:lnTo>
                            <a:pt x="6568" y="47"/>
                          </a:lnTo>
                          <a:lnTo>
                            <a:pt x="6530" y="45"/>
                          </a:lnTo>
                          <a:lnTo>
                            <a:pt x="6492" y="44"/>
                          </a:lnTo>
                          <a:lnTo>
                            <a:pt x="6489" y="44"/>
                          </a:lnTo>
                          <a:lnTo>
                            <a:pt x="6487" y="44"/>
                          </a:lnTo>
                          <a:lnTo>
                            <a:pt x="6481" y="43"/>
                          </a:lnTo>
                          <a:lnTo>
                            <a:pt x="6477" y="43"/>
                          </a:lnTo>
                          <a:lnTo>
                            <a:pt x="6458" y="42"/>
                          </a:lnTo>
                          <a:lnTo>
                            <a:pt x="6438" y="42"/>
                          </a:lnTo>
                          <a:lnTo>
                            <a:pt x="6419" y="41"/>
                          </a:lnTo>
                          <a:lnTo>
                            <a:pt x="6399" y="40"/>
                          </a:lnTo>
                          <a:lnTo>
                            <a:pt x="6379" y="39"/>
                          </a:lnTo>
                          <a:lnTo>
                            <a:pt x="6359" y="38"/>
                          </a:lnTo>
                          <a:lnTo>
                            <a:pt x="6339" y="38"/>
                          </a:lnTo>
                          <a:lnTo>
                            <a:pt x="6320" y="37"/>
                          </a:lnTo>
                          <a:lnTo>
                            <a:pt x="6319" y="37"/>
                          </a:lnTo>
                          <a:lnTo>
                            <a:pt x="6318" y="37"/>
                          </a:lnTo>
                          <a:lnTo>
                            <a:pt x="6314" y="37"/>
                          </a:lnTo>
                          <a:lnTo>
                            <a:pt x="6311" y="37"/>
                          </a:lnTo>
                          <a:lnTo>
                            <a:pt x="6273" y="35"/>
                          </a:lnTo>
                          <a:lnTo>
                            <a:pt x="6236" y="34"/>
                          </a:lnTo>
                          <a:lnTo>
                            <a:pt x="6198" y="32"/>
                          </a:lnTo>
                          <a:lnTo>
                            <a:pt x="6160" y="31"/>
                          </a:lnTo>
                          <a:lnTo>
                            <a:pt x="6156" y="31"/>
                          </a:lnTo>
                          <a:lnTo>
                            <a:pt x="6152" y="31"/>
                          </a:lnTo>
                          <a:lnTo>
                            <a:pt x="6150" y="31"/>
                          </a:lnTo>
                          <a:lnTo>
                            <a:pt x="6148" y="31"/>
                          </a:lnTo>
                          <a:lnTo>
                            <a:pt x="6111" y="29"/>
                          </a:lnTo>
                          <a:lnTo>
                            <a:pt x="6074" y="28"/>
                          </a:lnTo>
                          <a:lnTo>
                            <a:pt x="6036" y="27"/>
                          </a:lnTo>
                          <a:lnTo>
                            <a:pt x="5999" y="26"/>
                          </a:lnTo>
                          <a:lnTo>
                            <a:pt x="5993" y="26"/>
                          </a:lnTo>
                          <a:lnTo>
                            <a:pt x="5987" y="25"/>
                          </a:lnTo>
                          <a:lnTo>
                            <a:pt x="5982" y="25"/>
                          </a:lnTo>
                          <a:lnTo>
                            <a:pt x="5976" y="25"/>
                          </a:lnTo>
                          <a:lnTo>
                            <a:pt x="5941" y="24"/>
                          </a:lnTo>
                          <a:lnTo>
                            <a:pt x="5907" y="23"/>
                          </a:lnTo>
                          <a:lnTo>
                            <a:pt x="5871" y="22"/>
                          </a:lnTo>
                          <a:lnTo>
                            <a:pt x="5836" y="21"/>
                          </a:lnTo>
                          <a:lnTo>
                            <a:pt x="5832" y="21"/>
                          </a:lnTo>
                          <a:lnTo>
                            <a:pt x="5827" y="21"/>
                          </a:lnTo>
                          <a:lnTo>
                            <a:pt x="5818" y="20"/>
                          </a:lnTo>
                          <a:lnTo>
                            <a:pt x="5808" y="20"/>
                          </a:lnTo>
                          <a:lnTo>
                            <a:pt x="5779" y="19"/>
                          </a:lnTo>
                          <a:lnTo>
                            <a:pt x="5749" y="19"/>
                          </a:lnTo>
                          <a:lnTo>
                            <a:pt x="5719" y="18"/>
                          </a:lnTo>
                          <a:lnTo>
                            <a:pt x="5688" y="17"/>
                          </a:lnTo>
                          <a:lnTo>
                            <a:pt x="5682" y="17"/>
                          </a:lnTo>
                          <a:lnTo>
                            <a:pt x="5675" y="17"/>
                          </a:lnTo>
                          <a:lnTo>
                            <a:pt x="5672" y="17"/>
                          </a:lnTo>
                          <a:lnTo>
                            <a:pt x="5669" y="17"/>
                          </a:lnTo>
                          <a:lnTo>
                            <a:pt x="5637" y="15"/>
                          </a:lnTo>
                          <a:lnTo>
                            <a:pt x="5604" y="14"/>
                          </a:lnTo>
                          <a:lnTo>
                            <a:pt x="5572" y="13"/>
                          </a:lnTo>
                          <a:lnTo>
                            <a:pt x="5540" y="13"/>
                          </a:lnTo>
                          <a:lnTo>
                            <a:pt x="5537" y="13"/>
                          </a:lnTo>
                          <a:lnTo>
                            <a:pt x="5535" y="13"/>
                          </a:lnTo>
                          <a:lnTo>
                            <a:pt x="5528" y="12"/>
                          </a:lnTo>
                          <a:lnTo>
                            <a:pt x="5521" y="12"/>
                          </a:lnTo>
                          <a:lnTo>
                            <a:pt x="5495" y="12"/>
                          </a:lnTo>
                          <a:lnTo>
                            <a:pt x="5469" y="11"/>
                          </a:lnTo>
                          <a:lnTo>
                            <a:pt x="5444" y="11"/>
                          </a:lnTo>
                          <a:lnTo>
                            <a:pt x="5418" y="10"/>
                          </a:lnTo>
                          <a:lnTo>
                            <a:pt x="5407" y="10"/>
                          </a:lnTo>
                          <a:lnTo>
                            <a:pt x="5397" y="10"/>
                          </a:lnTo>
                          <a:lnTo>
                            <a:pt x="5385" y="10"/>
                          </a:lnTo>
                          <a:lnTo>
                            <a:pt x="5372" y="9"/>
                          </a:lnTo>
                          <a:lnTo>
                            <a:pt x="5359" y="9"/>
                          </a:lnTo>
                          <a:lnTo>
                            <a:pt x="5345" y="9"/>
                          </a:lnTo>
                          <a:lnTo>
                            <a:pt x="5331" y="9"/>
                          </a:lnTo>
                          <a:lnTo>
                            <a:pt x="5317" y="8"/>
                          </a:lnTo>
                          <a:lnTo>
                            <a:pt x="5301" y="8"/>
                          </a:lnTo>
                          <a:lnTo>
                            <a:pt x="5287" y="8"/>
                          </a:lnTo>
                          <a:lnTo>
                            <a:pt x="5276" y="8"/>
                          </a:lnTo>
                          <a:lnTo>
                            <a:pt x="5265" y="8"/>
                          </a:lnTo>
                          <a:lnTo>
                            <a:pt x="5251" y="7"/>
                          </a:lnTo>
                          <a:lnTo>
                            <a:pt x="5236" y="7"/>
                          </a:lnTo>
                          <a:lnTo>
                            <a:pt x="5223" y="7"/>
                          </a:lnTo>
                          <a:lnTo>
                            <a:pt x="5209" y="7"/>
                          </a:lnTo>
                          <a:lnTo>
                            <a:pt x="5200" y="7"/>
                          </a:lnTo>
                          <a:lnTo>
                            <a:pt x="5192" y="6"/>
                          </a:lnTo>
                          <a:lnTo>
                            <a:pt x="5183" y="6"/>
                          </a:lnTo>
                          <a:lnTo>
                            <a:pt x="5174" y="6"/>
                          </a:lnTo>
                          <a:lnTo>
                            <a:pt x="5165" y="6"/>
                          </a:lnTo>
                          <a:lnTo>
                            <a:pt x="5156" y="6"/>
                          </a:lnTo>
                          <a:lnTo>
                            <a:pt x="5143" y="6"/>
                          </a:lnTo>
                          <a:lnTo>
                            <a:pt x="5128" y="5"/>
                          </a:lnTo>
                          <a:lnTo>
                            <a:pt x="5115" y="5"/>
                          </a:lnTo>
                          <a:lnTo>
                            <a:pt x="5100" y="5"/>
                          </a:lnTo>
                          <a:lnTo>
                            <a:pt x="5092" y="5"/>
                          </a:lnTo>
                          <a:lnTo>
                            <a:pt x="5083" y="5"/>
                          </a:lnTo>
                          <a:lnTo>
                            <a:pt x="5075" y="5"/>
                          </a:lnTo>
                          <a:lnTo>
                            <a:pt x="5065" y="5"/>
                          </a:lnTo>
                          <a:lnTo>
                            <a:pt x="5056" y="4"/>
                          </a:lnTo>
                          <a:lnTo>
                            <a:pt x="5047" y="4"/>
                          </a:lnTo>
                          <a:lnTo>
                            <a:pt x="5038" y="4"/>
                          </a:lnTo>
                          <a:lnTo>
                            <a:pt x="5029" y="4"/>
                          </a:lnTo>
                          <a:lnTo>
                            <a:pt x="5021" y="4"/>
                          </a:lnTo>
                          <a:lnTo>
                            <a:pt x="5013" y="4"/>
                          </a:lnTo>
                          <a:lnTo>
                            <a:pt x="5004" y="4"/>
                          </a:lnTo>
                          <a:lnTo>
                            <a:pt x="4997" y="4"/>
                          </a:lnTo>
                          <a:lnTo>
                            <a:pt x="4989" y="4"/>
                          </a:lnTo>
                          <a:lnTo>
                            <a:pt x="4981" y="4"/>
                          </a:lnTo>
                          <a:lnTo>
                            <a:pt x="4972" y="3"/>
                          </a:lnTo>
                          <a:lnTo>
                            <a:pt x="4964" y="3"/>
                          </a:lnTo>
                          <a:lnTo>
                            <a:pt x="4956" y="3"/>
                          </a:lnTo>
                          <a:lnTo>
                            <a:pt x="4948" y="3"/>
                          </a:lnTo>
                          <a:lnTo>
                            <a:pt x="4938" y="3"/>
                          </a:lnTo>
                          <a:lnTo>
                            <a:pt x="4929" y="3"/>
                          </a:lnTo>
                          <a:lnTo>
                            <a:pt x="4920" y="3"/>
                          </a:lnTo>
                          <a:lnTo>
                            <a:pt x="4911" y="3"/>
                          </a:lnTo>
                          <a:lnTo>
                            <a:pt x="4903" y="3"/>
                          </a:lnTo>
                          <a:lnTo>
                            <a:pt x="4896" y="3"/>
                          </a:lnTo>
                          <a:lnTo>
                            <a:pt x="4877" y="3"/>
                          </a:lnTo>
                          <a:lnTo>
                            <a:pt x="4858" y="2"/>
                          </a:lnTo>
                          <a:lnTo>
                            <a:pt x="4839" y="2"/>
                          </a:lnTo>
                          <a:lnTo>
                            <a:pt x="4820" y="2"/>
                          </a:lnTo>
                          <a:lnTo>
                            <a:pt x="4819" y="2"/>
                          </a:lnTo>
                          <a:lnTo>
                            <a:pt x="4818" y="2"/>
                          </a:lnTo>
                          <a:lnTo>
                            <a:pt x="4814" y="2"/>
                          </a:lnTo>
                          <a:lnTo>
                            <a:pt x="4811" y="2"/>
                          </a:lnTo>
                          <a:lnTo>
                            <a:pt x="4789" y="2"/>
                          </a:lnTo>
                          <a:lnTo>
                            <a:pt x="4768" y="2"/>
                          </a:lnTo>
                          <a:lnTo>
                            <a:pt x="4747" y="1"/>
                          </a:lnTo>
                          <a:lnTo>
                            <a:pt x="4726" y="1"/>
                          </a:lnTo>
                          <a:lnTo>
                            <a:pt x="4718" y="1"/>
                          </a:lnTo>
                          <a:lnTo>
                            <a:pt x="4710" y="1"/>
                          </a:lnTo>
                          <a:lnTo>
                            <a:pt x="4709" y="1"/>
                          </a:lnTo>
                          <a:lnTo>
                            <a:pt x="4708" y="1"/>
                          </a:lnTo>
                          <a:lnTo>
                            <a:pt x="4695" y="1"/>
                          </a:lnTo>
                          <a:lnTo>
                            <a:pt x="4683" y="1"/>
                          </a:lnTo>
                          <a:lnTo>
                            <a:pt x="4669" y="1"/>
                          </a:lnTo>
                          <a:lnTo>
                            <a:pt x="4657" y="1"/>
                          </a:lnTo>
                          <a:lnTo>
                            <a:pt x="4641" y="1"/>
                          </a:lnTo>
                          <a:lnTo>
                            <a:pt x="4623" y="1"/>
                          </a:lnTo>
                          <a:lnTo>
                            <a:pt x="4606" y="1"/>
                          </a:lnTo>
                          <a:lnTo>
                            <a:pt x="4589" y="0"/>
                          </a:lnTo>
                          <a:lnTo>
                            <a:pt x="4572" y="0"/>
                          </a:lnTo>
                          <a:lnTo>
                            <a:pt x="4554" y="0"/>
                          </a:lnTo>
                          <a:lnTo>
                            <a:pt x="4536" y="0"/>
                          </a:lnTo>
                          <a:lnTo>
                            <a:pt x="4520" y="0"/>
                          </a:lnTo>
                          <a:lnTo>
                            <a:pt x="4507" y="0"/>
                          </a:lnTo>
                          <a:lnTo>
                            <a:pt x="4494" y="0"/>
                          </a:lnTo>
                          <a:lnTo>
                            <a:pt x="4490" y="0"/>
                          </a:lnTo>
                          <a:lnTo>
                            <a:pt x="4485" y="0"/>
                          </a:lnTo>
                          <a:lnTo>
                            <a:pt x="4476" y="0"/>
                          </a:lnTo>
                          <a:lnTo>
                            <a:pt x="4467" y="0"/>
                          </a:lnTo>
                          <a:lnTo>
                            <a:pt x="4459" y="0"/>
                          </a:lnTo>
                          <a:lnTo>
                            <a:pt x="4450" y="0"/>
                          </a:lnTo>
                          <a:lnTo>
                            <a:pt x="4432" y="0"/>
                          </a:lnTo>
                          <a:lnTo>
                            <a:pt x="4416" y="0"/>
                          </a:lnTo>
                          <a:lnTo>
                            <a:pt x="4398" y="0"/>
                          </a:lnTo>
                          <a:lnTo>
                            <a:pt x="4381" y="0"/>
                          </a:lnTo>
                          <a:lnTo>
                            <a:pt x="4380" y="0"/>
                          </a:lnTo>
                          <a:lnTo>
                            <a:pt x="4378" y="0"/>
                          </a:lnTo>
                          <a:lnTo>
                            <a:pt x="4362" y="0"/>
                          </a:lnTo>
                          <a:lnTo>
                            <a:pt x="4347" y="0"/>
                          </a:lnTo>
                          <a:lnTo>
                            <a:pt x="4331" y="0"/>
                          </a:lnTo>
                          <a:lnTo>
                            <a:pt x="4316" y="0"/>
                          </a:lnTo>
                          <a:lnTo>
                            <a:pt x="4299" y="0"/>
                          </a:lnTo>
                          <a:lnTo>
                            <a:pt x="4283" y="0"/>
                          </a:lnTo>
                          <a:lnTo>
                            <a:pt x="4266" y="0"/>
                          </a:lnTo>
                          <a:lnTo>
                            <a:pt x="4251" y="0"/>
                          </a:lnTo>
                          <a:lnTo>
                            <a:pt x="4234" y="0"/>
                          </a:lnTo>
                          <a:lnTo>
                            <a:pt x="4218" y="0"/>
                          </a:lnTo>
                          <a:lnTo>
                            <a:pt x="4203" y="0"/>
                          </a:lnTo>
                          <a:lnTo>
                            <a:pt x="4186" y="0"/>
                          </a:lnTo>
                          <a:lnTo>
                            <a:pt x="4170" y="0"/>
                          </a:lnTo>
                          <a:lnTo>
                            <a:pt x="4154" y="0"/>
                          </a:lnTo>
                          <a:lnTo>
                            <a:pt x="4138" y="0"/>
                          </a:lnTo>
                          <a:lnTo>
                            <a:pt x="4122" y="0"/>
                          </a:lnTo>
                          <a:lnTo>
                            <a:pt x="4106" y="0"/>
                          </a:lnTo>
                          <a:lnTo>
                            <a:pt x="4090" y="0"/>
                          </a:lnTo>
                          <a:lnTo>
                            <a:pt x="4074" y="0"/>
                          </a:lnTo>
                          <a:lnTo>
                            <a:pt x="4057" y="0"/>
                          </a:lnTo>
                          <a:lnTo>
                            <a:pt x="4053" y="0"/>
                          </a:lnTo>
                          <a:lnTo>
                            <a:pt x="4049" y="0"/>
                          </a:lnTo>
                          <a:lnTo>
                            <a:pt x="4045" y="0"/>
                          </a:lnTo>
                          <a:lnTo>
                            <a:pt x="4041" y="0"/>
                          </a:lnTo>
                          <a:lnTo>
                            <a:pt x="4027" y="0"/>
                          </a:lnTo>
                          <a:lnTo>
                            <a:pt x="4014" y="0"/>
                          </a:lnTo>
                          <a:lnTo>
                            <a:pt x="4000" y="1"/>
                          </a:lnTo>
                          <a:lnTo>
                            <a:pt x="3987" y="1"/>
                          </a:lnTo>
                          <a:lnTo>
                            <a:pt x="3977" y="1"/>
                          </a:lnTo>
                          <a:lnTo>
                            <a:pt x="3967" y="1"/>
                          </a:lnTo>
                          <a:lnTo>
                            <a:pt x="3958" y="1"/>
                          </a:lnTo>
                          <a:lnTo>
                            <a:pt x="3949" y="1"/>
                          </a:lnTo>
                          <a:lnTo>
                            <a:pt x="3940" y="1"/>
                          </a:lnTo>
                          <a:lnTo>
                            <a:pt x="3931" y="1"/>
                          </a:lnTo>
                          <a:lnTo>
                            <a:pt x="3920" y="1"/>
                          </a:lnTo>
                          <a:lnTo>
                            <a:pt x="3909" y="1"/>
                          </a:lnTo>
                          <a:lnTo>
                            <a:pt x="3890" y="1"/>
                          </a:lnTo>
                          <a:lnTo>
                            <a:pt x="3871" y="1"/>
                          </a:lnTo>
                          <a:lnTo>
                            <a:pt x="3851" y="1"/>
                          </a:lnTo>
                          <a:lnTo>
                            <a:pt x="3831" y="2"/>
                          </a:lnTo>
                          <a:lnTo>
                            <a:pt x="3831" y="2"/>
                          </a:lnTo>
                          <a:lnTo>
                            <a:pt x="3830" y="2"/>
                          </a:lnTo>
                          <a:lnTo>
                            <a:pt x="3828" y="2"/>
                          </a:lnTo>
                          <a:lnTo>
                            <a:pt x="3827" y="2"/>
                          </a:lnTo>
                          <a:lnTo>
                            <a:pt x="3809" y="2"/>
                          </a:lnTo>
                          <a:lnTo>
                            <a:pt x="3791" y="2"/>
                          </a:lnTo>
                          <a:lnTo>
                            <a:pt x="3773" y="2"/>
                          </a:lnTo>
                          <a:lnTo>
                            <a:pt x="3755" y="2"/>
                          </a:lnTo>
                          <a:lnTo>
                            <a:pt x="3742" y="2"/>
                          </a:lnTo>
                          <a:lnTo>
                            <a:pt x="3728" y="3"/>
                          </a:lnTo>
                          <a:lnTo>
                            <a:pt x="3720" y="3"/>
                          </a:lnTo>
                          <a:lnTo>
                            <a:pt x="3712" y="3"/>
                          </a:lnTo>
                          <a:lnTo>
                            <a:pt x="3704" y="3"/>
                          </a:lnTo>
                          <a:lnTo>
                            <a:pt x="3694" y="3"/>
                          </a:lnTo>
                          <a:lnTo>
                            <a:pt x="3686" y="3"/>
                          </a:lnTo>
                          <a:lnTo>
                            <a:pt x="3678" y="3"/>
                          </a:lnTo>
                          <a:lnTo>
                            <a:pt x="3668" y="3"/>
                          </a:lnTo>
                          <a:lnTo>
                            <a:pt x="3656" y="3"/>
                          </a:lnTo>
                          <a:lnTo>
                            <a:pt x="3627" y="4"/>
                          </a:lnTo>
                          <a:lnTo>
                            <a:pt x="3597" y="4"/>
                          </a:lnTo>
                          <a:lnTo>
                            <a:pt x="3568" y="4"/>
                          </a:lnTo>
                          <a:lnTo>
                            <a:pt x="3538" y="5"/>
                          </a:lnTo>
                          <a:lnTo>
                            <a:pt x="3527" y="5"/>
                          </a:lnTo>
                          <a:lnTo>
                            <a:pt x="3517" y="5"/>
                          </a:lnTo>
                          <a:lnTo>
                            <a:pt x="3514" y="5"/>
                          </a:lnTo>
                          <a:lnTo>
                            <a:pt x="3511" y="5"/>
                          </a:lnTo>
                          <a:lnTo>
                            <a:pt x="3477" y="5"/>
                          </a:lnTo>
                          <a:lnTo>
                            <a:pt x="3442" y="6"/>
                          </a:lnTo>
                          <a:lnTo>
                            <a:pt x="3408" y="6"/>
                          </a:lnTo>
                          <a:lnTo>
                            <a:pt x="3374" y="7"/>
                          </a:lnTo>
                          <a:lnTo>
                            <a:pt x="3367" y="7"/>
                          </a:lnTo>
                          <a:lnTo>
                            <a:pt x="3358" y="7"/>
                          </a:lnTo>
                          <a:lnTo>
                            <a:pt x="3344" y="7"/>
                          </a:lnTo>
                          <a:lnTo>
                            <a:pt x="3328" y="8"/>
                          </a:lnTo>
                          <a:lnTo>
                            <a:pt x="3314" y="8"/>
                          </a:lnTo>
                          <a:lnTo>
                            <a:pt x="3299" y="8"/>
                          </a:lnTo>
                          <a:lnTo>
                            <a:pt x="3292" y="8"/>
                          </a:lnTo>
                          <a:lnTo>
                            <a:pt x="3285" y="8"/>
                          </a:lnTo>
                          <a:lnTo>
                            <a:pt x="3253" y="9"/>
                          </a:lnTo>
                          <a:lnTo>
                            <a:pt x="3221" y="10"/>
                          </a:lnTo>
                          <a:lnTo>
                            <a:pt x="3189" y="10"/>
                          </a:lnTo>
                          <a:lnTo>
                            <a:pt x="3157" y="11"/>
                          </a:lnTo>
                          <a:lnTo>
                            <a:pt x="3149" y="11"/>
                          </a:lnTo>
                          <a:lnTo>
                            <a:pt x="3141" y="11"/>
                          </a:lnTo>
                          <a:lnTo>
                            <a:pt x="3133" y="11"/>
                          </a:lnTo>
                          <a:lnTo>
                            <a:pt x="3124" y="12"/>
                          </a:lnTo>
                          <a:lnTo>
                            <a:pt x="3090" y="12"/>
                          </a:lnTo>
                          <a:lnTo>
                            <a:pt x="3056" y="13"/>
                          </a:lnTo>
                          <a:lnTo>
                            <a:pt x="3022" y="14"/>
                          </a:lnTo>
                          <a:lnTo>
                            <a:pt x="2988" y="14"/>
                          </a:lnTo>
                          <a:lnTo>
                            <a:pt x="2985" y="15"/>
                          </a:lnTo>
                          <a:lnTo>
                            <a:pt x="2982" y="15"/>
                          </a:lnTo>
                          <a:lnTo>
                            <a:pt x="2971" y="15"/>
                          </a:lnTo>
                          <a:lnTo>
                            <a:pt x="2959" y="15"/>
                          </a:lnTo>
                          <a:lnTo>
                            <a:pt x="2947" y="15"/>
                          </a:lnTo>
                          <a:lnTo>
                            <a:pt x="2936" y="17"/>
                          </a:lnTo>
                          <a:lnTo>
                            <a:pt x="2923" y="17"/>
                          </a:lnTo>
                          <a:lnTo>
                            <a:pt x="2911" y="17"/>
                          </a:lnTo>
                          <a:lnTo>
                            <a:pt x="2900" y="18"/>
                          </a:lnTo>
                          <a:lnTo>
                            <a:pt x="2887" y="18"/>
                          </a:lnTo>
                          <a:lnTo>
                            <a:pt x="2882" y="18"/>
                          </a:lnTo>
                          <a:lnTo>
                            <a:pt x="2877" y="18"/>
                          </a:lnTo>
                          <a:lnTo>
                            <a:pt x="2866" y="18"/>
                          </a:lnTo>
                          <a:lnTo>
                            <a:pt x="2853" y="19"/>
                          </a:lnTo>
                          <a:lnTo>
                            <a:pt x="2842" y="19"/>
                          </a:lnTo>
                          <a:lnTo>
                            <a:pt x="2830" y="19"/>
                          </a:lnTo>
                          <a:lnTo>
                            <a:pt x="2819" y="20"/>
                          </a:lnTo>
                          <a:lnTo>
                            <a:pt x="2809" y="20"/>
                          </a:lnTo>
                          <a:lnTo>
                            <a:pt x="2799" y="20"/>
                          </a:lnTo>
                          <a:lnTo>
                            <a:pt x="2788" y="20"/>
                          </a:lnTo>
                          <a:lnTo>
                            <a:pt x="2781" y="21"/>
                          </a:lnTo>
                          <a:lnTo>
                            <a:pt x="2774" y="21"/>
                          </a:lnTo>
                          <a:lnTo>
                            <a:pt x="2763" y="21"/>
                          </a:lnTo>
                          <a:lnTo>
                            <a:pt x="2751" y="22"/>
                          </a:lnTo>
                          <a:lnTo>
                            <a:pt x="2740" y="22"/>
                          </a:lnTo>
                          <a:lnTo>
                            <a:pt x="2729" y="22"/>
                          </a:lnTo>
                          <a:lnTo>
                            <a:pt x="2717" y="22"/>
                          </a:lnTo>
                          <a:lnTo>
                            <a:pt x="2707" y="23"/>
                          </a:lnTo>
                          <a:lnTo>
                            <a:pt x="2697" y="23"/>
                          </a:lnTo>
                          <a:lnTo>
                            <a:pt x="2686" y="23"/>
                          </a:lnTo>
                          <a:lnTo>
                            <a:pt x="2682" y="23"/>
                          </a:lnTo>
                          <a:lnTo>
                            <a:pt x="2677" y="24"/>
                          </a:lnTo>
                          <a:lnTo>
                            <a:pt x="2658" y="24"/>
                          </a:lnTo>
                          <a:lnTo>
                            <a:pt x="2639" y="25"/>
                          </a:lnTo>
                          <a:lnTo>
                            <a:pt x="2619" y="25"/>
                          </a:lnTo>
                          <a:lnTo>
                            <a:pt x="2600" y="26"/>
                          </a:lnTo>
                          <a:lnTo>
                            <a:pt x="2581" y="27"/>
                          </a:lnTo>
                          <a:lnTo>
                            <a:pt x="2562" y="27"/>
                          </a:lnTo>
                          <a:lnTo>
                            <a:pt x="2543" y="28"/>
                          </a:lnTo>
                          <a:lnTo>
                            <a:pt x="2523" y="28"/>
                          </a:lnTo>
                          <a:lnTo>
                            <a:pt x="2517" y="29"/>
                          </a:lnTo>
                          <a:lnTo>
                            <a:pt x="2511" y="29"/>
                          </a:lnTo>
                          <a:lnTo>
                            <a:pt x="2502" y="29"/>
                          </a:lnTo>
                          <a:lnTo>
                            <a:pt x="2494" y="29"/>
                          </a:lnTo>
                          <a:lnTo>
                            <a:pt x="2482" y="30"/>
                          </a:lnTo>
                          <a:lnTo>
                            <a:pt x="2471" y="30"/>
                          </a:lnTo>
                          <a:lnTo>
                            <a:pt x="2460" y="31"/>
                          </a:lnTo>
                          <a:lnTo>
                            <a:pt x="2448" y="31"/>
                          </a:lnTo>
                          <a:lnTo>
                            <a:pt x="2448" y="31"/>
                          </a:lnTo>
                          <a:lnTo>
                            <a:pt x="2448" y="31"/>
                          </a:lnTo>
                          <a:lnTo>
                            <a:pt x="2448" y="31"/>
                          </a:lnTo>
                          <a:lnTo>
                            <a:pt x="2440" y="31"/>
                          </a:lnTo>
                          <a:lnTo>
                            <a:pt x="2431" y="32"/>
                          </a:lnTo>
                          <a:lnTo>
                            <a:pt x="2421" y="32"/>
                          </a:lnTo>
                          <a:lnTo>
                            <a:pt x="2411" y="32"/>
                          </a:lnTo>
                          <a:lnTo>
                            <a:pt x="2402" y="33"/>
                          </a:lnTo>
                          <a:lnTo>
                            <a:pt x="2391" y="33"/>
                          </a:lnTo>
                          <a:lnTo>
                            <a:pt x="2382" y="33"/>
                          </a:lnTo>
                          <a:lnTo>
                            <a:pt x="2372" y="34"/>
                          </a:lnTo>
                          <a:lnTo>
                            <a:pt x="2357" y="34"/>
                          </a:lnTo>
                          <a:lnTo>
                            <a:pt x="2344" y="35"/>
                          </a:lnTo>
                          <a:lnTo>
                            <a:pt x="2334" y="35"/>
                          </a:lnTo>
                          <a:lnTo>
                            <a:pt x="2324" y="35"/>
                          </a:lnTo>
                          <a:lnTo>
                            <a:pt x="2314" y="36"/>
                          </a:lnTo>
                          <a:lnTo>
                            <a:pt x="2305" y="36"/>
                          </a:lnTo>
                          <a:lnTo>
                            <a:pt x="2299" y="36"/>
                          </a:lnTo>
                          <a:lnTo>
                            <a:pt x="2293" y="37"/>
                          </a:lnTo>
                          <a:lnTo>
                            <a:pt x="2280" y="37"/>
                          </a:lnTo>
                          <a:lnTo>
                            <a:pt x="2269" y="37"/>
                          </a:lnTo>
                          <a:lnTo>
                            <a:pt x="2256" y="38"/>
                          </a:lnTo>
                          <a:lnTo>
                            <a:pt x="2245" y="38"/>
                          </a:lnTo>
                          <a:lnTo>
                            <a:pt x="2234" y="39"/>
                          </a:lnTo>
                          <a:lnTo>
                            <a:pt x="2222" y="39"/>
                          </a:lnTo>
                          <a:lnTo>
                            <a:pt x="2218" y="39"/>
                          </a:lnTo>
                          <a:lnTo>
                            <a:pt x="2213" y="40"/>
                          </a:lnTo>
                          <a:lnTo>
                            <a:pt x="2194" y="40"/>
                          </a:lnTo>
                          <a:lnTo>
                            <a:pt x="2175" y="41"/>
                          </a:lnTo>
                          <a:lnTo>
                            <a:pt x="2155" y="42"/>
                          </a:lnTo>
                          <a:lnTo>
                            <a:pt x="2136" y="43"/>
                          </a:lnTo>
                          <a:lnTo>
                            <a:pt x="2113" y="44"/>
                          </a:lnTo>
                          <a:lnTo>
                            <a:pt x="2092" y="45"/>
                          </a:lnTo>
                          <a:lnTo>
                            <a:pt x="2069" y="46"/>
                          </a:lnTo>
                          <a:lnTo>
                            <a:pt x="2047" y="47"/>
                          </a:lnTo>
                          <a:lnTo>
                            <a:pt x="2040" y="47"/>
                          </a:lnTo>
                          <a:lnTo>
                            <a:pt x="2034" y="47"/>
                          </a:lnTo>
                          <a:lnTo>
                            <a:pt x="2013" y="48"/>
                          </a:lnTo>
                          <a:lnTo>
                            <a:pt x="1994" y="49"/>
                          </a:lnTo>
                          <a:lnTo>
                            <a:pt x="1974" y="51"/>
                          </a:lnTo>
                          <a:lnTo>
                            <a:pt x="1954" y="52"/>
                          </a:lnTo>
                          <a:lnTo>
                            <a:pt x="1951" y="52"/>
                          </a:lnTo>
                          <a:lnTo>
                            <a:pt x="1949" y="52"/>
                          </a:lnTo>
                          <a:lnTo>
                            <a:pt x="1937" y="53"/>
                          </a:lnTo>
                          <a:lnTo>
                            <a:pt x="1925" y="53"/>
                          </a:lnTo>
                          <a:lnTo>
                            <a:pt x="1908" y="54"/>
                          </a:lnTo>
                          <a:lnTo>
                            <a:pt x="1893" y="55"/>
                          </a:lnTo>
                          <a:lnTo>
                            <a:pt x="1877" y="56"/>
                          </a:lnTo>
                          <a:lnTo>
                            <a:pt x="1862" y="56"/>
                          </a:lnTo>
                          <a:lnTo>
                            <a:pt x="1858" y="57"/>
                          </a:lnTo>
                          <a:lnTo>
                            <a:pt x="1852" y="57"/>
                          </a:lnTo>
                          <a:lnTo>
                            <a:pt x="1845" y="57"/>
                          </a:lnTo>
                          <a:lnTo>
                            <a:pt x="1837" y="58"/>
                          </a:lnTo>
                          <a:lnTo>
                            <a:pt x="1814" y="59"/>
                          </a:lnTo>
                          <a:lnTo>
                            <a:pt x="1792" y="60"/>
                          </a:lnTo>
                          <a:lnTo>
                            <a:pt x="1769" y="61"/>
                          </a:lnTo>
                          <a:lnTo>
                            <a:pt x="1747" y="62"/>
                          </a:lnTo>
                          <a:lnTo>
                            <a:pt x="1739" y="63"/>
                          </a:lnTo>
                          <a:lnTo>
                            <a:pt x="1732" y="63"/>
                          </a:lnTo>
                          <a:lnTo>
                            <a:pt x="1728" y="63"/>
                          </a:lnTo>
                          <a:lnTo>
                            <a:pt x="1724" y="64"/>
                          </a:lnTo>
                          <a:lnTo>
                            <a:pt x="1695" y="65"/>
                          </a:lnTo>
                          <a:lnTo>
                            <a:pt x="1667" y="67"/>
                          </a:lnTo>
                          <a:lnTo>
                            <a:pt x="1638" y="68"/>
                          </a:lnTo>
                          <a:lnTo>
                            <a:pt x="1610" y="70"/>
                          </a:lnTo>
                          <a:lnTo>
                            <a:pt x="1606" y="70"/>
                          </a:lnTo>
                          <a:lnTo>
                            <a:pt x="1602" y="70"/>
                          </a:lnTo>
                          <a:lnTo>
                            <a:pt x="1596" y="71"/>
                          </a:lnTo>
                          <a:lnTo>
                            <a:pt x="1591" y="71"/>
                          </a:lnTo>
                          <a:lnTo>
                            <a:pt x="1556" y="73"/>
                          </a:lnTo>
                          <a:lnTo>
                            <a:pt x="1521" y="75"/>
                          </a:lnTo>
                          <a:lnTo>
                            <a:pt x="1485" y="77"/>
                          </a:lnTo>
                          <a:lnTo>
                            <a:pt x="1450" y="80"/>
                          </a:lnTo>
                          <a:lnTo>
                            <a:pt x="1448" y="80"/>
                          </a:lnTo>
                          <a:lnTo>
                            <a:pt x="1445" y="80"/>
                          </a:lnTo>
                          <a:lnTo>
                            <a:pt x="1436" y="81"/>
                          </a:lnTo>
                          <a:lnTo>
                            <a:pt x="1427" y="81"/>
                          </a:lnTo>
                          <a:lnTo>
                            <a:pt x="1412" y="82"/>
                          </a:lnTo>
                          <a:lnTo>
                            <a:pt x="1399" y="83"/>
                          </a:lnTo>
                          <a:lnTo>
                            <a:pt x="1385" y="84"/>
                          </a:lnTo>
                          <a:lnTo>
                            <a:pt x="1372" y="86"/>
                          </a:lnTo>
                          <a:lnTo>
                            <a:pt x="1357" y="87"/>
                          </a:lnTo>
                          <a:lnTo>
                            <a:pt x="1341" y="88"/>
                          </a:lnTo>
                          <a:lnTo>
                            <a:pt x="1330" y="89"/>
                          </a:lnTo>
                          <a:lnTo>
                            <a:pt x="1318" y="89"/>
                          </a:lnTo>
                          <a:lnTo>
                            <a:pt x="1306" y="90"/>
                          </a:lnTo>
                          <a:lnTo>
                            <a:pt x="1295" y="91"/>
                          </a:lnTo>
                          <a:lnTo>
                            <a:pt x="1287" y="92"/>
                          </a:lnTo>
                          <a:lnTo>
                            <a:pt x="1278" y="92"/>
                          </a:lnTo>
                          <a:lnTo>
                            <a:pt x="1270" y="93"/>
                          </a:lnTo>
                          <a:lnTo>
                            <a:pt x="1262" y="93"/>
                          </a:lnTo>
                          <a:lnTo>
                            <a:pt x="1247" y="94"/>
                          </a:lnTo>
                          <a:lnTo>
                            <a:pt x="1234" y="95"/>
                          </a:lnTo>
                          <a:lnTo>
                            <a:pt x="1220" y="96"/>
                          </a:lnTo>
                          <a:lnTo>
                            <a:pt x="1206" y="97"/>
                          </a:lnTo>
                          <a:lnTo>
                            <a:pt x="1193" y="98"/>
                          </a:lnTo>
                          <a:lnTo>
                            <a:pt x="1180" y="99"/>
                          </a:lnTo>
                          <a:lnTo>
                            <a:pt x="1160" y="101"/>
                          </a:lnTo>
                          <a:lnTo>
                            <a:pt x="1140" y="102"/>
                          </a:lnTo>
                          <a:lnTo>
                            <a:pt x="1121" y="104"/>
                          </a:lnTo>
                          <a:lnTo>
                            <a:pt x="1100" y="106"/>
                          </a:lnTo>
                          <a:lnTo>
                            <a:pt x="1080" y="107"/>
                          </a:lnTo>
                          <a:lnTo>
                            <a:pt x="1061" y="109"/>
                          </a:lnTo>
                          <a:lnTo>
                            <a:pt x="1042" y="110"/>
                          </a:lnTo>
                          <a:lnTo>
                            <a:pt x="1023" y="112"/>
                          </a:lnTo>
                          <a:lnTo>
                            <a:pt x="1013" y="113"/>
                          </a:lnTo>
                          <a:lnTo>
                            <a:pt x="1004" y="114"/>
                          </a:lnTo>
                          <a:lnTo>
                            <a:pt x="990" y="115"/>
                          </a:lnTo>
                          <a:lnTo>
                            <a:pt x="975" y="116"/>
                          </a:lnTo>
                          <a:lnTo>
                            <a:pt x="962" y="117"/>
                          </a:lnTo>
                          <a:lnTo>
                            <a:pt x="947" y="120"/>
                          </a:lnTo>
                          <a:lnTo>
                            <a:pt x="942" y="120"/>
                          </a:lnTo>
                          <a:lnTo>
                            <a:pt x="937" y="120"/>
                          </a:lnTo>
                          <a:lnTo>
                            <a:pt x="931" y="121"/>
                          </a:lnTo>
                          <a:lnTo>
                            <a:pt x="924" y="122"/>
                          </a:lnTo>
                          <a:lnTo>
                            <a:pt x="912" y="123"/>
                          </a:lnTo>
                          <a:lnTo>
                            <a:pt x="901" y="124"/>
                          </a:lnTo>
                          <a:lnTo>
                            <a:pt x="890" y="125"/>
                          </a:lnTo>
                          <a:lnTo>
                            <a:pt x="878" y="126"/>
                          </a:lnTo>
                          <a:lnTo>
                            <a:pt x="865" y="127"/>
                          </a:lnTo>
                          <a:lnTo>
                            <a:pt x="853" y="128"/>
                          </a:lnTo>
                          <a:lnTo>
                            <a:pt x="842" y="129"/>
                          </a:lnTo>
                          <a:lnTo>
                            <a:pt x="832" y="130"/>
                          </a:lnTo>
                          <a:lnTo>
                            <a:pt x="823" y="131"/>
                          </a:lnTo>
                          <a:lnTo>
                            <a:pt x="812" y="132"/>
                          </a:lnTo>
                          <a:lnTo>
                            <a:pt x="802" y="133"/>
                          </a:lnTo>
                          <a:lnTo>
                            <a:pt x="793" y="134"/>
                          </a:lnTo>
                          <a:lnTo>
                            <a:pt x="789" y="135"/>
                          </a:lnTo>
                          <a:lnTo>
                            <a:pt x="785" y="135"/>
                          </a:lnTo>
                          <a:lnTo>
                            <a:pt x="775" y="136"/>
                          </a:lnTo>
                          <a:lnTo>
                            <a:pt x="767" y="137"/>
                          </a:lnTo>
                          <a:lnTo>
                            <a:pt x="759" y="138"/>
                          </a:lnTo>
                          <a:lnTo>
                            <a:pt x="750" y="139"/>
                          </a:lnTo>
                          <a:lnTo>
                            <a:pt x="736" y="140"/>
                          </a:lnTo>
                          <a:lnTo>
                            <a:pt x="723" y="142"/>
                          </a:lnTo>
                          <a:lnTo>
                            <a:pt x="713" y="143"/>
                          </a:lnTo>
                          <a:lnTo>
                            <a:pt x="704" y="144"/>
                          </a:lnTo>
                          <a:lnTo>
                            <a:pt x="695" y="145"/>
                          </a:lnTo>
                          <a:lnTo>
                            <a:pt x="686" y="146"/>
                          </a:lnTo>
                          <a:lnTo>
                            <a:pt x="675" y="147"/>
                          </a:lnTo>
                          <a:lnTo>
                            <a:pt x="665" y="148"/>
                          </a:lnTo>
                          <a:lnTo>
                            <a:pt x="664" y="148"/>
                          </a:lnTo>
                          <a:lnTo>
                            <a:pt x="663" y="148"/>
                          </a:lnTo>
                          <a:lnTo>
                            <a:pt x="658" y="149"/>
                          </a:lnTo>
                          <a:lnTo>
                            <a:pt x="653" y="149"/>
                          </a:lnTo>
                          <a:lnTo>
                            <a:pt x="632" y="152"/>
                          </a:lnTo>
                          <a:lnTo>
                            <a:pt x="611" y="155"/>
                          </a:lnTo>
                          <a:lnTo>
                            <a:pt x="592" y="158"/>
                          </a:lnTo>
                          <a:lnTo>
                            <a:pt x="572" y="160"/>
                          </a:lnTo>
                          <a:lnTo>
                            <a:pt x="564" y="161"/>
                          </a:lnTo>
                          <a:lnTo>
                            <a:pt x="556" y="162"/>
                          </a:lnTo>
                          <a:lnTo>
                            <a:pt x="555" y="162"/>
                          </a:lnTo>
                          <a:lnTo>
                            <a:pt x="554" y="162"/>
                          </a:lnTo>
                          <a:lnTo>
                            <a:pt x="546" y="163"/>
                          </a:lnTo>
                          <a:lnTo>
                            <a:pt x="538" y="164"/>
                          </a:lnTo>
                          <a:lnTo>
                            <a:pt x="530" y="165"/>
                          </a:lnTo>
                          <a:lnTo>
                            <a:pt x="523" y="166"/>
                          </a:lnTo>
                          <a:lnTo>
                            <a:pt x="513" y="168"/>
                          </a:lnTo>
                          <a:lnTo>
                            <a:pt x="504" y="169"/>
                          </a:lnTo>
                          <a:lnTo>
                            <a:pt x="496" y="170"/>
                          </a:lnTo>
                          <a:lnTo>
                            <a:pt x="488" y="171"/>
                          </a:lnTo>
                          <a:lnTo>
                            <a:pt x="479" y="172"/>
                          </a:lnTo>
                          <a:lnTo>
                            <a:pt x="471" y="173"/>
                          </a:lnTo>
                          <a:lnTo>
                            <a:pt x="463" y="175"/>
                          </a:lnTo>
                          <a:lnTo>
                            <a:pt x="456" y="176"/>
                          </a:lnTo>
                          <a:lnTo>
                            <a:pt x="444" y="177"/>
                          </a:lnTo>
                          <a:lnTo>
                            <a:pt x="433" y="179"/>
                          </a:lnTo>
                          <a:lnTo>
                            <a:pt x="423" y="180"/>
                          </a:lnTo>
                          <a:lnTo>
                            <a:pt x="411" y="182"/>
                          </a:lnTo>
                          <a:lnTo>
                            <a:pt x="407" y="183"/>
                          </a:lnTo>
                          <a:lnTo>
                            <a:pt x="403" y="183"/>
                          </a:lnTo>
                          <a:lnTo>
                            <a:pt x="395" y="185"/>
                          </a:lnTo>
                          <a:lnTo>
                            <a:pt x="387" y="186"/>
                          </a:lnTo>
                          <a:lnTo>
                            <a:pt x="378" y="188"/>
                          </a:lnTo>
                          <a:lnTo>
                            <a:pt x="370" y="190"/>
                          </a:lnTo>
                          <a:lnTo>
                            <a:pt x="369" y="190"/>
                          </a:lnTo>
                          <a:lnTo>
                            <a:pt x="368" y="190"/>
                          </a:lnTo>
                          <a:lnTo>
                            <a:pt x="365" y="190"/>
                          </a:lnTo>
                          <a:lnTo>
                            <a:pt x="362" y="191"/>
                          </a:lnTo>
                          <a:lnTo>
                            <a:pt x="354" y="192"/>
                          </a:lnTo>
                          <a:lnTo>
                            <a:pt x="345" y="194"/>
                          </a:lnTo>
                          <a:lnTo>
                            <a:pt x="337" y="195"/>
                          </a:lnTo>
                          <a:lnTo>
                            <a:pt x="329" y="197"/>
                          </a:lnTo>
                          <a:lnTo>
                            <a:pt x="322" y="198"/>
                          </a:lnTo>
                          <a:lnTo>
                            <a:pt x="315" y="199"/>
                          </a:lnTo>
                          <a:lnTo>
                            <a:pt x="305" y="201"/>
                          </a:lnTo>
                          <a:lnTo>
                            <a:pt x="295" y="202"/>
                          </a:lnTo>
                          <a:lnTo>
                            <a:pt x="293" y="203"/>
                          </a:lnTo>
                          <a:lnTo>
                            <a:pt x="291" y="203"/>
                          </a:lnTo>
                          <a:lnTo>
                            <a:pt x="284" y="205"/>
                          </a:lnTo>
                          <a:lnTo>
                            <a:pt x="277" y="206"/>
                          </a:lnTo>
                          <a:lnTo>
                            <a:pt x="266" y="208"/>
                          </a:lnTo>
                          <a:lnTo>
                            <a:pt x="255" y="210"/>
                          </a:lnTo>
                          <a:lnTo>
                            <a:pt x="249" y="212"/>
                          </a:lnTo>
                          <a:lnTo>
                            <a:pt x="241" y="213"/>
                          </a:lnTo>
                          <a:lnTo>
                            <a:pt x="235" y="214"/>
                          </a:lnTo>
                          <a:lnTo>
                            <a:pt x="229" y="216"/>
                          </a:lnTo>
                          <a:lnTo>
                            <a:pt x="225" y="216"/>
                          </a:lnTo>
                          <a:lnTo>
                            <a:pt x="222" y="217"/>
                          </a:lnTo>
                          <a:lnTo>
                            <a:pt x="216" y="218"/>
                          </a:lnTo>
                          <a:lnTo>
                            <a:pt x="208" y="220"/>
                          </a:lnTo>
                          <a:lnTo>
                            <a:pt x="200" y="223"/>
                          </a:lnTo>
                          <a:lnTo>
                            <a:pt x="191" y="225"/>
                          </a:lnTo>
                          <a:lnTo>
                            <a:pt x="185" y="226"/>
                          </a:lnTo>
                          <a:lnTo>
                            <a:pt x="179" y="228"/>
                          </a:lnTo>
                          <a:lnTo>
                            <a:pt x="175" y="229"/>
                          </a:lnTo>
                          <a:lnTo>
                            <a:pt x="171" y="230"/>
                          </a:lnTo>
                          <a:lnTo>
                            <a:pt x="167" y="231"/>
                          </a:lnTo>
                          <a:lnTo>
                            <a:pt x="162" y="232"/>
                          </a:lnTo>
                          <a:lnTo>
                            <a:pt x="156" y="233"/>
                          </a:lnTo>
                          <a:lnTo>
                            <a:pt x="151" y="235"/>
                          </a:lnTo>
                          <a:lnTo>
                            <a:pt x="142" y="237"/>
                          </a:lnTo>
                          <a:lnTo>
                            <a:pt x="134" y="239"/>
                          </a:lnTo>
                          <a:lnTo>
                            <a:pt x="130" y="241"/>
                          </a:lnTo>
                          <a:lnTo>
                            <a:pt x="125" y="242"/>
                          </a:lnTo>
                          <a:lnTo>
                            <a:pt x="124" y="242"/>
                          </a:lnTo>
                          <a:lnTo>
                            <a:pt x="122" y="243"/>
                          </a:lnTo>
                          <a:lnTo>
                            <a:pt x="122" y="243"/>
                          </a:lnTo>
                          <a:lnTo>
                            <a:pt x="122" y="243"/>
                          </a:lnTo>
                          <a:lnTo>
                            <a:pt x="116" y="245"/>
                          </a:lnTo>
                          <a:lnTo>
                            <a:pt x="109" y="247"/>
                          </a:lnTo>
                          <a:lnTo>
                            <a:pt x="105" y="248"/>
                          </a:lnTo>
                          <a:lnTo>
                            <a:pt x="102" y="249"/>
                          </a:lnTo>
                          <a:lnTo>
                            <a:pt x="92" y="252"/>
                          </a:lnTo>
                          <a:lnTo>
                            <a:pt x="83" y="257"/>
                          </a:lnTo>
                          <a:lnTo>
                            <a:pt x="82" y="257"/>
                          </a:lnTo>
                          <a:lnTo>
                            <a:pt x="81" y="257"/>
                          </a:lnTo>
                          <a:lnTo>
                            <a:pt x="71" y="261"/>
                          </a:lnTo>
                          <a:lnTo>
                            <a:pt x="62" y="265"/>
                          </a:lnTo>
                          <a:lnTo>
                            <a:pt x="60" y="266"/>
                          </a:lnTo>
                          <a:lnTo>
                            <a:pt x="58" y="267"/>
                          </a:lnTo>
                          <a:lnTo>
                            <a:pt x="53" y="269"/>
                          </a:lnTo>
                          <a:lnTo>
                            <a:pt x="48" y="271"/>
                          </a:lnTo>
                          <a:lnTo>
                            <a:pt x="47" y="272"/>
                          </a:lnTo>
                          <a:lnTo>
                            <a:pt x="46" y="272"/>
                          </a:lnTo>
                          <a:lnTo>
                            <a:pt x="43" y="273"/>
                          </a:lnTo>
                          <a:lnTo>
                            <a:pt x="40" y="275"/>
                          </a:lnTo>
                          <a:lnTo>
                            <a:pt x="36" y="277"/>
                          </a:lnTo>
                          <a:lnTo>
                            <a:pt x="32" y="279"/>
                          </a:lnTo>
                          <a:lnTo>
                            <a:pt x="30" y="281"/>
                          </a:lnTo>
                          <a:lnTo>
                            <a:pt x="27" y="283"/>
                          </a:lnTo>
                          <a:lnTo>
                            <a:pt x="25" y="284"/>
                          </a:lnTo>
                          <a:lnTo>
                            <a:pt x="23" y="285"/>
                          </a:lnTo>
                          <a:lnTo>
                            <a:pt x="22" y="286"/>
                          </a:lnTo>
                          <a:lnTo>
                            <a:pt x="21" y="287"/>
                          </a:lnTo>
                          <a:lnTo>
                            <a:pt x="19" y="289"/>
                          </a:lnTo>
                          <a:lnTo>
                            <a:pt x="17" y="291"/>
                          </a:lnTo>
                          <a:lnTo>
                            <a:pt x="14" y="293"/>
                          </a:lnTo>
                          <a:lnTo>
                            <a:pt x="12" y="296"/>
                          </a:lnTo>
                          <a:lnTo>
                            <a:pt x="9" y="297"/>
                          </a:lnTo>
                          <a:lnTo>
                            <a:pt x="8" y="299"/>
                          </a:lnTo>
                          <a:lnTo>
                            <a:pt x="7" y="300"/>
                          </a:lnTo>
                          <a:lnTo>
                            <a:pt x="6" y="301"/>
                          </a:lnTo>
                          <a:lnTo>
                            <a:pt x="6" y="302"/>
                          </a:lnTo>
                          <a:lnTo>
                            <a:pt x="5" y="303"/>
                          </a:lnTo>
                          <a:lnTo>
                            <a:pt x="2" y="308"/>
                          </a:lnTo>
                          <a:lnTo>
                            <a:pt x="0" y="313"/>
                          </a:lnTo>
                          <a:lnTo>
                            <a:pt x="0" y="315"/>
                          </a:lnTo>
                          <a:lnTo>
                            <a:pt x="0" y="317"/>
                          </a:lnTo>
                          <a:lnTo>
                            <a:pt x="0" y="319"/>
                          </a:lnTo>
                          <a:lnTo>
                            <a:pt x="0" y="320"/>
                          </a:lnTo>
                          <a:lnTo>
                            <a:pt x="0" y="322"/>
                          </a:lnTo>
                          <a:lnTo>
                            <a:pt x="0" y="323"/>
                          </a:lnTo>
                          <a:lnTo>
                            <a:pt x="1" y="328"/>
                          </a:lnTo>
                          <a:lnTo>
                            <a:pt x="3" y="332"/>
                          </a:lnTo>
                          <a:lnTo>
                            <a:pt x="88" y="491"/>
                          </a:lnTo>
                          <a:lnTo>
                            <a:pt x="171" y="651"/>
                          </a:lnTo>
                          <a:lnTo>
                            <a:pt x="256" y="811"/>
                          </a:lnTo>
                          <a:lnTo>
                            <a:pt x="340" y="970"/>
                          </a:lnTo>
                          <a:lnTo>
                            <a:pt x="424" y="1130"/>
                          </a:lnTo>
                          <a:lnTo>
                            <a:pt x="508" y="1290"/>
                          </a:lnTo>
                          <a:lnTo>
                            <a:pt x="593" y="1449"/>
                          </a:lnTo>
                          <a:lnTo>
                            <a:pt x="677" y="1609"/>
                          </a:lnTo>
                          <a:lnTo>
                            <a:pt x="761" y="1769"/>
                          </a:lnTo>
                          <a:lnTo>
                            <a:pt x="845" y="1928"/>
                          </a:lnTo>
                          <a:lnTo>
                            <a:pt x="930" y="2088"/>
                          </a:lnTo>
                          <a:lnTo>
                            <a:pt x="1014" y="2248"/>
                          </a:lnTo>
                          <a:lnTo>
                            <a:pt x="1098" y="2407"/>
                          </a:lnTo>
                          <a:lnTo>
                            <a:pt x="1182" y="2567"/>
                          </a:lnTo>
                          <a:lnTo>
                            <a:pt x="1267" y="2727"/>
                          </a:lnTo>
                          <a:lnTo>
                            <a:pt x="1351" y="2886"/>
                          </a:lnTo>
                          <a:lnTo>
                            <a:pt x="1351" y="2887"/>
                          </a:lnTo>
                          <a:lnTo>
                            <a:pt x="1353" y="2888"/>
                          </a:lnTo>
                          <a:lnTo>
                            <a:pt x="1354" y="2891"/>
                          </a:lnTo>
                          <a:lnTo>
                            <a:pt x="1355" y="2892"/>
                          </a:lnTo>
                          <a:lnTo>
                            <a:pt x="1355" y="2892"/>
                          </a:lnTo>
                          <a:lnTo>
                            <a:pt x="1356" y="2893"/>
                          </a:lnTo>
                          <a:lnTo>
                            <a:pt x="1357" y="2894"/>
                          </a:lnTo>
                          <a:lnTo>
                            <a:pt x="1358" y="2895"/>
                          </a:lnTo>
                          <a:lnTo>
                            <a:pt x="1358" y="2895"/>
                          </a:lnTo>
                          <a:lnTo>
                            <a:pt x="1358" y="2895"/>
                          </a:lnTo>
                          <a:lnTo>
                            <a:pt x="1359" y="2896"/>
                          </a:lnTo>
                          <a:lnTo>
                            <a:pt x="1360" y="2897"/>
                          </a:lnTo>
                          <a:lnTo>
                            <a:pt x="1361" y="2898"/>
                          </a:lnTo>
                          <a:lnTo>
                            <a:pt x="1362" y="2898"/>
                          </a:lnTo>
                          <a:lnTo>
                            <a:pt x="1363" y="2899"/>
                          </a:lnTo>
                          <a:lnTo>
                            <a:pt x="1364" y="2900"/>
                          </a:lnTo>
                          <a:lnTo>
                            <a:pt x="1366" y="2901"/>
                          </a:lnTo>
                          <a:lnTo>
                            <a:pt x="1367" y="2902"/>
                          </a:lnTo>
                          <a:lnTo>
                            <a:pt x="1368" y="2903"/>
                          </a:lnTo>
                          <a:lnTo>
                            <a:pt x="1369" y="2904"/>
                          </a:lnTo>
                          <a:lnTo>
                            <a:pt x="1371" y="2905"/>
                          </a:lnTo>
                          <a:lnTo>
                            <a:pt x="1373" y="2906"/>
                          </a:lnTo>
                          <a:lnTo>
                            <a:pt x="1374" y="2907"/>
                          </a:lnTo>
                          <a:lnTo>
                            <a:pt x="1376" y="2908"/>
                          </a:lnTo>
                          <a:lnTo>
                            <a:pt x="1378" y="2909"/>
                          </a:lnTo>
                          <a:lnTo>
                            <a:pt x="1379" y="2909"/>
                          </a:lnTo>
                          <a:lnTo>
                            <a:pt x="1381" y="2911"/>
                          </a:lnTo>
                          <a:lnTo>
                            <a:pt x="1384" y="2912"/>
                          </a:lnTo>
                          <a:lnTo>
                            <a:pt x="1385" y="2912"/>
                          </a:lnTo>
                          <a:lnTo>
                            <a:pt x="1387" y="2913"/>
                          </a:lnTo>
                          <a:lnTo>
                            <a:pt x="1390" y="2914"/>
                          </a:lnTo>
                          <a:lnTo>
                            <a:pt x="1392" y="2915"/>
                          </a:lnTo>
                          <a:lnTo>
                            <a:pt x="1395" y="2916"/>
                          </a:lnTo>
                          <a:lnTo>
                            <a:pt x="1397" y="2917"/>
                          </a:lnTo>
                          <a:lnTo>
                            <a:pt x="1398" y="2918"/>
                          </a:lnTo>
                          <a:lnTo>
                            <a:pt x="1399" y="2918"/>
                          </a:lnTo>
                          <a:lnTo>
                            <a:pt x="1403" y="2919"/>
                          </a:lnTo>
                          <a:lnTo>
                            <a:pt x="1406" y="2921"/>
                          </a:lnTo>
                          <a:lnTo>
                            <a:pt x="1409" y="2922"/>
                          </a:lnTo>
                          <a:lnTo>
                            <a:pt x="1412" y="2924"/>
                          </a:lnTo>
                          <a:lnTo>
                            <a:pt x="1412" y="2924"/>
                          </a:lnTo>
                          <a:lnTo>
                            <a:pt x="1413" y="2924"/>
                          </a:lnTo>
                          <a:lnTo>
                            <a:pt x="1416" y="2925"/>
                          </a:lnTo>
                          <a:lnTo>
                            <a:pt x="1418" y="2926"/>
                          </a:lnTo>
                          <a:lnTo>
                            <a:pt x="1422" y="2927"/>
                          </a:lnTo>
                          <a:lnTo>
                            <a:pt x="1425" y="2928"/>
                          </a:lnTo>
                          <a:lnTo>
                            <a:pt x="1427" y="2928"/>
                          </a:lnTo>
                          <a:lnTo>
                            <a:pt x="1429" y="2929"/>
                          </a:lnTo>
                          <a:lnTo>
                            <a:pt x="1429" y="2929"/>
                          </a:lnTo>
                          <a:lnTo>
                            <a:pt x="1429" y="2929"/>
                          </a:lnTo>
                          <a:lnTo>
                            <a:pt x="1433" y="2930"/>
                          </a:lnTo>
                          <a:lnTo>
                            <a:pt x="1437" y="2931"/>
                          </a:lnTo>
                          <a:lnTo>
                            <a:pt x="1441" y="2933"/>
                          </a:lnTo>
                          <a:lnTo>
                            <a:pt x="1446" y="2934"/>
                          </a:lnTo>
                          <a:lnTo>
                            <a:pt x="1447" y="2934"/>
                          </a:lnTo>
                          <a:lnTo>
                            <a:pt x="1447" y="2934"/>
                          </a:lnTo>
                          <a:lnTo>
                            <a:pt x="1449" y="2935"/>
                          </a:lnTo>
                          <a:lnTo>
                            <a:pt x="1452" y="2936"/>
                          </a:lnTo>
                          <a:lnTo>
                            <a:pt x="1454" y="2936"/>
                          </a:lnTo>
                          <a:lnTo>
                            <a:pt x="1456" y="2936"/>
                          </a:lnTo>
                          <a:lnTo>
                            <a:pt x="1461" y="2938"/>
                          </a:lnTo>
                          <a:lnTo>
                            <a:pt x="1466" y="2939"/>
                          </a:lnTo>
                          <a:lnTo>
                            <a:pt x="1467" y="2939"/>
                          </a:lnTo>
                          <a:lnTo>
                            <a:pt x="1468" y="2940"/>
                          </a:lnTo>
                          <a:lnTo>
                            <a:pt x="1472" y="2941"/>
                          </a:lnTo>
                          <a:lnTo>
                            <a:pt x="1476" y="2942"/>
                          </a:lnTo>
                          <a:lnTo>
                            <a:pt x="1481" y="2943"/>
                          </a:lnTo>
                          <a:lnTo>
                            <a:pt x="1487" y="2944"/>
                          </a:lnTo>
                          <a:lnTo>
                            <a:pt x="1489" y="2944"/>
                          </a:lnTo>
                          <a:lnTo>
                            <a:pt x="1491" y="2945"/>
                          </a:lnTo>
                          <a:lnTo>
                            <a:pt x="1495" y="2946"/>
                          </a:lnTo>
                          <a:lnTo>
                            <a:pt x="1499" y="2947"/>
                          </a:lnTo>
                          <a:lnTo>
                            <a:pt x="1504" y="2948"/>
                          </a:lnTo>
                          <a:lnTo>
                            <a:pt x="1508" y="2949"/>
                          </a:lnTo>
                          <a:lnTo>
                            <a:pt x="1511" y="2949"/>
                          </a:lnTo>
                          <a:lnTo>
                            <a:pt x="1514" y="2950"/>
                          </a:lnTo>
                          <a:lnTo>
                            <a:pt x="1519" y="2951"/>
                          </a:lnTo>
                          <a:lnTo>
                            <a:pt x="1524" y="2952"/>
                          </a:lnTo>
                          <a:lnTo>
                            <a:pt x="1529" y="2953"/>
                          </a:lnTo>
                          <a:lnTo>
                            <a:pt x="1533" y="2954"/>
                          </a:lnTo>
                          <a:lnTo>
                            <a:pt x="1537" y="2954"/>
                          </a:lnTo>
                          <a:lnTo>
                            <a:pt x="1540" y="2955"/>
                          </a:lnTo>
                          <a:lnTo>
                            <a:pt x="1545" y="2956"/>
                          </a:lnTo>
                          <a:lnTo>
                            <a:pt x="1550" y="2958"/>
                          </a:lnTo>
                          <a:lnTo>
                            <a:pt x="1555" y="2959"/>
                          </a:lnTo>
                          <a:lnTo>
                            <a:pt x="1558" y="2959"/>
                          </a:lnTo>
                          <a:lnTo>
                            <a:pt x="1563" y="2960"/>
                          </a:lnTo>
                          <a:lnTo>
                            <a:pt x="1568" y="2961"/>
                          </a:lnTo>
                          <a:lnTo>
                            <a:pt x="1573" y="2962"/>
                          </a:lnTo>
                          <a:lnTo>
                            <a:pt x="1578" y="2963"/>
                          </a:lnTo>
                          <a:lnTo>
                            <a:pt x="1581" y="2964"/>
                          </a:lnTo>
                          <a:lnTo>
                            <a:pt x="1585" y="2964"/>
                          </a:lnTo>
                          <a:lnTo>
                            <a:pt x="1592" y="2965"/>
                          </a:lnTo>
                          <a:lnTo>
                            <a:pt x="1598" y="2966"/>
                          </a:lnTo>
                          <a:lnTo>
                            <a:pt x="1603" y="2967"/>
                          </a:lnTo>
                          <a:lnTo>
                            <a:pt x="1608" y="2968"/>
                          </a:lnTo>
                          <a:lnTo>
                            <a:pt x="1611" y="2968"/>
                          </a:lnTo>
                          <a:lnTo>
                            <a:pt x="1613" y="2969"/>
                          </a:lnTo>
                          <a:lnTo>
                            <a:pt x="1621" y="2970"/>
                          </a:lnTo>
                          <a:lnTo>
                            <a:pt x="1628" y="2971"/>
                          </a:lnTo>
                          <a:lnTo>
                            <a:pt x="1633" y="2972"/>
                          </a:lnTo>
                          <a:lnTo>
                            <a:pt x="1638" y="2973"/>
                          </a:lnTo>
                          <a:lnTo>
                            <a:pt x="1641" y="2973"/>
                          </a:lnTo>
                          <a:lnTo>
                            <a:pt x="1645" y="2974"/>
                          </a:lnTo>
                          <a:lnTo>
                            <a:pt x="1651" y="2975"/>
                          </a:lnTo>
                          <a:lnTo>
                            <a:pt x="1658" y="2975"/>
                          </a:lnTo>
                          <a:lnTo>
                            <a:pt x="1665" y="2976"/>
                          </a:lnTo>
                          <a:lnTo>
                            <a:pt x="1671" y="2977"/>
                          </a:lnTo>
                          <a:lnTo>
                            <a:pt x="1675" y="2978"/>
                          </a:lnTo>
                          <a:lnTo>
                            <a:pt x="1679" y="2978"/>
                          </a:lnTo>
                          <a:lnTo>
                            <a:pt x="1684" y="2979"/>
                          </a:lnTo>
                          <a:lnTo>
                            <a:pt x="1691" y="2980"/>
                          </a:lnTo>
                          <a:lnTo>
                            <a:pt x="1698" y="2981"/>
                          </a:lnTo>
                          <a:lnTo>
                            <a:pt x="1706" y="2982"/>
                          </a:lnTo>
                          <a:lnTo>
                            <a:pt x="1710" y="2983"/>
                          </a:lnTo>
                          <a:lnTo>
                            <a:pt x="1714" y="2983"/>
                          </a:lnTo>
                          <a:lnTo>
                            <a:pt x="1718" y="2984"/>
                          </a:lnTo>
                          <a:lnTo>
                            <a:pt x="1724" y="2984"/>
                          </a:lnTo>
                          <a:lnTo>
                            <a:pt x="1733" y="2986"/>
                          </a:lnTo>
                          <a:lnTo>
                            <a:pt x="1742" y="2987"/>
                          </a:lnTo>
                          <a:lnTo>
                            <a:pt x="1750" y="2988"/>
                          </a:lnTo>
                          <a:lnTo>
                            <a:pt x="1760" y="2989"/>
                          </a:lnTo>
                          <a:lnTo>
                            <a:pt x="1769" y="2990"/>
                          </a:lnTo>
                          <a:lnTo>
                            <a:pt x="1778" y="2992"/>
                          </a:lnTo>
                          <a:lnTo>
                            <a:pt x="1783" y="2993"/>
                          </a:lnTo>
                          <a:lnTo>
                            <a:pt x="1787" y="2993"/>
                          </a:lnTo>
                          <a:lnTo>
                            <a:pt x="1793" y="2994"/>
                          </a:lnTo>
                          <a:lnTo>
                            <a:pt x="1798" y="2994"/>
                          </a:lnTo>
                          <a:lnTo>
                            <a:pt x="1807" y="2995"/>
                          </a:lnTo>
                          <a:lnTo>
                            <a:pt x="1815" y="2996"/>
                          </a:lnTo>
                          <a:lnTo>
                            <a:pt x="1821" y="2997"/>
                          </a:lnTo>
                          <a:lnTo>
                            <a:pt x="1828" y="2998"/>
                          </a:lnTo>
                          <a:lnTo>
                            <a:pt x="1833" y="2998"/>
                          </a:lnTo>
                          <a:lnTo>
                            <a:pt x="1838" y="2999"/>
                          </a:lnTo>
                          <a:lnTo>
                            <a:pt x="1846" y="3000"/>
                          </a:lnTo>
                          <a:lnTo>
                            <a:pt x="1854" y="3001"/>
                          </a:lnTo>
                          <a:lnTo>
                            <a:pt x="1862" y="3001"/>
                          </a:lnTo>
                          <a:lnTo>
                            <a:pt x="1870" y="3002"/>
                          </a:lnTo>
                          <a:lnTo>
                            <a:pt x="1874" y="3003"/>
                          </a:lnTo>
                          <a:lnTo>
                            <a:pt x="1879" y="3003"/>
                          </a:lnTo>
                          <a:lnTo>
                            <a:pt x="1886" y="3004"/>
                          </a:lnTo>
                          <a:lnTo>
                            <a:pt x="1894" y="3005"/>
                          </a:lnTo>
                          <a:lnTo>
                            <a:pt x="1903" y="3006"/>
                          </a:lnTo>
                          <a:lnTo>
                            <a:pt x="1912" y="3007"/>
                          </a:lnTo>
                          <a:lnTo>
                            <a:pt x="1916" y="3007"/>
                          </a:lnTo>
                          <a:lnTo>
                            <a:pt x="1920" y="3007"/>
                          </a:lnTo>
                          <a:lnTo>
                            <a:pt x="1928" y="3008"/>
                          </a:lnTo>
                          <a:lnTo>
                            <a:pt x="1936" y="3009"/>
                          </a:lnTo>
                          <a:lnTo>
                            <a:pt x="1945" y="3010"/>
                          </a:lnTo>
                          <a:lnTo>
                            <a:pt x="1953" y="3011"/>
                          </a:lnTo>
                          <a:lnTo>
                            <a:pt x="1960" y="3011"/>
                          </a:lnTo>
                          <a:lnTo>
                            <a:pt x="1965" y="3012"/>
                          </a:lnTo>
                          <a:lnTo>
                            <a:pt x="1973" y="3012"/>
                          </a:lnTo>
                          <a:lnTo>
                            <a:pt x="1981" y="3013"/>
                          </a:lnTo>
                          <a:lnTo>
                            <a:pt x="1988" y="3014"/>
                          </a:lnTo>
                          <a:lnTo>
                            <a:pt x="1997" y="3015"/>
                          </a:lnTo>
                          <a:lnTo>
                            <a:pt x="2004" y="3015"/>
                          </a:lnTo>
                          <a:lnTo>
                            <a:pt x="2011" y="3016"/>
                          </a:lnTo>
                          <a:lnTo>
                            <a:pt x="2019" y="3017"/>
                          </a:lnTo>
                          <a:lnTo>
                            <a:pt x="2028" y="3017"/>
                          </a:lnTo>
                          <a:lnTo>
                            <a:pt x="2034" y="3018"/>
                          </a:lnTo>
                          <a:lnTo>
                            <a:pt x="2041" y="3018"/>
                          </a:lnTo>
                          <a:lnTo>
                            <a:pt x="2049" y="3019"/>
                          </a:lnTo>
                          <a:lnTo>
                            <a:pt x="2059" y="3020"/>
                          </a:lnTo>
                          <a:lnTo>
                            <a:pt x="2067" y="3021"/>
                          </a:lnTo>
                          <a:lnTo>
                            <a:pt x="2075" y="3021"/>
                          </a:lnTo>
                          <a:lnTo>
                            <a:pt x="2081" y="3022"/>
                          </a:lnTo>
                          <a:lnTo>
                            <a:pt x="2086" y="3022"/>
                          </a:lnTo>
                          <a:lnTo>
                            <a:pt x="2097" y="3023"/>
                          </a:lnTo>
                          <a:lnTo>
                            <a:pt x="2107" y="3024"/>
                          </a:lnTo>
                          <a:lnTo>
                            <a:pt x="2116" y="3026"/>
                          </a:lnTo>
                          <a:lnTo>
                            <a:pt x="2126" y="3026"/>
                          </a:lnTo>
                          <a:lnTo>
                            <a:pt x="2130" y="3027"/>
                          </a:lnTo>
                          <a:lnTo>
                            <a:pt x="2133" y="3027"/>
                          </a:lnTo>
                          <a:lnTo>
                            <a:pt x="2145" y="3028"/>
                          </a:lnTo>
                          <a:lnTo>
                            <a:pt x="2159" y="3029"/>
                          </a:lnTo>
                          <a:lnTo>
                            <a:pt x="2167" y="3030"/>
                          </a:lnTo>
                          <a:lnTo>
                            <a:pt x="2176" y="3030"/>
                          </a:lnTo>
                          <a:lnTo>
                            <a:pt x="2178" y="3030"/>
                          </a:lnTo>
                          <a:lnTo>
                            <a:pt x="2181" y="3031"/>
                          </a:lnTo>
                          <a:lnTo>
                            <a:pt x="2188" y="3031"/>
                          </a:lnTo>
                          <a:lnTo>
                            <a:pt x="2197" y="3032"/>
                          </a:lnTo>
                          <a:lnTo>
                            <a:pt x="2205" y="3032"/>
                          </a:lnTo>
                          <a:lnTo>
                            <a:pt x="2213" y="3033"/>
                          </a:lnTo>
                          <a:lnTo>
                            <a:pt x="2221" y="3034"/>
                          </a:lnTo>
                          <a:lnTo>
                            <a:pt x="2231" y="3034"/>
                          </a:lnTo>
                          <a:lnTo>
                            <a:pt x="2240" y="3035"/>
                          </a:lnTo>
                          <a:lnTo>
                            <a:pt x="2249" y="3036"/>
                          </a:lnTo>
                          <a:lnTo>
                            <a:pt x="2259" y="3036"/>
                          </a:lnTo>
                          <a:lnTo>
                            <a:pt x="2268" y="3037"/>
                          </a:lnTo>
                          <a:lnTo>
                            <a:pt x="2274" y="3037"/>
                          </a:lnTo>
                          <a:lnTo>
                            <a:pt x="2280" y="3038"/>
                          </a:lnTo>
                          <a:lnTo>
                            <a:pt x="2281" y="3038"/>
                          </a:lnTo>
                          <a:lnTo>
                            <a:pt x="2283" y="3038"/>
                          </a:lnTo>
                          <a:lnTo>
                            <a:pt x="2283" y="3038"/>
                          </a:lnTo>
                          <a:lnTo>
                            <a:pt x="2284" y="3038"/>
                          </a:lnTo>
                          <a:lnTo>
                            <a:pt x="2294" y="3039"/>
                          </a:lnTo>
                          <a:lnTo>
                            <a:pt x="2304" y="3039"/>
                          </a:lnTo>
                          <a:lnTo>
                            <a:pt x="2313" y="3040"/>
                          </a:lnTo>
                          <a:lnTo>
                            <a:pt x="2323" y="3040"/>
                          </a:lnTo>
                          <a:lnTo>
                            <a:pt x="2328" y="3041"/>
                          </a:lnTo>
                          <a:lnTo>
                            <a:pt x="2332" y="3041"/>
                          </a:lnTo>
                          <a:lnTo>
                            <a:pt x="2335" y="3041"/>
                          </a:lnTo>
                          <a:lnTo>
                            <a:pt x="2338" y="3041"/>
                          </a:lnTo>
                          <a:lnTo>
                            <a:pt x="2345" y="3042"/>
                          </a:lnTo>
                          <a:lnTo>
                            <a:pt x="2352" y="3042"/>
                          </a:lnTo>
                          <a:lnTo>
                            <a:pt x="2363" y="3043"/>
                          </a:lnTo>
                          <a:lnTo>
                            <a:pt x="2373" y="3044"/>
                          </a:lnTo>
                          <a:lnTo>
                            <a:pt x="2384" y="3044"/>
                          </a:lnTo>
                          <a:lnTo>
                            <a:pt x="2395" y="3045"/>
                          </a:lnTo>
                          <a:lnTo>
                            <a:pt x="2403" y="3046"/>
                          </a:lnTo>
                          <a:lnTo>
                            <a:pt x="2412" y="3046"/>
                          </a:lnTo>
                          <a:lnTo>
                            <a:pt x="2426" y="3047"/>
                          </a:lnTo>
                          <a:lnTo>
                            <a:pt x="2439" y="3048"/>
                          </a:lnTo>
                          <a:lnTo>
                            <a:pt x="2441" y="3048"/>
                          </a:lnTo>
                          <a:lnTo>
                            <a:pt x="2443" y="3048"/>
                          </a:lnTo>
                          <a:lnTo>
                            <a:pt x="2448" y="3048"/>
                          </a:lnTo>
                          <a:lnTo>
                            <a:pt x="2452" y="3048"/>
                          </a:lnTo>
                          <a:lnTo>
                            <a:pt x="2456" y="3049"/>
                          </a:lnTo>
                          <a:lnTo>
                            <a:pt x="2461" y="3049"/>
                          </a:lnTo>
                          <a:lnTo>
                            <a:pt x="2463" y="3049"/>
                          </a:lnTo>
                          <a:lnTo>
                            <a:pt x="2465" y="3049"/>
                          </a:lnTo>
                          <a:lnTo>
                            <a:pt x="2479" y="3050"/>
                          </a:lnTo>
                          <a:lnTo>
                            <a:pt x="2494" y="3051"/>
                          </a:lnTo>
                          <a:lnTo>
                            <a:pt x="2500" y="3051"/>
                          </a:lnTo>
                          <a:lnTo>
                            <a:pt x="2505" y="3051"/>
                          </a:lnTo>
                          <a:lnTo>
                            <a:pt x="2516" y="3052"/>
                          </a:lnTo>
                          <a:lnTo>
                            <a:pt x="2528" y="3053"/>
                          </a:lnTo>
                          <a:lnTo>
                            <a:pt x="2538" y="3053"/>
                          </a:lnTo>
                          <a:lnTo>
                            <a:pt x="2549" y="3054"/>
                          </a:lnTo>
                          <a:lnTo>
                            <a:pt x="2557" y="3054"/>
                          </a:lnTo>
                          <a:lnTo>
                            <a:pt x="2566" y="3055"/>
                          </a:lnTo>
                          <a:lnTo>
                            <a:pt x="2576" y="3055"/>
                          </a:lnTo>
                          <a:lnTo>
                            <a:pt x="2586" y="3056"/>
                          </a:lnTo>
                          <a:lnTo>
                            <a:pt x="2596" y="3056"/>
                          </a:lnTo>
                          <a:lnTo>
                            <a:pt x="2606" y="3057"/>
                          </a:lnTo>
                          <a:lnTo>
                            <a:pt x="2616" y="3057"/>
                          </a:lnTo>
                          <a:lnTo>
                            <a:pt x="2627" y="3058"/>
                          </a:lnTo>
                          <a:lnTo>
                            <a:pt x="2636" y="3058"/>
                          </a:lnTo>
                          <a:lnTo>
                            <a:pt x="2645" y="3059"/>
                          </a:lnTo>
                          <a:lnTo>
                            <a:pt x="2654" y="3059"/>
                          </a:lnTo>
                          <a:lnTo>
                            <a:pt x="2664" y="3061"/>
                          </a:lnTo>
                          <a:lnTo>
                            <a:pt x="2675" y="3061"/>
                          </a:lnTo>
                          <a:lnTo>
                            <a:pt x="2686" y="3062"/>
                          </a:lnTo>
                          <a:lnTo>
                            <a:pt x="2695" y="3062"/>
                          </a:lnTo>
                          <a:lnTo>
                            <a:pt x="2704" y="3063"/>
                          </a:lnTo>
                          <a:lnTo>
                            <a:pt x="2713" y="3063"/>
                          </a:lnTo>
                          <a:lnTo>
                            <a:pt x="2722" y="3063"/>
                          </a:lnTo>
                          <a:lnTo>
                            <a:pt x="2728" y="3064"/>
                          </a:lnTo>
                          <a:lnTo>
                            <a:pt x="2734" y="3064"/>
                          </a:lnTo>
                          <a:lnTo>
                            <a:pt x="2736" y="3064"/>
                          </a:lnTo>
                          <a:lnTo>
                            <a:pt x="2738" y="3064"/>
                          </a:lnTo>
                          <a:lnTo>
                            <a:pt x="2743" y="3064"/>
                          </a:lnTo>
                          <a:lnTo>
                            <a:pt x="2748" y="3064"/>
                          </a:lnTo>
                          <a:lnTo>
                            <a:pt x="2756" y="3065"/>
                          </a:lnTo>
                          <a:lnTo>
                            <a:pt x="2765" y="3065"/>
                          </a:lnTo>
                          <a:lnTo>
                            <a:pt x="2774" y="3066"/>
                          </a:lnTo>
                          <a:lnTo>
                            <a:pt x="2782" y="3066"/>
                          </a:lnTo>
                          <a:lnTo>
                            <a:pt x="2795" y="3066"/>
                          </a:lnTo>
                          <a:lnTo>
                            <a:pt x="2806" y="3067"/>
                          </a:lnTo>
                          <a:lnTo>
                            <a:pt x="2815" y="3067"/>
                          </a:lnTo>
                          <a:lnTo>
                            <a:pt x="2824" y="3068"/>
                          </a:lnTo>
                          <a:lnTo>
                            <a:pt x="2834" y="3068"/>
                          </a:lnTo>
                          <a:lnTo>
                            <a:pt x="2843" y="3069"/>
                          </a:lnTo>
                          <a:lnTo>
                            <a:pt x="2848" y="3069"/>
                          </a:lnTo>
                          <a:lnTo>
                            <a:pt x="2853" y="3069"/>
                          </a:lnTo>
                          <a:lnTo>
                            <a:pt x="2858" y="3069"/>
                          </a:lnTo>
                          <a:lnTo>
                            <a:pt x="2864" y="3069"/>
                          </a:lnTo>
                          <a:lnTo>
                            <a:pt x="2866" y="3069"/>
                          </a:lnTo>
                          <a:lnTo>
                            <a:pt x="2867" y="3070"/>
                          </a:lnTo>
                          <a:lnTo>
                            <a:pt x="2876" y="3070"/>
                          </a:lnTo>
                          <a:lnTo>
                            <a:pt x="2886" y="3070"/>
                          </a:lnTo>
                          <a:lnTo>
                            <a:pt x="2896" y="3071"/>
                          </a:lnTo>
                          <a:lnTo>
                            <a:pt x="2905" y="3071"/>
                          </a:lnTo>
                          <a:lnTo>
                            <a:pt x="2917" y="3072"/>
                          </a:lnTo>
                          <a:lnTo>
                            <a:pt x="2930" y="3072"/>
                          </a:lnTo>
                          <a:lnTo>
                            <a:pt x="2939" y="3072"/>
                          </a:lnTo>
                          <a:lnTo>
                            <a:pt x="2948" y="3073"/>
                          </a:lnTo>
                          <a:lnTo>
                            <a:pt x="2957" y="3073"/>
                          </a:lnTo>
                          <a:lnTo>
                            <a:pt x="2967" y="3073"/>
                          </a:lnTo>
                          <a:lnTo>
                            <a:pt x="2971" y="3074"/>
                          </a:lnTo>
                          <a:lnTo>
                            <a:pt x="2976" y="3074"/>
                          </a:lnTo>
                          <a:lnTo>
                            <a:pt x="2977" y="3074"/>
                          </a:lnTo>
                          <a:lnTo>
                            <a:pt x="2978" y="3074"/>
                          </a:lnTo>
                          <a:lnTo>
                            <a:pt x="2981" y="3074"/>
                          </a:lnTo>
                          <a:lnTo>
                            <a:pt x="2984" y="3074"/>
                          </a:lnTo>
                          <a:lnTo>
                            <a:pt x="2988" y="3074"/>
                          </a:lnTo>
                          <a:lnTo>
                            <a:pt x="2993" y="3074"/>
                          </a:lnTo>
                          <a:lnTo>
                            <a:pt x="3003" y="3075"/>
                          </a:lnTo>
                          <a:lnTo>
                            <a:pt x="3012" y="3075"/>
                          </a:lnTo>
                          <a:lnTo>
                            <a:pt x="3021" y="3075"/>
                          </a:lnTo>
                          <a:lnTo>
                            <a:pt x="3031" y="3076"/>
                          </a:lnTo>
                          <a:lnTo>
                            <a:pt x="3043" y="3076"/>
                          </a:lnTo>
                          <a:lnTo>
                            <a:pt x="3056" y="3076"/>
                          </a:lnTo>
                          <a:lnTo>
                            <a:pt x="3065" y="3077"/>
                          </a:lnTo>
                          <a:lnTo>
                            <a:pt x="3072" y="3077"/>
                          </a:lnTo>
                          <a:lnTo>
                            <a:pt x="3080" y="3077"/>
                          </a:lnTo>
                          <a:lnTo>
                            <a:pt x="3087" y="3078"/>
                          </a:lnTo>
                          <a:lnTo>
                            <a:pt x="3090" y="3078"/>
                          </a:lnTo>
                          <a:lnTo>
                            <a:pt x="3093" y="3078"/>
                          </a:lnTo>
                          <a:lnTo>
                            <a:pt x="3093" y="3078"/>
                          </a:lnTo>
                          <a:lnTo>
                            <a:pt x="3094" y="3078"/>
                          </a:lnTo>
                          <a:lnTo>
                            <a:pt x="3108" y="3078"/>
                          </a:lnTo>
                          <a:lnTo>
                            <a:pt x="3121" y="3079"/>
                          </a:lnTo>
                          <a:lnTo>
                            <a:pt x="3131" y="3079"/>
                          </a:lnTo>
                          <a:lnTo>
                            <a:pt x="3140" y="3079"/>
                          </a:lnTo>
                          <a:lnTo>
                            <a:pt x="3150" y="3079"/>
                          </a:lnTo>
                          <a:lnTo>
                            <a:pt x="3159" y="3080"/>
                          </a:lnTo>
                          <a:lnTo>
                            <a:pt x="3173" y="3080"/>
                          </a:lnTo>
                          <a:lnTo>
                            <a:pt x="3187" y="3081"/>
                          </a:lnTo>
                          <a:lnTo>
                            <a:pt x="3197" y="3081"/>
                          </a:lnTo>
                          <a:lnTo>
                            <a:pt x="3206" y="3081"/>
                          </a:lnTo>
                          <a:lnTo>
                            <a:pt x="3215" y="3081"/>
                          </a:lnTo>
                          <a:lnTo>
                            <a:pt x="3225" y="3082"/>
                          </a:lnTo>
                          <a:lnTo>
                            <a:pt x="3240" y="3082"/>
                          </a:lnTo>
                          <a:lnTo>
                            <a:pt x="3253" y="3083"/>
                          </a:lnTo>
                          <a:lnTo>
                            <a:pt x="3262" y="3083"/>
                          </a:lnTo>
                          <a:lnTo>
                            <a:pt x="3272" y="3083"/>
                          </a:lnTo>
                          <a:lnTo>
                            <a:pt x="3282" y="3083"/>
                          </a:lnTo>
                          <a:lnTo>
                            <a:pt x="3291" y="3083"/>
                          </a:lnTo>
                          <a:lnTo>
                            <a:pt x="3302" y="3084"/>
                          </a:lnTo>
                          <a:lnTo>
                            <a:pt x="3313" y="3084"/>
                          </a:lnTo>
                          <a:lnTo>
                            <a:pt x="3315" y="3084"/>
                          </a:lnTo>
                          <a:lnTo>
                            <a:pt x="3317" y="3084"/>
                          </a:lnTo>
                          <a:lnTo>
                            <a:pt x="3319" y="3084"/>
                          </a:lnTo>
                          <a:lnTo>
                            <a:pt x="3321" y="3084"/>
                          </a:lnTo>
                          <a:lnTo>
                            <a:pt x="3330" y="3085"/>
                          </a:lnTo>
                          <a:lnTo>
                            <a:pt x="3340" y="3085"/>
                          </a:lnTo>
                          <a:lnTo>
                            <a:pt x="3349" y="3085"/>
                          </a:lnTo>
                          <a:lnTo>
                            <a:pt x="3358" y="3085"/>
                          </a:lnTo>
                          <a:lnTo>
                            <a:pt x="3374" y="3086"/>
                          </a:lnTo>
                          <a:lnTo>
                            <a:pt x="3388" y="3086"/>
                          </a:lnTo>
                          <a:lnTo>
                            <a:pt x="3396" y="3086"/>
                          </a:lnTo>
                          <a:lnTo>
                            <a:pt x="3405" y="3086"/>
                          </a:lnTo>
                          <a:lnTo>
                            <a:pt x="3413" y="3086"/>
                          </a:lnTo>
                          <a:lnTo>
                            <a:pt x="3420" y="3087"/>
                          </a:lnTo>
                          <a:lnTo>
                            <a:pt x="3423" y="3087"/>
                          </a:lnTo>
                          <a:lnTo>
                            <a:pt x="3426" y="3087"/>
                          </a:lnTo>
                          <a:lnTo>
                            <a:pt x="3428" y="3087"/>
                          </a:lnTo>
                          <a:lnTo>
                            <a:pt x="3432" y="3087"/>
                          </a:lnTo>
                          <a:lnTo>
                            <a:pt x="3444" y="3087"/>
                          </a:lnTo>
                          <a:lnTo>
                            <a:pt x="3457" y="3087"/>
                          </a:lnTo>
                          <a:lnTo>
                            <a:pt x="3467" y="3088"/>
                          </a:lnTo>
                          <a:lnTo>
                            <a:pt x="3477" y="3088"/>
                          </a:lnTo>
                          <a:lnTo>
                            <a:pt x="3486" y="3088"/>
                          </a:lnTo>
                          <a:lnTo>
                            <a:pt x="3495" y="3088"/>
                          </a:lnTo>
                          <a:lnTo>
                            <a:pt x="3511" y="3089"/>
                          </a:lnTo>
                          <a:lnTo>
                            <a:pt x="3525" y="3089"/>
                          </a:lnTo>
                          <a:lnTo>
                            <a:pt x="3536" y="3089"/>
                          </a:lnTo>
                          <a:lnTo>
                            <a:pt x="3546" y="3089"/>
                          </a:lnTo>
                          <a:lnTo>
                            <a:pt x="3556" y="3089"/>
                          </a:lnTo>
                          <a:lnTo>
                            <a:pt x="3567" y="3090"/>
                          </a:lnTo>
                          <a:lnTo>
                            <a:pt x="3581" y="3090"/>
                          </a:lnTo>
                          <a:lnTo>
                            <a:pt x="3595" y="3090"/>
                          </a:lnTo>
                          <a:lnTo>
                            <a:pt x="3606" y="3090"/>
                          </a:lnTo>
                          <a:lnTo>
                            <a:pt x="3616" y="3091"/>
                          </a:lnTo>
                          <a:lnTo>
                            <a:pt x="3626" y="3091"/>
                          </a:lnTo>
                          <a:lnTo>
                            <a:pt x="3636" y="3091"/>
                          </a:lnTo>
                          <a:lnTo>
                            <a:pt x="3651" y="3091"/>
                          </a:lnTo>
                          <a:lnTo>
                            <a:pt x="3667" y="3091"/>
                          </a:lnTo>
                          <a:lnTo>
                            <a:pt x="3677" y="3092"/>
                          </a:lnTo>
                          <a:lnTo>
                            <a:pt x="3687" y="3092"/>
                          </a:lnTo>
                          <a:lnTo>
                            <a:pt x="3697" y="3092"/>
                          </a:lnTo>
                          <a:lnTo>
                            <a:pt x="3708" y="3092"/>
                          </a:lnTo>
                          <a:lnTo>
                            <a:pt x="3722" y="3092"/>
                          </a:lnTo>
                          <a:lnTo>
                            <a:pt x="3738" y="3092"/>
                          </a:lnTo>
                          <a:lnTo>
                            <a:pt x="3751" y="3093"/>
                          </a:lnTo>
                          <a:lnTo>
                            <a:pt x="3765" y="3093"/>
                          </a:lnTo>
                          <a:lnTo>
                            <a:pt x="3767" y="3093"/>
                          </a:lnTo>
                          <a:lnTo>
                            <a:pt x="3767" y="3093"/>
                          </a:lnTo>
                          <a:lnTo>
                            <a:pt x="3773" y="3093"/>
                          </a:lnTo>
                          <a:lnTo>
                            <a:pt x="3779" y="3093"/>
                          </a:lnTo>
                          <a:lnTo>
                            <a:pt x="3794" y="3093"/>
                          </a:lnTo>
                          <a:lnTo>
                            <a:pt x="3810" y="3093"/>
                          </a:lnTo>
                          <a:lnTo>
                            <a:pt x="3819" y="3095"/>
                          </a:lnTo>
                          <a:lnTo>
                            <a:pt x="3829" y="3095"/>
                          </a:lnTo>
                          <a:lnTo>
                            <a:pt x="3840" y="3095"/>
                          </a:lnTo>
                          <a:lnTo>
                            <a:pt x="3850" y="3095"/>
                          </a:lnTo>
                          <a:lnTo>
                            <a:pt x="3864" y="3095"/>
                          </a:lnTo>
                          <a:lnTo>
                            <a:pt x="3879" y="3095"/>
                          </a:lnTo>
                          <a:lnTo>
                            <a:pt x="3881" y="3095"/>
                          </a:lnTo>
                          <a:lnTo>
                            <a:pt x="3884" y="3095"/>
                          </a:lnTo>
                          <a:lnTo>
                            <a:pt x="3885" y="3095"/>
                          </a:lnTo>
                          <a:lnTo>
                            <a:pt x="3886" y="3095"/>
                          </a:lnTo>
                          <a:lnTo>
                            <a:pt x="3895" y="3095"/>
                          </a:lnTo>
                          <a:lnTo>
                            <a:pt x="3905" y="3095"/>
                          </a:lnTo>
                          <a:lnTo>
                            <a:pt x="3915" y="3095"/>
                          </a:lnTo>
                          <a:lnTo>
                            <a:pt x="3924" y="3096"/>
                          </a:lnTo>
                          <a:lnTo>
                            <a:pt x="3940" y="3096"/>
                          </a:lnTo>
                          <a:lnTo>
                            <a:pt x="3954" y="3096"/>
                          </a:lnTo>
                          <a:lnTo>
                            <a:pt x="3965" y="3096"/>
                          </a:lnTo>
                          <a:lnTo>
                            <a:pt x="3976" y="3096"/>
                          </a:lnTo>
                          <a:lnTo>
                            <a:pt x="3986" y="3096"/>
                          </a:lnTo>
                          <a:lnTo>
                            <a:pt x="3996" y="3096"/>
                          </a:lnTo>
                          <a:lnTo>
                            <a:pt x="4005" y="3096"/>
                          </a:lnTo>
                          <a:lnTo>
                            <a:pt x="4013" y="3096"/>
                          </a:lnTo>
                          <a:lnTo>
                            <a:pt x="4020" y="3096"/>
                          </a:lnTo>
                          <a:lnTo>
                            <a:pt x="4028" y="3096"/>
                          </a:lnTo>
                          <a:lnTo>
                            <a:pt x="4040" y="3097"/>
                          </a:lnTo>
                          <a:lnTo>
                            <a:pt x="4051" y="3097"/>
                          </a:lnTo>
                          <a:lnTo>
                            <a:pt x="4062" y="3097"/>
                          </a:lnTo>
                          <a:lnTo>
                            <a:pt x="4074" y="3097"/>
                          </a:lnTo>
                          <a:lnTo>
                            <a:pt x="4088" y="3097"/>
                          </a:lnTo>
                          <a:lnTo>
                            <a:pt x="4101" y="3097"/>
                          </a:lnTo>
                          <a:lnTo>
                            <a:pt x="4117" y="3097"/>
                          </a:lnTo>
                          <a:lnTo>
                            <a:pt x="4131" y="3097"/>
                          </a:lnTo>
                          <a:lnTo>
                            <a:pt x="4133" y="3097"/>
                          </a:lnTo>
                          <a:lnTo>
                            <a:pt x="4134" y="3097"/>
                          </a:lnTo>
                          <a:lnTo>
                            <a:pt x="4139" y="3097"/>
                          </a:lnTo>
                          <a:lnTo>
                            <a:pt x="4143" y="3097"/>
                          </a:lnTo>
                          <a:lnTo>
                            <a:pt x="4146" y="3097"/>
                          </a:lnTo>
                          <a:lnTo>
                            <a:pt x="4150" y="3097"/>
                          </a:lnTo>
                          <a:lnTo>
                            <a:pt x="4163" y="3097"/>
                          </a:lnTo>
                          <a:lnTo>
                            <a:pt x="4177" y="3097"/>
                          </a:lnTo>
                          <a:lnTo>
                            <a:pt x="4195" y="3097"/>
                          </a:lnTo>
                          <a:lnTo>
                            <a:pt x="4214" y="3097"/>
                          </a:lnTo>
                          <a:lnTo>
                            <a:pt x="4232" y="3097"/>
                          </a:lnTo>
                          <a:lnTo>
                            <a:pt x="4252" y="3097"/>
                          </a:lnTo>
                          <a:lnTo>
                            <a:pt x="4289" y="3097"/>
                          </a:lnTo>
                          <a:lnTo>
                            <a:pt x="4327" y="3097"/>
                          </a:lnTo>
                          <a:lnTo>
                            <a:pt x="4365" y="3097"/>
                          </a:lnTo>
                          <a:lnTo>
                            <a:pt x="4402" y="3097"/>
                          </a:lnTo>
                          <a:lnTo>
                            <a:pt x="4409" y="3097"/>
                          </a:lnTo>
                          <a:lnTo>
                            <a:pt x="4415" y="3097"/>
                          </a:lnTo>
                          <a:lnTo>
                            <a:pt x="4415" y="3097"/>
                          </a:lnTo>
                          <a:lnTo>
                            <a:pt x="4415" y="3097"/>
                          </a:lnTo>
                          <a:lnTo>
                            <a:pt x="4416" y="3097"/>
                          </a:lnTo>
                          <a:lnTo>
                            <a:pt x="4417" y="3097"/>
                          </a:lnTo>
                          <a:lnTo>
                            <a:pt x="4423" y="3097"/>
                          </a:lnTo>
                          <a:lnTo>
                            <a:pt x="4428" y="3097"/>
                          </a:lnTo>
                          <a:lnTo>
                            <a:pt x="4441" y="3097"/>
                          </a:lnTo>
                          <a:lnTo>
                            <a:pt x="4453" y="3097"/>
                          </a:lnTo>
                          <a:lnTo>
                            <a:pt x="4465" y="3097"/>
                          </a:lnTo>
                          <a:lnTo>
                            <a:pt x="4478" y="3097"/>
                          </a:lnTo>
                          <a:lnTo>
                            <a:pt x="4488" y="3097"/>
                          </a:lnTo>
                          <a:lnTo>
                            <a:pt x="4498" y="3097"/>
                          </a:lnTo>
                          <a:lnTo>
                            <a:pt x="4512" y="3097"/>
                          </a:lnTo>
                          <a:lnTo>
                            <a:pt x="4525" y="3097"/>
                          </a:lnTo>
                          <a:lnTo>
                            <a:pt x="4539" y="3097"/>
                          </a:lnTo>
                          <a:lnTo>
                            <a:pt x="4552" y="3097"/>
                          </a:lnTo>
                          <a:lnTo>
                            <a:pt x="4564" y="3097"/>
                          </a:lnTo>
                          <a:lnTo>
                            <a:pt x="4578" y="3096"/>
                          </a:lnTo>
                          <a:lnTo>
                            <a:pt x="4581" y="3096"/>
                          </a:lnTo>
                          <a:lnTo>
                            <a:pt x="4585" y="3096"/>
                          </a:lnTo>
                          <a:lnTo>
                            <a:pt x="4595" y="3096"/>
                          </a:lnTo>
                          <a:lnTo>
                            <a:pt x="4606" y="3096"/>
                          </a:lnTo>
                          <a:lnTo>
                            <a:pt x="4616" y="3096"/>
                          </a:lnTo>
                          <a:lnTo>
                            <a:pt x="4626" y="3096"/>
                          </a:lnTo>
                          <a:lnTo>
                            <a:pt x="4639" y="3096"/>
                          </a:lnTo>
                          <a:lnTo>
                            <a:pt x="4652" y="3096"/>
                          </a:lnTo>
                          <a:lnTo>
                            <a:pt x="4663" y="3096"/>
                          </a:lnTo>
                          <a:lnTo>
                            <a:pt x="4676" y="3096"/>
                          </a:lnTo>
                          <a:lnTo>
                            <a:pt x="4688" y="3096"/>
                          </a:lnTo>
                          <a:lnTo>
                            <a:pt x="4699" y="3095"/>
                          </a:lnTo>
                          <a:lnTo>
                            <a:pt x="4713" y="3095"/>
                          </a:lnTo>
                          <a:lnTo>
                            <a:pt x="4726" y="3095"/>
                          </a:lnTo>
                          <a:lnTo>
                            <a:pt x="4731" y="3095"/>
                          </a:lnTo>
                          <a:lnTo>
                            <a:pt x="4736" y="3095"/>
                          </a:lnTo>
                          <a:lnTo>
                            <a:pt x="4741" y="3095"/>
                          </a:lnTo>
                          <a:lnTo>
                            <a:pt x="4744" y="3095"/>
                          </a:lnTo>
                          <a:lnTo>
                            <a:pt x="4747" y="3095"/>
                          </a:lnTo>
                          <a:lnTo>
                            <a:pt x="4750" y="3095"/>
                          </a:lnTo>
                          <a:lnTo>
                            <a:pt x="4761" y="3095"/>
                          </a:lnTo>
                          <a:lnTo>
                            <a:pt x="4773" y="3095"/>
                          </a:lnTo>
                          <a:lnTo>
                            <a:pt x="4787" y="3093"/>
                          </a:lnTo>
                          <a:lnTo>
                            <a:pt x="4801" y="3093"/>
                          </a:lnTo>
                          <a:lnTo>
                            <a:pt x="4812" y="3093"/>
                          </a:lnTo>
                          <a:lnTo>
                            <a:pt x="4823" y="3093"/>
                          </a:lnTo>
                          <a:lnTo>
                            <a:pt x="4833" y="3093"/>
                          </a:lnTo>
                          <a:lnTo>
                            <a:pt x="4845" y="3093"/>
                          </a:lnTo>
                          <a:lnTo>
                            <a:pt x="4859" y="3093"/>
                          </a:lnTo>
                          <a:lnTo>
                            <a:pt x="4874" y="3092"/>
                          </a:lnTo>
                          <a:lnTo>
                            <a:pt x="4880" y="3092"/>
                          </a:lnTo>
                          <a:lnTo>
                            <a:pt x="4886" y="3092"/>
                          </a:lnTo>
                          <a:lnTo>
                            <a:pt x="4901" y="3092"/>
                          </a:lnTo>
                          <a:lnTo>
                            <a:pt x="4917" y="3092"/>
                          </a:lnTo>
                          <a:lnTo>
                            <a:pt x="4929" y="3092"/>
                          </a:lnTo>
                          <a:lnTo>
                            <a:pt x="4942" y="3091"/>
                          </a:lnTo>
                          <a:lnTo>
                            <a:pt x="4953" y="3091"/>
                          </a:lnTo>
                          <a:lnTo>
                            <a:pt x="4965" y="3091"/>
                          </a:lnTo>
                          <a:lnTo>
                            <a:pt x="4977" y="3091"/>
                          </a:lnTo>
                          <a:lnTo>
                            <a:pt x="4988" y="3091"/>
                          </a:lnTo>
                          <a:lnTo>
                            <a:pt x="4999" y="3090"/>
                          </a:lnTo>
                          <a:lnTo>
                            <a:pt x="5010" y="3090"/>
                          </a:lnTo>
                          <a:lnTo>
                            <a:pt x="5015" y="3090"/>
                          </a:lnTo>
                          <a:lnTo>
                            <a:pt x="5019" y="3090"/>
                          </a:lnTo>
                          <a:lnTo>
                            <a:pt x="5029" y="3090"/>
                          </a:lnTo>
                          <a:lnTo>
                            <a:pt x="5038" y="3090"/>
                          </a:lnTo>
                          <a:lnTo>
                            <a:pt x="5049" y="3090"/>
                          </a:lnTo>
                          <a:lnTo>
                            <a:pt x="5058" y="3089"/>
                          </a:lnTo>
                          <a:lnTo>
                            <a:pt x="5071" y="3089"/>
                          </a:lnTo>
                          <a:lnTo>
                            <a:pt x="5085" y="3089"/>
                          </a:lnTo>
                          <a:lnTo>
                            <a:pt x="5095" y="3089"/>
                          </a:lnTo>
                          <a:lnTo>
                            <a:pt x="5106" y="3088"/>
                          </a:lnTo>
                          <a:lnTo>
                            <a:pt x="5117" y="3088"/>
                          </a:lnTo>
                          <a:lnTo>
                            <a:pt x="5127" y="3088"/>
                          </a:lnTo>
                          <a:lnTo>
                            <a:pt x="5136" y="3088"/>
                          </a:lnTo>
                          <a:lnTo>
                            <a:pt x="5146" y="3088"/>
                          </a:lnTo>
                          <a:lnTo>
                            <a:pt x="5147" y="3088"/>
                          </a:lnTo>
                          <a:lnTo>
                            <a:pt x="5147" y="3088"/>
                          </a:lnTo>
                          <a:lnTo>
                            <a:pt x="5151" y="3087"/>
                          </a:lnTo>
                          <a:lnTo>
                            <a:pt x="5154" y="3087"/>
                          </a:lnTo>
                          <a:lnTo>
                            <a:pt x="5165" y="3087"/>
                          </a:lnTo>
                          <a:lnTo>
                            <a:pt x="5176" y="3087"/>
                          </a:lnTo>
                          <a:lnTo>
                            <a:pt x="5187" y="3087"/>
                          </a:lnTo>
                          <a:lnTo>
                            <a:pt x="5197" y="3086"/>
                          </a:lnTo>
                          <a:lnTo>
                            <a:pt x="5210" y="3086"/>
                          </a:lnTo>
                          <a:lnTo>
                            <a:pt x="5222" y="3086"/>
                          </a:lnTo>
                          <a:lnTo>
                            <a:pt x="5233" y="3086"/>
                          </a:lnTo>
                          <a:lnTo>
                            <a:pt x="5244" y="3085"/>
                          </a:lnTo>
                          <a:lnTo>
                            <a:pt x="5255" y="3085"/>
                          </a:lnTo>
                          <a:lnTo>
                            <a:pt x="5265" y="3085"/>
                          </a:lnTo>
                          <a:lnTo>
                            <a:pt x="5279" y="3084"/>
                          </a:lnTo>
                          <a:lnTo>
                            <a:pt x="5291" y="3084"/>
                          </a:lnTo>
                          <a:lnTo>
                            <a:pt x="5301" y="3084"/>
                          </a:lnTo>
                          <a:lnTo>
                            <a:pt x="5312" y="3084"/>
                          </a:lnTo>
                          <a:lnTo>
                            <a:pt x="5322" y="3083"/>
                          </a:lnTo>
                          <a:lnTo>
                            <a:pt x="5332" y="3083"/>
                          </a:lnTo>
                          <a:lnTo>
                            <a:pt x="5346" y="3083"/>
                          </a:lnTo>
                          <a:lnTo>
                            <a:pt x="5359" y="3082"/>
                          </a:lnTo>
                          <a:lnTo>
                            <a:pt x="5369" y="3082"/>
                          </a:lnTo>
                          <a:lnTo>
                            <a:pt x="5380" y="3082"/>
                          </a:lnTo>
                          <a:lnTo>
                            <a:pt x="5390" y="3081"/>
                          </a:lnTo>
                          <a:lnTo>
                            <a:pt x="5399" y="3081"/>
                          </a:lnTo>
                          <a:lnTo>
                            <a:pt x="5412" y="3081"/>
                          </a:lnTo>
                          <a:lnTo>
                            <a:pt x="5424" y="3080"/>
                          </a:lnTo>
                          <a:lnTo>
                            <a:pt x="5427" y="3080"/>
                          </a:lnTo>
                          <a:lnTo>
                            <a:pt x="5429" y="3080"/>
                          </a:lnTo>
                          <a:lnTo>
                            <a:pt x="5438" y="3080"/>
                          </a:lnTo>
                          <a:lnTo>
                            <a:pt x="5448" y="3080"/>
                          </a:lnTo>
                          <a:lnTo>
                            <a:pt x="5457" y="3079"/>
                          </a:lnTo>
                          <a:lnTo>
                            <a:pt x="5466" y="3079"/>
                          </a:lnTo>
                          <a:lnTo>
                            <a:pt x="5479" y="3079"/>
                          </a:lnTo>
                          <a:lnTo>
                            <a:pt x="5491" y="3078"/>
                          </a:lnTo>
                          <a:lnTo>
                            <a:pt x="5500" y="3078"/>
                          </a:lnTo>
                          <a:lnTo>
                            <a:pt x="5511" y="3078"/>
                          </a:lnTo>
                          <a:lnTo>
                            <a:pt x="5521" y="3077"/>
                          </a:lnTo>
                          <a:lnTo>
                            <a:pt x="5531" y="3077"/>
                          </a:lnTo>
                          <a:lnTo>
                            <a:pt x="5543" y="3077"/>
                          </a:lnTo>
                          <a:lnTo>
                            <a:pt x="5556" y="3076"/>
                          </a:lnTo>
                          <a:lnTo>
                            <a:pt x="5564" y="3076"/>
                          </a:lnTo>
                          <a:lnTo>
                            <a:pt x="5572" y="3076"/>
                          </a:lnTo>
                          <a:lnTo>
                            <a:pt x="5573" y="3076"/>
                          </a:lnTo>
                          <a:lnTo>
                            <a:pt x="5574" y="3076"/>
                          </a:lnTo>
                          <a:lnTo>
                            <a:pt x="5585" y="3075"/>
                          </a:lnTo>
                          <a:lnTo>
                            <a:pt x="5595" y="3075"/>
                          </a:lnTo>
                          <a:lnTo>
                            <a:pt x="5607" y="3075"/>
                          </a:lnTo>
                          <a:lnTo>
                            <a:pt x="5621" y="3074"/>
                          </a:lnTo>
                          <a:lnTo>
                            <a:pt x="5630" y="3074"/>
                          </a:lnTo>
                          <a:lnTo>
                            <a:pt x="5639" y="3073"/>
                          </a:lnTo>
                          <a:lnTo>
                            <a:pt x="5650" y="3073"/>
                          </a:lnTo>
                          <a:lnTo>
                            <a:pt x="5659" y="3073"/>
                          </a:lnTo>
                          <a:lnTo>
                            <a:pt x="5671" y="3072"/>
                          </a:lnTo>
                          <a:lnTo>
                            <a:pt x="5683" y="3072"/>
                          </a:lnTo>
                          <a:lnTo>
                            <a:pt x="5693" y="3071"/>
                          </a:lnTo>
                          <a:lnTo>
                            <a:pt x="5702" y="3071"/>
                          </a:lnTo>
                          <a:lnTo>
                            <a:pt x="5712" y="3071"/>
                          </a:lnTo>
                          <a:lnTo>
                            <a:pt x="5722" y="3070"/>
                          </a:lnTo>
                          <a:lnTo>
                            <a:pt x="5733" y="3070"/>
                          </a:lnTo>
                          <a:lnTo>
                            <a:pt x="5746" y="3069"/>
                          </a:lnTo>
                          <a:lnTo>
                            <a:pt x="5755" y="3069"/>
                          </a:lnTo>
                          <a:lnTo>
                            <a:pt x="5765" y="3068"/>
                          </a:lnTo>
                          <a:lnTo>
                            <a:pt x="5774" y="3068"/>
                          </a:lnTo>
                          <a:lnTo>
                            <a:pt x="5784" y="3068"/>
                          </a:lnTo>
                          <a:lnTo>
                            <a:pt x="5795" y="3067"/>
                          </a:lnTo>
                          <a:lnTo>
                            <a:pt x="5806" y="3067"/>
                          </a:lnTo>
                          <a:lnTo>
                            <a:pt x="5816" y="3066"/>
                          </a:lnTo>
                          <a:lnTo>
                            <a:pt x="5826" y="3066"/>
                          </a:lnTo>
                          <a:lnTo>
                            <a:pt x="5835" y="3065"/>
                          </a:lnTo>
                          <a:lnTo>
                            <a:pt x="5844" y="3065"/>
                          </a:lnTo>
                          <a:lnTo>
                            <a:pt x="5856" y="3065"/>
                          </a:lnTo>
                          <a:lnTo>
                            <a:pt x="5866" y="3064"/>
                          </a:lnTo>
                          <a:lnTo>
                            <a:pt x="5876" y="3064"/>
                          </a:lnTo>
                          <a:lnTo>
                            <a:pt x="5886" y="3063"/>
                          </a:lnTo>
                          <a:lnTo>
                            <a:pt x="5895" y="3063"/>
                          </a:lnTo>
                          <a:lnTo>
                            <a:pt x="5904" y="3062"/>
                          </a:lnTo>
                          <a:lnTo>
                            <a:pt x="5916" y="3062"/>
                          </a:lnTo>
                          <a:lnTo>
                            <a:pt x="5927" y="3061"/>
                          </a:lnTo>
                          <a:lnTo>
                            <a:pt x="5936" y="3061"/>
                          </a:lnTo>
                          <a:lnTo>
                            <a:pt x="5945" y="3059"/>
                          </a:lnTo>
                          <a:lnTo>
                            <a:pt x="5954" y="3059"/>
                          </a:lnTo>
                          <a:lnTo>
                            <a:pt x="5963" y="3059"/>
                          </a:lnTo>
                          <a:lnTo>
                            <a:pt x="5974" y="3058"/>
                          </a:lnTo>
                          <a:lnTo>
                            <a:pt x="5986" y="3057"/>
                          </a:lnTo>
                          <a:lnTo>
                            <a:pt x="5995" y="3057"/>
                          </a:lnTo>
                          <a:lnTo>
                            <a:pt x="6003" y="3057"/>
                          </a:lnTo>
                          <a:lnTo>
                            <a:pt x="6012" y="3056"/>
                          </a:lnTo>
                          <a:lnTo>
                            <a:pt x="6021" y="3056"/>
                          </a:lnTo>
                          <a:lnTo>
                            <a:pt x="6032" y="3055"/>
                          </a:lnTo>
                          <a:lnTo>
                            <a:pt x="6043" y="3054"/>
                          </a:lnTo>
                          <a:lnTo>
                            <a:pt x="6053" y="3054"/>
                          </a:lnTo>
                          <a:lnTo>
                            <a:pt x="6061" y="3054"/>
                          </a:lnTo>
                          <a:lnTo>
                            <a:pt x="6069" y="3053"/>
                          </a:lnTo>
                          <a:lnTo>
                            <a:pt x="6078" y="3053"/>
                          </a:lnTo>
                          <a:lnTo>
                            <a:pt x="6081" y="3053"/>
                          </a:lnTo>
                          <a:lnTo>
                            <a:pt x="6083" y="3052"/>
                          </a:lnTo>
                          <a:lnTo>
                            <a:pt x="6091" y="3052"/>
                          </a:lnTo>
                          <a:lnTo>
                            <a:pt x="6099" y="3052"/>
                          </a:lnTo>
                          <a:lnTo>
                            <a:pt x="6108" y="3051"/>
                          </a:lnTo>
                          <a:lnTo>
                            <a:pt x="6117" y="3051"/>
                          </a:lnTo>
                          <a:lnTo>
                            <a:pt x="6126" y="3050"/>
                          </a:lnTo>
                          <a:lnTo>
                            <a:pt x="6134" y="3050"/>
                          </a:lnTo>
                          <a:lnTo>
                            <a:pt x="6144" y="3049"/>
                          </a:lnTo>
                          <a:lnTo>
                            <a:pt x="6155" y="3048"/>
                          </a:lnTo>
                          <a:lnTo>
                            <a:pt x="6169" y="3047"/>
                          </a:lnTo>
                          <a:lnTo>
                            <a:pt x="6185" y="3047"/>
                          </a:lnTo>
                          <a:lnTo>
                            <a:pt x="6189" y="3046"/>
                          </a:lnTo>
                          <a:lnTo>
                            <a:pt x="6192" y="3046"/>
                          </a:lnTo>
                          <a:lnTo>
                            <a:pt x="6200" y="3046"/>
                          </a:lnTo>
                          <a:lnTo>
                            <a:pt x="6208" y="3045"/>
                          </a:lnTo>
                          <a:lnTo>
                            <a:pt x="6218" y="3045"/>
                          </a:lnTo>
                          <a:lnTo>
                            <a:pt x="6226" y="3044"/>
                          </a:lnTo>
                          <a:lnTo>
                            <a:pt x="6234" y="3044"/>
                          </a:lnTo>
                          <a:lnTo>
                            <a:pt x="6243" y="3043"/>
                          </a:lnTo>
                          <a:lnTo>
                            <a:pt x="6253" y="3042"/>
                          </a:lnTo>
                          <a:lnTo>
                            <a:pt x="6262" y="3042"/>
                          </a:lnTo>
                          <a:lnTo>
                            <a:pt x="6275" y="3041"/>
                          </a:lnTo>
                          <a:lnTo>
                            <a:pt x="6289" y="3040"/>
                          </a:lnTo>
                          <a:lnTo>
                            <a:pt x="6290" y="3040"/>
                          </a:lnTo>
                          <a:lnTo>
                            <a:pt x="6291" y="3040"/>
                          </a:lnTo>
                          <a:lnTo>
                            <a:pt x="6295" y="3040"/>
                          </a:lnTo>
                          <a:lnTo>
                            <a:pt x="6298" y="3040"/>
                          </a:lnTo>
                          <a:lnTo>
                            <a:pt x="6306" y="3039"/>
                          </a:lnTo>
                          <a:lnTo>
                            <a:pt x="6314" y="3038"/>
                          </a:lnTo>
                          <a:lnTo>
                            <a:pt x="6323" y="3038"/>
                          </a:lnTo>
                          <a:lnTo>
                            <a:pt x="6331" y="3037"/>
                          </a:lnTo>
                          <a:lnTo>
                            <a:pt x="6339" y="3037"/>
                          </a:lnTo>
                          <a:lnTo>
                            <a:pt x="6347" y="3036"/>
                          </a:lnTo>
                          <a:lnTo>
                            <a:pt x="6347" y="3036"/>
                          </a:lnTo>
                          <a:lnTo>
                            <a:pt x="6348" y="3036"/>
                          </a:lnTo>
                          <a:lnTo>
                            <a:pt x="6351" y="3036"/>
                          </a:lnTo>
                          <a:lnTo>
                            <a:pt x="6354" y="3036"/>
                          </a:lnTo>
                          <a:lnTo>
                            <a:pt x="6360" y="3035"/>
                          </a:lnTo>
                          <a:lnTo>
                            <a:pt x="6365" y="3035"/>
                          </a:lnTo>
                          <a:lnTo>
                            <a:pt x="6373" y="3034"/>
                          </a:lnTo>
                          <a:lnTo>
                            <a:pt x="6381" y="3034"/>
                          </a:lnTo>
                          <a:lnTo>
                            <a:pt x="6390" y="3033"/>
                          </a:lnTo>
                          <a:lnTo>
                            <a:pt x="6397" y="3033"/>
                          </a:lnTo>
                          <a:lnTo>
                            <a:pt x="6404" y="3032"/>
                          </a:lnTo>
                          <a:lnTo>
                            <a:pt x="6410" y="3032"/>
                          </a:lnTo>
                          <a:lnTo>
                            <a:pt x="6414" y="3031"/>
                          </a:lnTo>
                          <a:lnTo>
                            <a:pt x="6420" y="3031"/>
                          </a:lnTo>
                          <a:lnTo>
                            <a:pt x="6433" y="3030"/>
                          </a:lnTo>
                          <a:lnTo>
                            <a:pt x="6446" y="3029"/>
                          </a:lnTo>
                          <a:lnTo>
                            <a:pt x="6455" y="3028"/>
                          </a:lnTo>
                          <a:lnTo>
                            <a:pt x="6464" y="3028"/>
                          </a:lnTo>
                          <a:lnTo>
                            <a:pt x="6469" y="3027"/>
                          </a:lnTo>
                          <a:lnTo>
                            <a:pt x="6475" y="3027"/>
                          </a:lnTo>
                          <a:lnTo>
                            <a:pt x="6486" y="3026"/>
                          </a:lnTo>
                          <a:lnTo>
                            <a:pt x="6495" y="3024"/>
                          </a:lnTo>
                          <a:lnTo>
                            <a:pt x="6503" y="3024"/>
                          </a:lnTo>
                          <a:lnTo>
                            <a:pt x="6511" y="3023"/>
                          </a:lnTo>
                          <a:lnTo>
                            <a:pt x="6520" y="3022"/>
                          </a:lnTo>
                          <a:lnTo>
                            <a:pt x="6528" y="3022"/>
                          </a:lnTo>
                          <a:lnTo>
                            <a:pt x="6528" y="3022"/>
                          </a:lnTo>
                          <a:lnTo>
                            <a:pt x="6529" y="3021"/>
                          </a:lnTo>
                          <a:lnTo>
                            <a:pt x="6531" y="3021"/>
                          </a:lnTo>
                          <a:lnTo>
                            <a:pt x="6532" y="3021"/>
                          </a:lnTo>
                          <a:lnTo>
                            <a:pt x="6537" y="3021"/>
                          </a:lnTo>
                          <a:lnTo>
                            <a:pt x="6541" y="3020"/>
                          </a:lnTo>
                          <a:lnTo>
                            <a:pt x="6549" y="3020"/>
                          </a:lnTo>
                          <a:lnTo>
                            <a:pt x="6558" y="3019"/>
                          </a:lnTo>
                          <a:lnTo>
                            <a:pt x="6572" y="3018"/>
                          </a:lnTo>
                          <a:lnTo>
                            <a:pt x="6587" y="3017"/>
                          </a:lnTo>
                          <a:lnTo>
                            <a:pt x="6595" y="3016"/>
                          </a:lnTo>
                          <a:lnTo>
                            <a:pt x="6603" y="3015"/>
                          </a:lnTo>
                          <a:lnTo>
                            <a:pt x="6610" y="3014"/>
                          </a:lnTo>
                          <a:lnTo>
                            <a:pt x="6618" y="3014"/>
                          </a:lnTo>
                          <a:lnTo>
                            <a:pt x="6618" y="3014"/>
                          </a:lnTo>
                          <a:lnTo>
                            <a:pt x="6618" y="3014"/>
                          </a:lnTo>
                          <a:lnTo>
                            <a:pt x="6625" y="3013"/>
                          </a:lnTo>
                          <a:lnTo>
                            <a:pt x="6631" y="3013"/>
                          </a:lnTo>
                          <a:lnTo>
                            <a:pt x="6639" y="3012"/>
                          </a:lnTo>
                          <a:lnTo>
                            <a:pt x="6646" y="3011"/>
                          </a:lnTo>
                          <a:lnTo>
                            <a:pt x="6661" y="3010"/>
                          </a:lnTo>
                          <a:lnTo>
                            <a:pt x="6674" y="3008"/>
                          </a:lnTo>
                          <a:lnTo>
                            <a:pt x="6681" y="3008"/>
                          </a:lnTo>
                          <a:lnTo>
                            <a:pt x="6689" y="3007"/>
                          </a:lnTo>
                          <a:lnTo>
                            <a:pt x="6695" y="3007"/>
                          </a:lnTo>
                          <a:lnTo>
                            <a:pt x="6700" y="3006"/>
                          </a:lnTo>
                          <a:lnTo>
                            <a:pt x="6701" y="3006"/>
                          </a:lnTo>
                          <a:lnTo>
                            <a:pt x="6701" y="3006"/>
                          </a:lnTo>
                          <a:lnTo>
                            <a:pt x="6701" y="3006"/>
                          </a:lnTo>
                          <a:lnTo>
                            <a:pt x="6701" y="3006"/>
                          </a:lnTo>
                          <a:lnTo>
                            <a:pt x="6708" y="3005"/>
                          </a:lnTo>
                          <a:lnTo>
                            <a:pt x="6715" y="3004"/>
                          </a:lnTo>
                          <a:lnTo>
                            <a:pt x="6723" y="3004"/>
                          </a:lnTo>
                          <a:lnTo>
                            <a:pt x="6730" y="3003"/>
                          </a:lnTo>
                          <a:lnTo>
                            <a:pt x="6743" y="3002"/>
                          </a:lnTo>
                          <a:lnTo>
                            <a:pt x="6756" y="3000"/>
                          </a:lnTo>
                          <a:lnTo>
                            <a:pt x="6762" y="3000"/>
                          </a:lnTo>
                          <a:lnTo>
                            <a:pt x="6768" y="2999"/>
                          </a:lnTo>
                          <a:lnTo>
                            <a:pt x="6771" y="2999"/>
                          </a:lnTo>
                          <a:lnTo>
                            <a:pt x="6775" y="2998"/>
                          </a:lnTo>
                          <a:lnTo>
                            <a:pt x="6785" y="2997"/>
                          </a:lnTo>
                          <a:lnTo>
                            <a:pt x="6795" y="2996"/>
                          </a:lnTo>
                          <a:lnTo>
                            <a:pt x="6801" y="2995"/>
                          </a:lnTo>
                          <a:lnTo>
                            <a:pt x="6808" y="2994"/>
                          </a:lnTo>
                          <a:lnTo>
                            <a:pt x="6821" y="2993"/>
                          </a:lnTo>
                          <a:lnTo>
                            <a:pt x="6832" y="2992"/>
                          </a:lnTo>
                          <a:lnTo>
                            <a:pt x="6835" y="2990"/>
                          </a:lnTo>
                          <a:lnTo>
                            <a:pt x="6839" y="2990"/>
                          </a:lnTo>
                          <a:lnTo>
                            <a:pt x="6842" y="2990"/>
                          </a:lnTo>
                          <a:lnTo>
                            <a:pt x="6844" y="2989"/>
                          </a:lnTo>
                          <a:lnTo>
                            <a:pt x="6845" y="2989"/>
                          </a:lnTo>
                          <a:lnTo>
                            <a:pt x="6845" y="2989"/>
                          </a:lnTo>
                          <a:lnTo>
                            <a:pt x="6857" y="2988"/>
                          </a:lnTo>
                          <a:lnTo>
                            <a:pt x="6868" y="2986"/>
                          </a:lnTo>
                          <a:lnTo>
                            <a:pt x="6874" y="2985"/>
                          </a:lnTo>
                          <a:lnTo>
                            <a:pt x="6880" y="2985"/>
                          </a:lnTo>
                          <a:lnTo>
                            <a:pt x="6888" y="2984"/>
                          </a:lnTo>
                          <a:lnTo>
                            <a:pt x="6895" y="2983"/>
                          </a:lnTo>
                          <a:lnTo>
                            <a:pt x="6899" y="2982"/>
                          </a:lnTo>
                          <a:lnTo>
                            <a:pt x="6903" y="2982"/>
                          </a:lnTo>
                          <a:lnTo>
                            <a:pt x="6909" y="2981"/>
                          </a:lnTo>
                          <a:lnTo>
                            <a:pt x="6914" y="2980"/>
                          </a:lnTo>
                          <a:lnTo>
                            <a:pt x="6926" y="2979"/>
                          </a:lnTo>
                          <a:lnTo>
                            <a:pt x="6936" y="2977"/>
                          </a:lnTo>
                          <a:lnTo>
                            <a:pt x="6941" y="2976"/>
                          </a:lnTo>
                          <a:lnTo>
                            <a:pt x="6947" y="2976"/>
                          </a:lnTo>
                          <a:lnTo>
                            <a:pt x="6948" y="2975"/>
                          </a:lnTo>
                          <a:lnTo>
                            <a:pt x="6949" y="2975"/>
                          </a:lnTo>
                          <a:lnTo>
                            <a:pt x="6950" y="2975"/>
                          </a:lnTo>
                          <a:lnTo>
                            <a:pt x="6953" y="2975"/>
                          </a:lnTo>
                          <a:lnTo>
                            <a:pt x="6953" y="2975"/>
                          </a:lnTo>
                          <a:lnTo>
                            <a:pt x="6954" y="2975"/>
                          </a:lnTo>
                          <a:lnTo>
                            <a:pt x="6961" y="2974"/>
                          </a:lnTo>
                          <a:lnTo>
                            <a:pt x="6968" y="2973"/>
                          </a:lnTo>
                          <a:lnTo>
                            <a:pt x="6973" y="2972"/>
                          </a:lnTo>
                          <a:lnTo>
                            <a:pt x="6978" y="2971"/>
                          </a:lnTo>
                          <a:lnTo>
                            <a:pt x="6989" y="2969"/>
                          </a:lnTo>
                          <a:lnTo>
                            <a:pt x="6998" y="2968"/>
                          </a:lnTo>
                          <a:lnTo>
                            <a:pt x="6998" y="2968"/>
                          </a:lnTo>
                          <a:lnTo>
                            <a:pt x="6998" y="2968"/>
                          </a:lnTo>
                          <a:lnTo>
                            <a:pt x="7001" y="2968"/>
                          </a:lnTo>
                          <a:lnTo>
                            <a:pt x="7003" y="2967"/>
                          </a:lnTo>
                          <a:lnTo>
                            <a:pt x="7005" y="2967"/>
                          </a:lnTo>
                          <a:lnTo>
                            <a:pt x="7008" y="2966"/>
                          </a:lnTo>
                          <a:lnTo>
                            <a:pt x="7017" y="2965"/>
                          </a:lnTo>
                          <a:lnTo>
                            <a:pt x="7027" y="2963"/>
                          </a:lnTo>
                          <a:lnTo>
                            <a:pt x="7032" y="2962"/>
                          </a:lnTo>
                          <a:lnTo>
                            <a:pt x="7036" y="2961"/>
                          </a:lnTo>
                          <a:lnTo>
                            <a:pt x="7041" y="2961"/>
                          </a:lnTo>
                          <a:lnTo>
                            <a:pt x="7045" y="2960"/>
                          </a:lnTo>
                          <a:lnTo>
                            <a:pt x="7046" y="2960"/>
                          </a:lnTo>
                          <a:lnTo>
                            <a:pt x="7047" y="2960"/>
                          </a:lnTo>
                          <a:lnTo>
                            <a:pt x="7048" y="2959"/>
                          </a:lnTo>
                          <a:lnTo>
                            <a:pt x="7050" y="2959"/>
                          </a:lnTo>
                          <a:lnTo>
                            <a:pt x="7051" y="2959"/>
                          </a:lnTo>
                          <a:lnTo>
                            <a:pt x="7054" y="2958"/>
                          </a:lnTo>
                          <a:lnTo>
                            <a:pt x="7058" y="2958"/>
                          </a:lnTo>
                          <a:lnTo>
                            <a:pt x="7063" y="2956"/>
                          </a:lnTo>
                          <a:lnTo>
                            <a:pt x="7071" y="2954"/>
                          </a:lnTo>
                          <a:lnTo>
                            <a:pt x="7079" y="2953"/>
                          </a:lnTo>
                          <a:lnTo>
                            <a:pt x="7082" y="2952"/>
                          </a:lnTo>
                          <a:lnTo>
                            <a:pt x="7087" y="2951"/>
                          </a:lnTo>
                          <a:lnTo>
                            <a:pt x="7089" y="2951"/>
                          </a:lnTo>
                          <a:lnTo>
                            <a:pt x="7090" y="2950"/>
                          </a:lnTo>
                          <a:lnTo>
                            <a:pt x="7097" y="2949"/>
                          </a:lnTo>
                          <a:lnTo>
                            <a:pt x="7103" y="2948"/>
                          </a:lnTo>
                          <a:lnTo>
                            <a:pt x="7107" y="2947"/>
                          </a:lnTo>
                          <a:lnTo>
                            <a:pt x="7111" y="2946"/>
                          </a:lnTo>
                          <a:lnTo>
                            <a:pt x="7116" y="2945"/>
                          </a:lnTo>
                          <a:lnTo>
                            <a:pt x="7123" y="2943"/>
                          </a:lnTo>
                          <a:lnTo>
                            <a:pt x="7124" y="2943"/>
                          </a:lnTo>
                          <a:lnTo>
                            <a:pt x="7126" y="2943"/>
                          </a:lnTo>
                          <a:lnTo>
                            <a:pt x="7127" y="2942"/>
                          </a:lnTo>
                          <a:lnTo>
                            <a:pt x="7128" y="2942"/>
                          </a:lnTo>
                          <a:lnTo>
                            <a:pt x="7130" y="2941"/>
                          </a:lnTo>
                          <a:lnTo>
                            <a:pt x="7133" y="2941"/>
                          </a:lnTo>
                          <a:lnTo>
                            <a:pt x="7139" y="2939"/>
                          </a:lnTo>
                          <a:lnTo>
                            <a:pt x="7145" y="2938"/>
                          </a:lnTo>
                          <a:lnTo>
                            <a:pt x="7149" y="2937"/>
                          </a:lnTo>
                          <a:lnTo>
                            <a:pt x="7152" y="2936"/>
                          </a:lnTo>
                          <a:lnTo>
                            <a:pt x="7156" y="2935"/>
                          </a:lnTo>
                          <a:lnTo>
                            <a:pt x="7159" y="2934"/>
                          </a:lnTo>
                          <a:lnTo>
                            <a:pt x="7161" y="2934"/>
                          </a:lnTo>
                          <a:lnTo>
                            <a:pt x="7162" y="2933"/>
                          </a:lnTo>
                          <a:lnTo>
                            <a:pt x="7164" y="2933"/>
                          </a:lnTo>
                          <a:lnTo>
                            <a:pt x="7165" y="2933"/>
                          </a:lnTo>
                          <a:lnTo>
                            <a:pt x="7168" y="2932"/>
                          </a:lnTo>
                          <a:lnTo>
                            <a:pt x="7171" y="2931"/>
                          </a:lnTo>
                          <a:lnTo>
                            <a:pt x="7176" y="2929"/>
                          </a:lnTo>
                          <a:lnTo>
                            <a:pt x="7182" y="2928"/>
                          </a:lnTo>
                          <a:lnTo>
                            <a:pt x="7184" y="2927"/>
                          </a:lnTo>
                          <a:lnTo>
                            <a:pt x="7188" y="2926"/>
                          </a:lnTo>
                          <a:lnTo>
                            <a:pt x="7189" y="2926"/>
                          </a:lnTo>
                          <a:lnTo>
                            <a:pt x="7189" y="2925"/>
                          </a:lnTo>
                          <a:lnTo>
                            <a:pt x="7190" y="2925"/>
                          </a:lnTo>
                          <a:lnTo>
                            <a:pt x="7190" y="2925"/>
                          </a:lnTo>
                          <a:lnTo>
                            <a:pt x="7194" y="2924"/>
                          </a:lnTo>
                          <a:lnTo>
                            <a:pt x="7198" y="2921"/>
                          </a:lnTo>
                          <a:lnTo>
                            <a:pt x="7200" y="2920"/>
                          </a:lnTo>
                          <a:lnTo>
                            <a:pt x="7203" y="2919"/>
                          </a:lnTo>
                          <a:lnTo>
                            <a:pt x="7207" y="2918"/>
                          </a:lnTo>
                          <a:lnTo>
                            <a:pt x="7211" y="2916"/>
                          </a:lnTo>
                          <a:lnTo>
                            <a:pt x="7213" y="2916"/>
                          </a:lnTo>
                          <a:lnTo>
                            <a:pt x="7214" y="2915"/>
                          </a:lnTo>
                          <a:lnTo>
                            <a:pt x="7215" y="2915"/>
                          </a:lnTo>
                          <a:lnTo>
                            <a:pt x="7216" y="2914"/>
                          </a:lnTo>
                          <a:lnTo>
                            <a:pt x="7219" y="2913"/>
                          </a:lnTo>
                          <a:lnTo>
                            <a:pt x="7224" y="2911"/>
                          </a:lnTo>
                          <a:lnTo>
                            <a:pt x="7226" y="2910"/>
                          </a:lnTo>
                          <a:lnTo>
                            <a:pt x="7228" y="2909"/>
                          </a:lnTo>
                          <a:lnTo>
                            <a:pt x="7231" y="2907"/>
                          </a:lnTo>
                          <a:lnTo>
                            <a:pt x="7233" y="2906"/>
                          </a:lnTo>
                          <a:lnTo>
                            <a:pt x="7234" y="2906"/>
                          </a:lnTo>
                          <a:lnTo>
                            <a:pt x="7234" y="2905"/>
                          </a:lnTo>
                          <a:lnTo>
                            <a:pt x="7235" y="2905"/>
                          </a:lnTo>
                          <a:lnTo>
                            <a:pt x="7235" y="2905"/>
                          </a:lnTo>
                          <a:lnTo>
                            <a:pt x="7236" y="2905"/>
                          </a:lnTo>
                          <a:lnTo>
                            <a:pt x="7236" y="2904"/>
                          </a:lnTo>
                          <a:lnTo>
                            <a:pt x="7236" y="2904"/>
                          </a:lnTo>
                          <a:lnTo>
                            <a:pt x="7237" y="2904"/>
                          </a:lnTo>
                          <a:lnTo>
                            <a:pt x="7239" y="2902"/>
                          </a:lnTo>
                          <a:lnTo>
                            <a:pt x="7242" y="2900"/>
                          </a:lnTo>
                          <a:lnTo>
                            <a:pt x="7243" y="2899"/>
                          </a:lnTo>
                          <a:lnTo>
                            <a:pt x="7244" y="2898"/>
                          </a:lnTo>
                          <a:lnTo>
                            <a:pt x="7245" y="2897"/>
                          </a:lnTo>
                          <a:lnTo>
                            <a:pt x="7246" y="2897"/>
                          </a:lnTo>
                          <a:lnTo>
                            <a:pt x="7247" y="2896"/>
                          </a:lnTo>
                          <a:lnTo>
                            <a:pt x="7248" y="2895"/>
                          </a:lnTo>
                          <a:lnTo>
                            <a:pt x="7248" y="2895"/>
                          </a:lnTo>
                          <a:lnTo>
                            <a:pt x="7248" y="2895"/>
                          </a:lnTo>
                          <a:lnTo>
                            <a:pt x="7249" y="2894"/>
                          </a:lnTo>
                          <a:lnTo>
                            <a:pt x="7250" y="2893"/>
                          </a:lnTo>
                          <a:lnTo>
                            <a:pt x="7252" y="2891"/>
                          </a:lnTo>
                          <a:lnTo>
                            <a:pt x="7253" y="2890"/>
                          </a:lnTo>
                          <a:lnTo>
                            <a:pt x="7253" y="2888"/>
                          </a:lnTo>
                          <a:lnTo>
                            <a:pt x="7255" y="2887"/>
                          </a:lnTo>
                          <a:lnTo>
                            <a:pt x="7255" y="2886"/>
                          </a:lnTo>
                          <a:lnTo>
                            <a:pt x="7255" y="2886"/>
                          </a:lnTo>
                          <a:lnTo>
                            <a:pt x="8147" y="1196"/>
                          </a:lnTo>
                          <a:lnTo>
                            <a:pt x="8152" y="1186"/>
                          </a:lnTo>
                          <a:lnTo>
                            <a:pt x="8158" y="1174"/>
                          </a:lnTo>
                          <a:lnTo>
                            <a:pt x="8164" y="1164"/>
                          </a:lnTo>
                          <a:lnTo>
                            <a:pt x="8169" y="1154"/>
                          </a:lnTo>
                          <a:lnTo>
                            <a:pt x="8228" y="1044"/>
                          </a:lnTo>
                          <a:lnTo>
                            <a:pt x="8246" y="1007"/>
                          </a:lnTo>
                          <a:lnTo>
                            <a:pt x="8266" y="971"/>
                          </a:lnTo>
                          <a:lnTo>
                            <a:pt x="8284" y="935"/>
                          </a:lnTo>
                          <a:lnTo>
                            <a:pt x="8304" y="899"/>
                          </a:lnTo>
                          <a:lnTo>
                            <a:pt x="8322" y="864"/>
                          </a:lnTo>
                          <a:lnTo>
                            <a:pt x="8341" y="828"/>
                          </a:lnTo>
                          <a:lnTo>
                            <a:pt x="8359" y="793"/>
                          </a:lnTo>
                          <a:lnTo>
                            <a:pt x="8378" y="758"/>
                          </a:lnTo>
                          <a:lnTo>
                            <a:pt x="8420" y="679"/>
                          </a:lnTo>
                          <a:lnTo>
                            <a:pt x="8438" y="645"/>
                          </a:lnTo>
                          <a:lnTo>
                            <a:pt x="8455" y="612"/>
                          </a:lnTo>
                          <a:lnTo>
                            <a:pt x="8473" y="579"/>
                          </a:lnTo>
                          <a:lnTo>
                            <a:pt x="8489" y="546"/>
                          </a:lnTo>
                          <a:lnTo>
                            <a:pt x="8507" y="514"/>
                          </a:lnTo>
                          <a:lnTo>
                            <a:pt x="8524" y="481"/>
                          </a:lnTo>
                          <a:lnTo>
                            <a:pt x="8541" y="449"/>
                          </a:lnTo>
                          <a:lnTo>
                            <a:pt x="8557" y="417"/>
                          </a:lnTo>
                          <a:lnTo>
                            <a:pt x="8603" y="332"/>
                          </a:lnTo>
                          <a:lnTo>
                            <a:pt x="8605" y="328"/>
                          </a:lnTo>
                          <a:lnTo>
                            <a:pt x="8606" y="325"/>
                          </a:lnTo>
                          <a:lnTo>
                            <a:pt x="8606" y="319"/>
                          </a:lnTo>
                          <a:lnTo>
                            <a:pt x="8606" y="315"/>
                          </a:lnTo>
                          <a:close/>
                        </a:path>
                      </a:pathLst>
                    </a:custGeom>
                    <a:gradFill flip="none" rotWithShape="1">
                      <a:gsLst>
                        <a:gs pos="0">
                          <a:schemeClr val="accent3">
                            <a:lumMod val="40000"/>
                            <a:lumOff val="60000"/>
                          </a:schemeClr>
                        </a:gs>
                        <a:gs pos="61000">
                          <a:schemeClr val="accent3"/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  <a:ln>
                      <a:noFill/>
                    </a:ln>
                    <a:effectLst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00">
                        <a:solidFill>
                          <a:schemeClr val="lt1"/>
                        </a:solidFill>
                        <a:latin typeface="OPPOSans R" panose="00020600040101010101" pitchFamily="18" charset="-122"/>
                        <a:ea typeface="OPPOSans R" panose="00020600040101010101" pitchFamily="18" charset="-122"/>
                        <a:cs typeface="OPPOSans R" panose="00020600040101010101" pitchFamily="18" charset="-122"/>
                      </a:endParaRPr>
                    </a:p>
                  </p:txBody>
                </p:sp>
                <p:sp>
                  <p:nvSpPr>
                    <p:cNvPr id="50" name="Freeform 6"/>
                    <p:cNvSpPr/>
                    <p:nvPr/>
                  </p:nvSpPr>
                  <p:spPr bwMode="auto">
                    <a:xfrm>
                      <a:off x="4957763" y="3794532"/>
                      <a:ext cx="2276475" cy="168275"/>
                    </a:xfrm>
                    <a:custGeom>
                      <a:avLst/>
                      <a:gdLst>
                        <a:gd name="T0" fmla="*/ 8576 w 8606"/>
                        <a:gd name="T1" fmla="*/ 357 h 638"/>
                        <a:gd name="T2" fmla="*/ 8451 w 8606"/>
                        <a:gd name="T3" fmla="*/ 404 h 638"/>
                        <a:gd name="T4" fmla="*/ 8238 w 8606"/>
                        <a:gd name="T5" fmla="*/ 448 h 638"/>
                        <a:gd name="T6" fmla="*/ 7944 w 8606"/>
                        <a:gd name="T7" fmla="*/ 489 h 638"/>
                        <a:gd name="T8" fmla="*/ 7575 w 8606"/>
                        <a:gd name="T9" fmla="*/ 526 h 638"/>
                        <a:gd name="T10" fmla="*/ 7140 w 8606"/>
                        <a:gd name="T11" fmla="*/ 558 h 638"/>
                        <a:gd name="T12" fmla="*/ 6646 w 8606"/>
                        <a:gd name="T13" fmla="*/ 586 h 638"/>
                        <a:gd name="T14" fmla="*/ 6101 w 8606"/>
                        <a:gd name="T15" fmla="*/ 609 h 638"/>
                        <a:gd name="T16" fmla="*/ 5511 w 8606"/>
                        <a:gd name="T17" fmla="*/ 625 h 638"/>
                        <a:gd name="T18" fmla="*/ 4884 w 8606"/>
                        <a:gd name="T19" fmla="*/ 635 h 638"/>
                        <a:gd name="T20" fmla="*/ 4228 w 8606"/>
                        <a:gd name="T21" fmla="*/ 638 h 638"/>
                        <a:gd name="T22" fmla="*/ 3574 w 8606"/>
                        <a:gd name="T23" fmla="*/ 634 h 638"/>
                        <a:gd name="T24" fmla="*/ 2952 w 8606"/>
                        <a:gd name="T25" fmla="*/ 622 h 638"/>
                        <a:gd name="T26" fmla="*/ 2370 w 8606"/>
                        <a:gd name="T27" fmla="*/ 604 h 638"/>
                        <a:gd name="T28" fmla="*/ 1835 w 8606"/>
                        <a:gd name="T29" fmla="*/ 580 h 638"/>
                        <a:gd name="T30" fmla="*/ 1355 w 8606"/>
                        <a:gd name="T31" fmla="*/ 551 h 638"/>
                        <a:gd name="T32" fmla="*/ 935 w 8606"/>
                        <a:gd name="T33" fmla="*/ 517 h 638"/>
                        <a:gd name="T34" fmla="*/ 585 w 8606"/>
                        <a:gd name="T35" fmla="*/ 479 h 638"/>
                        <a:gd name="T36" fmla="*/ 309 w 8606"/>
                        <a:gd name="T37" fmla="*/ 438 h 638"/>
                        <a:gd name="T38" fmla="*/ 117 w 8606"/>
                        <a:gd name="T39" fmla="*/ 394 h 638"/>
                        <a:gd name="T40" fmla="*/ 15 w 8606"/>
                        <a:gd name="T41" fmla="*/ 346 h 638"/>
                        <a:gd name="T42" fmla="*/ 9 w 8606"/>
                        <a:gd name="T43" fmla="*/ 297 h 638"/>
                        <a:gd name="T44" fmla="*/ 103 w 8606"/>
                        <a:gd name="T45" fmla="*/ 249 h 638"/>
                        <a:gd name="T46" fmla="*/ 288 w 8606"/>
                        <a:gd name="T47" fmla="*/ 204 h 638"/>
                        <a:gd name="T48" fmla="*/ 556 w 8606"/>
                        <a:gd name="T49" fmla="*/ 162 h 638"/>
                        <a:gd name="T50" fmla="*/ 900 w 8606"/>
                        <a:gd name="T51" fmla="*/ 124 h 638"/>
                        <a:gd name="T52" fmla="*/ 1313 w 8606"/>
                        <a:gd name="T53" fmla="*/ 90 h 638"/>
                        <a:gd name="T54" fmla="*/ 1789 w 8606"/>
                        <a:gd name="T55" fmla="*/ 60 h 638"/>
                        <a:gd name="T56" fmla="*/ 2318 w 8606"/>
                        <a:gd name="T57" fmla="*/ 36 h 638"/>
                        <a:gd name="T58" fmla="*/ 2894 w 8606"/>
                        <a:gd name="T59" fmla="*/ 18 h 638"/>
                        <a:gd name="T60" fmla="*/ 3510 w 8606"/>
                        <a:gd name="T61" fmla="*/ 5 h 638"/>
                        <a:gd name="T62" fmla="*/ 4156 w 8606"/>
                        <a:gd name="T63" fmla="*/ 0 h 638"/>
                        <a:gd name="T64" fmla="*/ 4818 w 8606"/>
                        <a:gd name="T65" fmla="*/ 2 h 638"/>
                        <a:gd name="T66" fmla="*/ 5451 w 8606"/>
                        <a:gd name="T67" fmla="*/ 11 h 638"/>
                        <a:gd name="T68" fmla="*/ 6046 w 8606"/>
                        <a:gd name="T69" fmla="*/ 27 h 638"/>
                        <a:gd name="T70" fmla="*/ 6598 w 8606"/>
                        <a:gd name="T71" fmla="*/ 48 h 638"/>
                        <a:gd name="T72" fmla="*/ 7098 w 8606"/>
                        <a:gd name="T73" fmla="*/ 76 h 638"/>
                        <a:gd name="T74" fmla="*/ 7538 w 8606"/>
                        <a:gd name="T75" fmla="*/ 108 h 638"/>
                        <a:gd name="T76" fmla="*/ 7913 w 8606"/>
                        <a:gd name="T77" fmla="*/ 145 h 638"/>
                        <a:gd name="T78" fmla="*/ 8214 w 8606"/>
                        <a:gd name="T79" fmla="*/ 185 h 638"/>
                        <a:gd name="T80" fmla="*/ 8435 w 8606"/>
                        <a:gd name="T81" fmla="*/ 230 h 638"/>
                        <a:gd name="T82" fmla="*/ 8568 w 8606"/>
                        <a:gd name="T83" fmla="*/ 276 h 638"/>
                        <a:gd name="T84" fmla="*/ 8606 w 8606"/>
                        <a:gd name="T85" fmla="*/ 325 h 63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  <a:cxn ang="0">
                          <a:pos x="T84" y="T85"/>
                        </a:cxn>
                      </a:cxnLst>
                      <a:rect l="0" t="0" r="r" b="b"/>
                      <a:pathLst>
                        <a:path w="8606" h="638">
                          <a:moveTo>
                            <a:pt x="8606" y="325"/>
                          </a:moveTo>
                          <a:lnTo>
                            <a:pt x="8597" y="341"/>
                          </a:lnTo>
                          <a:lnTo>
                            <a:pt x="8576" y="357"/>
                          </a:lnTo>
                          <a:lnTo>
                            <a:pt x="8545" y="373"/>
                          </a:lnTo>
                          <a:lnTo>
                            <a:pt x="8503" y="388"/>
                          </a:lnTo>
                          <a:lnTo>
                            <a:pt x="8451" y="404"/>
                          </a:lnTo>
                          <a:lnTo>
                            <a:pt x="8389" y="419"/>
                          </a:lnTo>
                          <a:lnTo>
                            <a:pt x="8318" y="434"/>
                          </a:lnTo>
                          <a:lnTo>
                            <a:pt x="8238" y="448"/>
                          </a:lnTo>
                          <a:lnTo>
                            <a:pt x="8149" y="463"/>
                          </a:lnTo>
                          <a:lnTo>
                            <a:pt x="8050" y="476"/>
                          </a:lnTo>
                          <a:lnTo>
                            <a:pt x="7944" y="489"/>
                          </a:lnTo>
                          <a:lnTo>
                            <a:pt x="7829" y="502"/>
                          </a:lnTo>
                          <a:lnTo>
                            <a:pt x="7706" y="514"/>
                          </a:lnTo>
                          <a:lnTo>
                            <a:pt x="7575" y="526"/>
                          </a:lnTo>
                          <a:lnTo>
                            <a:pt x="7437" y="538"/>
                          </a:lnTo>
                          <a:lnTo>
                            <a:pt x="7293" y="548"/>
                          </a:lnTo>
                          <a:lnTo>
                            <a:pt x="7140" y="558"/>
                          </a:lnTo>
                          <a:lnTo>
                            <a:pt x="6982" y="569"/>
                          </a:lnTo>
                          <a:lnTo>
                            <a:pt x="6817" y="578"/>
                          </a:lnTo>
                          <a:lnTo>
                            <a:pt x="6646" y="586"/>
                          </a:lnTo>
                          <a:lnTo>
                            <a:pt x="6470" y="594"/>
                          </a:lnTo>
                          <a:lnTo>
                            <a:pt x="6288" y="602"/>
                          </a:lnTo>
                          <a:lnTo>
                            <a:pt x="6101" y="609"/>
                          </a:lnTo>
                          <a:lnTo>
                            <a:pt x="5908" y="615"/>
                          </a:lnTo>
                          <a:lnTo>
                            <a:pt x="5712" y="620"/>
                          </a:lnTo>
                          <a:lnTo>
                            <a:pt x="5511" y="625"/>
                          </a:lnTo>
                          <a:lnTo>
                            <a:pt x="5305" y="629"/>
                          </a:lnTo>
                          <a:lnTo>
                            <a:pt x="5096" y="633"/>
                          </a:lnTo>
                          <a:lnTo>
                            <a:pt x="4884" y="635"/>
                          </a:lnTo>
                          <a:lnTo>
                            <a:pt x="4668" y="637"/>
                          </a:lnTo>
                          <a:lnTo>
                            <a:pt x="4450" y="638"/>
                          </a:lnTo>
                          <a:lnTo>
                            <a:pt x="4228" y="638"/>
                          </a:lnTo>
                          <a:lnTo>
                            <a:pt x="4007" y="637"/>
                          </a:lnTo>
                          <a:lnTo>
                            <a:pt x="3788" y="636"/>
                          </a:lnTo>
                          <a:lnTo>
                            <a:pt x="3574" y="634"/>
                          </a:lnTo>
                          <a:lnTo>
                            <a:pt x="3362" y="630"/>
                          </a:lnTo>
                          <a:lnTo>
                            <a:pt x="3155" y="626"/>
                          </a:lnTo>
                          <a:lnTo>
                            <a:pt x="2952" y="622"/>
                          </a:lnTo>
                          <a:lnTo>
                            <a:pt x="2753" y="617"/>
                          </a:lnTo>
                          <a:lnTo>
                            <a:pt x="2560" y="611"/>
                          </a:lnTo>
                          <a:lnTo>
                            <a:pt x="2370" y="604"/>
                          </a:lnTo>
                          <a:lnTo>
                            <a:pt x="2186" y="596"/>
                          </a:lnTo>
                          <a:lnTo>
                            <a:pt x="2008" y="589"/>
                          </a:lnTo>
                          <a:lnTo>
                            <a:pt x="1835" y="580"/>
                          </a:lnTo>
                          <a:lnTo>
                            <a:pt x="1669" y="571"/>
                          </a:lnTo>
                          <a:lnTo>
                            <a:pt x="1508" y="561"/>
                          </a:lnTo>
                          <a:lnTo>
                            <a:pt x="1355" y="551"/>
                          </a:lnTo>
                          <a:lnTo>
                            <a:pt x="1207" y="541"/>
                          </a:lnTo>
                          <a:lnTo>
                            <a:pt x="1068" y="530"/>
                          </a:lnTo>
                          <a:lnTo>
                            <a:pt x="935" y="517"/>
                          </a:lnTo>
                          <a:lnTo>
                            <a:pt x="810" y="505"/>
                          </a:lnTo>
                          <a:lnTo>
                            <a:pt x="693" y="492"/>
                          </a:lnTo>
                          <a:lnTo>
                            <a:pt x="585" y="479"/>
                          </a:lnTo>
                          <a:lnTo>
                            <a:pt x="484" y="466"/>
                          </a:lnTo>
                          <a:lnTo>
                            <a:pt x="392" y="452"/>
                          </a:lnTo>
                          <a:lnTo>
                            <a:pt x="309" y="438"/>
                          </a:lnTo>
                          <a:lnTo>
                            <a:pt x="235" y="423"/>
                          </a:lnTo>
                          <a:lnTo>
                            <a:pt x="171" y="408"/>
                          </a:lnTo>
                          <a:lnTo>
                            <a:pt x="117" y="394"/>
                          </a:lnTo>
                          <a:lnTo>
                            <a:pt x="72" y="378"/>
                          </a:lnTo>
                          <a:lnTo>
                            <a:pt x="38" y="362"/>
                          </a:lnTo>
                          <a:lnTo>
                            <a:pt x="15" y="346"/>
                          </a:lnTo>
                          <a:lnTo>
                            <a:pt x="2" y="330"/>
                          </a:lnTo>
                          <a:lnTo>
                            <a:pt x="0" y="313"/>
                          </a:lnTo>
                          <a:lnTo>
                            <a:pt x="9" y="297"/>
                          </a:lnTo>
                          <a:lnTo>
                            <a:pt x="30" y="280"/>
                          </a:lnTo>
                          <a:lnTo>
                            <a:pt x="61" y="265"/>
                          </a:lnTo>
                          <a:lnTo>
                            <a:pt x="103" y="249"/>
                          </a:lnTo>
                          <a:lnTo>
                            <a:pt x="155" y="234"/>
                          </a:lnTo>
                          <a:lnTo>
                            <a:pt x="217" y="218"/>
                          </a:lnTo>
                          <a:lnTo>
                            <a:pt x="288" y="204"/>
                          </a:lnTo>
                          <a:lnTo>
                            <a:pt x="368" y="190"/>
                          </a:lnTo>
                          <a:lnTo>
                            <a:pt x="457" y="175"/>
                          </a:lnTo>
                          <a:lnTo>
                            <a:pt x="556" y="162"/>
                          </a:lnTo>
                          <a:lnTo>
                            <a:pt x="662" y="148"/>
                          </a:lnTo>
                          <a:lnTo>
                            <a:pt x="777" y="136"/>
                          </a:lnTo>
                          <a:lnTo>
                            <a:pt x="900" y="124"/>
                          </a:lnTo>
                          <a:lnTo>
                            <a:pt x="1031" y="111"/>
                          </a:lnTo>
                          <a:lnTo>
                            <a:pt x="1169" y="100"/>
                          </a:lnTo>
                          <a:lnTo>
                            <a:pt x="1313" y="90"/>
                          </a:lnTo>
                          <a:lnTo>
                            <a:pt x="1466" y="79"/>
                          </a:lnTo>
                          <a:lnTo>
                            <a:pt x="1624" y="69"/>
                          </a:lnTo>
                          <a:lnTo>
                            <a:pt x="1789" y="60"/>
                          </a:lnTo>
                          <a:lnTo>
                            <a:pt x="1960" y="52"/>
                          </a:lnTo>
                          <a:lnTo>
                            <a:pt x="2136" y="43"/>
                          </a:lnTo>
                          <a:lnTo>
                            <a:pt x="2318" y="36"/>
                          </a:lnTo>
                          <a:lnTo>
                            <a:pt x="2505" y="29"/>
                          </a:lnTo>
                          <a:lnTo>
                            <a:pt x="2698" y="23"/>
                          </a:lnTo>
                          <a:lnTo>
                            <a:pt x="2894" y="18"/>
                          </a:lnTo>
                          <a:lnTo>
                            <a:pt x="3095" y="12"/>
                          </a:lnTo>
                          <a:lnTo>
                            <a:pt x="3301" y="8"/>
                          </a:lnTo>
                          <a:lnTo>
                            <a:pt x="3510" y="5"/>
                          </a:lnTo>
                          <a:lnTo>
                            <a:pt x="3722" y="3"/>
                          </a:lnTo>
                          <a:lnTo>
                            <a:pt x="3938" y="1"/>
                          </a:lnTo>
                          <a:lnTo>
                            <a:pt x="4156" y="0"/>
                          </a:lnTo>
                          <a:lnTo>
                            <a:pt x="4378" y="0"/>
                          </a:lnTo>
                          <a:lnTo>
                            <a:pt x="4599" y="1"/>
                          </a:lnTo>
                          <a:lnTo>
                            <a:pt x="4818" y="2"/>
                          </a:lnTo>
                          <a:lnTo>
                            <a:pt x="5032" y="4"/>
                          </a:lnTo>
                          <a:lnTo>
                            <a:pt x="5244" y="7"/>
                          </a:lnTo>
                          <a:lnTo>
                            <a:pt x="5451" y="11"/>
                          </a:lnTo>
                          <a:lnTo>
                            <a:pt x="5654" y="15"/>
                          </a:lnTo>
                          <a:lnTo>
                            <a:pt x="5853" y="21"/>
                          </a:lnTo>
                          <a:lnTo>
                            <a:pt x="6046" y="27"/>
                          </a:lnTo>
                          <a:lnTo>
                            <a:pt x="6236" y="34"/>
                          </a:lnTo>
                          <a:lnTo>
                            <a:pt x="6420" y="41"/>
                          </a:lnTo>
                          <a:lnTo>
                            <a:pt x="6598" y="48"/>
                          </a:lnTo>
                          <a:lnTo>
                            <a:pt x="6771" y="58"/>
                          </a:lnTo>
                          <a:lnTo>
                            <a:pt x="6937" y="67"/>
                          </a:lnTo>
                          <a:lnTo>
                            <a:pt x="7098" y="76"/>
                          </a:lnTo>
                          <a:lnTo>
                            <a:pt x="7251" y="87"/>
                          </a:lnTo>
                          <a:lnTo>
                            <a:pt x="7399" y="97"/>
                          </a:lnTo>
                          <a:lnTo>
                            <a:pt x="7538" y="108"/>
                          </a:lnTo>
                          <a:lnTo>
                            <a:pt x="7671" y="121"/>
                          </a:lnTo>
                          <a:lnTo>
                            <a:pt x="7796" y="133"/>
                          </a:lnTo>
                          <a:lnTo>
                            <a:pt x="7913" y="145"/>
                          </a:lnTo>
                          <a:lnTo>
                            <a:pt x="8021" y="159"/>
                          </a:lnTo>
                          <a:lnTo>
                            <a:pt x="8122" y="172"/>
                          </a:lnTo>
                          <a:lnTo>
                            <a:pt x="8214" y="185"/>
                          </a:lnTo>
                          <a:lnTo>
                            <a:pt x="8297" y="200"/>
                          </a:lnTo>
                          <a:lnTo>
                            <a:pt x="8371" y="214"/>
                          </a:lnTo>
                          <a:lnTo>
                            <a:pt x="8435" y="230"/>
                          </a:lnTo>
                          <a:lnTo>
                            <a:pt x="8489" y="244"/>
                          </a:lnTo>
                          <a:lnTo>
                            <a:pt x="8534" y="260"/>
                          </a:lnTo>
                          <a:lnTo>
                            <a:pt x="8568" y="276"/>
                          </a:lnTo>
                          <a:lnTo>
                            <a:pt x="8591" y="292"/>
                          </a:lnTo>
                          <a:lnTo>
                            <a:pt x="8604" y="308"/>
                          </a:lnTo>
                          <a:lnTo>
                            <a:pt x="8606" y="325"/>
                          </a:lnTo>
                          <a:close/>
                        </a:path>
                      </a:pathLst>
                    </a:custGeom>
                    <a:gradFill flip="none" rotWithShape="1">
                      <a:gsLst>
                        <a:gs pos="0">
                          <a:schemeClr val="accent3">
                            <a:lumMod val="40000"/>
                            <a:lumOff val="60000"/>
                          </a:schemeClr>
                        </a:gs>
                        <a:gs pos="61000">
                          <a:schemeClr val="accent3"/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  <a:ln>
                      <a:noFill/>
                    </a:ln>
                    <a:effectLst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00">
                        <a:solidFill>
                          <a:schemeClr val="lt1"/>
                        </a:solidFill>
                        <a:latin typeface="OPPOSans R" panose="00020600040101010101" pitchFamily="18" charset="-122"/>
                        <a:ea typeface="OPPOSans R" panose="00020600040101010101" pitchFamily="18" charset="-122"/>
                        <a:cs typeface="OPPOSans R" panose="00020600040101010101" pitchFamily="18" charset="-122"/>
                      </a:endParaRPr>
                    </a:p>
                  </p:txBody>
                </p:sp>
                <p:sp>
                  <p:nvSpPr>
                    <p:cNvPr id="51" name="Rectangle 12"/>
                    <p:cNvSpPr/>
                    <p:nvPr/>
                  </p:nvSpPr>
                  <p:spPr>
                    <a:xfrm>
                      <a:off x="5682493" y="4065492"/>
                      <a:ext cx="818242" cy="316577"/>
                    </a:xfrm>
                    <a:prstGeom prst="rect">
                      <a:avLst/>
                    </a:prstGeom>
                  </p:spPr>
                  <p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2"/>
                          </a:solidFill>
                          <a:latin typeface="OPPOSans H" panose="00020600040101010101" pitchFamily="18" charset="-122"/>
                          <a:ea typeface="OPPOSans H" panose="00020600040101010101" pitchFamily="18" charset="-122"/>
                          <a:cs typeface="OPPOSans H" panose="00020600040101010101" pitchFamily="18" charset="-122"/>
                        </a:rPr>
                        <a:t>62</a:t>
                      </a:r>
                      <a:endParaRPr lang="en-US" sz="1600" b="1" dirty="0">
                        <a:solidFill>
                          <a:schemeClr val="bg2"/>
                        </a:solidFill>
                        <a:latin typeface="OPPOSans H" panose="00020600040101010101" pitchFamily="18" charset="-122"/>
                        <a:ea typeface="OPPOSans H" panose="00020600040101010101" pitchFamily="18" charset="-122"/>
                        <a:cs typeface="OPPOSans H" panose="00020600040101010101" pitchFamily="18" charset="-122"/>
                      </a:endParaRPr>
                    </a:p>
                  </p:txBody>
                </p:sp>
                <p:sp>
                  <p:nvSpPr>
                    <p:cNvPr id="52" name="Freeform 13"/>
                    <p:cNvSpPr/>
                    <p:nvPr/>
                  </p:nvSpPr>
                  <p:spPr bwMode="auto">
                    <a:xfrm>
                      <a:off x="5356225" y="4667175"/>
                      <a:ext cx="1479550" cy="760413"/>
                    </a:xfrm>
                    <a:custGeom>
                      <a:avLst/>
                      <a:gdLst>
                        <a:gd name="T0" fmla="*/ 5563 w 5592"/>
                        <a:gd name="T1" fmla="*/ 177 h 2874"/>
                        <a:gd name="T2" fmla="*/ 5491 w 5592"/>
                        <a:gd name="T3" fmla="*/ 152 h 2874"/>
                        <a:gd name="T4" fmla="*/ 5380 w 5592"/>
                        <a:gd name="T5" fmla="*/ 128 h 2874"/>
                        <a:gd name="T6" fmla="*/ 5270 w 5592"/>
                        <a:gd name="T7" fmla="*/ 111 h 2874"/>
                        <a:gd name="T8" fmla="*/ 5111 w 5592"/>
                        <a:gd name="T9" fmla="*/ 90 h 2874"/>
                        <a:gd name="T10" fmla="*/ 4958 w 5592"/>
                        <a:gd name="T11" fmla="*/ 76 h 2874"/>
                        <a:gd name="T12" fmla="*/ 4827 w 5592"/>
                        <a:gd name="T13" fmla="*/ 65 h 2874"/>
                        <a:gd name="T14" fmla="*/ 4621 w 5592"/>
                        <a:gd name="T15" fmla="*/ 50 h 2874"/>
                        <a:gd name="T16" fmla="*/ 4400 w 5592"/>
                        <a:gd name="T17" fmla="*/ 37 h 2874"/>
                        <a:gd name="T18" fmla="*/ 4182 w 5592"/>
                        <a:gd name="T19" fmla="*/ 27 h 2874"/>
                        <a:gd name="T20" fmla="*/ 3969 w 5592"/>
                        <a:gd name="T21" fmla="*/ 19 h 2874"/>
                        <a:gd name="T22" fmla="*/ 3757 w 5592"/>
                        <a:gd name="T23" fmla="*/ 12 h 2874"/>
                        <a:gd name="T24" fmla="*/ 3560 w 5592"/>
                        <a:gd name="T25" fmla="*/ 8 h 2874"/>
                        <a:gd name="T26" fmla="*/ 3419 w 5592"/>
                        <a:gd name="T27" fmla="*/ 5 h 2874"/>
                        <a:gd name="T28" fmla="*/ 3267 w 5592"/>
                        <a:gd name="T29" fmla="*/ 3 h 2874"/>
                        <a:gd name="T30" fmla="*/ 3132 w 5592"/>
                        <a:gd name="T31" fmla="*/ 2 h 2874"/>
                        <a:gd name="T32" fmla="*/ 2990 w 5592"/>
                        <a:gd name="T33" fmla="*/ 1 h 2874"/>
                        <a:gd name="T34" fmla="*/ 2857 w 5592"/>
                        <a:gd name="T35" fmla="*/ 0 h 2874"/>
                        <a:gd name="T36" fmla="*/ 2717 w 5592"/>
                        <a:gd name="T37" fmla="*/ 0 h 2874"/>
                        <a:gd name="T38" fmla="*/ 2585 w 5592"/>
                        <a:gd name="T39" fmla="*/ 1 h 2874"/>
                        <a:gd name="T40" fmla="*/ 2432 w 5592"/>
                        <a:gd name="T41" fmla="*/ 2 h 2874"/>
                        <a:gd name="T42" fmla="*/ 2281 w 5592"/>
                        <a:gd name="T43" fmla="*/ 3 h 2874"/>
                        <a:gd name="T44" fmla="*/ 2143 w 5592"/>
                        <a:gd name="T45" fmla="*/ 6 h 2874"/>
                        <a:gd name="T46" fmla="*/ 1875 w 5592"/>
                        <a:gd name="T47" fmla="*/ 11 h 2874"/>
                        <a:gd name="T48" fmla="*/ 1742 w 5592"/>
                        <a:gd name="T49" fmla="*/ 15 h 2874"/>
                        <a:gd name="T50" fmla="*/ 1620 w 5592"/>
                        <a:gd name="T51" fmla="*/ 19 h 2874"/>
                        <a:gd name="T52" fmla="*/ 1464 w 5592"/>
                        <a:gd name="T53" fmla="*/ 25 h 2874"/>
                        <a:gd name="T54" fmla="*/ 1236 w 5592"/>
                        <a:gd name="T55" fmla="*/ 35 h 2874"/>
                        <a:gd name="T56" fmla="*/ 1081 w 5592"/>
                        <a:gd name="T57" fmla="*/ 43 h 2874"/>
                        <a:gd name="T58" fmla="*/ 884 w 5592"/>
                        <a:gd name="T59" fmla="*/ 55 h 2874"/>
                        <a:gd name="T60" fmla="*/ 704 w 5592"/>
                        <a:gd name="T61" fmla="*/ 70 h 2874"/>
                        <a:gd name="T62" fmla="*/ 542 w 5592"/>
                        <a:gd name="T63" fmla="*/ 84 h 2874"/>
                        <a:gd name="T64" fmla="*/ 314 w 5592"/>
                        <a:gd name="T65" fmla="*/ 112 h 2874"/>
                        <a:gd name="T66" fmla="*/ 208 w 5592"/>
                        <a:gd name="T67" fmla="*/ 129 h 2874"/>
                        <a:gd name="T68" fmla="*/ 123 w 5592"/>
                        <a:gd name="T69" fmla="*/ 146 h 2874"/>
                        <a:gd name="T70" fmla="*/ 53 w 5592"/>
                        <a:gd name="T71" fmla="*/ 167 h 2874"/>
                        <a:gd name="T72" fmla="*/ 5 w 5592"/>
                        <a:gd name="T73" fmla="*/ 196 h 2874"/>
                        <a:gd name="T74" fmla="*/ 1356 w 5592"/>
                        <a:gd name="T75" fmla="*/ 2776 h 2874"/>
                        <a:gd name="T76" fmla="*/ 1378 w 5592"/>
                        <a:gd name="T77" fmla="*/ 2787 h 2874"/>
                        <a:gd name="T78" fmla="*/ 1424 w 5592"/>
                        <a:gd name="T79" fmla="*/ 2800 h 2874"/>
                        <a:gd name="T80" fmla="*/ 1503 w 5592"/>
                        <a:gd name="T81" fmla="*/ 2814 h 2874"/>
                        <a:gd name="T82" fmla="*/ 1639 w 5592"/>
                        <a:gd name="T83" fmla="*/ 2831 h 2874"/>
                        <a:gd name="T84" fmla="*/ 1721 w 5592"/>
                        <a:gd name="T85" fmla="*/ 2838 h 2874"/>
                        <a:gd name="T86" fmla="*/ 1964 w 5592"/>
                        <a:gd name="T87" fmla="*/ 2854 h 2874"/>
                        <a:gd name="T88" fmla="*/ 2120 w 5592"/>
                        <a:gd name="T89" fmla="*/ 2861 h 2874"/>
                        <a:gd name="T90" fmla="*/ 2310 w 5592"/>
                        <a:gd name="T91" fmla="*/ 2867 h 2874"/>
                        <a:gd name="T92" fmla="*/ 2478 w 5592"/>
                        <a:gd name="T93" fmla="*/ 2871 h 2874"/>
                        <a:gd name="T94" fmla="*/ 2707 w 5592"/>
                        <a:gd name="T95" fmla="*/ 2873 h 2874"/>
                        <a:gd name="T96" fmla="*/ 2934 w 5592"/>
                        <a:gd name="T97" fmla="*/ 2873 h 2874"/>
                        <a:gd name="T98" fmla="*/ 3211 w 5592"/>
                        <a:gd name="T99" fmla="*/ 2869 h 2874"/>
                        <a:gd name="T100" fmla="*/ 3370 w 5592"/>
                        <a:gd name="T101" fmla="*/ 2865 h 2874"/>
                        <a:gd name="T102" fmla="*/ 3505 w 5592"/>
                        <a:gd name="T103" fmla="*/ 2859 h 2874"/>
                        <a:gd name="T104" fmla="*/ 3595 w 5592"/>
                        <a:gd name="T105" fmla="*/ 2855 h 2874"/>
                        <a:gd name="T106" fmla="*/ 3726 w 5592"/>
                        <a:gd name="T107" fmla="*/ 2848 h 2874"/>
                        <a:gd name="T108" fmla="*/ 3818 w 5592"/>
                        <a:gd name="T109" fmla="*/ 2842 h 2874"/>
                        <a:gd name="T110" fmla="*/ 3945 w 5592"/>
                        <a:gd name="T111" fmla="*/ 2832 h 2874"/>
                        <a:gd name="T112" fmla="*/ 4066 w 5592"/>
                        <a:gd name="T113" fmla="*/ 2817 h 2874"/>
                        <a:gd name="T114" fmla="*/ 4126 w 5592"/>
                        <a:gd name="T115" fmla="*/ 2808 h 2874"/>
                        <a:gd name="T116" fmla="*/ 4173 w 5592"/>
                        <a:gd name="T117" fmla="*/ 2799 h 2874"/>
                        <a:gd name="T118" fmla="*/ 4208 w 5592"/>
                        <a:gd name="T119" fmla="*/ 2789 h 2874"/>
                        <a:gd name="T120" fmla="*/ 4231 w 5592"/>
                        <a:gd name="T121" fmla="*/ 2779 h 2874"/>
                        <a:gd name="T122" fmla="*/ 5592 w 5592"/>
                        <a:gd name="T123" fmla="*/ 208 h 287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  <a:cxn ang="0">
                          <a:pos x="T84" y="T85"/>
                        </a:cxn>
                        <a:cxn ang="0">
                          <a:pos x="T86" y="T87"/>
                        </a:cxn>
                        <a:cxn ang="0">
                          <a:pos x="T88" y="T89"/>
                        </a:cxn>
                        <a:cxn ang="0">
                          <a:pos x="T90" y="T91"/>
                        </a:cxn>
                        <a:cxn ang="0">
                          <a:pos x="T92" y="T93"/>
                        </a:cxn>
                        <a:cxn ang="0">
                          <a:pos x="T94" y="T95"/>
                        </a:cxn>
                        <a:cxn ang="0">
                          <a:pos x="T96" y="T97"/>
                        </a:cxn>
                        <a:cxn ang="0">
                          <a:pos x="T98" y="T99"/>
                        </a:cxn>
                        <a:cxn ang="0">
                          <a:pos x="T100" y="T101"/>
                        </a:cxn>
                        <a:cxn ang="0">
                          <a:pos x="T102" y="T103"/>
                        </a:cxn>
                        <a:cxn ang="0">
                          <a:pos x="T104" y="T105"/>
                        </a:cxn>
                        <a:cxn ang="0">
                          <a:pos x="T106" y="T107"/>
                        </a:cxn>
                        <a:cxn ang="0">
                          <a:pos x="T108" y="T109"/>
                        </a:cxn>
                        <a:cxn ang="0">
                          <a:pos x="T110" y="T111"/>
                        </a:cxn>
                        <a:cxn ang="0">
                          <a:pos x="T112" y="T113"/>
                        </a:cxn>
                        <a:cxn ang="0">
                          <a:pos x="T114" y="T115"/>
                        </a:cxn>
                        <a:cxn ang="0">
                          <a:pos x="T116" y="T117"/>
                        </a:cxn>
                        <a:cxn ang="0">
                          <a:pos x="T118" y="T119"/>
                        </a:cxn>
                        <a:cxn ang="0">
                          <a:pos x="T120" y="T121"/>
                        </a:cxn>
                        <a:cxn ang="0">
                          <a:pos x="T122" y="T123"/>
                        </a:cxn>
                      </a:cxnLst>
                      <a:rect l="0" t="0" r="r" b="b"/>
                      <a:pathLst>
                        <a:path w="5592" h="2874">
                          <a:moveTo>
                            <a:pt x="5591" y="203"/>
                          </a:moveTo>
                          <a:lnTo>
                            <a:pt x="5590" y="201"/>
                          </a:lnTo>
                          <a:lnTo>
                            <a:pt x="5589" y="199"/>
                          </a:lnTo>
                          <a:lnTo>
                            <a:pt x="5589" y="198"/>
                          </a:lnTo>
                          <a:lnTo>
                            <a:pt x="5588" y="197"/>
                          </a:lnTo>
                          <a:lnTo>
                            <a:pt x="5586" y="195"/>
                          </a:lnTo>
                          <a:lnTo>
                            <a:pt x="5584" y="192"/>
                          </a:lnTo>
                          <a:lnTo>
                            <a:pt x="5584" y="191"/>
                          </a:lnTo>
                          <a:lnTo>
                            <a:pt x="5583" y="190"/>
                          </a:lnTo>
                          <a:lnTo>
                            <a:pt x="5578" y="187"/>
                          </a:lnTo>
                          <a:lnTo>
                            <a:pt x="5574" y="184"/>
                          </a:lnTo>
                          <a:lnTo>
                            <a:pt x="5574" y="184"/>
                          </a:lnTo>
                          <a:lnTo>
                            <a:pt x="5573" y="183"/>
                          </a:lnTo>
                          <a:lnTo>
                            <a:pt x="5569" y="181"/>
                          </a:lnTo>
                          <a:lnTo>
                            <a:pt x="5565" y="178"/>
                          </a:lnTo>
                          <a:lnTo>
                            <a:pt x="5563" y="177"/>
                          </a:lnTo>
                          <a:lnTo>
                            <a:pt x="5561" y="176"/>
                          </a:lnTo>
                          <a:lnTo>
                            <a:pt x="5557" y="174"/>
                          </a:lnTo>
                          <a:lnTo>
                            <a:pt x="5553" y="173"/>
                          </a:lnTo>
                          <a:lnTo>
                            <a:pt x="5550" y="171"/>
                          </a:lnTo>
                          <a:lnTo>
                            <a:pt x="5548" y="170"/>
                          </a:lnTo>
                          <a:lnTo>
                            <a:pt x="5542" y="168"/>
                          </a:lnTo>
                          <a:lnTo>
                            <a:pt x="5537" y="167"/>
                          </a:lnTo>
                          <a:lnTo>
                            <a:pt x="5534" y="166"/>
                          </a:lnTo>
                          <a:lnTo>
                            <a:pt x="5532" y="165"/>
                          </a:lnTo>
                          <a:lnTo>
                            <a:pt x="5524" y="162"/>
                          </a:lnTo>
                          <a:lnTo>
                            <a:pt x="5515" y="158"/>
                          </a:lnTo>
                          <a:lnTo>
                            <a:pt x="5513" y="158"/>
                          </a:lnTo>
                          <a:lnTo>
                            <a:pt x="5510" y="157"/>
                          </a:lnTo>
                          <a:lnTo>
                            <a:pt x="5503" y="155"/>
                          </a:lnTo>
                          <a:lnTo>
                            <a:pt x="5495" y="153"/>
                          </a:lnTo>
                          <a:lnTo>
                            <a:pt x="5491" y="152"/>
                          </a:lnTo>
                          <a:lnTo>
                            <a:pt x="5487" y="151"/>
                          </a:lnTo>
                          <a:lnTo>
                            <a:pt x="5481" y="149"/>
                          </a:lnTo>
                          <a:lnTo>
                            <a:pt x="5473" y="147"/>
                          </a:lnTo>
                          <a:lnTo>
                            <a:pt x="5469" y="146"/>
                          </a:lnTo>
                          <a:lnTo>
                            <a:pt x="5464" y="145"/>
                          </a:lnTo>
                          <a:lnTo>
                            <a:pt x="5457" y="143"/>
                          </a:lnTo>
                          <a:lnTo>
                            <a:pt x="5449" y="142"/>
                          </a:lnTo>
                          <a:lnTo>
                            <a:pt x="5443" y="141"/>
                          </a:lnTo>
                          <a:lnTo>
                            <a:pt x="5439" y="140"/>
                          </a:lnTo>
                          <a:lnTo>
                            <a:pt x="5427" y="137"/>
                          </a:lnTo>
                          <a:lnTo>
                            <a:pt x="5415" y="135"/>
                          </a:lnTo>
                          <a:lnTo>
                            <a:pt x="5409" y="134"/>
                          </a:lnTo>
                          <a:lnTo>
                            <a:pt x="5405" y="133"/>
                          </a:lnTo>
                          <a:lnTo>
                            <a:pt x="5395" y="131"/>
                          </a:lnTo>
                          <a:lnTo>
                            <a:pt x="5386" y="129"/>
                          </a:lnTo>
                          <a:lnTo>
                            <a:pt x="5380" y="128"/>
                          </a:lnTo>
                          <a:lnTo>
                            <a:pt x="5373" y="127"/>
                          </a:lnTo>
                          <a:lnTo>
                            <a:pt x="5364" y="126"/>
                          </a:lnTo>
                          <a:lnTo>
                            <a:pt x="5355" y="123"/>
                          </a:lnTo>
                          <a:lnTo>
                            <a:pt x="5349" y="122"/>
                          </a:lnTo>
                          <a:lnTo>
                            <a:pt x="5341" y="121"/>
                          </a:lnTo>
                          <a:lnTo>
                            <a:pt x="5331" y="119"/>
                          </a:lnTo>
                          <a:lnTo>
                            <a:pt x="5321" y="118"/>
                          </a:lnTo>
                          <a:lnTo>
                            <a:pt x="5315" y="117"/>
                          </a:lnTo>
                          <a:lnTo>
                            <a:pt x="5308" y="116"/>
                          </a:lnTo>
                          <a:lnTo>
                            <a:pt x="5300" y="115"/>
                          </a:lnTo>
                          <a:lnTo>
                            <a:pt x="5292" y="114"/>
                          </a:lnTo>
                          <a:lnTo>
                            <a:pt x="5284" y="112"/>
                          </a:lnTo>
                          <a:lnTo>
                            <a:pt x="5275" y="111"/>
                          </a:lnTo>
                          <a:lnTo>
                            <a:pt x="5274" y="111"/>
                          </a:lnTo>
                          <a:lnTo>
                            <a:pt x="5272" y="111"/>
                          </a:lnTo>
                          <a:lnTo>
                            <a:pt x="5270" y="111"/>
                          </a:lnTo>
                          <a:lnTo>
                            <a:pt x="5268" y="110"/>
                          </a:lnTo>
                          <a:lnTo>
                            <a:pt x="5253" y="108"/>
                          </a:lnTo>
                          <a:lnTo>
                            <a:pt x="5238" y="106"/>
                          </a:lnTo>
                          <a:lnTo>
                            <a:pt x="5223" y="104"/>
                          </a:lnTo>
                          <a:lnTo>
                            <a:pt x="5206" y="102"/>
                          </a:lnTo>
                          <a:lnTo>
                            <a:pt x="5203" y="102"/>
                          </a:lnTo>
                          <a:lnTo>
                            <a:pt x="5199" y="102"/>
                          </a:lnTo>
                          <a:lnTo>
                            <a:pt x="5184" y="100"/>
                          </a:lnTo>
                          <a:lnTo>
                            <a:pt x="5167" y="98"/>
                          </a:lnTo>
                          <a:lnTo>
                            <a:pt x="5151" y="96"/>
                          </a:lnTo>
                          <a:lnTo>
                            <a:pt x="5133" y="94"/>
                          </a:lnTo>
                          <a:lnTo>
                            <a:pt x="5132" y="94"/>
                          </a:lnTo>
                          <a:lnTo>
                            <a:pt x="5130" y="94"/>
                          </a:lnTo>
                          <a:lnTo>
                            <a:pt x="5126" y="93"/>
                          </a:lnTo>
                          <a:lnTo>
                            <a:pt x="5122" y="93"/>
                          </a:lnTo>
                          <a:lnTo>
                            <a:pt x="5111" y="90"/>
                          </a:lnTo>
                          <a:lnTo>
                            <a:pt x="5099" y="89"/>
                          </a:lnTo>
                          <a:lnTo>
                            <a:pt x="5087" y="88"/>
                          </a:lnTo>
                          <a:lnTo>
                            <a:pt x="5075" y="87"/>
                          </a:lnTo>
                          <a:lnTo>
                            <a:pt x="5070" y="86"/>
                          </a:lnTo>
                          <a:lnTo>
                            <a:pt x="5065" y="86"/>
                          </a:lnTo>
                          <a:lnTo>
                            <a:pt x="5053" y="84"/>
                          </a:lnTo>
                          <a:lnTo>
                            <a:pt x="5039" y="83"/>
                          </a:lnTo>
                          <a:lnTo>
                            <a:pt x="5026" y="82"/>
                          </a:lnTo>
                          <a:lnTo>
                            <a:pt x="5013" y="81"/>
                          </a:lnTo>
                          <a:lnTo>
                            <a:pt x="5007" y="80"/>
                          </a:lnTo>
                          <a:lnTo>
                            <a:pt x="5002" y="80"/>
                          </a:lnTo>
                          <a:lnTo>
                            <a:pt x="4997" y="79"/>
                          </a:lnTo>
                          <a:lnTo>
                            <a:pt x="4993" y="79"/>
                          </a:lnTo>
                          <a:lnTo>
                            <a:pt x="4982" y="78"/>
                          </a:lnTo>
                          <a:lnTo>
                            <a:pt x="4970" y="77"/>
                          </a:lnTo>
                          <a:lnTo>
                            <a:pt x="4958" y="76"/>
                          </a:lnTo>
                          <a:lnTo>
                            <a:pt x="4947" y="75"/>
                          </a:lnTo>
                          <a:lnTo>
                            <a:pt x="4945" y="75"/>
                          </a:lnTo>
                          <a:lnTo>
                            <a:pt x="4944" y="74"/>
                          </a:lnTo>
                          <a:lnTo>
                            <a:pt x="4930" y="73"/>
                          </a:lnTo>
                          <a:lnTo>
                            <a:pt x="4917" y="72"/>
                          </a:lnTo>
                          <a:lnTo>
                            <a:pt x="4902" y="71"/>
                          </a:lnTo>
                          <a:lnTo>
                            <a:pt x="4889" y="70"/>
                          </a:lnTo>
                          <a:lnTo>
                            <a:pt x="4886" y="70"/>
                          </a:lnTo>
                          <a:lnTo>
                            <a:pt x="4883" y="69"/>
                          </a:lnTo>
                          <a:lnTo>
                            <a:pt x="4877" y="69"/>
                          </a:lnTo>
                          <a:lnTo>
                            <a:pt x="4870" y="68"/>
                          </a:lnTo>
                          <a:lnTo>
                            <a:pt x="4862" y="68"/>
                          </a:lnTo>
                          <a:lnTo>
                            <a:pt x="4855" y="67"/>
                          </a:lnTo>
                          <a:lnTo>
                            <a:pt x="4847" y="67"/>
                          </a:lnTo>
                          <a:lnTo>
                            <a:pt x="4838" y="66"/>
                          </a:lnTo>
                          <a:lnTo>
                            <a:pt x="4827" y="65"/>
                          </a:lnTo>
                          <a:lnTo>
                            <a:pt x="4816" y="64"/>
                          </a:lnTo>
                          <a:lnTo>
                            <a:pt x="4800" y="63"/>
                          </a:lnTo>
                          <a:lnTo>
                            <a:pt x="4785" y="62"/>
                          </a:lnTo>
                          <a:lnTo>
                            <a:pt x="4776" y="61"/>
                          </a:lnTo>
                          <a:lnTo>
                            <a:pt x="4767" y="61"/>
                          </a:lnTo>
                          <a:lnTo>
                            <a:pt x="4765" y="60"/>
                          </a:lnTo>
                          <a:lnTo>
                            <a:pt x="4763" y="60"/>
                          </a:lnTo>
                          <a:lnTo>
                            <a:pt x="4737" y="59"/>
                          </a:lnTo>
                          <a:lnTo>
                            <a:pt x="4711" y="57"/>
                          </a:lnTo>
                          <a:lnTo>
                            <a:pt x="4684" y="54"/>
                          </a:lnTo>
                          <a:lnTo>
                            <a:pt x="4657" y="52"/>
                          </a:lnTo>
                          <a:lnTo>
                            <a:pt x="4655" y="52"/>
                          </a:lnTo>
                          <a:lnTo>
                            <a:pt x="4653" y="52"/>
                          </a:lnTo>
                          <a:lnTo>
                            <a:pt x="4648" y="52"/>
                          </a:lnTo>
                          <a:lnTo>
                            <a:pt x="4644" y="51"/>
                          </a:lnTo>
                          <a:lnTo>
                            <a:pt x="4621" y="50"/>
                          </a:lnTo>
                          <a:lnTo>
                            <a:pt x="4597" y="48"/>
                          </a:lnTo>
                          <a:lnTo>
                            <a:pt x="4574" y="47"/>
                          </a:lnTo>
                          <a:lnTo>
                            <a:pt x="4550" y="46"/>
                          </a:lnTo>
                          <a:lnTo>
                            <a:pt x="4547" y="45"/>
                          </a:lnTo>
                          <a:lnTo>
                            <a:pt x="4544" y="45"/>
                          </a:lnTo>
                          <a:lnTo>
                            <a:pt x="4538" y="45"/>
                          </a:lnTo>
                          <a:lnTo>
                            <a:pt x="4533" y="45"/>
                          </a:lnTo>
                          <a:lnTo>
                            <a:pt x="4510" y="43"/>
                          </a:lnTo>
                          <a:lnTo>
                            <a:pt x="4487" y="42"/>
                          </a:lnTo>
                          <a:lnTo>
                            <a:pt x="4463" y="41"/>
                          </a:lnTo>
                          <a:lnTo>
                            <a:pt x="4440" y="40"/>
                          </a:lnTo>
                          <a:lnTo>
                            <a:pt x="4436" y="39"/>
                          </a:lnTo>
                          <a:lnTo>
                            <a:pt x="4433" y="39"/>
                          </a:lnTo>
                          <a:lnTo>
                            <a:pt x="4428" y="39"/>
                          </a:lnTo>
                          <a:lnTo>
                            <a:pt x="4424" y="39"/>
                          </a:lnTo>
                          <a:lnTo>
                            <a:pt x="4400" y="37"/>
                          </a:lnTo>
                          <a:lnTo>
                            <a:pt x="4376" y="36"/>
                          </a:lnTo>
                          <a:lnTo>
                            <a:pt x="4352" y="35"/>
                          </a:lnTo>
                          <a:lnTo>
                            <a:pt x="4327" y="34"/>
                          </a:lnTo>
                          <a:lnTo>
                            <a:pt x="4325" y="34"/>
                          </a:lnTo>
                          <a:lnTo>
                            <a:pt x="4323" y="34"/>
                          </a:lnTo>
                          <a:lnTo>
                            <a:pt x="4320" y="34"/>
                          </a:lnTo>
                          <a:lnTo>
                            <a:pt x="4316" y="33"/>
                          </a:lnTo>
                          <a:lnTo>
                            <a:pt x="4292" y="32"/>
                          </a:lnTo>
                          <a:lnTo>
                            <a:pt x="4268" y="31"/>
                          </a:lnTo>
                          <a:lnTo>
                            <a:pt x="4244" y="30"/>
                          </a:lnTo>
                          <a:lnTo>
                            <a:pt x="4219" y="29"/>
                          </a:lnTo>
                          <a:lnTo>
                            <a:pt x="4217" y="29"/>
                          </a:lnTo>
                          <a:lnTo>
                            <a:pt x="4214" y="29"/>
                          </a:lnTo>
                          <a:lnTo>
                            <a:pt x="4210" y="29"/>
                          </a:lnTo>
                          <a:lnTo>
                            <a:pt x="4206" y="28"/>
                          </a:lnTo>
                          <a:lnTo>
                            <a:pt x="4182" y="27"/>
                          </a:lnTo>
                          <a:lnTo>
                            <a:pt x="4158" y="27"/>
                          </a:lnTo>
                          <a:lnTo>
                            <a:pt x="4134" y="26"/>
                          </a:lnTo>
                          <a:lnTo>
                            <a:pt x="4111" y="25"/>
                          </a:lnTo>
                          <a:lnTo>
                            <a:pt x="4108" y="25"/>
                          </a:lnTo>
                          <a:lnTo>
                            <a:pt x="4105" y="24"/>
                          </a:lnTo>
                          <a:lnTo>
                            <a:pt x="4097" y="24"/>
                          </a:lnTo>
                          <a:lnTo>
                            <a:pt x="4089" y="24"/>
                          </a:lnTo>
                          <a:lnTo>
                            <a:pt x="4068" y="23"/>
                          </a:lnTo>
                          <a:lnTo>
                            <a:pt x="4048" y="21"/>
                          </a:lnTo>
                          <a:lnTo>
                            <a:pt x="4027" y="21"/>
                          </a:lnTo>
                          <a:lnTo>
                            <a:pt x="4006" y="20"/>
                          </a:lnTo>
                          <a:lnTo>
                            <a:pt x="4001" y="20"/>
                          </a:lnTo>
                          <a:lnTo>
                            <a:pt x="3996" y="20"/>
                          </a:lnTo>
                          <a:lnTo>
                            <a:pt x="3995" y="19"/>
                          </a:lnTo>
                          <a:lnTo>
                            <a:pt x="3993" y="19"/>
                          </a:lnTo>
                          <a:lnTo>
                            <a:pt x="3969" y="19"/>
                          </a:lnTo>
                          <a:lnTo>
                            <a:pt x="3945" y="18"/>
                          </a:lnTo>
                          <a:lnTo>
                            <a:pt x="3920" y="17"/>
                          </a:lnTo>
                          <a:lnTo>
                            <a:pt x="3895" y="16"/>
                          </a:lnTo>
                          <a:lnTo>
                            <a:pt x="3892" y="16"/>
                          </a:lnTo>
                          <a:lnTo>
                            <a:pt x="3890" y="16"/>
                          </a:lnTo>
                          <a:lnTo>
                            <a:pt x="3887" y="16"/>
                          </a:lnTo>
                          <a:lnTo>
                            <a:pt x="3885" y="16"/>
                          </a:lnTo>
                          <a:lnTo>
                            <a:pt x="3861" y="15"/>
                          </a:lnTo>
                          <a:lnTo>
                            <a:pt x="3838" y="15"/>
                          </a:lnTo>
                          <a:lnTo>
                            <a:pt x="3814" y="14"/>
                          </a:lnTo>
                          <a:lnTo>
                            <a:pt x="3789" y="13"/>
                          </a:lnTo>
                          <a:lnTo>
                            <a:pt x="3788" y="13"/>
                          </a:lnTo>
                          <a:lnTo>
                            <a:pt x="3786" y="13"/>
                          </a:lnTo>
                          <a:lnTo>
                            <a:pt x="3783" y="13"/>
                          </a:lnTo>
                          <a:lnTo>
                            <a:pt x="3780" y="13"/>
                          </a:lnTo>
                          <a:lnTo>
                            <a:pt x="3757" y="12"/>
                          </a:lnTo>
                          <a:lnTo>
                            <a:pt x="3734" y="12"/>
                          </a:lnTo>
                          <a:lnTo>
                            <a:pt x="3711" y="11"/>
                          </a:lnTo>
                          <a:lnTo>
                            <a:pt x="3688" y="11"/>
                          </a:lnTo>
                          <a:lnTo>
                            <a:pt x="3688" y="11"/>
                          </a:lnTo>
                          <a:lnTo>
                            <a:pt x="3687" y="11"/>
                          </a:lnTo>
                          <a:lnTo>
                            <a:pt x="3687" y="11"/>
                          </a:lnTo>
                          <a:lnTo>
                            <a:pt x="3687" y="11"/>
                          </a:lnTo>
                          <a:lnTo>
                            <a:pt x="3666" y="10"/>
                          </a:lnTo>
                          <a:lnTo>
                            <a:pt x="3646" y="10"/>
                          </a:lnTo>
                          <a:lnTo>
                            <a:pt x="3625" y="9"/>
                          </a:lnTo>
                          <a:lnTo>
                            <a:pt x="3605" y="9"/>
                          </a:lnTo>
                          <a:lnTo>
                            <a:pt x="3600" y="8"/>
                          </a:lnTo>
                          <a:lnTo>
                            <a:pt x="3596" y="8"/>
                          </a:lnTo>
                          <a:lnTo>
                            <a:pt x="3585" y="8"/>
                          </a:lnTo>
                          <a:lnTo>
                            <a:pt x="3573" y="8"/>
                          </a:lnTo>
                          <a:lnTo>
                            <a:pt x="3560" y="8"/>
                          </a:lnTo>
                          <a:lnTo>
                            <a:pt x="3548" y="7"/>
                          </a:lnTo>
                          <a:lnTo>
                            <a:pt x="3535" y="7"/>
                          </a:lnTo>
                          <a:lnTo>
                            <a:pt x="3522" y="7"/>
                          </a:lnTo>
                          <a:lnTo>
                            <a:pt x="3514" y="7"/>
                          </a:lnTo>
                          <a:lnTo>
                            <a:pt x="3507" y="7"/>
                          </a:lnTo>
                          <a:lnTo>
                            <a:pt x="3499" y="6"/>
                          </a:lnTo>
                          <a:lnTo>
                            <a:pt x="3492" y="6"/>
                          </a:lnTo>
                          <a:lnTo>
                            <a:pt x="3480" y="6"/>
                          </a:lnTo>
                          <a:lnTo>
                            <a:pt x="3466" y="6"/>
                          </a:lnTo>
                          <a:lnTo>
                            <a:pt x="3454" y="6"/>
                          </a:lnTo>
                          <a:lnTo>
                            <a:pt x="3442" y="6"/>
                          </a:lnTo>
                          <a:lnTo>
                            <a:pt x="3438" y="5"/>
                          </a:lnTo>
                          <a:lnTo>
                            <a:pt x="3435" y="5"/>
                          </a:lnTo>
                          <a:lnTo>
                            <a:pt x="3432" y="5"/>
                          </a:lnTo>
                          <a:lnTo>
                            <a:pt x="3429" y="5"/>
                          </a:lnTo>
                          <a:lnTo>
                            <a:pt x="3419" y="5"/>
                          </a:lnTo>
                          <a:lnTo>
                            <a:pt x="3409" y="5"/>
                          </a:lnTo>
                          <a:lnTo>
                            <a:pt x="3398" y="5"/>
                          </a:lnTo>
                          <a:lnTo>
                            <a:pt x="3387" y="5"/>
                          </a:lnTo>
                          <a:lnTo>
                            <a:pt x="3375" y="4"/>
                          </a:lnTo>
                          <a:lnTo>
                            <a:pt x="3362" y="4"/>
                          </a:lnTo>
                          <a:lnTo>
                            <a:pt x="3353" y="4"/>
                          </a:lnTo>
                          <a:lnTo>
                            <a:pt x="3344" y="4"/>
                          </a:lnTo>
                          <a:lnTo>
                            <a:pt x="3335" y="4"/>
                          </a:lnTo>
                          <a:lnTo>
                            <a:pt x="3325" y="4"/>
                          </a:lnTo>
                          <a:lnTo>
                            <a:pt x="3316" y="4"/>
                          </a:lnTo>
                          <a:lnTo>
                            <a:pt x="3308" y="3"/>
                          </a:lnTo>
                          <a:lnTo>
                            <a:pt x="3300" y="3"/>
                          </a:lnTo>
                          <a:lnTo>
                            <a:pt x="3291" y="3"/>
                          </a:lnTo>
                          <a:lnTo>
                            <a:pt x="3284" y="3"/>
                          </a:lnTo>
                          <a:lnTo>
                            <a:pt x="3277" y="3"/>
                          </a:lnTo>
                          <a:lnTo>
                            <a:pt x="3267" y="3"/>
                          </a:lnTo>
                          <a:lnTo>
                            <a:pt x="3256" y="3"/>
                          </a:lnTo>
                          <a:lnTo>
                            <a:pt x="3246" y="3"/>
                          </a:lnTo>
                          <a:lnTo>
                            <a:pt x="3237" y="3"/>
                          </a:lnTo>
                          <a:lnTo>
                            <a:pt x="3228" y="2"/>
                          </a:lnTo>
                          <a:lnTo>
                            <a:pt x="3220" y="2"/>
                          </a:lnTo>
                          <a:lnTo>
                            <a:pt x="3212" y="2"/>
                          </a:lnTo>
                          <a:lnTo>
                            <a:pt x="3204" y="2"/>
                          </a:lnTo>
                          <a:lnTo>
                            <a:pt x="3195" y="2"/>
                          </a:lnTo>
                          <a:lnTo>
                            <a:pt x="3186" y="2"/>
                          </a:lnTo>
                          <a:lnTo>
                            <a:pt x="3184" y="2"/>
                          </a:lnTo>
                          <a:lnTo>
                            <a:pt x="3181" y="2"/>
                          </a:lnTo>
                          <a:lnTo>
                            <a:pt x="3171" y="2"/>
                          </a:lnTo>
                          <a:lnTo>
                            <a:pt x="3160" y="2"/>
                          </a:lnTo>
                          <a:lnTo>
                            <a:pt x="3150" y="2"/>
                          </a:lnTo>
                          <a:lnTo>
                            <a:pt x="3141" y="2"/>
                          </a:lnTo>
                          <a:lnTo>
                            <a:pt x="3132" y="2"/>
                          </a:lnTo>
                          <a:lnTo>
                            <a:pt x="3122" y="1"/>
                          </a:lnTo>
                          <a:lnTo>
                            <a:pt x="3109" y="1"/>
                          </a:lnTo>
                          <a:lnTo>
                            <a:pt x="3096" y="1"/>
                          </a:lnTo>
                          <a:lnTo>
                            <a:pt x="3083" y="1"/>
                          </a:lnTo>
                          <a:lnTo>
                            <a:pt x="3071" y="1"/>
                          </a:lnTo>
                          <a:lnTo>
                            <a:pt x="3066" y="1"/>
                          </a:lnTo>
                          <a:lnTo>
                            <a:pt x="3061" y="1"/>
                          </a:lnTo>
                          <a:lnTo>
                            <a:pt x="3054" y="1"/>
                          </a:lnTo>
                          <a:lnTo>
                            <a:pt x="3046" y="1"/>
                          </a:lnTo>
                          <a:lnTo>
                            <a:pt x="3037" y="1"/>
                          </a:lnTo>
                          <a:lnTo>
                            <a:pt x="3026" y="1"/>
                          </a:lnTo>
                          <a:lnTo>
                            <a:pt x="3020" y="1"/>
                          </a:lnTo>
                          <a:lnTo>
                            <a:pt x="3015" y="1"/>
                          </a:lnTo>
                          <a:lnTo>
                            <a:pt x="3007" y="1"/>
                          </a:lnTo>
                          <a:lnTo>
                            <a:pt x="2999" y="1"/>
                          </a:lnTo>
                          <a:lnTo>
                            <a:pt x="2990" y="1"/>
                          </a:lnTo>
                          <a:lnTo>
                            <a:pt x="2982" y="1"/>
                          </a:lnTo>
                          <a:lnTo>
                            <a:pt x="2982" y="1"/>
                          </a:lnTo>
                          <a:lnTo>
                            <a:pt x="2981" y="1"/>
                          </a:lnTo>
                          <a:lnTo>
                            <a:pt x="2971" y="0"/>
                          </a:lnTo>
                          <a:lnTo>
                            <a:pt x="2959" y="0"/>
                          </a:lnTo>
                          <a:lnTo>
                            <a:pt x="2948" y="0"/>
                          </a:lnTo>
                          <a:lnTo>
                            <a:pt x="2937" y="0"/>
                          </a:lnTo>
                          <a:lnTo>
                            <a:pt x="2931" y="0"/>
                          </a:lnTo>
                          <a:lnTo>
                            <a:pt x="2924" y="0"/>
                          </a:lnTo>
                          <a:lnTo>
                            <a:pt x="2912" y="0"/>
                          </a:lnTo>
                          <a:lnTo>
                            <a:pt x="2900" y="0"/>
                          </a:lnTo>
                          <a:lnTo>
                            <a:pt x="2895" y="0"/>
                          </a:lnTo>
                          <a:lnTo>
                            <a:pt x="2891" y="0"/>
                          </a:lnTo>
                          <a:lnTo>
                            <a:pt x="2880" y="0"/>
                          </a:lnTo>
                          <a:lnTo>
                            <a:pt x="2869" y="0"/>
                          </a:lnTo>
                          <a:lnTo>
                            <a:pt x="2857" y="0"/>
                          </a:lnTo>
                          <a:lnTo>
                            <a:pt x="2846" y="0"/>
                          </a:lnTo>
                          <a:lnTo>
                            <a:pt x="2846" y="0"/>
                          </a:lnTo>
                          <a:lnTo>
                            <a:pt x="2845" y="0"/>
                          </a:lnTo>
                          <a:lnTo>
                            <a:pt x="2835" y="0"/>
                          </a:lnTo>
                          <a:lnTo>
                            <a:pt x="2824" y="0"/>
                          </a:lnTo>
                          <a:lnTo>
                            <a:pt x="2814" y="0"/>
                          </a:lnTo>
                          <a:lnTo>
                            <a:pt x="2804" y="0"/>
                          </a:lnTo>
                          <a:lnTo>
                            <a:pt x="2793" y="0"/>
                          </a:lnTo>
                          <a:lnTo>
                            <a:pt x="2783" y="0"/>
                          </a:lnTo>
                          <a:lnTo>
                            <a:pt x="2773" y="0"/>
                          </a:lnTo>
                          <a:lnTo>
                            <a:pt x="2763" y="0"/>
                          </a:lnTo>
                          <a:lnTo>
                            <a:pt x="2751" y="0"/>
                          </a:lnTo>
                          <a:lnTo>
                            <a:pt x="2741" y="0"/>
                          </a:lnTo>
                          <a:lnTo>
                            <a:pt x="2731" y="0"/>
                          </a:lnTo>
                          <a:lnTo>
                            <a:pt x="2720" y="0"/>
                          </a:lnTo>
                          <a:lnTo>
                            <a:pt x="2717" y="0"/>
                          </a:lnTo>
                          <a:lnTo>
                            <a:pt x="2714" y="0"/>
                          </a:lnTo>
                          <a:lnTo>
                            <a:pt x="2702" y="0"/>
                          </a:lnTo>
                          <a:lnTo>
                            <a:pt x="2689" y="0"/>
                          </a:lnTo>
                          <a:lnTo>
                            <a:pt x="2684" y="0"/>
                          </a:lnTo>
                          <a:lnTo>
                            <a:pt x="2678" y="0"/>
                          </a:lnTo>
                          <a:lnTo>
                            <a:pt x="2668" y="0"/>
                          </a:lnTo>
                          <a:lnTo>
                            <a:pt x="2657" y="0"/>
                          </a:lnTo>
                          <a:lnTo>
                            <a:pt x="2647" y="0"/>
                          </a:lnTo>
                          <a:lnTo>
                            <a:pt x="2637" y="0"/>
                          </a:lnTo>
                          <a:lnTo>
                            <a:pt x="2636" y="0"/>
                          </a:lnTo>
                          <a:lnTo>
                            <a:pt x="2635" y="0"/>
                          </a:lnTo>
                          <a:lnTo>
                            <a:pt x="2622" y="0"/>
                          </a:lnTo>
                          <a:lnTo>
                            <a:pt x="2609" y="1"/>
                          </a:lnTo>
                          <a:lnTo>
                            <a:pt x="2600" y="1"/>
                          </a:lnTo>
                          <a:lnTo>
                            <a:pt x="2590" y="1"/>
                          </a:lnTo>
                          <a:lnTo>
                            <a:pt x="2585" y="1"/>
                          </a:lnTo>
                          <a:lnTo>
                            <a:pt x="2580" y="1"/>
                          </a:lnTo>
                          <a:lnTo>
                            <a:pt x="2572" y="1"/>
                          </a:lnTo>
                          <a:lnTo>
                            <a:pt x="2564" y="1"/>
                          </a:lnTo>
                          <a:lnTo>
                            <a:pt x="2555" y="1"/>
                          </a:lnTo>
                          <a:lnTo>
                            <a:pt x="2547" y="1"/>
                          </a:lnTo>
                          <a:lnTo>
                            <a:pt x="2544" y="1"/>
                          </a:lnTo>
                          <a:lnTo>
                            <a:pt x="2540" y="1"/>
                          </a:lnTo>
                          <a:lnTo>
                            <a:pt x="2527" y="1"/>
                          </a:lnTo>
                          <a:lnTo>
                            <a:pt x="2514" y="1"/>
                          </a:lnTo>
                          <a:lnTo>
                            <a:pt x="2503" y="1"/>
                          </a:lnTo>
                          <a:lnTo>
                            <a:pt x="2491" y="1"/>
                          </a:lnTo>
                          <a:lnTo>
                            <a:pt x="2481" y="1"/>
                          </a:lnTo>
                          <a:lnTo>
                            <a:pt x="2470" y="1"/>
                          </a:lnTo>
                          <a:lnTo>
                            <a:pt x="2455" y="2"/>
                          </a:lnTo>
                          <a:lnTo>
                            <a:pt x="2440" y="2"/>
                          </a:lnTo>
                          <a:lnTo>
                            <a:pt x="2432" y="2"/>
                          </a:lnTo>
                          <a:lnTo>
                            <a:pt x="2423" y="2"/>
                          </a:lnTo>
                          <a:lnTo>
                            <a:pt x="2419" y="2"/>
                          </a:lnTo>
                          <a:lnTo>
                            <a:pt x="2414" y="2"/>
                          </a:lnTo>
                          <a:lnTo>
                            <a:pt x="2402" y="2"/>
                          </a:lnTo>
                          <a:lnTo>
                            <a:pt x="2389" y="2"/>
                          </a:lnTo>
                          <a:lnTo>
                            <a:pt x="2380" y="2"/>
                          </a:lnTo>
                          <a:lnTo>
                            <a:pt x="2371" y="2"/>
                          </a:lnTo>
                          <a:lnTo>
                            <a:pt x="2353" y="3"/>
                          </a:lnTo>
                          <a:lnTo>
                            <a:pt x="2337" y="3"/>
                          </a:lnTo>
                          <a:lnTo>
                            <a:pt x="2319" y="3"/>
                          </a:lnTo>
                          <a:lnTo>
                            <a:pt x="2302" y="3"/>
                          </a:lnTo>
                          <a:lnTo>
                            <a:pt x="2294" y="3"/>
                          </a:lnTo>
                          <a:lnTo>
                            <a:pt x="2285" y="3"/>
                          </a:lnTo>
                          <a:lnTo>
                            <a:pt x="2285" y="3"/>
                          </a:lnTo>
                          <a:lnTo>
                            <a:pt x="2283" y="3"/>
                          </a:lnTo>
                          <a:lnTo>
                            <a:pt x="2281" y="3"/>
                          </a:lnTo>
                          <a:lnTo>
                            <a:pt x="2261" y="4"/>
                          </a:lnTo>
                          <a:lnTo>
                            <a:pt x="2240" y="4"/>
                          </a:lnTo>
                          <a:lnTo>
                            <a:pt x="2219" y="4"/>
                          </a:lnTo>
                          <a:lnTo>
                            <a:pt x="2199" y="5"/>
                          </a:lnTo>
                          <a:lnTo>
                            <a:pt x="2190" y="5"/>
                          </a:lnTo>
                          <a:lnTo>
                            <a:pt x="2182" y="5"/>
                          </a:lnTo>
                          <a:lnTo>
                            <a:pt x="2173" y="5"/>
                          </a:lnTo>
                          <a:lnTo>
                            <a:pt x="2164" y="5"/>
                          </a:lnTo>
                          <a:lnTo>
                            <a:pt x="2155" y="5"/>
                          </a:lnTo>
                          <a:lnTo>
                            <a:pt x="2146" y="6"/>
                          </a:lnTo>
                          <a:lnTo>
                            <a:pt x="2145" y="6"/>
                          </a:lnTo>
                          <a:lnTo>
                            <a:pt x="2144" y="6"/>
                          </a:lnTo>
                          <a:lnTo>
                            <a:pt x="2144" y="6"/>
                          </a:lnTo>
                          <a:lnTo>
                            <a:pt x="2144" y="6"/>
                          </a:lnTo>
                          <a:lnTo>
                            <a:pt x="2143" y="6"/>
                          </a:lnTo>
                          <a:lnTo>
                            <a:pt x="2143" y="6"/>
                          </a:lnTo>
                          <a:lnTo>
                            <a:pt x="2117" y="6"/>
                          </a:lnTo>
                          <a:lnTo>
                            <a:pt x="2093" y="6"/>
                          </a:lnTo>
                          <a:lnTo>
                            <a:pt x="2067" y="7"/>
                          </a:lnTo>
                          <a:lnTo>
                            <a:pt x="2041" y="7"/>
                          </a:lnTo>
                          <a:lnTo>
                            <a:pt x="2016" y="8"/>
                          </a:lnTo>
                          <a:lnTo>
                            <a:pt x="1990" y="9"/>
                          </a:lnTo>
                          <a:lnTo>
                            <a:pt x="1966" y="9"/>
                          </a:lnTo>
                          <a:lnTo>
                            <a:pt x="1941" y="10"/>
                          </a:lnTo>
                          <a:lnTo>
                            <a:pt x="1939" y="10"/>
                          </a:lnTo>
                          <a:lnTo>
                            <a:pt x="1938" y="10"/>
                          </a:lnTo>
                          <a:lnTo>
                            <a:pt x="1925" y="10"/>
                          </a:lnTo>
                          <a:lnTo>
                            <a:pt x="1910" y="10"/>
                          </a:lnTo>
                          <a:lnTo>
                            <a:pt x="1902" y="11"/>
                          </a:lnTo>
                          <a:lnTo>
                            <a:pt x="1893" y="11"/>
                          </a:lnTo>
                          <a:lnTo>
                            <a:pt x="1884" y="11"/>
                          </a:lnTo>
                          <a:lnTo>
                            <a:pt x="1875" y="11"/>
                          </a:lnTo>
                          <a:lnTo>
                            <a:pt x="1873" y="11"/>
                          </a:lnTo>
                          <a:lnTo>
                            <a:pt x="1870" y="11"/>
                          </a:lnTo>
                          <a:lnTo>
                            <a:pt x="1860" y="12"/>
                          </a:lnTo>
                          <a:lnTo>
                            <a:pt x="1849" y="12"/>
                          </a:lnTo>
                          <a:lnTo>
                            <a:pt x="1839" y="12"/>
                          </a:lnTo>
                          <a:lnTo>
                            <a:pt x="1829" y="12"/>
                          </a:lnTo>
                          <a:lnTo>
                            <a:pt x="1818" y="13"/>
                          </a:lnTo>
                          <a:lnTo>
                            <a:pt x="1808" y="13"/>
                          </a:lnTo>
                          <a:lnTo>
                            <a:pt x="1805" y="13"/>
                          </a:lnTo>
                          <a:lnTo>
                            <a:pt x="1803" y="13"/>
                          </a:lnTo>
                          <a:lnTo>
                            <a:pt x="1794" y="13"/>
                          </a:lnTo>
                          <a:lnTo>
                            <a:pt x="1785" y="14"/>
                          </a:lnTo>
                          <a:lnTo>
                            <a:pt x="1775" y="14"/>
                          </a:lnTo>
                          <a:lnTo>
                            <a:pt x="1764" y="14"/>
                          </a:lnTo>
                          <a:lnTo>
                            <a:pt x="1753" y="15"/>
                          </a:lnTo>
                          <a:lnTo>
                            <a:pt x="1742" y="15"/>
                          </a:lnTo>
                          <a:lnTo>
                            <a:pt x="1741" y="15"/>
                          </a:lnTo>
                          <a:lnTo>
                            <a:pt x="1740" y="15"/>
                          </a:lnTo>
                          <a:lnTo>
                            <a:pt x="1732" y="15"/>
                          </a:lnTo>
                          <a:lnTo>
                            <a:pt x="1722" y="15"/>
                          </a:lnTo>
                          <a:lnTo>
                            <a:pt x="1714" y="16"/>
                          </a:lnTo>
                          <a:lnTo>
                            <a:pt x="1706" y="16"/>
                          </a:lnTo>
                          <a:lnTo>
                            <a:pt x="1695" y="16"/>
                          </a:lnTo>
                          <a:lnTo>
                            <a:pt x="1682" y="17"/>
                          </a:lnTo>
                          <a:lnTo>
                            <a:pt x="1672" y="17"/>
                          </a:lnTo>
                          <a:lnTo>
                            <a:pt x="1662" y="17"/>
                          </a:lnTo>
                          <a:lnTo>
                            <a:pt x="1650" y="18"/>
                          </a:lnTo>
                          <a:lnTo>
                            <a:pt x="1640" y="18"/>
                          </a:lnTo>
                          <a:lnTo>
                            <a:pt x="1638" y="18"/>
                          </a:lnTo>
                          <a:lnTo>
                            <a:pt x="1635" y="18"/>
                          </a:lnTo>
                          <a:lnTo>
                            <a:pt x="1628" y="18"/>
                          </a:lnTo>
                          <a:lnTo>
                            <a:pt x="1620" y="19"/>
                          </a:lnTo>
                          <a:lnTo>
                            <a:pt x="1606" y="19"/>
                          </a:lnTo>
                          <a:lnTo>
                            <a:pt x="1592" y="20"/>
                          </a:lnTo>
                          <a:lnTo>
                            <a:pt x="1579" y="20"/>
                          </a:lnTo>
                          <a:lnTo>
                            <a:pt x="1566" y="21"/>
                          </a:lnTo>
                          <a:lnTo>
                            <a:pt x="1553" y="21"/>
                          </a:lnTo>
                          <a:lnTo>
                            <a:pt x="1542" y="21"/>
                          </a:lnTo>
                          <a:lnTo>
                            <a:pt x="1534" y="23"/>
                          </a:lnTo>
                          <a:lnTo>
                            <a:pt x="1526" y="23"/>
                          </a:lnTo>
                          <a:lnTo>
                            <a:pt x="1517" y="23"/>
                          </a:lnTo>
                          <a:lnTo>
                            <a:pt x="1509" y="24"/>
                          </a:lnTo>
                          <a:lnTo>
                            <a:pt x="1507" y="24"/>
                          </a:lnTo>
                          <a:lnTo>
                            <a:pt x="1505" y="24"/>
                          </a:lnTo>
                          <a:lnTo>
                            <a:pt x="1498" y="24"/>
                          </a:lnTo>
                          <a:lnTo>
                            <a:pt x="1490" y="24"/>
                          </a:lnTo>
                          <a:lnTo>
                            <a:pt x="1477" y="25"/>
                          </a:lnTo>
                          <a:lnTo>
                            <a:pt x="1464" y="25"/>
                          </a:lnTo>
                          <a:lnTo>
                            <a:pt x="1451" y="26"/>
                          </a:lnTo>
                          <a:lnTo>
                            <a:pt x="1439" y="26"/>
                          </a:lnTo>
                          <a:lnTo>
                            <a:pt x="1426" y="27"/>
                          </a:lnTo>
                          <a:lnTo>
                            <a:pt x="1413" y="27"/>
                          </a:lnTo>
                          <a:lnTo>
                            <a:pt x="1401" y="28"/>
                          </a:lnTo>
                          <a:lnTo>
                            <a:pt x="1389" y="28"/>
                          </a:lnTo>
                          <a:lnTo>
                            <a:pt x="1374" y="29"/>
                          </a:lnTo>
                          <a:lnTo>
                            <a:pt x="1360" y="30"/>
                          </a:lnTo>
                          <a:lnTo>
                            <a:pt x="1345" y="30"/>
                          </a:lnTo>
                          <a:lnTo>
                            <a:pt x="1331" y="31"/>
                          </a:lnTo>
                          <a:lnTo>
                            <a:pt x="1314" y="32"/>
                          </a:lnTo>
                          <a:lnTo>
                            <a:pt x="1299" y="32"/>
                          </a:lnTo>
                          <a:lnTo>
                            <a:pt x="1282" y="33"/>
                          </a:lnTo>
                          <a:lnTo>
                            <a:pt x="1267" y="34"/>
                          </a:lnTo>
                          <a:lnTo>
                            <a:pt x="1251" y="35"/>
                          </a:lnTo>
                          <a:lnTo>
                            <a:pt x="1236" y="35"/>
                          </a:lnTo>
                          <a:lnTo>
                            <a:pt x="1224" y="36"/>
                          </a:lnTo>
                          <a:lnTo>
                            <a:pt x="1210" y="37"/>
                          </a:lnTo>
                          <a:lnTo>
                            <a:pt x="1207" y="37"/>
                          </a:lnTo>
                          <a:lnTo>
                            <a:pt x="1204" y="37"/>
                          </a:lnTo>
                          <a:lnTo>
                            <a:pt x="1199" y="37"/>
                          </a:lnTo>
                          <a:lnTo>
                            <a:pt x="1194" y="37"/>
                          </a:lnTo>
                          <a:lnTo>
                            <a:pt x="1180" y="38"/>
                          </a:lnTo>
                          <a:lnTo>
                            <a:pt x="1167" y="39"/>
                          </a:lnTo>
                          <a:lnTo>
                            <a:pt x="1152" y="39"/>
                          </a:lnTo>
                          <a:lnTo>
                            <a:pt x="1139" y="40"/>
                          </a:lnTo>
                          <a:lnTo>
                            <a:pt x="1132" y="41"/>
                          </a:lnTo>
                          <a:lnTo>
                            <a:pt x="1126" y="41"/>
                          </a:lnTo>
                          <a:lnTo>
                            <a:pt x="1122" y="41"/>
                          </a:lnTo>
                          <a:lnTo>
                            <a:pt x="1118" y="41"/>
                          </a:lnTo>
                          <a:lnTo>
                            <a:pt x="1100" y="42"/>
                          </a:lnTo>
                          <a:lnTo>
                            <a:pt x="1081" y="43"/>
                          </a:lnTo>
                          <a:lnTo>
                            <a:pt x="1064" y="44"/>
                          </a:lnTo>
                          <a:lnTo>
                            <a:pt x="1045" y="45"/>
                          </a:lnTo>
                          <a:lnTo>
                            <a:pt x="1043" y="46"/>
                          </a:lnTo>
                          <a:lnTo>
                            <a:pt x="1041" y="46"/>
                          </a:lnTo>
                          <a:lnTo>
                            <a:pt x="1038" y="46"/>
                          </a:lnTo>
                          <a:lnTo>
                            <a:pt x="1036" y="46"/>
                          </a:lnTo>
                          <a:lnTo>
                            <a:pt x="1013" y="47"/>
                          </a:lnTo>
                          <a:lnTo>
                            <a:pt x="991" y="49"/>
                          </a:lnTo>
                          <a:lnTo>
                            <a:pt x="968" y="50"/>
                          </a:lnTo>
                          <a:lnTo>
                            <a:pt x="946" y="51"/>
                          </a:lnTo>
                          <a:lnTo>
                            <a:pt x="943" y="52"/>
                          </a:lnTo>
                          <a:lnTo>
                            <a:pt x="940" y="52"/>
                          </a:lnTo>
                          <a:lnTo>
                            <a:pt x="935" y="52"/>
                          </a:lnTo>
                          <a:lnTo>
                            <a:pt x="931" y="52"/>
                          </a:lnTo>
                          <a:lnTo>
                            <a:pt x="907" y="54"/>
                          </a:lnTo>
                          <a:lnTo>
                            <a:pt x="884" y="55"/>
                          </a:lnTo>
                          <a:lnTo>
                            <a:pt x="862" y="58"/>
                          </a:lnTo>
                          <a:lnTo>
                            <a:pt x="839" y="60"/>
                          </a:lnTo>
                          <a:lnTo>
                            <a:pt x="835" y="60"/>
                          </a:lnTo>
                          <a:lnTo>
                            <a:pt x="831" y="60"/>
                          </a:lnTo>
                          <a:lnTo>
                            <a:pt x="824" y="61"/>
                          </a:lnTo>
                          <a:lnTo>
                            <a:pt x="816" y="61"/>
                          </a:lnTo>
                          <a:lnTo>
                            <a:pt x="804" y="62"/>
                          </a:lnTo>
                          <a:lnTo>
                            <a:pt x="792" y="63"/>
                          </a:lnTo>
                          <a:lnTo>
                            <a:pt x="777" y="64"/>
                          </a:lnTo>
                          <a:lnTo>
                            <a:pt x="764" y="65"/>
                          </a:lnTo>
                          <a:lnTo>
                            <a:pt x="751" y="66"/>
                          </a:lnTo>
                          <a:lnTo>
                            <a:pt x="738" y="67"/>
                          </a:lnTo>
                          <a:lnTo>
                            <a:pt x="727" y="68"/>
                          </a:lnTo>
                          <a:lnTo>
                            <a:pt x="715" y="69"/>
                          </a:lnTo>
                          <a:lnTo>
                            <a:pt x="715" y="69"/>
                          </a:lnTo>
                          <a:lnTo>
                            <a:pt x="704" y="70"/>
                          </a:lnTo>
                          <a:lnTo>
                            <a:pt x="694" y="71"/>
                          </a:lnTo>
                          <a:lnTo>
                            <a:pt x="680" y="72"/>
                          </a:lnTo>
                          <a:lnTo>
                            <a:pt x="668" y="73"/>
                          </a:lnTo>
                          <a:lnTo>
                            <a:pt x="656" y="74"/>
                          </a:lnTo>
                          <a:lnTo>
                            <a:pt x="643" y="75"/>
                          </a:lnTo>
                          <a:lnTo>
                            <a:pt x="632" y="76"/>
                          </a:lnTo>
                          <a:lnTo>
                            <a:pt x="621" y="77"/>
                          </a:lnTo>
                          <a:lnTo>
                            <a:pt x="615" y="77"/>
                          </a:lnTo>
                          <a:lnTo>
                            <a:pt x="609" y="78"/>
                          </a:lnTo>
                          <a:lnTo>
                            <a:pt x="602" y="79"/>
                          </a:lnTo>
                          <a:lnTo>
                            <a:pt x="596" y="79"/>
                          </a:lnTo>
                          <a:lnTo>
                            <a:pt x="586" y="80"/>
                          </a:lnTo>
                          <a:lnTo>
                            <a:pt x="575" y="81"/>
                          </a:lnTo>
                          <a:lnTo>
                            <a:pt x="564" y="82"/>
                          </a:lnTo>
                          <a:lnTo>
                            <a:pt x="552" y="83"/>
                          </a:lnTo>
                          <a:lnTo>
                            <a:pt x="542" y="84"/>
                          </a:lnTo>
                          <a:lnTo>
                            <a:pt x="532" y="85"/>
                          </a:lnTo>
                          <a:lnTo>
                            <a:pt x="524" y="86"/>
                          </a:lnTo>
                          <a:lnTo>
                            <a:pt x="515" y="87"/>
                          </a:lnTo>
                          <a:lnTo>
                            <a:pt x="513" y="87"/>
                          </a:lnTo>
                          <a:lnTo>
                            <a:pt x="511" y="87"/>
                          </a:lnTo>
                          <a:lnTo>
                            <a:pt x="472" y="92"/>
                          </a:lnTo>
                          <a:lnTo>
                            <a:pt x="434" y="97"/>
                          </a:lnTo>
                          <a:lnTo>
                            <a:pt x="398" y="101"/>
                          </a:lnTo>
                          <a:lnTo>
                            <a:pt x="363" y="105"/>
                          </a:lnTo>
                          <a:lnTo>
                            <a:pt x="362" y="105"/>
                          </a:lnTo>
                          <a:lnTo>
                            <a:pt x="361" y="105"/>
                          </a:lnTo>
                          <a:lnTo>
                            <a:pt x="359" y="106"/>
                          </a:lnTo>
                          <a:lnTo>
                            <a:pt x="357" y="106"/>
                          </a:lnTo>
                          <a:lnTo>
                            <a:pt x="342" y="108"/>
                          </a:lnTo>
                          <a:lnTo>
                            <a:pt x="329" y="110"/>
                          </a:lnTo>
                          <a:lnTo>
                            <a:pt x="314" y="112"/>
                          </a:lnTo>
                          <a:lnTo>
                            <a:pt x="301" y="113"/>
                          </a:lnTo>
                          <a:lnTo>
                            <a:pt x="299" y="114"/>
                          </a:lnTo>
                          <a:lnTo>
                            <a:pt x="297" y="114"/>
                          </a:lnTo>
                          <a:lnTo>
                            <a:pt x="295" y="114"/>
                          </a:lnTo>
                          <a:lnTo>
                            <a:pt x="293" y="115"/>
                          </a:lnTo>
                          <a:lnTo>
                            <a:pt x="280" y="116"/>
                          </a:lnTo>
                          <a:lnTo>
                            <a:pt x="268" y="118"/>
                          </a:lnTo>
                          <a:lnTo>
                            <a:pt x="257" y="120"/>
                          </a:lnTo>
                          <a:lnTo>
                            <a:pt x="244" y="122"/>
                          </a:lnTo>
                          <a:lnTo>
                            <a:pt x="242" y="122"/>
                          </a:lnTo>
                          <a:lnTo>
                            <a:pt x="241" y="122"/>
                          </a:lnTo>
                          <a:lnTo>
                            <a:pt x="240" y="123"/>
                          </a:lnTo>
                          <a:lnTo>
                            <a:pt x="240" y="123"/>
                          </a:lnTo>
                          <a:lnTo>
                            <a:pt x="229" y="124"/>
                          </a:lnTo>
                          <a:lnTo>
                            <a:pt x="219" y="127"/>
                          </a:lnTo>
                          <a:lnTo>
                            <a:pt x="208" y="129"/>
                          </a:lnTo>
                          <a:lnTo>
                            <a:pt x="198" y="131"/>
                          </a:lnTo>
                          <a:lnTo>
                            <a:pt x="195" y="131"/>
                          </a:lnTo>
                          <a:lnTo>
                            <a:pt x="193" y="132"/>
                          </a:lnTo>
                          <a:lnTo>
                            <a:pt x="191" y="132"/>
                          </a:lnTo>
                          <a:lnTo>
                            <a:pt x="190" y="132"/>
                          </a:lnTo>
                          <a:lnTo>
                            <a:pt x="181" y="134"/>
                          </a:lnTo>
                          <a:lnTo>
                            <a:pt x="171" y="136"/>
                          </a:lnTo>
                          <a:lnTo>
                            <a:pt x="162" y="138"/>
                          </a:lnTo>
                          <a:lnTo>
                            <a:pt x="153" y="140"/>
                          </a:lnTo>
                          <a:lnTo>
                            <a:pt x="151" y="140"/>
                          </a:lnTo>
                          <a:lnTo>
                            <a:pt x="150" y="140"/>
                          </a:lnTo>
                          <a:lnTo>
                            <a:pt x="149" y="141"/>
                          </a:lnTo>
                          <a:lnTo>
                            <a:pt x="148" y="141"/>
                          </a:lnTo>
                          <a:lnTo>
                            <a:pt x="138" y="143"/>
                          </a:lnTo>
                          <a:lnTo>
                            <a:pt x="131" y="145"/>
                          </a:lnTo>
                          <a:lnTo>
                            <a:pt x="123" y="146"/>
                          </a:lnTo>
                          <a:lnTo>
                            <a:pt x="115" y="148"/>
                          </a:lnTo>
                          <a:lnTo>
                            <a:pt x="114" y="148"/>
                          </a:lnTo>
                          <a:lnTo>
                            <a:pt x="112" y="149"/>
                          </a:lnTo>
                          <a:lnTo>
                            <a:pt x="110" y="149"/>
                          </a:lnTo>
                          <a:lnTo>
                            <a:pt x="109" y="150"/>
                          </a:lnTo>
                          <a:lnTo>
                            <a:pt x="95" y="153"/>
                          </a:lnTo>
                          <a:lnTo>
                            <a:pt x="82" y="157"/>
                          </a:lnTo>
                          <a:lnTo>
                            <a:pt x="81" y="157"/>
                          </a:lnTo>
                          <a:lnTo>
                            <a:pt x="81" y="157"/>
                          </a:lnTo>
                          <a:lnTo>
                            <a:pt x="78" y="158"/>
                          </a:lnTo>
                          <a:lnTo>
                            <a:pt x="77" y="158"/>
                          </a:lnTo>
                          <a:lnTo>
                            <a:pt x="65" y="163"/>
                          </a:lnTo>
                          <a:lnTo>
                            <a:pt x="54" y="167"/>
                          </a:lnTo>
                          <a:lnTo>
                            <a:pt x="54" y="167"/>
                          </a:lnTo>
                          <a:lnTo>
                            <a:pt x="54" y="167"/>
                          </a:lnTo>
                          <a:lnTo>
                            <a:pt x="53" y="167"/>
                          </a:lnTo>
                          <a:lnTo>
                            <a:pt x="53" y="167"/>
                          </a:lnTo>
                          <a:lnTo>
                            <a:pt x="42" y="171"/>
                          </a:lnTo>
                          <a:lnTo>
                            <a:pt x="33" y="176"/>
                          </a:lnTo>
                          <a:lnTo>
                            <a:pt x="32" y="176"/>
                          </a:lnTo>
                          <a:lnTo>
                            <a:pt x="32" y="176"/>
                          </a:lnTo>
                          <a:lnTo>
                            <a:pt x="31" y="176"/>
                          </a:lnTo>
                          <a:lnTo>
                            <a:pt x="31" y="177"/>
                          </a:lnTo>
                          <a:lnTo>
                            <a:pt x="24" y="181"/>
                          </a:lnTo>
                          <a:lnTo>
                            <a:pt x="17" y="185"/>
                          </a:lnTo>
                          <a:lnTo>
                            <a:pt x="17" y="185"/>
                          </a:lnTo>
                          <a:lnTo>
                            <a:pt x="16" y="185"/>
                          </a:lnTo>
                          <a:lnTo>
                            <a:pt x="16" y="186"/>
                          </a:lnTo>
                          <a:lnTo>
                            <a:pt x="15" y="186"/>
                          </a:lnTo>
                          <a:lnTo>
                            <a:pt x="9" y="190"/>
                          </a:lnTo>
                          <a:lnTo>
                            <a:pt x="5" y="195"/>
                          </a:lnTo>
                          <a:lnTo>
                            <a:pt x="5" y="196"/>
                          </a:lnTo>
                          <a:lnTo>
                            <a:pt x="5" y="196"/>
                          </a:lnTo>
                          <a:lnTo>
                            <a:pt x="4" y="197"/>
                          </a:lnTo>
                          <a:lnTo>
                            <a:pt x="4" y="197"/>
                          </a:lnTo>
                          <a:lnTo>
                            <a:pt x="2" y="200"/>
                          </a:lnTo>
                          <a:lnTo>
                            <a:pt x="1" y="204"/>
                          </a:lnTo>
                          <a:lnTo>
                            <a:pt x="1" y="205"/>
                          </a:lnTo>
                          <a:lnTo>
                            <a:pt x="0" y="206"/>
                          </a:lnTo>
                          <a:lnTo>
                            <a:pt x="1" y="207"/>
                          </a:lnTo>
                          <a:lnTo>
                            <a:pt x="1" y="207"/>
                          </a:lnTo>
                          <a:lnTo>
                            <a:pt x="1" y="211"/>
                          </a:lnTo>
                          <a:lnTo>
                            <a:pt x="3" y="215"/>
                          </a:lnTo>
                          <a:lnTo>
                            <a:pt x="1351" y="2771"/>
                          </a:lnTo>
                          <a:lnTo>
                            <a:pt x="1351" y="2771"/>
                          </a:lnTo>
                          <a:lnTo>
                            <a:pt x="1352" y="2772"/>
                          </a:lnTo>
                          <a:lnTo>
                            <a:pt x="1353" y="2774"/>
                          </a:lnTo>
                          <a:lnTo>
                            <a:pt x="1356" y="2776"/>
                          </a:lnTo>
                          <a:lnTo>
                            <a:pt x="1356" y="2776"/>
                          </a:lnTo>
                          <a:lnTo>
                            <a:pt x="1357" y="2776"/>
                          </a:lnTo>
                          <a:lnTo>
                            <a:pt x="1358" y="2777"/>
                          </a:lnTo>
                          <a:lnTo>
                            <a:pt x="1359" y="2778"/>
                          </a:lnTo>
                          <a:lnTo>
                            <a:pt x="1359" y="2778"/>
                          </a:lnTo>
                          <a:lnTo>
                            <a:pt x="1360" y="2778"/>
                          </a:lnTo>
                          <a:lnTo>
                            <a:pt x="1362" y="2780"/>
                          </a:lnTo>
                          <a:lnTo>
                            <a:pt x="1365" y="2781"/>
                          </a:lnTo>
                          <a:lnTo>
                            <a:pt x="1365" y="2781"/>
                          </a:lnTo>
                          <a:lnTo>
                            <a:pt x="1365" y="2781"/>
                          </a:lnTo>
                          <a:lnTo>
                            <a:pt x="1367" y="2782"/>
                          </a:lnTo>
                          <a:lnTo>
                            <a:pt x="1368" y="2783"/>
                          </a:lnTo>
                          <a:lnTo>
                            <a:pt x="1373" y="2785"/>
                          </a:lnTo>
                          <a:lnTo>
                            <a:pt x="1378" y="2787"/>
                          </a:lnTo>
                          <a:lnTo>
                            <a:pt x="1378" y="2787"/>
                          </a:lnTo>
                          <a:lnTo>
                            <a:pt x="1378" y="2787"/>
                          </a:lnTo>
                          <a:lnTo>
                            <a:pt x="1381" y="2788"/>
                          </a:lnTo>
                          <a:lnTo>
                            <a:pt x="1384" y="2789"/>
                          </a:lnTo>
                          <a:lnTo>
                            <a:pt x="1384" y="2789"/>
                          </a:lnTo>
                          <a:lnTo>
                            <a:pt x="1384" y="2789"/>
                          </a:lnTo>
                          <a:lnTo>
                            <a:pt x="1391" y="2791"/>
                          </a:lnTo>
                          <a:lnTo>
                            <a:pt x="1398" y="2794"/>
                          </a:lnTo>
                          <a:lnTo>
                            <a:pt x="1400" y="2795"/>
                          </a:lnTo>
                          <a:lnTo>
                            <a:pt x="1402" y="2795"/>
                          </a:lnTo>
                          <a:lnTo>
                            <a:pt x="1403" y="2795"/>
                          </a:lnTo>
                          <a:lnTo>
                            <a:pt x="1403" y="2795"/>
                          </a:lnTo>
                          <a:lnTo>
                            <a:pt x="1411" y="2798"/>
                          </a:lnTo>
                          <a:lnTo>
                            <a:pt x="1420" y="2800"/>
                          </a:lnTo>
                          <a:lnTo>
                            <a:pt x="1423" y="2800"/>
                          </a:lnTo>
                          <a:lnTo>
                            <a:pt x="1424" y="2800"/>
                          </a:lnTo>
                          <a:lnTo>
                            <a:pt x="1424" y="2800"/>
                          </a:lnTo>
                          <a:lnTo>
                            <a:pt x="1424" y="2800"/>
                          </a:lnTo>
                          <a:lnTo>
                            <a:pt x="1432" y="2802"/>
                          </a:lnTo>
                          <a:lnTo>
                            <a:pt x="1440" y="2804"/>
                          </a:lnTo>
                          <a:lnTo>
                            <a:pt x="1444" y="2805"/>
                          </a:lnTo>
                          <a:lnTo>
                            <a:pt x="1448" y="2805"/>
                          </a:lnTo>
                          <a:lnTo>
                            <a:pt x="1449" y="2805"/>
                          </a:lnTo>
                          <a:lnTo>
                            <a:pt x="1450" y="2806"/>
                          </a:lnTo>
                          <a:lnTo>
                            <a:pt x="1459" y="2807"/>
                          </a:lnTo>
                          <a:lnTo>
                            <a:pt x="1467" y="2808"/>
                          </a:lnTo>
                          <a:lnTo>
                            <a:pt x="1468" y="2809"/>
                          </a:lnTo>
                          <a:lnTo>
                            <a:pt x="1469" y="2809"/>
                          </a:lnTo>
                          <a:lnTo>
                            <a:pt x="1473" y="2809"/>
                          </a:lnTo>
                          <a:lnTo>
                            <a:pt x="1477" y="2810"/>
                          </a:lnTo>
                          <a:lnTo>
                            <a:pt x="1477" y="2810"/>
                          </a:lnTo>
                          <a:lnTo>
                            <a:pt x="1478" y="2810"/>
                          </a:lnTo>
                          <a:lnTo>
                            <a:pt x="1491" y="2812"/>
                          </a:lnTo>
                          <a:lnTo>
                            <a:pt x="1503" y="2814"/>
                          </a:lnTo>
                          <a:lnTo>
                            <a:pt x="1505" y="2814"/>
                          </a:lnTo>
                          <a:lnTo>
                            <a:pt x="1507" y="2815"/>
                          </a:lnTo>
                          <a:lnTo>
                            <a:pt x="1508" y="2815"/>
                          </a:lnTo>
                          <a:lnTo>
                            <a:pt x="1509" y="2815"/>
                          </a:lnTo>
                          <a:lnTo>
                            <a:pt x="1530" y="2818"/>
                          </a:lnTo>
                          <a:lnTo>
                            <a:pt x="1551" y="2820"/>
                          </a:lnTo>
                          <a:lnTo>
                            <a:pt x="1574" y="2823"/>
                          </a:lnTo>
                          <a:lnTo>
                            <a:pt x="1598" y="2827"/>
                          </a:lnTo>
                          <a:lnTo>
                            <a:pt x="1599" y="2827"/>
                          </a:lnTo>
                          <a:lnTo>
                            <a:pt x="1599" y="2827"/>
                          </a:lnTo>
                          <a:lnTo>
                            <a:pt x="1600" y="2827"/>
                          </a:lnTo>
                          <a:lnTo>
                            <a:pt x="1601" y="2827"/>
                          </a:lnTo>
                          <a:lnTo>
                            <a:pt x="1610" y="2828"/>
                          </a:lnTo>
                          <a:lnTo>
                            <a:pt x="1619" y="2829"/>
                          </a:lnTo>
                          <a:lnTo>
                            <a:pt x="1629" y="2830"/>
                          </a:lnTo>
                          <a:lnTo>
                            <a:pt x="1639" y="2831"/>
                          </a:lnTo>
                          <a:lnTo>
                            <a:pt x="1640" y="2831"/>
                          </a:lnTo>
                          <a:lnTo>
                            <a:pt x="1641" y="2831"/>
                          </a:lnTo>
                          <a:lnTo>
                            <a:pt x="1643" y="2831"/>
                          </a:lnTo>
                          <a:lnTo>
                            <a:pt x="1644" y="2831"/>
                          </a:lnTo>
                          <a:lnTo>
                            <a:pt x="1654" y="2832"/>
                          </a:lnTo>
                          <a:lnTo>
                            <a:pt x="1664" y="2833"/>
                          </a:lnTo>
                          <a:lnTo>
                            <a:pt x="1674" y="2834"/>
                          </a:lnTo>
                          <a:lnTo>
                            <a:pt x="1683" y="2835"/>
                          </a:lnTo>
                          <a:lnTo>
                            <a:pt x="1685" y="2835"/>
                          </a:lnTo>
                          <a:lnTo>
                            <a:pt x="1686" y="2835"/>
                          </a:lnTo>
                          <a:lnTo>
                            <a:pt x="1688" y="2835"/>
                          </a:lnTo>
                          <a:lnTo>
                            <a:pt x="1691" y="2835"/>
                          </a:lnTo>
                          <a:lnTo>
                            <a:pt x="1698" y="2836"/>
                          </a:lnTo>
                          <a:lnTo>
                            <a:pt x="1706" y="2837"/>
                          </a:lnTo>
                          <a:lnTo>
                            <a:pt x="1714" y="2837"/>
                          </a:lnTo>
                          <a:lnTo>
                            <a:pt x="1721" y="2838"/>
                          </a:lnTo>
                          <a:lnTo>
                            <a:pt x="1728" y="2839"/>
                          </a:lnTo>
                          <a:lnTo>
                            <a:pt x="1734" y="2839"/>
                          </a:lnTo>
                          <a:lnTo>
                            <a:pt x="1739" y="2839"/>
                          </a:lnTo>
                          <a:lnTo>
                            <a:pt x="1744" y="2840"/>
                          </a:lnTo>
                          <a:lnTo>
                            <a:pt x="1775" y="2842"/>
                          </a:lnTo>
                          <a:lnTo>
                            <a:pt x="1807" y="2844"/>
                          </a:lnTo>
                          <a:lnTo>
                            <a:pt x="1840" y="2847"/>
                          </a:lnTo>
                          <a:lnTo>
                            <a:pt x="1873" y="2849"/>
                          </a:lnTo>
                          <a:lnTo>
                            <a:pt x="1880" y="2849"/>
                          </a:lnTo>
                          <a:lnTo>
                            <a:pt x="1886" y="2849"/>
                          </a:lnTo>
                          <a:lnTo>
                            <a:pt x="1890" y="2850"/>
                          </a:lnTo>
                          <a:lnTo>
                            <a:pt x="1894" y="2850"/>
                          </a:lnTo>
                          <a:lnTo>
                            <a:pt x="1898" y="2850"/>
                          </a:lnTo>
                          <a:lnTo>
                            <a:pt x="1901" y="2850"/>
                          </a:lnTo>
                          <a:lnTo>
                            <a:pt x="1932" y="2852"/>
                          </a:lnTo>
                          <a:lnTo>
                            <a:pt x="1964" y="2854"/>
                          </a:lnTo>
                          <a:lnTo>
                            <a:pt x="1996" y="2855"/>
                          </a:lnTo>
                          <a:lnTo>
                            <a:pt x="2028" y="2857"/>
                          </a:lnTo>
                          <a:lnTo>
                            <a:pt x="2029" y="2857"/>
                          </a:lnTo>
                          <a:lnTo>
                            <a:pt x="2030" y="2857"/>
                          </a:lnTo>
                          <a:lnTo>
                            <a:pt x="2036" y="2857"/>
                          </a:lnTo>
                          <a:lnTo>
                            <a:pt x="2041" y="2857"/>
                          </a:lnTo>
                          <a:lnTo>
                            <a:pt x="2052" y="2858"/>
                          </a:lnTo>
                          <a:lnTo>
                            <a:pt x="2064" y="2858"/>
                          </a:lnTo>
                          <a:lnTo>
                            <a:pt x="2065" y="2858"/>
                          </a:lnTo>
                          <a:lnTo>
                            <a:pt x="2066" y="2858"/>
                          </a:lnTo>
                          <a:lnTo>
                            <a:pt x="2081" y="2859"/>
                          </a:lnTo>
                          <a:lnTo>
                            <a:pt x="2097" y="2861"/>
                          </a:lnTo>
                          <a:lnTo>
                            <a:pt x="2098" y="2861"/>
                          </a:lnTo>
                          <a:lnTo>
                            <a:pt x="2099" y="2861"/>
                          </a:lnTo>
                          <a:lnTo>
                            <a:pt x="2110" y="2861"/>
                          </a:lnTo>
                          <a:lnTo>
                            <a:pt x="2120" y="2861"/>
                          </a:lnTo>
                          <a:lnTo>
                            <a:pt x="2134" y="2862"/>
                          </a:lnTo>
                          <a:lnTo>
                            <a:pt x="2147" y="2863"/>
                          </a:lnTo>
                          <a:lnTo>
                            <a:pt x="2150" y="2863"/>
                          </a:lnTo>
                          <a:lnTo>
                            <a:pt x="2153" y="2863"/>
                          </a:lnTo>
                          <a:lnTo>
                            <a:pt x="2177" y="2864"/>
                          </a:lnTo>
                          <a:lnTo>
                            <a:pt x="2201" y="2864"/>
                          </a:lnTo>
                          <a:lnTo>
                            <a:pt x="2224" y="2865"/>
                          </a:lnTo>
                          <a:lnTo>
                            <a:pt x="2249" y="2866"/>
                          </a:lnTo>
                          <a:lnTo>
                            <a:pt x="2250" y="2866"/>
                          </a:lnTo>
                          <a:lnTo>
                            <a:pt x="2250" y="2866"/>
                          </a:lnTo>
                          <a:lnTo>
                            <a:pt x="2254" y="2866"/>
                          </a:lnTo>
                          <a:lnTo>
                            <a:pt x="2258" y="2866"/>
                          </a:lnTo>
                          <a:lnTo>
                            <a:pt x="2260" y="2866"/>
                          </a:lnTo>
                          <a:lnTo>
                            <a:pt x="2262" y="2866"/>
                          </a:lnTo>
                          <a:lnTo>
                            <a:pt x="2286" y="2867"/>
                          </a:lnTo>
                          <a:lnTo>
                            <a:pt x="2310" y="2867"/>
                          </a:lnTo>
                          <a:lnTo>
                            <a:pt x="2335" y="2868"/>
                          </a:lnTo>
                          <a:lnTo>
                            <a:pt x="2359" y="2869"/>
                          </a:lnTo>
                          <a:lnTo>
                            <a:pt x="2362" y="2869"/>
                          </a:lnTo>
                          <a:lnTo>
                            <a:pt x="2364" y="2869"/>
                          </a:lnTo>
                          <a:lnTo>
                            <a:pt x="2366" y="2869"/>
                          </a:lnTo>
                          <a:lnTo>
                            <a:pt x="2367" y="2869"/>
                          </a:lnTo>
                          <a:lnTo>
                            <a:pt x="2371" y="2869"/>
                          </a:lnTo>
                          <a:lnTo>
                            <a:pt x="2374" y="2869"/>
                          </a:lnTo>
                          <a:lnTo>
                            <a:pt x="2399" y="2870"/>
                          </a:lnTo>
                          <a:lnTo>
                            <a:pt x="2423" y="2870"/>
                          </a:lnTo>
                          <a:lnTo>
                            <a:pt x="2447" y="2870"/>
                          </a:lnTo>
                          <a:lnTo>
                            <a:pt x="2472" y="2871"/>
                          </a:lnTo>
                          <a:lnTo>
                            <a:pt x="2475" y="2871"/>
                          </a:lnTo>
                          <a:lnTo>
                            <a:pt x="2477" y="2871"/>
                          </a:lnTo>
                          <a:lnTo>
                            <a:pt x="2477" y="2871"/>
                          </a:lnTo>
                          <a:lnTo>
                            <a:pt x="2478" y="2871"/>
                          </a:lnTo>
                          <a:lnTo>
                            <a:pt x="2502" y="2871"/>
                          </a:lnTo>
                          <a:lnTo>
                            <a:pt x="2526" y="2872"/>
                          </a:lnTo>
                          <a:lnTo>
                            <a:pt x="2552" y="2872"/>
                          </a:lnTo>
                          <a:lnTo>
                            <a:pt x="2577" y="2872"/>
                          </a:lnTo>
                          <a:lnTo>
                            <a:pt x="2578" y="2872"/>
                          </a:lnTo>
                          <a:lnTo>
                            <a:pt x="2579" y="2872"/>
                          </a:lnTo>
                          <a:lnTo>
                            <a:pt x="2585" y="2872"/>
                          </a:lnTo>
                          <a:lnTo>
                            <a:pt x="2590" y="2873"/>
                          </a:lnTo>
                          <a:lnTo>
                            <a:pt x="2594" y="2873"/>
                          </a:lnTo>
                          <a:lnTo>
                            <a:pt x="2599" y="2873"/>
                          </a:lnTo>
                          <a:lnTo>
                            <a:pt x="2625" y="2873"/>
                          </a:lnTo>
                          <a:lnTo>
                            <a:pt x="2653" y="2873"/>
                          </a:lnTo>
                          <a:lnTo>
                            <a:pt x="2680" y="2873"/>
                          </a:lnTo>
                          <a:lnTo>
                            <a:pt x="2707" y="2873"/>
                          </a:lnTo>
                          <a:lnTo>
                            <a:pt x="2707" y="2873"/>
                          </a:lnTo>
                          <a:lnTo>
                            <a:pt x="2707" y="2873"/>
                          </a:lnTo>
                          <a:lnTo>
                            <a:pt x="2710" y="2873"/>
                          </a:lnTo>
                          <a:lnTo>
                            <a:pt x="2714" y="2873"/>
                          </a:lnTo>
                          <a:lnTo>
                            <a:pt x="2727" y="2873"/>
                          </a:lnTo>
                          <a:lnTo>
                            <a:pt x="2742" y="2873"/>
                          </a:lnTo>
                          <a:lnTo>
                            <a:pt x="2756" y="2873"/>
                          </a:lnTo>
                          <a:lnTo>
                            <a:pt x="2771" y="2873"/>
                          </a:lnTo>
                          <a:lnTo>
                            <a:pt x="2790" y="2874"/>
                          </a:lnTo>
                          <a:lnTo>
                            <a:pt x="2809" y="2874"/>
                          </a:lnTo>
                          <a:lnTo>
                            <a:pt x="2827" y="2874"/>
                          </a:lnTo>
                          <a:lnTo>
                            <a:pt x="2847" y="2873"/>
                          </a:lnTo>
                          <a:lnTo>
                            <a:pt x="2849" y="2873"/>
                          </a:lnTo>
                          <a:lnTo>
                            <a:pt x="2851" y="2873"/>
                          </a:lnTo>
                          <a:lnTo>
                            <a:pt x="2854" y="2873"/>
                          </a:lnTo>
                          <a:lnTo>
                            <a:pt x="2857" y="2873"/>
                          </a:lnTo>
                          <a:lnTo>
                            <a:pt x="2895" y="2873"/>
                          </a:lnTo>
                          <a:lnTo>
                            <a:pt x="2934" y="2873"/>
                          </a:lnTo>
                          <a:lnTo>
                            <a:pt x="2971" y="2873"/>
                          </a:lnTo>
                          <a:lnTo>
                            <a:pt x="3008" y="2872"/>
                          </a:lnTo>
                          <a:lnTo>
                            <a:pt x="3008" y="2872"/>
                          </a:lnTo>
                          <a:lnTo>
                            <a:pt x="3009" y="2872"/>
                          </a:lnTo>
                          <a:lnTo>
                            <a:pt x="3010" y="2872"/>
                          </a:lnTo>
                          <a:lnTo>
                            <a:pt x="3012" y="2872"/>
                          </a:lnTo>
                          <a:lnTo>
                            <a:pt x="3015" y="2872"/>
                          </a:lnTo>
                          <a:lnTo>
                            <a:pt x="3018" y="2872"/>
                          </a:lnTo>
                          <a:lnTo>
                            <a:pt x="3021" y="2872"/>
                          </a:lnTo>
                          <a:lnTo>
                            <a:pt x="3023" y="2872"/>
                          </a:lnTo>
                          <a:lnTo>
                            <a:pt x="3055" y="2872"/>
                          </a:lnTo>
                          <a:lnTo>
                            <a:pt x="3087" y="2871"/>
                          </a:lnTo>
                          <a:lnTo>
                            <a:pt x="3118" y="2871"/>
                          </a:lnTo>
                          <a:lnTo>
                            <a:pt x="3150" y="2870"/>
                          </a:lnTo>
                          <a:lnTo>
                            <a:pt x="3181" y="2870"/>
                          </a:lnTo>
                          <a:lnTo>
                            <a:pt x="3211" y="2869"/>
                          </a:lnTo>
                          <a:lnTo>
                            <a:pt x="3242" y="2868"/>
                          </a:lnTo>
                          <a:lnTo>
                            <a:pt x="3272" y="2868"/>
                          </a:lnTo>
                          <a:lnTo>
                            <a:pt x="3273" y="2868"/>
                          </a:lnTo>
                          <a:lnTo>
                            <a:pt x="3273" y="2868"/>
                          </a:lnTo>
                          <a:lnTo>
                            <a:pt x="3280" y="2868"/>
                          </a:lnTo>
                          <a:lnTo>
                            <a:pt x="3287" y="2867"/>
                          </a:lnTo>
                          <a:lnTo>
                            <a:pt x="3290" y="2867"/>
                          </a:lnTo>
                          <a:lnTo>
                            <a:pt x="3293" y="2867"/>
                          </a:lnTo>
                          <a:lnTo>
                            <a:pt x="3308" y="2867"/>
                          </a:lnTo>
                          <a:lnTo>
                            <a:pt x="3322" y="2866"/>
                          </a:lnTo>
                          <a:lnTo>
                            <a:pt x="3337" y="2866"/>
                          </a:lnTo>
                          <a:lnTo>
                            <a:pt x="3351" y="2866"/>
                          </a:lnTo>
                          <a:lnTo>
                            <a:pt x="3355" y="2865"/>
                          </a:lnTo>
                          <a:lnTo>
                            <a:pt x="3359" y="2865"/>
                          </a:lnTo>
                          <a:lnTo>
                            <a:pt x="3364" y="2865"/>
                          </a:lnTo>
                          <a:lnTo>
                            <a:pt x="3370" y="2865"/>
                          </a:lnTo>
                          <a:lnTo>
                            <a:pt x="3381" y="2865"/>
                          </a:lnTo>
                          <a:lnTo>
                            <a:pt x="3393" y="2864"/>
                          </a:lnTo>
                          <a:lnTo>
                            <a:pt x="3405" y="2864"/>
                          </a:lnTo>
                          <a:lnTo>
                            <a:pt x="3416" y="2863"/>
                          </a:lnTo>
                          <a:lnTo>
                            <a:pt x="3422" y="2863"/>
                          </a:lnTo>
                          <a:lnTo>
                            <a:pt x="3429" y="2863"/>
                          </a:lnTo>
                          <a:lnTo>
                            <a:pt x="3434" y="2863"/>
                          </a:lnTo>
                          <a:lnTo>
                            <a:pt x="3439" y="2863"/>
                          </a:lnTo>
                          <a:lnTo>
                            <a:pt x="3449" y="2862"/>
                          </a:lnTo>
                          <a:lnTo>
                            <a:pt x="3459" y="2862"/>
                          </a:lnTo>
                          <a:lnTo>
                            <a:pt x="3469" y="2862"/>
                          </a:lnTo>
                          <a:lnTo>
                            <a:pt x="3479" y="2861"/>
                          </a:lnTo>
                          <a:lnTo>
                            <a:pt x="3488" y="2861"/>
                          </a:lnTo>
                          <a:lnTo>
                            <a:pt x="3496" y="2861"/>
                          </a:lnTo>
                          <a:lnTo>
                            <a:pt x="3501" y="2859"/>
                          </a:lnTo>
                          <a:lnTo>
                            <a:pt x="3505" y="2859"/>
                          </a:lnTo>
                          <a:lnTo>
                            <a:pt x="3514" y="2859"/>
                          </a:lnTo>
                          <a:lnTo>
                            <a:pt x="3523" y="2858"/>
                          </a:lnTo>
                          <a:lnTo>
                            <a:pt x="3531" y="2858"/>
                          </a:lnTo>
                          <a:lnTo>
                            <a:pt x="3541" y="2858"/>
                          </a:lnTo>
                          <a:lnTo>
                            <a:pt x="3542" y="2858"/>
                          </a:lnTo>
                          <a:lnTo>
                            <a:pt x="3543" y="2858"/>
                          </a:lnTo>
                          <a:lnTo>
                            <a:pt x="3549" y="2857"/>
                          </a:lnTo>
                          <a:lnTo>
                            <a:pt x="3555" y="2857"/>
                          </a:lnTo>
                          <a:lnTo>
                            <a:pt x="3559" y="2857"/>
                          </a:lnTo>
                          <a:lnTo>
                            <a:pt x="3563" y="2857"/>
                          </a:lnTo>
                          <a:lnTo>
                            <a:pt x="3565" y="2857"/>
                          </a:lnTo>
                          <a:lnTo>
                            <a:pt x="3568" y="2857"/>
                          </a:lnTo>
                          <a:lnTo>
                            <a:pt x="3581" y="2856"/>
                          </a:lnTo>
                          <a:lnTo>
                            <a:pt x="3594" y="2855"/>
                          </a:lnTo>
                          <a:lnTo>
                            <a:pt x="3595" y="2855"/>
                          </a:lnTo>
                          <a:lnTo>
                            <a:pt x="3595" y="2855"/>
                          </a:lnTo>
                          <a:lnTo>
                            <a:pt x="3608" y="2855"/>
                          </a:lnTo>
                          <a:lnTo>
                            <a:pt x="3620" y="2854"/>
                          </a:lnTo>
                          <a:lnTo>
                            <a:pt x="3625" y="2854"/>
                          </a:lnTo>
                          <a:lnTo>
                            <a:pt x="3630" y="2853"/>
                          </a:lnTo>
                          <a:lnTo>
                            <a:pt x="3640" y="2853"/>
                          </a:lnTo>
                          <a:lnTo>
                            <a:pt x="3649" y="2852"/>
                          </a:lnTo>
                          <a:lnTo>
                            <a:pt x="3650" y="2852"/>
                          </a:lnTo>
                          <a:lnTo>
                            <a:pt x="3652" y="2852"/>
                          </a:lnTo>
                          <a:lnTo>
                            <a:pt x="3662" y="2852"/>
                          </a:lnTo>
                          <a:lnTo>
                            <a:pt x="3674" y="2851"/>
                          </a:lnTo>
                          <a:lnTo>
                            <a:pt x="3677" y="2851"/>
                          </a:lnTo>
                          <a:lnTo>
                            <a:pt x="3679" y="2851"/>
                          </a:lnTo>
                          <a:lnTo>
                            <a:pt x="3694" y="2850"/>
                          </a:lnTo>
                          <a:lnTo>
                            <a:pt x="3710" y="2849"/>
                          </a:lnTo>
                          <a:lnTo>
                            <a:pt x="3718" y="2849"/>
                          </a:lnTo>
                          <a:lnTo>
                            <a:pt x="3726" y="2848"/>
                          </a:lnTo>
                          <a:lnTo>
                            <a:pt x="3728" y="2848"/>
                          </a:lnTo>
                          <a:lnTo>
                            <a:pt x="3729" y="2848"/>
                          </a:lnTo>
                          <a:lnTo>
                            <a:pt x="3745" y="2847"/>
                          </a:lnTo>
                          <a:lnTo>
                            <a:pt x="3759" y="2846"/>
                          </a:lnTo>
                          <a:lnTo>
                            <a:pt x="3764" y="2846"/>
                          </a:lnTo>
                          <a:lnTo>
                            <a:pt x="3769" y="2845"/>
                          </a:lnTo>
                          <a:lnTo>
                            <a:pt x="3773" y="2845"/>
                          </a:lnTo>
                          <a:lnTo>
                            <a:pt x="3777" y="2845"/>
                          </a:lnTo>
                          <a:lnTo>
                            <a:pt x="3780" y="2845"/>
                          </a:lnTo>
                          <a:lnTo>
                            <a:pt x="3783" y="2844"/>
                          </a:lnTo>
                          <a:lnTo>
                            <a:pt x="3791" y="2844"/>
                          </a:lnTo>
                          <a:lnTo>
                            <a:pt x="3799" y="2843"/>
                          </a:lnTo>
                          <a:lnTo>
                            <a:pt x="3808" y="2843"/>
                          </a:lnTo>
                          <a:lnTo>
                            <a:pt x="3816" y="2842"/>
                          </a:lnTo>
                          <a:lnTo>
                            <a:pt x="3817" y="2842"/>
                          </a:lnTo>
                          <a:lnTo>
                            <a:pt x="3818" y="2842"/>
                          </a:lnTo>
                          <a:lnTo>
                            <a:pt x="3825" y="2842"/>
                          </a:lnTo>
                          <a:lnTo>
                            <a:pt x="3832" y="2841"/>
                          </a:lnTo>
                          <a:lnTo>
                            <a:pt x="3834" y="2841"/>
                          </a:lnTo>
                          <a:lnTo>
                            <a:pt x="3837" y="2841"/>
                          </a:lnTo>
                          <a:lnTo>
                            <a:pt x="3846" y="2840"/>
                          </a:lnTo>
                          <a:lnTo>
                            <a:pt x="3855" y="2839"/>
                          </a:lnTo>
                          <a:lnTo>
                            <a:pt x="3864" y="2839"/>
                          </a:lnTo>
                          <a:lnTo>
                            <a:pt x="3874" y="2838"/>
                          </a:lnTo>
                          <a:lnTo>
                            <a:pt x="3879" y="2837"/>
                          </a:lnTo>
                          <a:lnTo>
                            <a:pt x="3885" y="2837"/>
                          </a:lnTo>
                          <a:lnTo>
                            <a:pt x="3885" y="2837"/>
                          </a:lnTo>
                          <a:lnTo>
                            <a:pt x="3886" y="2837"/>
                          </a:lnTo>
                          <a:lnTo>
                            <a:pt x="3889" y="2837"/>
                          </a:lnTo>
                          <a:lnTo>
                            <a:pt x="3891" y="2836"/>
                          </a:lnTo>
                          <a:lnTo>
                            <a:pt x="3919" y="2834"/>
                          </a:lnTo>
                          <a:lnTo>
                            <a:pt x="3945" y="2832"/>
                          </a:lnTo>
                          <a:lnTo>
                            <a:pt x="3969" y="2829"/>
                          </a:lnTo>
                          <a:lnTo>
                            <a:pt x="3994" y="2827"/>
                          </a:lnTo>
                          <a:lnTo>
                            <a:pt x="4000" y="2825"/>
                          </a:lnTo>
                          <a:lnTo>
                            <a:pt x="4007" y="2824"/>
                          </a:lnTo>
                          <a:lnTo>
                            <a:pt x="4011" y="2824"/>
                          </a:lnTo>
                          <a:lnTo>
                            <a:pt x="4014" y="2824"/>
                          </a:lnTo>
                          <a:lnTo>
                            <a:pt x="4020" y="2823"/>
                          </a:lnTo>
                          <a:lnTo>
                            <a:pt x="4027" y="2822"/>
                          </a:lnTo>
                          <a:lnTo>
                            <a:pt x="4032" y="2822"/>
                          </a:lnTo>
                          <a:lnTo>
                            <a:pt x="4038" y="2821"/>
                          </a:lnTo>
                          <a:lnTo>
                            <a:pt x="4040" y="2821"/>
                          </a:lnTo>
                          <a:lnTo>
                            <a:pt x="4042" y="2820"/>
                          </a:lnTo>
                          <a:lnTo>
                            <a:pt x="4045" y="2820"/>
                          </a:lnTo>
                          <a:lnTo>
                            <a:pt x="4049" y="2819"/>
                          </a:lnTo>
                          <a:lnTo>
                            <a:pt x="4058" y="2818"/>
                          </a:lnTo>
                          <a:lnTo>
                            <a:pt x="4066" y="2817"/>
                          </a:lnTo>
                          <a:lnTo>
                            <a:pt x="4069" y="2817"/>
                          </a:lnTo>
                          <a:lnTo>
                            <a:pt x="4074" y="2816"/>
                          </a:lnTo>
                          <a:lnTo>
                            <a:pt x="4078" y="2816"/>
                          </a:lnTo>
                          <a:lnTo>
                            <a:pt x="4082" y="2815"/>
                          </a:lnTo>
                          <a:lnTo>
                            <a:pt x="4086" y="2814"/>
                          </a:lnTo>
                          <a:lnTo>
                            <a:pt x="4090" y="2814"/>
                          </a:lnTo>
                          <a:lnTo>
                            <a:pt x="4091" y="2814"/>
                          </a:lnTo>
                          <a:lnTo>
                            <a:pt x="4093" y="2814"/>
                          </a:lnTo>
                          <a:lnTo>
                            <a:pt x="4097" y="2813"/>
                          </a:lnTo>
                          <a:lnTo>
                            <a:pt x="4102" y="2812"/>
                          </a:lnTo>
                          <a:lnTo>
                            <a:pt x="4108" y="2811"/>
                          </a:lnTo>
                          <a:lnTo>
                            <a:pt x="4113" y="2811"/>
                          </a:lnTo>
                          <a:lnTo>
                            <a:pt x="4113" y="2810"/>
                          </a:lnTo>
                          <a:lnTo>
                            <a:pt x="4114" y="2810"/>
                          </a:lnTo>
                          <a:lnTo>
                            <a:pt x="4120" y="2809"/>
                          </a:lnTo>
                          <a:lnTo>
                            <a:pt x="4126" y="2808"/>
                          </a:lnTo>
                          <a:lnTo>
                            <a:pt x="4128" y="2808"/>
                          </a:lnTo>
                          <a:lnTo>
                            <a:pt x="4130" y="2808"/>
                          </a:lnTo>
                          <a:lnTo>
                            <a:pt x="4134" y="2807"/>
                          </a:lnTo>
                          <a:lnTo>
                            <a:pt x="4139" y="2806"/>
                          </a:lnTo>
                          <a:lnTo>
                            <a:pt x="4139" y="2806"/>
                          </a:lnTo>
                          <a:lnTo>
                            <a:pt x="4140" y="2806"/>
                          </a:lnTo>
                          <a:lnTo>
                            <a:pt x="4141" y="2806"/>
                          </a:lnTo>
                          <a:lnTo>
                            <a:pt x="4143" y="2805"/>
                          </a:lnTo>
                          <a:lnTo>
                            <a:pt x="4148" y="2805"/>
                          </a:lnTo>
                          <a:lnTo>
                            <a:pt x="4152" y="2804"/>
                          </a:lnTo>
                          <a:lnTo>
                            <a:pt x="4156" y="2803"/>
                          </a:lnTo>
                          <a:lnTo>
                            <a:pt x="4160" y="2802"/>
                          </a:lnTo>
                          <a:lnTo>
                            <a:pt x="4162" y="2802"/>
                          </a:lnTo>
                          <a:lnTo>
                            <a:pt x="4165" y="2801"/>
                          </a:lnTo>
                          <a:lnTo>
                            <a:pt x="4168" y="2800"/>
                          </a:lnTo>
                          <a:lnTo>
                            <a:pt x="4173" y="2799"/>
                          </a:lnTo>
                          <a:lnTo>
                            <a:pt x="4176" y="2799"/>
                          </a:lnTo>
                          <a:lnTo>
                            <a:pt x="4178" y="2798"/>
                          </a:lnTo>
                          <a:lnTo>
                            <a:pt x="4179" y="2798"/>
                          </a:lnTo>
                          <a:lnTo>
                            <a:pt x="4181" y="2798"/>
                          </a:lnTo>
                          <a:lnTo>
                            <a:pt x="4183" y="2797"/>
                          </a:lnTo>
                          <a:lnTo>
                            <a:pt x="4185" y="2796"/>
                          </a:lnTo>
                          <a:lnTo>
                            <a:pt x="4191" y="2795"/>
                          </a:lnTo>
                          <a:lnTo>
                            <a:pt x="4195" y="2794"/>
                          </a:lnTo>
                          <a:lnTo>
                            <a:pt x="4197" y="2793"/>
                          </a:lnTo>
                          <a:lnTo>
                            <a:pt x="4198" y="2793"/>
                          </a:lnTo>
                          <a:lnTo>
                            <a:pt x="4201" y="2791"/>
                          </a:lnTo>
                          <a:lnTo>
                            <a:pt x="4205" y="2790"/>
                          </a:lnTo>
                          <a:lnTo>
                            <a:pt x="4205" y="2790"/>
                          </a:lnTo>
                          <a:lnTo>
                            <a:pt x="4205" y="2790"/>
                          </a:lnTo>
                          <a:lnTo>
                            <a:pt x="4207" y="2790"/>
                          </a:lnTo>
                          <a:lnTo>
                            <a:pt x="4208" y="2789"/>
                          </a:lnTo>
                          <a:lnTo>
                            <a:pt x="4209" y="2789"/>
                          </a:lnTo>
                          <a:lnTo>
                            <a:pt x="4209" y="2789"/>
                          </a:lnTo>
                          <a:lnTo>
                            <a:pt x="4211" y="2788"/>
                          </a:lnTo>
                          <a:lnTo>
                            <a:pt x="4213" y="2787"/>
                          </a:lnTo>
                          <a:lnTo>
                            <a:pt x="4216" y="2786"/>
                          </a:lnTo>
                          <a:lnTo>
                            <a:pt x="4219" y="2785"/>
                          </a:lnTo>
                          <a:lnTo>
                            <a:pt x="4222" y="2784"/>
                          </a:lnTo>
                          <a:lnTo>
                            <a:pt x="4225" y="2783"/>
                          </a:lnTo>
                          <a:lnTo>
                            <a:pt x="4225" y="2782"/>
                          </a:lnTo>
                          <a:lnTo>
                            <a:pt x="4225" y="2782"/>
                          </a:lnTo>
                          <a:lnTo>
                            <a:pt x="4227" y="2781"/>
                          </a:lnTo>
                          <a:lnTo>
                            <a:pt x="4229" y="2780"/>
                          </a:lnTo>
                          <a:lnTo>
                            <a:pt x="4230" y="2780"/>
                          </a:lnTo>
                          <a:lnTo>
                            <a:pt x="4231" y="2779"/>
                          </a:lnTo>
                          <a:lnTo>
                            <a:pt x="4231" y="2779"/>
                          </a:lnTo>
                          <a:lnTo>
                            <a:pt x="4231" y="2779"/>
                          </a:lnTo>
                          <a:lnTo>
                            <a:pt x="4232" y="2779"/>
                          </a:lnTo>
                          <a:lnTo>
                            <a:pt x="4232" y="2778"/>
                          </a:lnTo>
                          <a:lnTo>
                            <a:pt x="4233" y="2778"/>
                          </a:lnTo>
                          <a:lnTo>
                            <a:pt x="4234" y="2777"/>
                          </a:lnTo>
                          <a:lnTo>
                            <a:pt x="4235" y="2776"/>
                          </a:lnTo>
                          <a:lnTo>
                            <a:pt x="4236" y="2775"/>
                          </a:lnTo>
                          <a:lnTo>
                            <a:pt x="4237" y="2775"/>
                          </a:lnTo>
                          <a:lnTo>
                            <a:pt x="4237" y="2775"/>
                          </a:lnTo>
                          <a:lnTo>
                            <a:pt x="4239" y="2773"/>
                          </a:lnTo>
                          <a:lnTo>
                            <a:pt x="4240" y="2772"/>
                          </a:lnTo>
                          <a:lnTo>
                            <a:pt x="4241" y="2771"/>
                          </a:lnTo>
                          <a:lnTo>
                            <a:pt x="4241" y="2771"/>
                          </a:lnTo>
                          <a:lnTo>
                            <a:pt x="5590" y="215"/>
                          </a:lnTo>
                          <a:lnTo>
                            <a:pt x="5591" y="213"/>
                          </a:lnTo>
                          <a:lnTo>
                            <a:pt x="5591" y="211"/>
                          </a:lnTo>
                          <a:lnTo>
                            <a:pt x="5592" y="208"/>
                          </a:lnTo>
                          <a:lnTo>
                            <a:pt x="5591" y="205"/>
                          </a:lnTo>
                          <a:lnTo>
                            <a:pt x="5591" y="204"/>
                          </a:lnTo>
                          <a:lnTo>
                            <a:pt x="5591" y="203"/>
                          </a:lnTo>
                          <a:close/>
                        </a:path>
                      </a:pathLst>
                    </a:custGeom>
                    <a:gradFill flip="none" rotWithShape="1">
                      <a:gsLst>
                        <a:gs pos="0">
                          <a:schemeClr val="accent2">
                            <a:lumMod val="40000"/>
                            <a:lumOff val="60000"/>
                          </a:schemeClr>
                        </a:gs>
                        <a:gs pos="61000">
                          <a:schemeClr val="accent2"/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  <a:ln>
                      <a:noFill/>
                    </a:ln>
                    <a:effectLst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00">
                        <a:solidFill>
                          <a:schemeClr val="lt1"/>
                        </a:solidFill>
                        <a:latin typeface="OPPOSans R" panose="00020600040101010101" pitchFamily="18" charset="-122"/>
                        <a:ea typeface="OPPOSans R" panose="00020600040101010101" pitchFamily="18" charset="-122"/>
                        <a:cs typeface="OPPOSans R" panose="00020600040101010101" pitchFamily="18" charset="-122"/>
                      </a:endParaRPr>
                    </a:p>
                  </p:txBody>
                </p:sp>
                <p:sp>
                  <p:nvSpPr>
                    <p:cNvPr id="53" name="Freeform 14"/>
                    <p:cNvSpPr/>
                    <p:nvPr/>
                  </p:nvSpPr>
                  <p:spPr bwMode="auto">
                    <a:xfrm>
                      <a:off x="5356226" y="4667176"/>
                      <a:ext cx="1479550" cy="109538"/>
                    </a:xfrm>
                    <a:custGeom>
                      <a:avLst/>
                      <a:gdLst>
                        <a:gd name="T0" fmla="*/ 5570 w 5590"/>
                        <a:gd name="T1" fmla="*/ 232 h 414"/>
                        <a:gd name="T2" fmla="*/ 5490 w 5590"/>
                        <a:gd name="T3" fmla="*/ 263 h 414"/>
                        <a:gd name="T4" fmla="*/ 5352 w 5590"/>
                        <a:gd name="T5" fmla="*/ 291 h 414"/>
                        <a:gd name="T6" fmla="*/ 5160 w 5590"/>
                        <a:gd name="T7" fmla="*/ 318 h 414"/>
                        <a:gd name="T8" fmla="*/ 4921 w 5590"/>
                        <a:gd name="T9" fmla="*/ 342 h 414"/>
                        <a:gd name="T10" fmla="*/ 4638 w 5590"/>
                        <a:gd name="T11" fmla="*/ 363 h 414"/>
                        <a:gd name="T12" fmla="*/ 4317 w 5590"/>
                        <a:gd name="T13" fmla="*/ 381 h 414"/>
                        <a:gd name="T14" fmla="*/ 3962 w 5590"/>
                        <a:gd name="T15" fmla="*/ 395 h 414"/>
                        <a:gd name="T16" fmla="*/ 3580 w 5590"/>
                        <a:gd name="T17" fmla="*/ 406 h 414"/>
                        <a:gd name="T18" fmla="*/ 3173 w 5590"/>
                        <a:gd name="T19" fmla="*/ 413 h 414"/>
                        <a:gd name="T20" fmla="*/ 2746 w 5590"/>
                        <a:gd name="T21" fmla="*/ 414 h 414"/>
                        <a:gd name="T22" fmla="*/ 2321 w 5590"/>
                        <a:gd name="T23" fmla="*/ 412 h 414"/>
                        <a:gd name="T24" fmla="*/ 1917 w 5590"/>
                        <a:gd name="T25" fmla="*/ 404 h 414"/>
                        <a:gd name="T26" fmla="*/ 1539 w 5590"/>
                        <a:gd name="T27" fmla="*/ 392 h 414"/>
                        <a:gd name="T28" fmla="*/ 1192 w 5590"/>
                        <a:gd name="T29" fmla="*/ 377 h 414"/>
                        <a:gd name="T30" fmla="*/ 879 w 5590"/>
                        <a:gd name="T31" fmla="*/ 358 h 414"/>
                        <a:gd name="T32" fmla="*/ 607 w 5590"/>
                        <a:gd name="T33" fmla="*/ 337 h 414"/>
                        <a:gd name="T34" fmla="*/ 379 w 5590"/>
                        <a:gd name="T35" fmla="*/ 312 h 414"/>
                        <a:gd name="T36" fmla="*/ 201 w 5590"/>
                        <a:gd name="T37" fmla="*/ 284 h 414"/>
                        <a:gd name="T38" fmla="*/ 75 w 5590"/>
                        <a:gd name="T39" fmla="*/ 255 h 414"/>
                        <a:gd name="T40" fmla="*/ 9 w 5590"/>
                        <a:gd name="T41" fmla="*/ 224 h 414"/>
                        <a:gd name="T42" fmla="*/ 6 w 5590"/>
                        <a:gd name="T43" fmla="*/ 192 h 414"/>
                        <a:gd name="T44" fmla="*/ 66 w 5590"/>
                        <a:gd name="T45" fmla="*/ 162 h 414"/>
                        <a:gd name="T46" fmla="*/ 187 w 5590"/>
                        <a:gd name="T47" fmla="*/ 133 h 414"/>
                        <a:gd name="T48" fmla="*/ 361 w 5590"/>
                        <a:gd name="T49" fmla="*/ 105 h 414"/>
                        <a:gd name="T50" fmla="*/ 585 w 5590"/>
                        <a:gd name="T51" fmla="*/ 80 h 414"/>
                        <a:gd name="T52" fmla="*/ 854 w 5590"/>
                        <a:gd name="T53" fmla="*/ 59 h 414"/>
                        <a:gd name="T54" fmla="*/ 1162 w 5590"/>
                        <a:gd name="T55" fmla="*/ 39 h 414"/>
                        <a:gd name="T56" fmla="*/ 1506 w 5590"/>
                        <a:gd name="T57" fmla="*/ 24 h 414"/>
                        <a:gd name="T58" fmla="*/ 1880 w 5590"/>
                        <a:gd name="T59" fmla="*/ 11 h 414"/>
                        <a:gd name="T60" fmla="*/ 2279 w 5590"/>
                        <a:gd name="T61" fmla="*/ 3 h 414"/>
                        <a:gd name="T62" fmla="*/ 2700 w 5590"/>
                        <a:gd name="T63" fmla="*/ 0 h 414"/>
                        <a:gd name="T64" fmla="*/ 3129 w 5590"/>
                        <a:gd name="T65" fmla="*/ 1 h 414"/>
                        <a:gd name="T66" fmla="*/ 3541 w 5590"/>
                        <a:gd name="T67" fmla="*/ 7 h 414"/>
                        <a:gd name="T68" fmla="*/ 3928 w 5590"/>
                        <a:gd name="T69" fmla="*/ 17 h 414"/>
                        <a:gd name="T70" fmla="*/ 4286 w 5590"/>
                        <a:gd name="T71" fmla="*/ 32 h 414"/>
                        <a:gd name="T72" fmla="*/ 4611 w 5590"/>
                        <a:gd name="T73" fmla="*/ 49 h 414"/>
                        <a:gd name="T74" fmla="*/ 4897 w 5590"/>
                        <a:gd name="T75" fmla="*/ 71 h 414"/>
                        <a:gd name="T76" fmla="*/ 5140 w 5590"/>
                        <a:gd name="T77" fmla="*/ 95 h 414"/>
                        <a:gd name="T78" fmla="*/ 5335 w 5590"/>
                        <a:gd name="T79" fmla="*/ 120 h 414"/>
                        <a:gd name="T80" fmla="*/ 5479 w 5590"/>
                        <a:gd name="T81" fmla="*/ 149 h 414"/>
                        <a:gd name="T82" fmla="*/ 5565 w 5590"/>
                        <a:gd name="T83" fmla="*/ 179 h 414"/>
                        <a:gd name="T84" fmla="*/ 5590 w 5590"/>
                        <a:gd name="T85" fmla="*/ 211 h 41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  <a:cxn ang="0">
                          <a:pos x="T84" y="T85"/>
                        </a:cxn>
                      </a:cxnLst>
                      <a:rect l="0" t="0" r="r" b="b"/>
                      <a:pathLst>
                        <a:path w="5590" h="414">
                          <a:moveTo>
                            <a:pt x="5590" y="211"/>
                          </a:moveTo>
                          <a:lnTo>
                            <a:pt x="5584" y="221"/>
                          </a:lnTo>
                          <a:lnTo>
                            <a:pt x="5570" y="232"/>
                          </a:lnTo>
                          <a:lnTo>
                            <a:pt x="5551" y="242"/>
                          </a:lnTo>
                          <a:lnTo>
                            <a:pt x="5524" y="252"/>
                          </a:lnTo>
                          <a:lnTo>
                            <a:pt x="5490" y="263"/>
                          </a:lnTo>
                          <a:lnTo>
                            <a:pt x="5450" y="272"/>
                          </a:lnTo>
                          <a:lnTo>
                            <a:pt x="5403" y="282"/>
                          </a:lnTo>
                          <a:lnTo>
                            <a:pt x="5352" y="291"/>
                          </a:lnTo>
                          <a:lnTo>
                            <a:pt x="5293" y="301"/>
                          </a:lnTo>
                          <a:lnTo>
                            <a:pt x="5229" y="309"/>
                          </a:lnTo>
                          <a:lnTo>
                            <a:pt x="5160" y="318"/>
                          </a:lnTo>
                          <a:lnTo>
                            <a:pt x="5086" y="326"/>
                          </a:lnTo>
                          <a:lnTo>
                            <a:pt x="5005" y="334"/>
                          </a:lnTo>
                          <a:lnTo>
                            <a:pt x="4921" y="342"/>
                          </a:lnTo>
                          <a:lnTo>
                            <a:pt x="4831" y="349"/>
                          </a:lnTo>
                          <a:lnTo>
                            <a:pt x="4736" y="356"/>
                          </a:lnTo>
                          <a:lnTo>
                            <a:pt x="4638" y="363"/>
                          </a:lnTo>
                          <a:lnTo>
                            <a:pt x="4535" y="370"/>
                          </a:lnTo>
                          <a:lnTo>
                            <a:pt x="4428" y="376"/>
                          </a:lnTo>
                          <a:lnTo>
                            <a:pt x="4317" y="381"/>
                          </a:lnTo>
                          <a:lnTo>
                            <a:pt x="4202" y="386"/>
                          </a:lnTo>
                          <a:lnTo>
                            <a:pt x="4084" y="391"/>
                          </a:lnTo>
                          <a:lnTo>
                            <a:pt x="3962" y="395"/>
                          </a:lnTo>
                          <a:lnTo>
                            <a:pt x="3838" y="400"/>
                          </a:lnTo>
                          <a:lnTo>
                            <a:pt x="3710" y="403"/>
                          </a:lnTo>
                          <a:lnTo>
                            <a:pt x="3580" y="406"/>
                          </a:lnTo>
                          <a:lnTo>
                            <a:pt x="3446" y="409"/>
                          </a:lnTo>
                          <a:lnTo>
                            <a:pt x="3311" y="411"/>
                          </a:lnTo>
                          <a:lnTo>
                            <a:pt x="3173" y="413"/>
                          </a:lnTo>
                          <a:lnTo>
                            <a:pt x="3033" y="414"/>
                          </a:lnTo>
                          <a:lnTo>
                            <a:pt x="2890" y="414"/>
                          </a:lnTo>
                          <a:lnTo>
                            <a:pt x="2746" y="414"/>
                          </a:lnTo>
                          <a:lnTo>
                            <a:pt x="2603" y="414"/>
                          </a:lnTo>
                          <a:lnTo>
                            <a:pt x="2461" y="413"/>
                          </a:lnTo>
                          <a:lnTo>
                            <a:pt x="2321" y="412"/>
                          </a:lnTo>
                          <a:lnTo>
                            <a:pt x="2184" y="410"/>
                          </a:lnTo>
                          <a:lnTo>
                            <a:pt x="2049" y="407"/>
                          </a:lnTo>
                          <a:lnTo>
                            <a:pt x="1917" y="404"/>
                          </a:lnTo>
                          <a:lnTo>
                            <a:pt x="1788" y="401"/>
                          </a:lnTo>
                          <a:lnTo>
                            <a:pt x="1662" y="396"/>
                          </a:lnTo>
                          <a:lnTo>
                            <a:pt x="1539" y="392"/>
                          </a:lnTo>
                          <a:lnTo>
                            <a:pt x="1419" y="387"/>
                          </a:lnTo>
                          <a:lnTo>
                            <a:pt x="1304" y="382"/>
                          </a:lnTo>
                          <a:lnTo>
                            <a:pt x="1192" y="377"/>
                          </a:lnTo>
                          <a:lnTo>
                            <a:pt x="1083" y="371"/>
                          </a:lnTo>
                          <a:lnTo>
                            <a:pt x="979" y="365"/>
                          </a:lnTo>
                          <a:lnTo>
                            <a:pt x="879" y="358"/>
                          </a:lnTo>
                          <a:lnTo>
                            <a:pt x="785" y="351"/>
                          </a:lnTo>
                          <a:lnTo>
                            <a:pt x="693" y="344"/>
                          </a:lnTo>
                          <a:lnTo>
                            <a:pt x="607" y="337"/>
                          </a:lnTo>
                          <a:lnTo>
                            <a:pt x="526" y="328"/>
                          </a:lnTo>
                          <a:lnTo>
                            <a:pt x="450" y="320"/>
                          </a:lnTo>
                          <a:lnTo>
                            <a:pt x="379" y="312"/>
                          </a:lnTo>
                          <a:lnTo>
                            <a:pt x="315" y="303"/>
                          </a:lnTo>
                          <a:lnTo>
                            <a:pt x="255" y="293"/>
                          </a:lnTo>
                          <a:lnTo>
                            <a:pt x="201" y="284"/>
                          </a:lnTo>
                          <a:lnTo>
                            <a:pt x="153" y="275"/>
                          </a:lnTo>
                          <a:lnTo>
                            <a:pt x="111" y="266"/>
                          </a:lnTo>
                          <a:lnTo>
                            <a:pt x="75" y="255"/>
                          </a:lnTo>
                          <a:lnTo>
                            <a:pt x="47" y="245"/>
                          </a:lnTo>
                          <a:lnTo>
                            <a:pt x="25" y="235"/>
                          </a:lnTo>
                          <a:lnTo>
                            <a:pt x="9" y="224"/>
                          </a:lnTo>
                          <a:lnTo>
                            <a:pt x="1" y="214"/>
                          </a:lnTo>
                          <a:lnTo>
                            <a:pt x="0" y="204"/>
                          </a:lnTo>
                          <a:lnTo>
                            <a:pt x="6" y="192"/>
                          </a:lnTo>
                          <a:lnTo>
                            <a:pt x="20" y="182"/>
                          </a:lnTo>
                          <a:lnTo>
                            <a:pt x="39" y="172"/>
                          </a:lnTo>
                          <a:lnTo>
                            <a:pt x="66" y="162"/>
                          </a:lnTo>
                          <a:lnTo>
                            <a:pt x="100" y="152"/>
                          </a:lnTo>
                          <a:lnTo>
                            <a:pt x="140" y="142"/>
                          </a:lnTo>
                          <a:lnTo>
                            <a:pt x="187" y="133"/>
                          </a:lnTo>
                          <a:lnTo>
                            <a:pt x="238" y="123"/>
                          </a:lnTo>
                          <a:lnTo>
                            <a:pt x="297" y="114"/>
                          </a:lnTo>
                          <a:lnTo>
                            <a:pt x="361" y="105"/>
                          </a:lnTo>
                          <a:lnTo>
                            <a:pt x="430" y="97"/>
                          </a:lnTo>
                          <a:lnTo>
                            <a:pt x="504" y="88"/>
                          </a:lnTo>
                          <a:lnTo>
                            <a:pt x="585" y="80"/>
                          </a:lnTo>
                          <a:lnTo>
                            <a:pt x="669" y="73"/>
                          </a:lnTo>
                          <a:lnTo>
                            <a:pt x="759" y="65"/>
                          </a:lnTo>
                          <a:lnTo>
                            <a:pt x="854" y="59"/>
                          </a:lnTo>
                          <a:lnTo>
                            <a:pt x="952" y="51"/>
                          </a:lnTo>
                          <a:lnTo>
                            <a:pt x="1055" y="45"/>
                          </a:lnTo>
                          <a:lnTo>
                            <a:pt x="1162" y="39"/>
                          </a:lnTo>
                          <a:lnTo>
                            <a:pt x="1273" y="33"/>
                          </a:lnTo>
                          <a:lnTo>
                            <a:pt x="1388" y="28"/>
                          </a:lnTo>
                          <a:lnTo>
                            <a:pt x="1506" y="24"/>
                          </a:lnTo>
                          <a:lnTo>
                            <a:pt x="1628" y="18"/>
                          </a:lnTo>
                          <a:lnTo>
                            <a:pt x="1752" y="15"/>
                          </a:lnTo>
                          <a:lnTo>
                            <a:pt x="1880" y="11"/>
                          </a:lnTo>
                          <a:lnTo>
                            <a:pt x="2010" y="8"/>
                          </a:lnTo>
                          <a:lnTo>
                            <a:pt x="2144" y="6"/>
                          </a:lnTo>
                          <a:lnTo>
                            <a:pt x="2279" y="3"/>
                          </a:lnTo>
                          <a:lnTo>
                            <a:pt x="2417" y="2"/>
                          </a:lnTo>
                          <a:lnTo>
                            <a:pt x="2557" y="1"/>
                          </a:lnTo>
                          <a:lnTo>
                            <a:pt x="2700" y="0"/>
                          </a:lnTo>
                          <a:lnTo>
                            <a:pt x="2844" y="0"/>
                          </a:lnTo>
                          <a:lnTo>
                            <a:pt x="2987" y="1"/>
                          </a:lnTo>
                          <a:lnTo>
                            <a:pt x="3129" y="1"/>
                          </a:lnTo>
                          <a:lnTo>
                            <a:pt x="3269" y="3"/>
                          </a:lnTo>
                          <a:lnTo>
                            <a:pt x="3406" y="5"/>
                          </a:lnTo>
                          <a:lnTo>
                            <a:pt x="3541" y="7"/>
                          </a:lnTo>
                          <a:lnTo>
                            <a:pt x="3673" y="10"/>
                          </a:lnTo>
                          <a:lnTo>
                            <a:pt x="3802" y="13"/>
                          </a:lnTo>
                          <a:lnTo>
                            <a:pt x="3928" y="17"/>
                          </a:lnTo>
                          <a:lnTo>
                            <a:pt x="4051" y="21"/>
                          </a:lnTo>
                          <a:lnTo>
                            <a:pt x="4171" y="27"/>
                          </a:lnTo>
                          <a:lnTo>
                            <a:pt x="4286" y="32"/>
                          </a:lnTo>
                          <a:lnTo>
                            <a:pt x="4398" y="37"/>
                          </a:lnTo>
                          <a:lnTo>
                            <a:pt x="4507" y="43"/>
                          </a:lnTo>
                          <a:lnTo>
                            <a:pt x="4611" y="49"/>
                          </a:lnTo>
                          <a:lnTo>
                            <a:pt x="4711" y="57"/>
                          </a:lnTo>
                          <a:lnTo>
                            <a:pt x="4805" y="63"/>
                          </a:lnTo>
                          <a:lnTo>
                            <a:pt x="4897" y="71"/>
                          </a:lnTo>
                          <a:lnTo>
                            <a:pt x="4983" y="78"/>
                          </a:lnTo>
                          <a:lnTo>
                            <a:pt x="5064" y="86"/>
                          </a:lnTo>
                          <a:lnTo>
                            <a:pt x="5140" y="95"/>
                          </a:lnTo>
                          <a:lnTo>
                            <a:pt x="5211" y="103"/>
                          </a:lnTo>
                          <a:lnTo>
                            <a:pt x="5275" y="111"/>
                          </a:lnTo>
                          <a:lnTo>
                            <a:pt x="5335" y="120"/>
                          </a:lnTo>
                          <a:lnTo>
                            <a:pt x="5390" y="130"/>
                          </a:lnTo>
                          <a:lnTo>
                            <a:pt x="5437" y="139"/>
                          </a:lnTo>
                          <a:lnTo>
                            <a:pt x="5479" y="149"/>
                          </a:lnTo>
                          <a:lnTo>
                            <a:pt x="5515" y="158"/>
                          </a:lnTo>
                          <a:lnTo>
                            <a:pt x="5543" y="169"/>
                          </a:lnTo>
                          <a:lnTo>
                            <a:pt x="5565" y="179"/>
                          </a:lnTo>
                          <a:lnTo>
                            <a:pt x="5581" y="189"/>
                          </a:lnTo>
                          <a:lnTo>
                            <a:pt x="5589" y="200"/>
                          </a:lnTo>
                          <a:lnTo>
                            <a:pt x="5590" y="211"/>
                          </a:lnTo>
                          <a:close/>
                        </a:path>
                      </a:pathLst>
                    </a:custGeom>
                    <a:gradFill flip="none" rotWithShape="1">
                      <a:gsLst>
                        <a:gs pos="0">
                          <a:schemeClr val="accent2">
                            <a:lumMod val="40000"/>
                            <a:lumOff val="60000"/>
                          </a:schemeClr>
                        </a:gs>
                        <a:gs pos="61000">
                          <a:schemeClr val="accent2"/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  <a:ln>
                      <a:noFill/>
                    </a:ln>
                    <a:effectLst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00" dirty="0">
                        <a:solidFill>
                          <a:schemeClr val="lt1"/>
                        </a:solidFill>
                        <a:latin typeface="OPPOSans R" panose="00020600040101010101" pitchFamily="18" charset="-122"/>
                        <a:ea typeface="OPPOSans R" panose="00020600040101010101" pitchFamily="18" charset="-122"/>
                        <a:cs typeface="OPPOSans R" panose="00020600040101010101" pitchFamily="18" charset="-122"/>
                      </a:endParaRPr>
                    </a:p>
                  </p:txBody>
                </p:sp>
                <p:sp>
                  <p:nvSpPr>
                    <p:cNvPr id="54" name="Rectangle 16"/>
                    <p:cNvSpPr/>
                    <p:nvPr/>
                  </p:nvSpPr>
                  <p:spPr>
                    <a:xfrm>
                      <a:off x="5686879" y="4878104"/>
                      <a:ext cx="818242" cy="290195"/>
                    </a:xfrm>
                    <a:prstGeom prst="rect">
                      <a:avLst/>
                    </a:prstGeom>
                  </p:spPr>
                  <p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2"/>
                          </a:solidFill>
                          <a:latin typeface="OPPOSans H" panose="00020600040101010101" pitchFamily="18" charset="-122"/>
                          <a:ea typeface="OPPOSans H" panose="00020600040101010101" pitchFamily="18" charset="-122"/>
                          <a:cs typeface="OPPOSans H" panose="00020600040101010101" pitchFamily="18" charset="-122"/>
                        </a:rPr>
                        <a:t>44</a:t>
                      </a:r>
                      <a:endParaRPr lang="en-US" sz="1400" b="1" dirty="0">
                        <a:solidFill>
                          <a:schemeClr val="bg2"/>
                        </a:solidFill>
                        <a:latin typeface="OPPOSans H" panose="00020600040101010101" pitchFamily="18" charset="-122"/>
                        <a:ea typeface="OPPOSans H" panose="00020600040101010101" pitchFamily="18" charset="-122"/>
                        <a:cs typeface="OPPOSans H" panose="00020600040101010101" pitchFamily="18" charset="-122"/>
                      </a:endParaRPr>
                    </a:p>
                  </p:txBody>
                </p:sp>
              </p:grpSp>
              <p:cxnSp>
                <p:nvCxnSpPr>
                  <p:cNvPr id="33" name="直接连接符 32"/>
                  <p:cNvCxnSpPr/>
                  <p:nvPr/>
                </p:nvCxnSpPr>
                <p:spPr>
                  <a:xfrm>
                    <a:off x="2421189" y="1659020"/>
                    <a:ext cx="1920993" cy="3947799"/>
                  </a:xfrm>
                  <a:prstGeom prst="line">
                    <a:avLst/>
                  </a:prstGeom>
                  <a:ln w="22225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ys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" name="直接连接符 33"/>
                  <p:cNvCxnSpPr/>
                  <p:nvPr/>
                </p:nvCxnSpPr>
                <p:spPr>
                  <a:xfrm>
                    <a:off x="2130686" y="1659020"/>
                    <a:ext cx="290503" cy="0"/>
                  </a:xfrm>
                  <a:prstGeom prst="line">
                    <a:avLst/>
                  </a:prstGeom>
                  <a:ln w="22225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ys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" name="直接连接符 34"/>
                  <p:cNvCxnSpPr/>
                  <p:nvPr/>
                </p:nvCxnSpPr>
                <p:spPr>
                  <a:xfrm>
                    <a:off x="4342182" y="5606819"/>
                    <a:ext cx="0" cy="474724"/>
                  </a:xfrm>
                  <a:prstGeom prst="line">
                    <a:avLst/>
                  </a:prstGeom>
                  <a:ln w="22225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ys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" name="直接连接符 35"/>
                  <p:cNvCxnSpPr/>
                  <p:nvPr/>
                </p:nvCxnSpPr>
                <p:spPr>
                  <a:xfrm>
                    <a:off x="2255520" y="2879883"/>
                    <a:ext cx="744789" cy="0"/>
                  </a:xfrm>
                  <a:prstGeom prst="line">
                    <a:avLst/>
                  </a:prstGeom>
                  <a:ln w="22225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ys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7" name="矩形: 圆角 36"/>
                  <p:cNvSpPr/>
                  <p:nvPr/>
                </p:nvSpPr>
                <p:spPr>
                  <a:xfrm>
                    <a:off x="720607" y="1469061"/>
                    <a:ext cx="1565569" cy="368795"/>
                  </a:xfrm>
                  <a:prstGeom prst="roundRect">
                    <a:avLst>
                      <a:gd name="adj" fmla="val 50000"/>
                    </a:avLst>
                  </a:prstGeom>
                  <a:gradFill flip="none" rotWithShape="1">
                    <a:gsLst>
                      <a:gs pos="100000">
                        <a:schemeClr val="accent1">
                          <a:lumMod val="60000"/>
                          <a:lumOff val="40000"/>
                        </a:schemeClr>
                      </a:gs>
                      <a:gs pos="41000">
                        <a:schemeClr val="accent1"/>
                      </a:gs>
                    </a:gsLst>
                    <a:lin ang="13500000" scaled="1"/>
                    <a:tileRect/>
                  </a:gradFill>
                  <a:ln>
                    <a:noFill/>
                  </a:ln>
                  <a:effectLst>
                    <a:outerShdw blurRad="63500" sx="102000" sy="102000" algn="ctr" rotWithShape="0">
                      <a:schemeClr val="accent1">
                        <a:alpha val="40000"/>
                      </a:schemeClr>
                    </a:outerShdw>
                  </a:effec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000">
                      <a:latin typeface="OPPOSans R" panose="00020600040101010101" pitchFamily="18" charset="-122"/>
                      <a:ea typeface="OPPOSans R" panose="00020600040101010101" pitchFamily="18" charset="-122"/>
                      <a:cs typeface="OPPOSans R" panose="00020600040101010101" pitchFamily="18" charset="-122"/>
                    </a:endParaRPr>
                  </a:p>
                </p:txBody>
              </p:sp>
              <p:sp>
                <p:nvSpPr>
                  <p:cNvPr id="38" name="矩形: 圆角 37"/>
                  <p:cNvSpPr/>
                  <p:nvPr/>
                </p:nvSpPr>
                <p:spPr>
                  <a:xfrm>
                    <a:off x="720607" y="2635907"/>
                    <a:ext cx="1565569" cy="368795"/>
                  </a:xfrm>
                  <a:prstGeom prst="roundRect">
                    <a:avLst>
                      <a:gd name="adj" fmla="val 50000"/>
                    </a:avLst>
                  </a:prstGeom>
                  <a:gradFill flip="none" rotWithShape="1">
                    <a:gsLst>
                      <a:gs pos="100000">
                        <a:schemeClr val="accent1">
                          <a:lumMod val="60000"/>
                          <a:lumOff val="40000"/>
                        </a:schemeClr>
                      </a:gs>
                      <a:gs pos="41000">
                        <a:schemeClr val="accent1"/>
                      </a:gs>
                    </a:gsLst>
                    <a:lin ang="13500000" scaled="1"/>
                    <a:tileRect/>
                  </a:gradFill>
                  <a:ln>
                    <a:noFill/>
                  </a:ln>
                  <a:effectLst>
                    <a:outerShdw blurRad="63500" sx="102000" sy="102000" algn="ctr" rotWithShape="0">
                      <a:schemeClr val="accent1">
                        <a:alpha val="40000"/>
                      </a:schemeClr>
                    </a:outerShdw>
                  </a:effec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000">
                      <a:latin typeface="OPPOSans R" panose="00020600040101010101" pitchFamily="18" charset="-122"/>
                      <a:ea typeface="OPPOSans R" panose="00020600040101010101" pitchFamily="18" charset="-122"/>
                      <a:cs typeface="OPPOSans R" panose="00020600040101010101" pitchFamily="18" charset="-122"/>
                    </a:endParaRPr>
                  </a:p>
                </p:txBody>
              </p:sp>
              <p:cxnSp>
                <p:nvCxnSpPr>
                  <p:cNvPr id="39" name="直接连接符 38"/>
                  <p:cNvCxnSpPr/>
                  <p:nvPr/>
                </p:nvCxnSpPr>
                <p:spPr>
                  <a:xfrm>
                    <a:off x="2948458" y="4337328"/>
                    <a:ext cx="779439" cy="0"/>
                  </a:xfrm>
                  <a:prstGeom prst="line">
                    <a:avLst/>
                  </a:prstGeom>
                  <a:ln w="22225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ys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40" name="矩形: 圆角 39"/>
                  <p:cNvSpPr/>
                  <p:nvPr/>
                </p:nvSpPr>
                <p:spPr>
                  <a:xfrm>
                    <a:off x="1382889" y="4128008"/>
                    <a:ext cx="1565569" cy="368795"/>
                  </a:xfrm>
                  <a:prstGeom prst="roundRect">
                    <a:avLst>
                      <a:gd name="adj" fmla="val 50000"/>
                    </a:avLst>
                  </a:prstGeom>
                  <a:gradFill flip="none" rotWithShape="1">
                    <a:gsLst>
                      <a:gs pos="100000">
                        <a:schemeClr val="accent1">
                          <a:lumMod val="60000"/>
                          <a:lumOff val="40000"/>
                        </a:schemeClr>
                      </a:gs>
                      <a:gs pos="41000">
                        <a:schemeClr val="accent1"/>
                      </a:gs>
                    </a:gsLst>
                    <a:lin ang="13500000" scaled="1"/>
                    <a:tileRect/>
                  </a:gradFill>
                  <a:ln>
                    <a:noFill/>
                  </a:ln>
                  <a:effectLst>
                    <a:outerShdw blurRad="63500" sx="102000" sy="102000" algn="ctr" rotWithShape="0">
                      <a:schemeClr val="accent1">
                        <a:alpha val="40000"/>
                      </a:schemeClr>
                    </a:outerShdw>
                  </a:effec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000">
                      <a:latin typeface="OPPOSans R" panose="00020600040101010101" pitchFamily="18" charset="-122"/>
                      <a:ea typeface="OPPOSans R" panose="00020600040101010101" pitchFamily="18" charset="-122"/>
                      <a:cs typeface="OPPOSans R" panose="00020600040101010101" pitchFamily="18" charset="-122"/>
                    </a:endParaRPr>
                  </a:p>
                </p:txBody>
              </p:sp>
              <p:cxnSp>
                <p:nvCxnSpPr>
                  <p:cNvPr id="41" name="直接连接符 40"/>
                  <p:cNvCxnSpPr/>
                  <p:nvPr/>
                </p:nvCxnSpPr>
                <p:spPr>
                  <a:xfrm>
                    <a:off x="3410698" y="5332558"/>
                    <a:ext cx="779439" cy="0"/>
                  </a:xfrm>
                  <a:prstGeom prst="line">
                    <a:avLst/>
                  </a:prstGeom>
                  <a:ln w="22225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ys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42" name="矩形: 圆角 41"/>
                  <p:cNvSpPr/>
                  <p:nvPr/>
                </p:nvSpPr>
                <p:spPr>
                  <a:xfrm>
                    <a:off x="1845130" y="5155223"/>
                    <a:ext cx="1565569" cy="368795"/>
                  </a:xfrm>
                  <a:prstGeom prst="roundRect">
                    <a:avLst>
                      <a:gd name="adj" fmla="val 50000"/>
                    </a:avLst>
                  </a:prstGeom>
                  <a:gradFill flip="none" rotWithShape="1">
                    <a:gsLst>
                      <a:gs pos="100000">
                        <a:schemeClr val="accent1">
                          <a:lumMod val="60000"/>
                          <a:lumOff val="40000"/>
                        </a:schemeClr>
                      </a:gs>
                      <a:gs pos="41000">
                        <a:schemeClr val="accent1"/>
                      </a:gs>
                    </a:gsLst>
                    <a:lin ang="13500000" scaled="1"/>
                    <a:tileRect/>
                  </a:gradFill>
                  <a:ln>
                    <a:noFill/>
                  </a:ln>
                  <a:effectLst>
                    <a:outerShdw blurRad="63500" sx="102000" sy="102000" algn="ctr" rotWithShape="0">
                      <a:schemeClr val="accent1">
                        <a:alpha val="40000"/>
                      </a:schemeClr>
                    </a:outerShdw>
                  </a:effec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000">
                      <a:latin typeface="OPPOSans R" panose="00020600040101010101" pitchFamily="18" charset="-122"/>
                      <a:ea typeface="OPPOSans R" panose="00020600040101010101" pitchFamily="18" charset="-122"/>
                      <a:cs typeface="OPPOSans R" panose="00020600040101010101" pitchFamily="18" charset="-122"/>
                    </a:endParaRPr>
                  </a:p>
                </p:txBody>
              </p:sp>
            </p:grpSp>
            <p:sp>
              <p:nvSpPr>
                <p:cNvPr id="31" name="任意多边形: 形状 30"/>
                <p:cNvSpPr/>
                <p:nvPr/>
              </p:nvSpPr>
              <p:spPr>
                <a:xfrm rot="5400000">
                  <a:off x="4719351" y="5726120"/>
                  <a:ext cx="458478" cy="436032"/>
                </a:xfrm>
                <a:custGeom>
                  <a:avLst/>
                  <a:gdLst>
                    <a:gd name="connsiteX0" fmla="*/ 0 w 700119"/>
                    <a:gd name="connsiteY0" fmla="*/ 689572 h 843698"/>
                    <a:gd name="connsiteX1" fmla="*/ 216360 w 700119"/>
                    <a:gd name="connsiteY1" fmla="*/ 421849 h 843698"/>
                    <a:gd name="connsiteX2" fmla="*/ 0 w 700119"/>
                    <a:gd name="connsiteY2" fmla="*/ 154126 h 843698"/>
                    <a:gd name="connsiteX3" fmla="*/ 342600 w 700119"/>
                    <a:gd name="connsiteY3" fmla="*/ 154126 h 843698"/>
                    <a:gd name="connsiteX4" fmla="*/ 342600 w 700119"/>
                    <a:gd name="connsiteY4" fmla="*/ 0 h 843698"/>
                    <a:gd name="connsiteX5" fmla="*/ 700119 w 700119"/>
                    <a:gd name="connsiteY5" fmla="*/ 421850 h 843698"/>
                    <a:gd name="connsiteX6" fmla="*/ 342600 w 700119"/>
                    <a:gd name="connsiteY6" fmla="*/ 843698 h 843698"/>
                    <a:gd name="connsiteX7" fmla="*/ 342600 w 700119"/>
                    <a:gd name="connsiteY7" fmla="*/ 689572 h 8436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700119" h="843698">
                      <a:moveTo>
                        <a:pt x="0" y="689572"/>
                      </a:moveTo>
                      <a:lnTo>
                        <a:pt x="216360" y="421849"/>
                      </a:lnTo>
                      <a:lnTo>
                        <a:pt x="0" y="154126"/>
                      </a:lnTo>
                      <a:lnTo>
                        <a:pt x="342600" y="154126"/>
                      </a:lnTo>
                      <a:lnTo>
                        <a:pt x="342600" y="0"/>
                      </a:lnTo>
                      <a:lnTo>
                        <a:pt x="700119" y="421850"/>
                      </a:lnTo>
                      <a:lnTo>
                        <a:pt x="342600" y="843698"/>
                      </a:lnTo>
                      <a:lnTo>
                        <a:pt x="342600" y="689572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1"/>
                    </a:gs>
                    <a:gs pos="86000">
                      <a:schemeClr val="accent1">
                        <a:alpha val="0"/>
                      </a:schemeClr>
                    </a:gs>
                  </a:gsLst>
                  <a:lin ang="10800000" scaled="1"/>
                  <a:tileRect/>
                </a:gradFill>
                <a:ln w="3810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8755" tIns="49378" rIns="98755" bIns="49378" rtlCol="0" anchor="ctr"/>
                <a:lstStyle/>
                <a:p>
                  <a:pPr algn="ctr"/>
                  <a:endParaRPr lang="zh-CN" altLang="en-US" sz="1600" dirty="0">
                    <a:solidFill>
                      <a:schemeClr val="bg1"/>
                    </a:solidFill>
                    <a:effectLst>
                      <a:outerShdw blurRad="137160" dist="41148" dir="2699997" algn="tl">
                        <a:srgbClr val="000000">
                          <a:alpha val="40000"/>
                        </a:srgbClr>
                      </a:outerShdw>
                    </a:effectLst>
                    <a:latin typeface="OPPOSans R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</a:endParaRPr>
                </a:p>
              </p:txBody>
            </p:sp>
          </p:grpSp>
          <p:cxnSp>
            <p:nvCxnSpPr>
              <p:cNvPr id="14" name="直接连接符 13"/>
              <p:cNvCxnSpPr/>
              <p:nvPr/>
            </p:nvCxnSpPr>
            <p:spPr>
              <a:xfrm>
                <a:off x="6403941" y="3323723"/>
                <a:ext cx="2537293" cy="0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</a:schemeClr>
                </a:solidFill>
                <a:headEnd type="oval"/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5" name="组合 14"/>
              <p:cNvGrpSpPr/>
              <p:nvPr/>
            </p:nvGrpSpPr>
            <p:grpSpPr>
              <a:xfrm>
                <a:off x="8501910" y="2554282"/>
                <a:ext cx="3468609" cy="1246621"/>
                <a:chOff x="7688979" y="1674013"/>
                <a:chExt cx="3468609" cy="1246621"/>
              </a:xfrm>
            </p:grpSpPr>
            <p:sp>
              <p:nvSpPr>
                <p:cNvPr id="27" name="文本框 26"/>
                <p:cNvSpPr txBox="1"/>
                <p:nvPr/>
              </p:nvSpPr>
              <p:spPr>
                <a:xfrm>
                  <a:off x="9488317" y="1935749"/>
                  <a:ext cx="1669271" cy="400110"/>
                </a:xfrm>
                <a:prstGeom prst="rect">
                  <a:avLst/>
                </a:prstGeom>
                <a:noFill/>
                <a:effectLst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OPPOSans R" panose="00020600040101010101" pitchFamily="18" charset="-122"/>
                      <a:ea typeface="OPPOSans R" panose="00020600040101010101" pitchFamily="18" charset="-122"/>
                      <a:cs typeface="OPPOSans R" panose="00020600040101010101" pitchFamily="18" charset="-122"/>
                    </a:rPr>
                    <a:t>面试率</a:t>
                  </a:r>
                  <a:endParaRPr lang="zh-CN" altLang="en-US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OPPOSans R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</a:endParaRPr>
                </a:p>
              </p:txBody>
            </p:sp>
            <p:sp>
              <p:nvSpPr>
                <p:cNvPr id="28" name="文本框 27"/>
                <p:cNvSpPr txBox="1"/>
                <p:nvPr/>
              </p:nvSpPr>
              <p:spPr>
                <a:xfrm>
                  <a:off x="7688979" y="1674013"/>
                  <a:ext cx="2365543" cy="769441"/>
                </a:xfrm>
                <a:prstGeom prst="rect">
                  <a:avLst/>
                </a:prstGeom>
                <a:noFill/>
                <a:effectLst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algn="ctr">
                    <a:defRPr sz="4000">
                      <a:gradFill flip="none" rotWithShape="1">
                        <a:gsLst>
                          <a:gs pos="0">
                            <a:schemeClr val="accent1">
                              <a:lumMod val="40000"/>
                              <a:lumOff val="60000"/>
                            </a:schemeClr>
                          </a:gs>
                          <a:gs pos="84000">
                            <a:schemeClr val="accent1"/>
                          </a:gs>
                        </a:gsLst>
                        <a:lin ang="5400000" scaled="1"/>
                        <a:tileRect/>
                      </a:gradFill>
                      <a:latin typeface="OPPOSans H" panose="00020600040101010101" pitchFamily="18" charset="-122"/>
                      <a:ea typeface="OPPOSans H" panose="00020600040101010101" pitchFamily="18" charset="-122"/>
                      <a:cs typeface="OPPOSans H" panose="00020600040101010101" pitchFamily="18" charset="-122"/>
                    </a:defRPr>
                  </a:lvl1pPr>
                </a:lstStyle>
                <a:p>
                  <a:r>
                    <a:rPr lang="en-US" altLang="zh-CN" dirty="0"/>
                    <a:t>45%</a:t>
                  </a:r>
                  <a:endParaRPr lang="zh-CN" altLang="en-US" dirty="0"/>
                </a:p>
              </p:txBody>
            </p:sp>
            <p:sp>
              <p:nvSpPr>
                <p:cNvPr id="29" name="文本框 28"/>
                <p:cNvSpPr txBox="1"/>
                <p:nvPr/>
              </p:nvSpPr>
              <p:spPr>
                <a:xfrm>
                  <a:off x="8217104" y="2335859"/>
                  <a:ext cx="2542425" cy="584775"/>
                </a:xfrm>
                <a:prstGeom prst="rect">
                  <a:avLst/>
                </a:prstGeom>
                <a:noFill/>
                <a:effectLst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4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OPPOSans M" panose="00020600040101010101" pitchFamily="18" charset="-122"/>
                      <a:ea typeface="OPPOSans M" panose="00020600040101010101" pitchFamily="18" charset="-122"/>
                      <a:cs typeface="OPPOSans M" panose="00020600040101010101" pitchFamily="18" charset="-122"/>
                    </a:rPr>
                    <a:t>对邀约人员进行对岗位匹配的筛选</a:t>
                  </a:r>
                  <a:endParaRPr lang="zh-CN" altLang="en-US" sz="14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OPPOSans M" panose="00020600040101010101" pitchFamily="18" charset="-122"/>
                    <a:ea typeface="OPPOSans M" panose="00020600040101010101" pitchFamily="18" charset="-122"/>
                    <a:cs typeface="OPPOSans M" panose="00020600040101010101" pitchFamily="18" charset="-122"/>
                  </a:endParaRPr>
                </a:p>
              </p:txBody>
            </p:sp>
          </p:grpSp>
          <p:grpSp>
            <p:nvGrpSpPr>
              <p:cNvPr id="16" name="组合 15"/>
              <p:cNvGrpSpPr/>
              <p:nvPr/>
            </p:nvGrpSpPr>
            <p:grpSpPr>
              <a:xfrm>
                <a:off x="8501910" y="4976699"/>
                <a:ext cx="3468609" cy="1246621"/>
                <a:chOff x="7688979" y="1674013"/>
                <a:chExt cx="3468609" cy="1246621"/>
              </a:xfrm>
            </p:grpSpPr>
            <p:sp>
              <p:nvSpPr>
                <p:cNvPr id="24" name="文本框 23"/>
                <p:cNvSpPr txBox="1"/>
                <p:nvPr/>
              </p:nvSpPr>
              <p:spPr>
                <a:xfrm>
                  <a:off x="9488317" y="1935749"/>
                  <a:ext cx="1669271" cy="400110"/>
                </a:xfrm>
                <a:prstGeom prst="rect">
                  <a:avLst/>
                </a:prstGeom>
                <a:noFill/>
                <a:effectLst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OPPOSans M" panose="00020600040101010101" pitchFamily="18" charset="-122"/>
                      <a:ea typeface="OPPOSans M" panose="00020600040101010101" pitchFamily="18" charset="-122"/>
                      <a:cs typeface="OPPOSans M" panose="00020600040101010101" pitchFamily="18" charset="-122"/>
                    </a:rPr>
                    <a:t>入职率</a:t>
                  </a:r>
                  <a:endParaRPr lang="zh-CN" altLang="en-US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OPPOSans M" panose="00020600040101010101" pitchFamily="18" charset="-122"/>
                    <a:ea typeface="OPPOSans M" panose="00020600040101010101" pitchFamily="18" charset="-122"/>
                    <a:cs typeface="OPPOSans M" panose="00020600040101010101" pitchFamily="18" charset="-122"/>
                  </a:endParaRPr>
                </a:p>
              </p:txBody>
            </p:sp>
            <p:sp>
              <p:nvSpPr>
                <p:cNvPr id="25" name="文本框 24"/>
                <p:cNvSpPr txBox="1"/>
                <p:nvPr/>
              </p:nvSpPr>
              <p:spPr>
                <a:xfrm>
                  <a:off x="7688979" y="1674013"/>
                  <a:ext cx="2365543" cy="769441"/>
                </a:xfrm>
                <a:prstGeom prst="rect">
                  <a:avLst/>
                </a:prstGeom>
                <a:noFill/>
                <a:effectLst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4000" dirty="0">
                      <a:gradFill flip="none" rotWithShape="1">
                        <a:gsLst>
                          <a:gs pos="0">
                            <a:schemeClr val="accent3"/>
                          </a:gs>
                          <a:gs pos="61000">
                            <a:schemeClr val="accent3">
                              <a:lumMod val="60000"/>
                              <a:lumOff val="40000"/>
                            </a:schemeClr>
                          </a:gs>
                        </a:gsLst>
                        <a:lin ang="16200000" scaled="1"/>
                        <a:tileRect/>
                      </a:gradFill>
                      <a:latin typeface="OPPOSans H" panose="00020600040101010101" pitchFamily="18" charset="-122"/>
                      <a:ea typeface="OPPOSans H" panose="00020600040101010101" pitchFamily="18" charset="-122"/>
                      <a:cs typeface="OPPOSans H" panose="00020600040101010101" pitchFamily="18" charset="-122"/>
                    </a:rPr>
                    <a:t>71%</a:t>
                  </a:r>
                  <a:endParaRPr lang="zh-CN" altLang="en-US" sz="4000" dirty="0">
                    <a:gradFill flip="none" rotWithShape="1">
                      <a:gsLst>
                        <a:gs pos="0">
                          <a:schemeClr val="accent3"/>
                        </a:gs>
                        <a:gs pos="61000">
                          <a:schemeClr val="accent3">
                            <a:lumMod val="60000"/>
                            <a:lumOff val="40000"/>
                          </a:schemeClr>
                        </a:gs>
                      </a:gsLst>
                      <a:lin ang="16200000" scaled="1"/>
                      <a:tileRect/>
                    </a:gradFill>
                    <a:latin typeface="OPPOSans H" panose="00020600040101010101" pitchFamily="18" charset="-122"/>
                    <a:ea typeface="OPPOSans H" panose="00020600040101010101" pitchFamily="18" charset="-122"/>
                    <a:cs typeface="OPPOSans H" panose="00020600040101010101" pitchFamily="18" charset="-122"/>
                  </a:endParaRPr>
                </a:p>
              </p:txBody>
            </p:sp>
            <p:sp>
              <p:nvSpPr>
                <p:cNvPr id="26" name="文本框 25"/>
                <p:cNvSpPr txBox="1"/>
                <p:nvPr/>
              </p:nvSpPr>
              <p:spPr>
                <a:xfrm>
                  <a:off x="8217104" y="2335859"/>
                  <a:ext cx="2542425" cy="584775"/>
                </a:xfrm>
                <a:prstGeom prst="rect">
                  <a:avLst/>
                </a:prstGeom>
                <a:noFill/>
                <a:effectLst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4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OPPOSans M" panose="00020600040101010101" pitchFamily="18" charset="-122"/>
                      <a:ea typeface="OPPOSans M" panose="00020600040101010101" pitchFamily="18" charset="-122"/>
                      <a:cs typeface="OPPOSans M" panose="00020600040101010101" pitchFamily="18" charset="-122"/>
                    </a:rPr>
                    <a:t>对邀约人员进行对岗位匹配的筛选</a:t>
                  </a:r>
                  <a:endParaRPr lang="zh-CN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OPPOSans M" panose="00020600040101010101" pitchFamily="18" charset="-122"/>
                    <a:ea typeface="OPPOSans M" panose="00020600040101010101" pitchFamily="18" charset="-122"/>
                    <a:cs typeface="OPPOSans M" panose="00020600040101010101" pitchFamily="18" charset="-122"/>
                  </a:endParaRPr>
                </a:p>
              </p:txBody>
            </p:sp>
          </p:grpSp>
          <p:cxnSp>
            <p:nvCxnSpPr>
              <p:cNvPr id="17" name="直接连接符 16"/>
              <p:cNvCxnSpPr/>
              <p:nvPr/>
            </p:nvCxnSpPr>
            <p:spPr>
              <a:xfrm>
                <a:off x="5376131" y="5474991"/>
                <a:ext cx="3565103" cy="0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</a:schemeClr>
                </a:solidFill>
                <a:headEnd type="oval"/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/>
              <p:cNvCxnSpPr/>
              <p:nvPr/>
            </p:nvCxnSpPr>
            <p:spPr>
              <a:xfrm>
                <a:off x="6837912" y="2195963"/>
                <a:ext cx="239486" cy="0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</a:schemeClr>
                </a:solidFill>
                <a:headEnd type="oval"/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接连接符 18"/>
              <p:cNvCxnSpPr/>
              <p:nvPr/>
            </p:nvCxnSpPr>
            <p:spPr>
              <a:xfrm>
                <a:off x="5912732" y="4476385"/>
                <a:ext cx="1180419" cy="0"/>
              </a:xfrm>
              <a:prstGeom prst="line">
                <a:avLst/>
              </a:prstGeom>
              <a:ln w="12700">
                <a:solidFill>
                  <a:schemeClr val="tx1">
                    <a:lumMod val="50000"/>
                    <a:lumOff val="50000"/>
                  </a:schemeClr>
                </a:solidFill>
                <a:headEnd type="oval"/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文本框 19"/>
              <p:cNvSpPr txBox="1"/>
              <p:nvPr/>
            </p:nvSpPr>
            <p:spPr>
              <a:xfrm>
                <a:off x="3474361" y="2265399"/>
                <a:ext cx="2542425" cy="338554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400" dirty="0">
                    <a:solidFill>
                      <a:schemeClr val="bg2"/>
                    </a:solidFill>
                    <a:latin typeface="OPPOSans R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</a:rPr>
                  <a:t>邀约</a:t>
                </a:r>
                <a:endParaRPr lang="zh-CN" altLang="en-US" sz="1400" dirty="0">
                  <a:solidFill>
                    <a:schemeClr val="bg2"/>
                  </a:solidFill>
                  <a:latin typeface="OPPOSans R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</a:endParaRPr>
              </a:p>
            </p:txBody>
          </p:sp>
          <p:sp>
            <p:nvSpPr>
              <p:cNvPr id="21" name="文本框 20"/>
              <p:cNvSpPr txBox="1"/>
              <p:nvPr/>
            </p:nvSpPr>
            <p:spPr>
              <a:xfrm>
                <a:off x="3440353" y="3363717"/>
                <a:ext cx="2542425" cy="338554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400">
                    <a:solidFill>
                      <a:schemeClr val="bg2"/>
                    </a:solidFill>
                    <a:latin typeface="OPPOSans R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</a:rPr>
                  <a:t>面试</a:t>
                </a:r>
                <a:endParaRPr lang="zh-CN" altLang="en-US" sz="1400">
                  <a:solidFill>
                    <a:schemeClr val="bg2"/>
                  </a:solidFill>
                  <a:latin typeface="OPPOSans R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</a:endParaRPr>
              </a:p>
            </p:txBody>
          </p:sp>
          <p:sp>
            <p:nvSpPr>
              <p:cNvPr id="22" name="文本框 21"/>
              <p:cNvSpPr txBox="1"/>
              <p:nvPr/>
            </p:nvSpPr>
            <p:spPr>
              <a:xfrm>
                <a:off x="3440353" y="4364423"/>
                <a:ext cx="2542425" cy="338554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400">
                    <a:solidFill>
                      <a:schemeClr val="bg2"/>
                    </a:solidFill>
                    <a:latin typeface="OPPOSans R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</a:rPr>
                  <a:t>录用</a:t>
                </a:r>
                <a:endParaRPr lang="zh-CN" altLang="en-US" sz="1400">
                  <a:solidFill>
                    <a:schemeClr val="bg2"/>
                  </a:solidFill>
                  <a:latin typeface="OPPOSans R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</a:endParaRPr>
              </a:p>
            </p:txBody>
          </p:sp>
          <p:sp>
            <p:nvSpPr>
              <p:cNvPr id="23" name="文本框 22"/>
              <p:cNvSpPr txBox="1"/>
              <p:nvPr/>
            </p:nvSpPr>
            <p:spPr>
              <a:xfrm>
                <a:off x="3440327" y="5309081"/>
                <a:ext cx="2542425" cy="338554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400">
                    <a:solidFill>
                      <a:schemeClr val="bg2"/>
                    </a:solidFill>
                    <a:latin typeface="OPPOSans R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</a:rPr>
                  <a:t>入职</a:t>
                </a:r>
                <a:endParaRPr lang="zh-CN" altLang="en-US" sz="1400">
                  <a:solidFill>
                    <a:schemeClr val="bg2"/>
                  </a:solidFill>
                  <a:latin typeface="OPPOSans R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</a:endParaRPr>
              </a:p>
            </p:txBody>
          </p:sp>
        </p:grpSp>
        <p:grpSp>
          <p:nvGrpSpPr>
            <p:cNvPr id="6" name="组合 5"/>
            <p:cNvGrpSpPr/>
            <p:nvPr/>
          </p:nvGrpSpPr>
          <p:grpSpPr>
            <a:xfrm>
              <a:off x="6956150" y="1348131"/>
              <a:ext cx="2873109" cy="1246621"/>
              <a:chOff x="6862631" y="1348131"/>
              <a:chExt cx="2873109" cy="1246621"/>
            </a:xfrm>
          </p:grpSpPr>
          <p:sp>
            <p:nvSpPr>
              <p:cNvPr id="11" name="文本框 10"/>
              <p:cNvSpPr txBox="1"/>
              <p:nvPr/>
            </p:nvSpPr>
            <p:spPr>
              <a:xfrm>
                <a:off x="6862631" y="1348131"/>
                <a:ext cx="2873109" cy="769441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4000" dirty="0">
                    <a:gradFill flip="none" rotWithShape="1">
                      <a:gsLst>
                        <a:gs pos="0">
                          <a:schemeClr val="accent1">
                            <a:lumMod val="40000"/>
                            <a:lumOff val="60000"/>
                          </a:schemeClr>
                        </a:gs>
                        <a:gs pos="84000">
                          <a:schemeClr val="accent1"/>
                        </a:gs>
                      </a:gsLst>
                      <a:lin ang="5400000" scaled="1"/>
                      <a:tileRect/>
                    </a:gradFill>
                    <a:latin typeface="OPPOSans H" panose="00020600040101010101" pitchFamily="18" charset="-122"/>
                    <a:ea typeface="OPPOSans H" panose="00020600040101010101" pitchFamily="18" charset="-122"/>
                    <a:cs typeface="OPPOSans H" panose="00020600040101010101" pitchFamily="18" charset="-122"/>
                  </a:rPr>
                  <a:t>邀约面试</a:t>
                </a:r>
                <a:endParaRPr lang="zh-CN" altLang="en-US" sz="4000" dirty="0">
                  <a:gradFill flip="none" rotWithShape="1">
                    <a:gsLst>
                      <a:gs pos="0">
                        <a:schemeClr val="accent1">
                          <a:lumMod val="40000"/>
                          <a:lumOff val="60000"/>
                        </a:schemeClr>
                      </a:gs>
                      <a:gs pos="84000">
                        <a:schemeClr val="accent1"/>
                      </a:gs>
                    </a:gsLst>
                    <a:lin ang="5400000" scaled="1"/>
                    <a:tileRect/>
                  </a:gradFill>
                  <a:latin typeface="OPPOSans H" panose="00020600040101010101" pitchFamily="18" charset="-122"/>
                  <a:ea typeface="OPPOSans H" panose="00020600040101010101" pitchFamily="18" charset="-122"/>
                  <a:cs typeface="OPPOSans H" panose="00020600040101010101" pitchFamily="18" charset="-122"/>
                </a:endParaRPr>
              </a:p>
            </p:txBody>
          </p:sp>
          <p:sp>
            <p:nvSpPr>
              <p:cNvPr id="12" name="文本框 11"/>
              <p:cNvSpPr txBox="1"/>
              <p:nvPr/>
            </p:nvSpPr>
            <p:spPr>
              <a:xfrm>
                <a:off x="7106276" y="2009977"/>
                <a:ext cx="2542425" cy="584775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OPPOSans M" panose="00020600040101010101" pitchFamily="18" charset="-122"/>
                    <a:ea typeface="OPPOSans M" panose="00020600040101010101" pitchFamily="18" charset="-122"/>
                    <a:cs typeface="OPPOSans M" panose="00020600040101010101" pitchFamily="18" charset="-122"/>
                  </a:rPr>
                  <a:t>对投递的简历进行对岗位匹配的筛选</a:t>
                </a:r>
                <a:endPara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endParaRPr>
              </a:p>
            </p:txBody>
          </p:sp>
        </p:grpSp>
        <p:grpSp>
          <p:nvGrpSpPr>
            <p:cNvPr id="7" name="组合 6"/>
            <p:cNvGrpSpPr/>
            <p:nvPr/>
          </p:nvGrpSpPr>
          <p:grpSpPr>
            <a:xfrm>
              <a:off x="6671670" y="3770549"/>
              <a:ext cx="3468609" cy="1246621"/>
              <a:chOff x="6578151" y="3770549"/>
              <a:chExt cx="3468609" cy="1246621"/>
            </a:xfrm>
          </p:grpSpPr>
          <p:sp>
            <p:nvSpPr>
              <p:cNvPr id="8" name="文本框 7"/>
              <p:cNvSpPr txBox="1"/>
              <p:nvPr/>
            </p:nvSpPr>
            <p:spPr>
              <a:xfrm>
                <a:off x="8377489" y="4032285"/>
                <a:ext cx="1669271" cy="400110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r>
                  <a:rPr lang="zh-CN" altLang="en-US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OPPOSans M" panose="00020600040101010101" pitchFamily="18" charset="-122"/>
                    <a:ea typeface="OPPOSans M" panose="00020600040101010101" pitchFamily="18" charset="-122"/>
                    <a:cs typeface="OPPOSans M" panose="00020600040101010101" pitchFamily="18" charset="-122"/>
                  </a:rPr>
                  <a:t>录用率</a:t>
                </a:r>
                <a:endParaRPr lang="zh-CN" altLang="en-US">
                  <a:solidFill>
                    <a:schemeClr val="tx1">
                      <a:lumMod val="85000"/>
                      <a:lumOff val="15000"/>
                    </a:schemeClr>
                  </a:solidFill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endParaRPr>
              </a:p>
            </p:txBody>
          </p:sp>
          <p:sp>
            <p:nvSpPr>
              <p:cNvPr id="9" name="文本框 8"/>
              <p:cNvSpPr txBox="1"/>
              <p:nvPr/>
            </p:nvSpPr>
            <p:spPr>
              <a:xfrm>
                <a:off x="6578151" y="3770549"/>
                <a:ext cx="2365543" cy="769441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4000" dirty="0">
                    <a:gradFill flip="none" rotWithShape="1">
                      <a:gsLst>
                        <a:gs pos="0">
                          <a:schemeClr val="accent3"/>
                        </a:gs>
                        <a:gs pos="61000">
                          <a:schemeClr val="accent3">
                            <a:lumMod val="60000"/>
                            <a:lumOff val="40000"/>
                          </a:schemeClr>
                        </a:gs>
                      </a:gsLst>
                      <a:lin ang="16200000" scaled="1"/>
                      <a:tileRect/>
                    </a:gradFill>
                    <a:latin typeface="OPPOSans H" panose="00020600040101010101" pitchFamily="18" charset="-122"/>
                    <a:ea typeface="OPPOSans H" panose="00020600040101010101" pitchFamily="18" charset="-122"/>
                    <a:cs typeface="OPPOSans H" panose="00020600040101010101" pitchFamily="18" charset="-122"/>
                  </a:rPr>
                  <a:t>52%</a:t>
                </a:r>
                <a:endParaRPr lang="zh-CN" altLang="en-US" sz="4000" dirty="0">
                  <a:gradFill flip="none" rotWithShape="1">
                    <a:gsLst>
                      <a:gs pos="0">
                        <a:schemeClr val="accent3"/>
                      </a:gs>
                      <a:gs pos="61000">
                        <a:schemeClr val="accent3">
                          <a:lumMod val="60000"/>
                          <a:lumOff val="40000"/>
                        </a:schemeClr>
                      </a:gs>
                    </a:gsLst>
                    <a:lin ang="16200000" scaled="1"/>
                    <a:tileRect/>
                  </a:gradFill>
                  <a:latin typeface="OPPOSans H" panose="00020600040101010101" pitchFamily="18" charset="-122"/>
                  <a:ea typeface="OPPOSans H" panose="00020600040101010101" pitchFamily="18" charset="-122"/>
                  <a:cs typeface="OPPOSans H" panose="00020600040101010101" pitchFamily="18" charset="-122"/>
                </a:endParaRPr>
              </a:p>
            </p:txBody>
          </p:sp>
          <p:sp>
            <p:nvSpPr>
              <p:cNvPr id="10" name="文本框 9"/>
              <p:cNvSpPr txBox="1"/>
              <p:nvPr/>
            </p:nvSpPr>
            <p:spPr>
              <a:xfrm>
                <a:off x="7106276" y="4432395"/>
                <a:ext cx="2542425" cy="584775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OPPOSans M" panose="00020600040101010101" pitchFamily="18" charset="-122"/>
                    <a:ea typeface="OPPOSans M" panose="00020600040101010101" pitchFamily="18" charset="-122"/>
                    <a:cs typeface="OPPOSans M" panose="00020600040101010101" pitchFamily="18" charset="-122"/>
                  </a:rPr>
                  <a:t>对符合要求面试成功的人员发送</a:t>
                </a:r>
                <a:r>
                  <a:rPr lang="en-US" altLang="zh-CN" sz="14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OPPOSans M" panose="00020600040101010101" pitchFamily="18" charset="-122"/>
                    <a:ea typeface="OPPOSans M" panose="00020600040101010101" pitchFamily="18" charset="-122"/>
                    <a:cs typeface="OPPOSans M" panose="00020600040101010101" pitchFamily="18" charset="-122"/>
                  </a:rPr>
                  <a:t>offer</a:t>
                </a:r>
                <a:endParaRPr lang="zh-CN" alt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endParaRPr>
              </a:p>
            </p:txBody>
          </p:sp>
        </p:grpSp>
      </p:grpSp>
      <p:grpSp>
        <p:nvGrpSpPr>
          <p:cNvPr id="59" name="组合 58"/>
          <p:cNvGrpSpPr/>
          <p:nvPr/>
        </p:nvGrpSpPr>
        <p:grpSpPr>
          <a:xfrm>
            <a:off x="475494" y="6163356"/>
            <a:ext cx="11152156" cy="406794"/>
            <a:chOff x="641785" y="6292753"/>
            <a:chExt cx="11152156" cy="406794"/>
          </a:xfrm>
        </p:grpSpPr>
        <p:sp>
          <p:nvSpPr>
            <p:cNvPr id="60" name="矩形: 圆角 59"/>
            <p:cNvSpPr/>
            <p:nvPr/>
          </p:nvSpPr>
          <p:spPr>
            <a:xfrm>
              <a:off x="1042850" y="6292753"/>
              <a:ext cx="10751091" cy="388422"/>
            </a:xfrm>
            <a:prstGeom prst="roundRect">
              <a:avLst>
                <a:gd name="adj" fmla="val 0"/>
              </a:avLst>
            </a:prstGeom>
            <a:solidFill>
              <a:schemeClr val="accent1">
                <a:lumMod val="20000"/>
                <a:lumOff val="80000"/>
                <a:alpha val="23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</a:endParaRPr>
            </a:p>
          </p:txBody>
        </p:sp>
        <p:grpSp>
          <p:nvGrpSpPr>
            <p:cNvPr id="61" name="组合 60"/>
            <p:cNvGrpSpPr/>
            <p:nvPr/>
          </p:nvGrpSpPr>
          <p:grpSpPr>
            <a:xfrm>
              <a:off x="641785" y="6292753"/>
              <a:ext cx="11152156" cy="406794"/>
              <a:chOff x="263525" y="6268817"/>
              <a:chExt cx="11152156" cy="406794"/>
            </a:xfrm>
            <a:effectLst/>
          </p:grpSpPr>
          <p:sp>
            <p:nvSpPr>
              <p:cNvPr id="62" name="矩形: 圆角 61"/>
              <p:cNvSpPr/>
              <p:nvPr/>
            </p:nvSpPr>
            <p:spPr>
              <a:xfrm>
                <a:off x="263525" y="6275837"/>
                <a:ext cx="11152156" cy="399774"/>
              </a:xfrm>
              <a:prstGeom prst="roundRect">
                <a:avLst>
                  <a:gd name="adj" fmla="val 0"/>
                </a:avLst>
              </a:prstGeom>
              <a:gradFill flip="none" rotWithShape="1">
                <a:gsLst>
                  <a:gs pos="32000">
                    <a:schemeClr val="accent3"/>
                  </a:gs>
                  <a:gs pos="100000">
                    <a:schemeClr val="accent3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OPPOSans R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</a:endParaRPr>
              </a:p>
            </p:txBody>
          </p:sp>
          <p:pic>
            <p:nvPicPr>
              <p:cNvPr id="63" name="图形 62"/>
              <p:cNvPicPr>
                <a:picLocks noChangeAspect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304533" y="6268817"/>
                <a:ext cx="382826" cy="382826"/>
              </a:xfrm>
              <a:prstGeom prst="rect">
                <a:avLst/>
              </a:prstGeom>
              <a:effectLst>
                <a:outerShdw blurRad="241300" sx="101000" sy="101000" algn="ctr" rotWithShape="0">
                  <a:schemeClr val="accent1">
                    <a:alpha val="19000"/>
                  </a:schemeClr>
                </a:outerShdw>
              </a:effectLst>
            </p:spPr>
          </p:pic>
        </p:grpSp>
      </p:grpSp>
      <p:sp>
        <p:nvSpPr>
          <p:cNvPr id="64" name="文本框 63"/>
          <p:cNvSpPr txBox="1"/>
          <p:nvPr/>
        </p:nvSpPr>
        <p:spPr>
          <a:xfrm>
            <a:off x="779514" y="6194430"/>
            <a:ext cx="107510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>
                <a:solidFill>
                  <a:prstClr val="black">
                    <a:lumMod val="85000"/>
                    <a:lumOff val="15000"/>
                  </a:prstClr>
                </a:solidFill>
                <a:latin typeface="HONOR Sans Design Demibold" panose="02000600000000000000" pitchFamily="2" charset="-122"/>
                <a:ea typeface="HONOR Sans Design Demibold" panose="02000600000000000000" pitchFamily="2" charset="-122"/>
                <a:cs typeface="阿里巴巴普惠体 B" panose="00020600040101010101" pitchFamily="18" charset="-122"/>
              </a:defRPr>
            </a:lvl1pPr>
          </a:lstStyle>
          <a:p>
            <a:pPr algn="ctr"/>
            <a:r>
              <a:rPr lang="zh-CN" altLang="en-US" sz="1600" dirty="0">
                <a:solidFill>
                  <a:schemeClr val="bg2"/>
                </a:solidFill>
                <a:latin typeface="OPPOSans M" panose="00020600040101010101" pitchFamily="18" charset="-122"/>
                <a:ea typeface="OPPOSans M" panose="00020600040101010101" pitchFamily="18" charset="-122"/>
                <a:cs typeface="OPPOSans M" panose="00020600040101010101" pitchFamily="18" charset="-122"/>
              </a:rPr>
              <a:t>招聘录用率</a:t>
            </a:r>
            <a:r>
              <a:rPr lang="en-US" altLang="zh-CN" sz="1600" dirty="0">
                <a:solidFill>
                  <a:schemeClr val="bg2"/>
                </a:solidFill>
                <a:latin typeface="OPPOSans M" panose="00020600040101010101" pitchFamily="18" charset="-122"/>
                <a:ea typeface="OPPOSans M" panose="00020600040101010101" pitchFamily="18" charset="-122"/>
                <a:cs typeface="OPPOSans M" panose="00020600040101010101" pitchFamily="18" charset="-122"/>
              </a:rPr>
              <a:t>52%</a:t>
            </a:r>
            <a:r>
              <a:rPr lang="zh-CN" altLang="en-US" sz="1600" dirty="0">
                <a:solidFill>
                  <a:schemeClr val="bg2"/>
                </a:solidFill>
                <a:latin typeface="OPPOSans M" panose="00020600040101010101" pitchFamily="18" charset="-122"/>
                <a:ea typeface="OPPOSans M" panose="00020600040101010101" pitchFamily="18" charset="-122"/>
                <a:cs typeface="OPPOSans M" panose="00020600040101010101" pitchFamily="18" charset="-122"/>
              </a:rPr>
              <a:t>，可见公司人才招聘匹配度较高；入职率</a:t>
            </a:r>
            <a:r>
              <a:rPr lang="en-US" altLang="zh-CN" sz="1600" dirty="0">
                <a:solidFill>
                  <a:schemeClr val="bg2"/>
                </a:solidFill>
                <a:latin typeface="OPPOSans M" panose="00020600040101010101" pitchFamily="18" charset="-122"/>
                <a:ea typeface="OPPOSans M" panose="00020600040101010101" pitchFamily="18" charset="-122"/>
                <a:cs typeface="OPPOSans M" panose="00020600040101010101" pitchFamily="18" charset="-122"/>
              </a:rPr>
              <a:t>71%</a:t>
            </a:r>
            <a:r>
              <a:rPr lang="zh-CN" altLang="en-US" sz="1600" dirty="0">
                <a:solidFill>
                  <a:schemeClr val="bg2"/>
                </a:solidFill>
                <a:latin typeface="OPPOSans M" panose="00020600040101010101" pitchFamily="18" charset="-122"/>
                <a:ea typeface="OPPOSans M" panose="00020600040101010101" pitchFamily="18" charset="-122"/>
                <a:cs typeface="OPPOSans M" panose="00020600040101010101" pitchFamily="18" charset="-122"/>
              </a:rPr>
              <a:t>，可见公司平台对求职者的吸引力</a:t>
            </a:r>
            <a:endParaRPr lang="zh-CN" altLang="en-US" sz="1600" dirty="0">
              <a:solidFill>
                <a:schemeClr val="bg2"/>
              </a:solidFill>
              <a:latin typeface="OPPOSans M" panose="00020600040101010101" pitchFamily="18" charset="-122"/>
              <a:ea typeface="OPPOSans M" panose="00020600040101010101" pitchFamily="18" charset="-122"/>
              <a:cs typeface="OPPOSans M" panose="00020600040101010101" pitchFamily="18" charset="-122"/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1034570" y="1580052"/>
            <a:ext cx="1540459" cy="36923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2"/>
                </a:solidFill>
                <a:latin typeface="OPPOSans M" panose="00020600040101010101" pitchFamily="18" charset="-122"/>
                <a:ea typeface="OPPOSans M" panose="00020600040101010101" pitchFamily="18" charset="-122"/>
                <a:cs typeface="OPPOSans M" panose="00020600040101010101" pitchFamily="18" charset="-122"/>
              </a:rPr>
              <a:t>渠道能力</a:t>
            </a:r>
            <a:endParaRPr lang="zh-CN" altLang="en-US" dirty="0">
              <a:solidFill>
                <a:schemeClr val="bg2"/>
              </a:solidFill>
              <a:latin typeface="OPPOSans M" panose="00020600040101010101" pitchFamily="18" charset="-122"/>
              <a:ea typeface="OPPOSans M" panose="00020600040101010101" pitchFamily="18" charset="-122"/>
              <a:cs typeface="OPPOSans M" panose="00020600040101010101" pitchFamily="18" charset="-122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1009600" y="2662321"/>
            <a:ext cx="1540459" cy="36923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2"/>
                </a:solidFill>
                <a:latin typeface="OPPOSans M" panose="00020600040101010101" pitchFamily="18" charset="-122"/>
                <a:ea typeface="OPPOSans M" panose="00020600040101010101" pitchFamily="18" charset="-122"/>
                <a:cs typeface="OPPOSans M" panose="00020600040101010101" pitchFamily="18" charset="-122"/>
              </a:rPr>
              <a:t>获取质量</a:t>
            </a:r>
            <a:endParaRPr lang="zh-CN" altLang="en-US" dirty="0">
              <a:solidFill>
                <a:schemeClr val="bg2"/>
              </a:solidFill>
              <a:latin typeface="OPPOSans M" panose="00020600040101010101" pitchFamily="18" charset="-122"/>
              <a:ea typeface="OPPOSans M" panose="00020600040101010101" pitchFamily="18" charset="-122"/>
              <a:cs typeface="OPPOSans M" panose="00020600040101010101" pitchFamily="18" charset="-122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1594397" y="4033816"/>
            <a:ext cx="1540459" cy="36923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zh-CN" altLang="en-US">
                <a:solidFill>
                  <a:schemeClr val="bg2"/>
                </a:solidFill>
                <a:latin typeface="OPPOSans M" panose="00020600040101010101" pitchFamily="18" charset="-122"/>
                <a:ea typeface="OPPOSans M" panose="00020600040101010101" pitchFamily="18" charset="-122"/>
                <a:cs typeface="OPPOSans M" panose="00020600040101010101" pitchFamily="18" charset="-122"/>
              </a:rPr>
              <a:t>人才匹配</a:t>
            </a:r>
            <a:endParaRPr lang="zh-CN" altLang="en-US">
              <a:solidFill>
                <a:schemeClr val="bg2"/>
              </a:solidFill>
              <a:latin typeface="OPPOSans M" panose="00020600040101010101" pitchFamily="18" charset="-122"/>
              <a:ea typeface="OPPOSans M" panose="00020600040101010101" pitchFamily="18" charset="-122"/>
              <a:cs typeface="OPPOSans M" panose="00020600040101010101" pitchFamily="18" charset="-122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2059211" y="4986616"/>
            <a:ext cx="1540459" cy="36923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2"/>
                </a:solidFill>
                <a:latin typeface="OPPOSans M" panose="00020600040101010101" pitchFamily="18" charset="-122"/>
                <a:ea typeface="OPPOSans M" panose="00020600040101010101" pitchFamily="18" charset="-122"/>
                <a:cs typeface="OPPOSans M" panose="00020600040101010101" pitchFamily="18" charset="-122"/>
              </a:rPr>
              <a:t>平台吸引力</a:t>
            </a:r>
            <a:endParaRPr lang="zh-CN" altLang="en-US" dirty="0">
              <a:solidFill>
                <a:schemeClr val="bg2"/>
              </a:solidFill>
              <a:latin typeface="OPPOSans M" panose="00020600040101010101" pitchFamily="18" charset="-122"/>
              <a:ea typeface="OPPOSans M" panose="00020600040101010101" pitchFamily="18" charset="-122"/>
              <a:cs typeface="OPPOSans M" panose="00020600040101010101" pitchFamily="18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工作不足改进</a:t>
            </a:r>
            <a:r>
              <a:rPr lang="en-US" altLang="zh-CN" dirty="0"/>
              <a:t>/</a:t>
            </a:r>
            <a:r>
              <a:rPr lang="zh-CN" altLang="en-US" dirty="0"/>
              <a:t>工作复盘</a:t>
            </a:r>
            <a:endParaRPr lang="zh-CN" altLang="en-US" dirty="0"/>
          </a:p>
        </p:txBody>
      </p:sp>
      <p:grpSp>
        <p:nvGrpSpPr>
          <p:cNvPr id="4" name="组合 3"/>
          <p:cNvGrpSpPr/>
          <p:nvPr/>
        </p:nvGrpSpPr>
        <p:grpSpPr>
          <a:xfrm>
            <a:off x="552982" y="1265652"/>
            <a:ext cx="11086036" cy="5204635"/>
            <a:chOff x="441494" y="1245514"/>
            <a:chExt cx="11086036" cy="5204635"/>
          </a:xfrm>
        </p:grpSpPr>
        <p:grpSp>
          <p:nvGrpSpPr>
            <p:cNvPr id="5" name="组合 4"/>
            <p:cNvGrpSpPr/>
            <p:nvPr/>
          </p:nvGrpSpPr>
          <p:grpSpPr>
            <a:xfrm>
              <a:off x="441494" y="1245514"/>
              <a:ext cx="2864682" cy="5204635"/>
              <a:chOff x="441494" y="1245514"/>
              <a:chExt cx="2864682" cy="5204635"/>
            </a:xfrm>
          </p:grpSpPr>
          <p:grpSp>
            <p:nvGrpSpPr>
              <p:cNvPr id="39" name="组合 38"/>
              <p:cNvGrpSpPr/>
              <p:nvPr/>
            </p:nvGrpSpPr>
            <p:grpSpPr>
              <a:xfrm>
                <a:off x="441494" y="1245514"/>
                <a:ext cx="2864682" cy="1165829"/>
                <a:chOff x="491215" y="1245514"/>
                <a:chExt cx="2864682" cy="1165829"/>
              </a:xfrm>
            </p:grpSpPr>
            <p:grpSp>
              <p:nvGrpSpPr>
                <p:cNvPr id="67" name="组合 66"/>
                <p:cNvGrpSpPr/>
                <p:nvPr/>
              </p:nvGrpSpPr>
              <p:grpSpPr>
                <a:xfrm>
                  <a:off x="491215" y="1245514"/>
                  <a:ext cx="2864682" cy="1165829"/>
                  <a:chOff x="491215" y="1245514"/>
                  <a:chExt cx="2864682" cy="1165829"/>
                </a:xfrm>
              </p:grpSpPr>
              <p:grpSp>
                <p:nvGrpSpPr>
                  <p:cNvPr id="71" name="组合 70"/>
                  <p:cNvGrpSpPr/>
                  <p:nvPr/>
                </p:nvGrpSpPr>
                <p:grpSpPr>
                  <a:xfrm>
                    <a:off x="546766" y="1245514"/>
                    <a:ext cx="2440539" cy="368480"/>
                    <a:chOff x="479037" y="1245733"/>
                    <a:chExt cx="2440539" cy="368480"/>
                  </a:xfrm>
                </p:grpSpPr>
                <p:sp>
                  <p:nvSpPr>
                    <p:cNvPr id="73" name="矩形: 圆角 72"/>
                    <p:cNvSpPr/>
                    <p:nvPr/>
                  </p:nvSpPr>
                  <p:spPr>
                    <a:xfrm>
                      <a:off x="479037" y="1245733"/>
                      <a:ext cx="2161293" cy="368480"/>
                    </a:xfrm>
                    <a:prstGeom prst="roundRect">
                      <a:avLst>
                        <a:gd name="adj" fmla="val 50000"/>
                      </a:avLst>
                    </a:prstGeom>
                    <a:gradFill>
                      <a:gsLst>
                        <a:gs pos="17000">
                          <a:schemeClr val="accent1"/>
                        </a:gs>
                        <a:gs pos="100000">
                          <a:schemeClr val="accent1">
                            <a:lumMod val="60000"/>
                            <a:lumOff val="40000"/>
                          </a:schemeClr>
                        </a:gs>
                      </a:gsLst>
                      <a:lin ang="16200000" scaled="1"/>
                    </a:gra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CN" altLang="en-US">
                        <a:cs typeface="OPPOSans R" panose="00020600040101010101" pitchFamily="18" charset="-122"/>
                      </a:endParaRPr>
                    </a:p>
                  </p:txBody>
                </p:sp>
                <p:sp>
                  <p:nvSpPr>
                    <p:cNvPr id="74" name="文本框 73"/>
                    <p:cNvSpPr txBox="1"/>
                    <p:nvPr/>
                  </p:nvSpPr>
                  <p:spPr>
                    <a:xfrm>
                      <a:off x="898228" y="1272120"/>
                      <a:ext cx="2021348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lang="zh-CN" altLang="en-US" sz="1600" b="1" i="0" u="none" strike="noStrike" dirty="0">
                          <a:solidFill>
                            <a:schemeClr val="bg2"/>
                          </a:solidFill>
                          <a:effectLst/>
                          <a:latin typeface="OPPOSans M" panose="00020600040101010101" pitchFamily="18" charset="-122"/>
                          <a:ea typeface="OPPOSans M" panose="00020600040101010101" pitchFamily="18" charset="-122"/>
                          <a:cs typeface="OPPOSans M" panose="00020600040101010101" pitchFamily="18" charset="-122"/>
                        </a:rPr>
                        <a:t>业务能力不足</a:t>
                      </a:r>
                      <a:endParaRPr lang="zh-CN" altLang="en-US" sz="1600" b="1" i="0" u="none" strike="noStrike" dirty="0">
                        <a:solidFill>
                          <a:schemeClr val="bg2"/>
                        </a:solidFill>
                        <a:effectLst/>
                        <a:latin typeface="OPPOSans M" panose="00020600040101010101" pitchFamily="18" charset="-122"/>
                        <a:ea typeface="OPPOSans M" panose="00020600040101010101" pitchFamily="18" charset="-122"/>
                        <a:cs typeface="OPPOSans M" panose="00020600040101010101" pitchFamily="18" charset="-122"/>
                      </a:endParaRPr>
                    </a:p>
                  </p:txBody>
                </p:sp>
              </p:grpSp>
              <p:sp>
                <p:nvSpPr>
                  <p:cNvPr id="72" name="文本框 71"/>
                  <p:cNvSpPr txBox="1"/>
                  <p:nvPr/>
                </p:nvSpPr>
                <p:spPr>
                  <a:xfrm>
                    <a:off x="491215" y="1664920"/>
                    <a:ext cx="2864682" cy="746423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just">
                      <a:lnSpc>
                        <a:spcPct val="120000"/>
                      </a:lnSpc>
                    </a:pPr>
                    <a:r>
                      <a:rPr lang="zh-CN" altLang="en-US" sz="1200" dirty="0">
                        <a:effectLst/>
                        <a:latin typeface="OPPOSans R" panose="00020600040101010101" pitchFamily="18" charset="-122"/>
                        <a:ea typeface="OPPOSans R" panose="00020600040101010101" pitchFamily="18" charset="-122"/>
                        <a:cs typeface="OPPOSans R" panose="00020600040101010101" pitchFamily="18" charset="-122"/>
                      </a:rPr>
                      <a:t>文件处理效率低、对新政策理解不深、技术应用能力弱，如文件差错率高、营销技巧欠佳</a:t>
                    </a:r>
                    <a:endParaRPr lang="zh-CN" altLang="en-US" sz="1200" dirty="0">
                      <a:latin typeface="OPPOSans R" panose="00020600040101010101" pitchFamily="18" charset="-122"/>
                      <a:ea typeface="OPPOSans R" panose="00020600040101010101" pitchFamily="18" charset="-122"/>
                      <a:cs typeface="OPPOSans R" panose="00020600040101010101" pitchFamily="18" charset="-122"/>
                    </a:endParaRPr>
                  </a:p>
                </p:txBody>
              </p:sp>
            </p:grpSp>
            <p:grpSp>
              <p:nvGrpSpPr>
                <p:cNvPr id="68" name="组合 67"/>
                <p:cNvGrpSpPr/>
                <p:nvPr/>
              </p:nvGrpSpPr>
              <p:grpSpPr>
                <a:xfrm>
                  <a:off x="682001" y="1326467"/>
                  <a:ext cx="218661" cy="218661"/>
                  <a:chOff x="674531" y="1320423"/>
                  <a:chExt cx="218661" cy="218661"/>
                </a:xfrm>
              </p:grpSpPr>
              <p:sp>
                <p:nvSpPr>
                  <p:cNvPr id="69" name="椭圆 68"/>
                  <p:cNvSpPr/>
                  <p:nvPr/>
                </p:nvSpPr>
                <p:spPr>
                  <a:xfrm>
                    <a:off x="674531" y="1320423"/>
                    <a:ext cx="218661" cy="218661"/>
                  </a:xfrm>
                  <a:prstGeom prst="ellipse">
                    <a:avLst/>
                  </a:prstGeom>
                  <a:solidFill>
                    <a:schemeClr val="bg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1" lang="zh-CN" alt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PPOSans R" panose="00020600040101010101" pitchFamily="18" charset="-122"/>
                      <a:ea typeface="OPPOSans R" panose="00020600040101010101" pitchFamily="18" charset="-122"/>
                      <a:cs typeface="OPPOSans R" panose="00020600040101010101" pitchFamily="18" charset="-122"/>
                    </a:endParaRPr>
                  </a:p>
                </p:txBody>
              </p:sp>
              <p:sp>
                <p:nvSpPr>
                  <p:cNvPr id="70" name="矩形 2"/>
                  <p:cNvSpPr/>
                  <p:nvPr/>
                </p:nvSpPr>
                <p:spPr>
                  <a:xfrm rot="2700000">
                    <a:off x="758961" y="1363904"/>
                    <a:ext cx="57271" cy="98140"/>
                  </a:xfrm>
                  <a:custGeom>
                    <a:avLst/>
                    <a:gdLst>
                      <a:gd name="connsiteX0" fmla="*/ 0 w 415436"/>
                      <a:gd name="connsiteY0" fmla="*/ 0 h 415436"/>
                      <a:gd name="connsiteX1" fmla="*/ 415436 w 415436"/>
                      <a:gd name="connsiteY1" fmla="*/ 0 h 415436"/>
                      <a:gd name="connsiteX2" fmla="*/ 415436 w 415436"/>
                      <a:gd name="connsiteY2" fmla="*/ 415436 h 415436"/>
                      <a:gd name="connsiteX3" fmla="*/ 0 w 415436"/>
                      <a:gd name="connsiteY3" fmla="*/ 415436 h 415436"/>
                      <a:gd name="connsiteX4" fmla="*/ 0 w 415436"/>
                      <a:gd name="connsiteY4" fmla="*/ 0 h 415436"/>
                      <a:gd name="connsiteX0-1" fmla="*/ 0 w 415436"/>
                      <a:gd name="connsiteY0-2" fmla="*/ 415436 h 415436"/>
                      <a:gd name="connsiteX1-3" fmla="*/ 415436 w 415436"/>
                      <a:gd name="connsiteY1-4" fmla="*/ 0 h 415436"/>
                      <a:gd name="connsiteX2-5" fmla="*/ 415436 w 415436"/>
                      <a:gd name="connsiteY2-6" fmla="*/ 415436 h 415436"/>
                      <a:gd name="connsiteX3-7" fmla="*/ 0 w 415436"/>
                      <a:gd name="connsiteY3-8" fmla="*/ 415436 h 415436"/>
                      <a:gd name="connsiteX0-9" fmla="*/ 0 w 218174"/>
                      <a:gd name="connsiteY0-10" fmla="*/ 415436 h 415436"/>
                      <a:gd name="connsiteX1-11" fmla="*/ 218174 w 218174"/>
                      <a:gd name="connsiteY1-12" fmla="*/ 0 h 415436"/>
                      <a:gd name="connsiteX2-13" fmla="*/ 218174 w 218174"/>
                      <a:gd name="connsiteY2-14" fmla="*/ 415436 h 415436"/>
                      <a:gd name="connsiteX3-15" fmla="*/ 0 w 218174"/>
                      <a:gd name="connsiteY3-16" fmla="*/ 415436 h 415436"/>
                      <a:gd name="connsiteX0-17" fmla="*/ 0 w 218174"/>
                      <a:gd name="connsiteY0-18" fmla="*/ 415436 h 415436"/>
                      <a:gd name="connsiteX1-19" fmla="*/ 118424 w 218174"/>
                      <a:gd name="connsiteY1-20" fmla="*/ 208567 h 415436"/>
                      <a:gd name="connsiteX2-21" fmla="*/ 218174 w 218174"/>
                      <a:gd name="connsiteY2-22" fmla="*/ 0 h 415436"/>
                      <a:gd name="connsiteX3-23" fmla="*/ 218174 w 218174"/>
                      <a:gd name="connsiteY3-24" fmla="*/ 415436 h 415436"/>
                      <a:gd name="connsiteX4-25" fmla="*/ 0 w 218174"/>
                      <a:gd name="connsiteY4-26" fmla="*/ 415436 h 415436"/>
                      <a:gd name="connsiteX0-27" fmla="*/ 27697 w 245871"/>
                      <a:gd name="connsiteY0-28" fmla="*/ 415436 h 415436"/>
                      <a:gd name="connsiteX1-29" fmla="*/ 0 w 245871"/>
                      <a:gd name="connsiteY1-30" fmla="*/ 120895 h 415436"/>
                      <a:gd name="connsiteX2-31" fmla="*/ 245871 w 245871"/>
                      <a:gd name="connsiteY2-32" fmla="*/ 0 h 415436"/>
                      <a:gd name="connsiteX3-33" fmla="*/ 245871 w 245871"/>
                      <a:gd name="connsiteY3-34" fmla="*/ 415436 h 415436"/>
                      <a:gd name="connsiteX4-35" fmla="*/ 27697 w 245871"/>
                      <a:gd name="connsiteY4-36" fmla="*/ 415436 h 415436"/>
                      <a:gd name="connsiteX0-37" fmla="*/ 0 w 245871"/>
                      <a:gd name="connsiteY0-38" fmla="*/ 120895 h 415436"/>
                      <a:gd name="connsiteX1-39" fmla="*/ 245871 w 245871"/>
                      <a:gd name="connsiteY1-40" fmla="*/ 0 h 415436"/>
                      <a:gd name="connsiteX2-41" fmla="*/ 245871 w 245871"/>
                      <a:gd name="connsiteY2-42" fmla="*/ 415436 h 415436"/>
                      <a:gd name="connsiteX3-43" fmla="*/ 27697 w 245871"/>
                      <a:gd name="connsiteY3-44" fmla="*/ 415436 h 415436"/>
                      <a:gd name="connsiteX4-45" fmla="*/ 91440 w 245871"/>
                      <a:gd name="connsiteY4-46" fmla="*/ 212335 h 415436"/>
                      <a:gd name="connsiteX0-47" fmla="*/ 0 w 245871"/>
                      <a:gd name="connsiteY0-48" fmla="*/ 120895 h 415436"/>
                      <a:gd name="connsiteX1-49" fmla="*/ 245871 w 245871"/>
                      <a:gd name="connsiteY1-50" fmla="*/ 0 h 415436"/>
                      <a:gd name="connsiteX2-51" fmla="*/ 245871 w 245871"/>
                      <a:gd name="connsiteY2-52" fmla="*/ 415436 h 415436"/>
                      <a:gd name="connsiteX3-53" fmla="*/ 27697 w 245871"/>
                      <a:gd name="connsiteY3-54" fmla="*/ 415436 h 415436"/>
                      <a:gd name="connsiteX0-55" fmla="*/ 218174 w 218174"/>
                      <a:gd name="connsiteY0-56" fmla="*/ 0 h 415436"/>
                      <a:gd name="connsiteX1-57" fmla="*/ 218174 w 218174"/>
                      <a:gd name="connsiteY1-58" fmla="*/ 415436 h 415436"/>
                      <a:gd name="connsiteX2-59" fmla="*/ 0 w 218174"/>
                      <a:gd name="connsiteY2-60" fmla="*/ 415436 h 415436"/>
                    </a:gdLst>
                    <a:ahLst/>
                    <a:cxnLst>
                      <a:cxn ang="0">
                        <a:pos x="connsiteX0-1" y="connsiteY0-2"/>
                      </a:cxn>
                      <a:cxn ang="0">
                        <a:pos x="connsiteX1-3" y="connsiteY1-4"/>
                      </a:cxn>
                      <a:cxn ang="0">
                        <a:pos x="connsiteX2-5" y="connsiteY2-6"/>
                      </a:cxn>
                    </a:cxnLst>
                    <a:rect l="l" t="t" r="r" b="b"/>
                    <a:pathLst>
                      <a:path w="218174" h="415436">
                        <a:moveTo>
                          <a:pt x="218174" y="0"/>
                        </a:moveTo>
                        <a:lnTo>
                          <a:pt x="218174" y="415436"/>
                        </a:lnTo>
                        <a:lnTo>
                          <a:pt x="0" y="415436"/>
                        </a:lnTo>
                      </a:path>
                    </a:pathLst>
                  </a:custGeom>
                  <a:noFill/>
                  <a:ln w="38100" cap="rnd">
                    <a:solidFill>
                      <a:schemeClr val="accent1"/>
                    </a:solidFill>
                    <a:round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1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PPOSans R" panose="00020600040101010101" pitchFamily="18" charset="-122"/>
                      <a:ea typeface="OPPOSans R" panose="00020600040101010101" pitchFamily="18" charset="-122"/>
                      <a:cs typeface="OPPOSans R" panose="00020600040101010101" pitchFamily="18" charset="-122"/>
                    </a:endParaRPr>
                  </a:p>
                </p:txBody>
              </p:sp>
            </p:grpSp>
          </p:grpSp>
          <p:grpSp>
            <p:nvGrpSpPr>
              <p:cNvPr id="40" name="组合 39"/>
              <p:cNvGrpSpPr/>
              <p:nvPr/>
            </p:nvGrpSpPr>
            <p:grpSpPr>
              <a:xfrm>
                <a:off x="441494" y="2589422"/>
                <a:ext cx="2864682" cy="1165829"/>
                <a:chOff x="491215" y="1245514"/>
                <a:chExt cx="2864682" cy="1165829"/>
              </a:xfrm>
            </p:grpSpPr>
            <p:grpSp>
              <p:nvGrpSpPr>
                <p:cNvPr id="59" name="组合 58"/>
                <p:cNvGrpSpPr/>
                <p:nvPr/>
              </p:nvGrpSpPr>
              <p:grpSpPr>
                <a:xfrm>
                  <a:off x="491215" y="1245514"/>
                  <a:ext cx="2864682" cy="1165829"/>
                  <a:chOff x="491215" y="1245514"/>
                  <a:chExt cx="2864682" cy="1165829"/>
                </a:xfrm>
              </p:grpSpPr>
              <p:grpSp>
                <p:nvGrpSpPr>
                  <p:cNvPr id="63" name="组合 62"/>
                  <p:cNvGrpSpPr/>
                  <p:nvPr/>
                </p:nvGrpSpPr>
                <p:grpSpPr>
                  <a:xfrm>
                    <a:off x="546766" y="1245514"/>
                    <a:ext cx="2329808" cy="368480"/>
                    <a:chOff x="479037" y="1245733"/>
                    <a:chExt cx="2329808" cy="368480"/>
                  </a:xfrm>
                </p:grpSpPr>
                <p:sp>
                  <p:nvSpPr>
                    <p:cNvPr id="65" name="矩形: 圆角 64"/>
                    <p:cNvSpPr/>
                    <p:nvPr/>
                  </p:nvSpPr>
                  <p:spPr>
                    <a:xfrm>
                      <a:off x="479037" y="1245733"/>
                      <a:ext cx="2161293" cy="368480"/>
                    </a:xfrm>
                    <a:prstGeom prst="roundRect">
                      <a:avLst>
                        <a:gd name="adj" fmla="val 50000"/>
                      </a:avLst>
                    </a:prstGeom>
                    <a:gradFill>
                      <a:gsLst>
                        <a:gs pos="17000">
                          <a:schemeClr val="accent1"/>
                        </a:gs>
                        <a:gs pos="100000">
                          <a:schemeClr val="accent1">
                            <a:lumMod val="60000"/>
                            <a:lumOff val="40000"/>
                          </a:schemeClr>
                        </a:gs>
                      </a:gsLst>
                      <a:lin ang="16200000" scaled="1"/>
                    </a:gra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CN" altLang="en-US">
                        <a:cs typeface="OPPOSans R" panose="00020600040101010101" pitchFamily="18" charset="-122"/>
                      </a:endParaRPr>
                    </a:p>
                  </p:txBody>
                </p:sp>
                <p:sp>
                  <p:nvSpPr>
                    <p:cNvPr id="66" name="文本框 65"/>
                    <p:cNvSpPr txBox="1"/>
                    <p:nvPr/>
                  </p:nvSpPr>
                  <p:spPr>
                    <a:xfrm>
                      <a:off x="898228" y="1272120"/>
                      <a:ext cx="1910617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lang="zh-CN" altLang="en-US" sz="1600" b="1" i="0" u="none" strike="noStrike" dirty="0">
                          <a:solidFill>
                            <a:schemeClr val="bg2"/>
                          </a:solidFill>
                          <a:effectLst/>
                          <a:latin typeface="OPPOSans M" panose="00020600040101010101" pitchFamily="18" charset="-122"/>
                          <a:ea typeface="OPPOSans M" panose="00020600040101010101" pitchFamily="18" charset="-122"/>
                          <a:cs typeface="OPPOSans M" panose="00020600040101010101" pitchFamily="18" charset="-122"/>
                        </a:rPr>
                        <a:t>工作方法粗放</a:t>
                      </a:r>
                      <a:endParaRPr lang="zh-CN" altLang="en-US" sz="1600" b="1" i="0" u="none" strike="noStrike" dirty="0">
                        <a:solidFill>
                          <a:schemeClr val="bg2"/>
                        </a:solidFill>
                        <a:effectLst/>
                        <a:latin typeface="OPPOSans M" panose="00020600040101010101" pitchFamily="18" charset="-122"/>
                        <a:ea typeface="OPPOSans M" panose="00020600040101010101" pitchFamily="18" charset="-122"/>
                        <a:cs typeface="OPPOSans M" panose="00020600040101010101" pitchFamily="18" charset="-122"/>
                      </a:endParaRPr>
                    </a:p>
                  </p:txBody>
                </p:sp>
              </p:grpSp>
              <p:sp>
                <p:nvSpPr>
                  <p:cNvPr id="64" name="文本框 63"/>
                  <p:cNvSpPr txBox="1"/>
                  <p:nvPr/>
                </p:nvSpPr>
                <p:spPr>
                  <a:xfrm>
                    <a:off x="491215" y="1664920"/>
                    <a:ext cx="2864682" cy="746423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just">
                      <a:lnSpc>
                        <a:spcPct val="120000"/>
                      </a:lnSpc>
                    </a:pPr>
                    <a:r>
                      <a:rPr lang="zh-CN" altLang="en-US" sz="1200" dirty="0">
                        <a:effectLst/>
                        <a:latin typeface="OPPOSans R" panose="00020600040101010101" pitchFamily="18" charset="-122"/>
                        <a:ea typeface="OPPOSans R" panose="00020600040101010101" pitchFamily="18" charset="-122"/>
                        <a:cs typeface="OPPOSans R" panose="00020600040101010101" pitchFamily="18" charset="-122"/>
                      </a:rPr>
                      <a:t>任务分配不均、应急处理能力差、缺乏精细化管理</a:t>
                    </a:r>
                    <a:r>
                      <a:rPr lang="en-US" altLang="zh-CN" sz="1200" dirty="0">
                        <a:effectLst/>
                        <a:latin typeface="OPPOSans R" panose="00020600040101010101" pitchFamily="18" charset="-122"/>
                        <a:ea typeface="OPPOSans R" panose="00020600040101010101" pitchFamily="18" charset="-122"/>
                        <a:cs typeface="OPPOSans R" panose="00020600040101010101" pitchFamily="18" charset="-122"/>
                      </a:rPr>
                      <a:t>,</a:t>
                    </a:r>
                    <a:r>
                      <a:rPr lang="zh-CN" altLang="en-US" sz="1200" dirty="0">
                        <a:effectLst/>
                        <a:latin typeface="OPPOSans R" panose="00020600040101010101" pitchFamily="18" charset="-122"/>
                        <a:ea typeface="OPPOSans R" panose="00020600040101010101" pitchFamily="18" charset="-122"/>
                        <a:cs typeface="OPPOSans R" panose="00020600040101010101" pitchFamily="18" charset="-122"/>
                      </a:rPr>
                      <a:t>如 “工作方法简单”“数据不准”</a:t>
                    </a:r>
                    <a:endParaRPr lang="zh-CN" altLang="en-US" sz="1200" dirty="0">
                      <a:effectLst/>
                      <a:latin typeface="OPPOSans R" panose="00020600040101010101" pitchFamily="18" charset="-122"/>
                      <a:ea typeface="OPPOSans R" panose="00020600040101010101" pitchFamily="18" charset="-122"/>
                      <a:cs typeface="OPPOSans R" panose="00020600040101010101" pitchFamily="18" charset="-122"/>
                    </a:endParaRPr>
                  </a:p>
                </p:txBody>
              </p:sp>
            </p:grpSp>
            <p:grpSp>
              <p:nvGrpSpPr>
                <p:cNvPr id="60" name="组合 59"/>
                <p:cNvGrpSpPr/>
                <p:nvPr/>
              </p:nvGrpSpPr>
              <p:grpSpPr>
                <a:xfrm>
                  <a:off x="682001" y="1326467"/>
                  <a:ext cx="218661" cy="218661"/>
                  <a:chOff x="674531" y="1320423"/>
                  <a:chExt cx="218661" cy="218661"/>
                </a:xfrm>
              </p:grpSpPr>
              <p:sp>
                <p:nvSpPr>
                  <p:cNvPr id="61" name="椭圆 60"/>
                  <p:cNvSpPr/>
                  <p:nvPr/>
                </p:nvSpPr>
                <p:spPr>
                  <a:xfrm>
                    <a:off x="674531" y="1320423"/>
                    <a:ext cx="218661" cy="218661"/>
                  </a:xfrm>
                  <a:prstGeom prst="ellipse">
                    <a:avLst/>
                  </a:prstGeom>
                  <a:solidFill>
                    <a:schemeClr val="bg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1" lang="zh-CN" alt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PPOSans R" panose="00020600040101010101" pitchFamily="18" charset="-122"/>
                      <a:ea typeface="OPPOSans R" panose="00020600040101010101" pitchFamily="18" charset="-122"/>
                      <a:cs typeface="OPPOSans R" panose="00020600040101010101" pitchFamily="18" charset="-122"/>
                    </a:endParaRPr>
                  </a:p>
                </p:txBody>
              </p:sp>
              <p:sp>
                <p:nvSpPr>
                  <p:cNvPr id="62" name="矩形 2"/>
                  <p:cNvSpPr/>
                  <p:nvPr/>
                </p:nvSpPr>
                <p:spPr>
                  <a:xfrm rot="2700000">
                    <a:off x="758961" y="1363904"/>
                    <a:ext cx="57271" cy="98140"/>
                  </a:xfrm>
                  <a:custGeom>
                    <a:avLst/>
                    <a:gdLst>
                      <a:gd name="connsiteX0" fmla="*/ 0 w 415436"/>
                      <a:gd name="connsiteY0" fmla="*/ 0 h 415436"/>
                      <a:gd name="connsiteX1" fmla="*/ 415436 w 415436"/>
                      <a:gd name="connsiteY1" fmla="*/ 0 h 415436"/>
                      <a:gd name="connsiteX2" fmla="*/ 415436 w 415436"/>
                      <a:gd name="connsiteY2" fmla="*/ 415436 h 415436"/>
                      <a:gd name="connsiteX3" fmla="*/ 0 w 415436"/>
                      <a:gd name="connsiteY3" fmla="*/ 415436 h 415436"/>
                      <a:gd name="connsiteX4" fmla="*/ 0 w 415436"/>
                      <a:gd name="connsiteY4" fmla="*/ 0 h 415436"/>
                      <a:gd name="connsiteX0-1" fmla="*/ 0 w 415436"/>
                      <a:gd name="connsiteY0-2" fmla="*/ 415436 h 415436"/>
                      <a:gd name="connsiteX1-3" fmla="*/ 415436 w 415436"/>
                      <a:gd name="connsiteY1-4" fmla="*/ 0 h 415436"/>
                      <a:gd name="connsiteX2-5" fmla="*/ 415436 w 415436"/>
                      <a:gd name="connsiteY2-6" fmla="*/ 415436 h 415436"/>
                      <a:gd name="connsiteX3-7" fmla="*/ 0 w 415436"/>
                      <a:gd name="connsiteY3-8" fmla="*/ 415436 h 415436"/>
                      <a:gd name="connsiteX0-9" fmla="*/ 0 w 218174"/>
                      <a:gd name="connsiteY0-10" fmla="*/ 415436 h 415436"/>
                      <a:gd name="connsiteX1-11" fmla="*/ 218174 w 218174"/>
                      <a:gd name="connsiteY1-12" fmla="*/ 0 h 415436"/>
                      <a:gd name="connsiteX2-13" fmla="*/ 218174 w 218174"/>
                      <a:gd name="connsiteY2-14" fmla="*/ 415436 h 415436"/>
                      <a:gd name="connsiteX3-15" fmla="*/ 0 w 218174"/>
                      <a:gd name="connsiteY3-16" fmla="*/ 415436 h 415436"/>
                      <a:gd name="connsiteX0-17" fmla="*/ 0 w 218174"/>
                      <a:gd name="connsiteY0-18" fmla="*/ 415436 h 415436"/>
                      <a:gd name="connsiteX1-19" fmla="*/ 118424 w 218174"/>
                      <a:gd name="connsiteY1-20" fmla="*/ 208567 h 415436"/>
                      <a:gd name="connsiteX2-21" fmla="*/ 218174 w 218174"/>
                      <a:gd name="connsiteY2-22" fmla="*/ 0 h 415436"/>
                      <a:gd name="connsiteX3-23" fmla="*/ 218174 w 218174"/>
                      <a:gd name="connsiteY3-24" fmla="*/ 415436 h 415436"/>
                      <a:gd name="connsiteX4-25" fmla="*/ 0 w 218174"/>
                      <a:gd name="connsiteY4-26" fmla="*/ 415436 h 415436"/>
                      <a:gd name="connsiteX0-27" fmla="*/ 27697 w 245871"/>
                      <a:gd name="connsiteY0-28" fmla="*/ 415436 h 415436"/>
                      <a:gd name="connsiteX1-29" fmla="*/ 0 w 245871"/>
                      <a:gd name="connsiteY1-30" fmla="*/ 120895 h 415436"/>
                      <a:gd name="connsiteX2-31" fmla="*/ 245871 w 245871"/>
                      <a:gd name="connsiteY2-32" fmla="*/ 0 h 415436"/>
                      <a:gd name="connsiteX3-33" fmla="*/ 245871 w 245871"/>
                      <a:gd name="connsiteY3-34" fmla="*/ 415436 h 415436"/>
                      <a:gd name="connsiteX4-35" fmla="*/ 27697 w 245871"/>
                      <a:gd name="connsiteY4-36" fmla="*/ 415436 h 415436"/>
                      <a:gd name="connsiteX0-37" fmla="*/ 0 w 245871"/>
                      <a:gd name="connsiteY0-38" fmla="*/ 120895 h 415436"/>
                      <a:gd name="connsiteX1-39" fmla="*/ 245871 w 245871"/>
                      <a:gd name="connsiteY1-40" fmla="*/ 0 h 415436"/>
                      <a:gd name="connsiteX2-41" fmla="*/ 245871 w 245871"/>
                      <a:gd name="connsiteY2-42" fmla="*/ 415436 h 415436"/>
                      <a:gd name="connsiteX3-43" fmla="*/ 27697 w 245871"/>
                      <a:gd name="connsiteY3-44" fmla="*/ 415436 h 415436"/>
                      <a:gd name="connsiteX4-45" fmla="*/ 91440 w 245871"/>
                      <a:gd name="connsiteY4-46" fmla="*/ 212335 h 415436"/>
                      <a:gd name="connsiteX0-47" fmla="*/ 0 w 245871"/>
                      <a:gd name="connsiteY0-48" fmla="*/ 120895 h 415436"/>
                      <a:gd name="connsiteX1-49" fmla="*/ 245871 w 245871"/>
                      <a:gd name="connsiteY1-50" fmla="*/ 0 h 415436"/>
                      <a:gd name="connsiteX2-51" fmla="*/ 245871 w 245871"/>
                      <a:gd name="connsiteY2-52" fmla="*/ 415436 h 415436"/>
                      <a:gd name="connsiteX3-53" fmla="*/ 27697 w 245871"/>
                      <a:gd name="connsiteY3-54" fmla="*/ 415436 h 415436"/>
                      <a:gd name="connsiteX0-55" fmla="*/ 218174 w 218174"/>
                      <a:gd name="connsiteY0-56" fmla="*/ 0 h 415436"/>
                      <a:gd name="connsiteX1-57" fmla="*/ 218174 w 218174"/>
                      <a:gd name="connsiteY1-58" fmla="*/ 415436 h 415436"/>
                      <a:gd name="connsiteX2-59" fmla="*/ 0 w 218174"/>
                      <a:gd name="connsiteY2-60" fmla="*/ 415436 h 415436"/>
                    </a:gdLst>
                    <a:ahLst/>
                    <a:cxnLst>
                      <a:cxn ang="0">
                        <a:pos x="connsiteX0-1" y="connsiteY0-2"/>
                      </a:cxn>
                      <a:cxn ang="0">
                        <a:pos x="connsiteX1-3" y="connsiteY1-4"/>
                      </a:cxn>
                      <a:cxn ang="0">
                        <a:pos x="connsiteX2-5" y="connsiteY2-6"/>
                      </a:cxn>
                    </a:cxnLst>
                    <a:rect l="l" t="t" r="r" b="b"/>
                    <a:pathLst>
                      <a:path w="218174" h="415436">
                        <a:moveTo>
                          <a:pt x="218174" y="0"/>
                        </a:moveTo>
                        <a:lnTo>
                          <a:pt x="218174" y="415436"/>
                        </a:lnTo>
                        <a:lnTo>
                          <a:pt x="0" y="415436"/>
                        </a:lnTo>
                      </a:path>
                    </a:pathLst>
                  </a:custGeom>
                  <a:noFill/>
                  <a:ln w="38100" cap="rnd">
                    <a:solidFill>
                      <a:schemeClr val="accent1"/>
                    </a:solidFill>
                    <a:round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1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PPOSans R" panose="00020600040101010101" pitchFamily="18" charset="-122"/>
                      <a:ea typeface="OPPOSans R" panose="00020600040101010101" pitchFamily="18" charset="-122"/>
                      <a:cs typeface="OPPOSans R" panose="00020600040101010101" pitchFamily="18" charset="-122"/>
                    </a:endParaRPr>
                  </a:p>
                </p:txBody>
              </p:sp>
            </p:grpSp>
          </p:grpSp>
          <p:grpSp>
            <p:nvGrpSpPr>
              <p:cNvPr id="41" name="组合 40"/>
              <p:cNvGrpSpPr/>
              <p:nvPr/>
            </p:nvGrpSpPr>
            <p:grpSpPr>
              <a:xfrm>
                <a:off x="441494" y="3956399"/>
                <a:ext cx="2864682" cy="1165829"/>
                <a:chOff x="491215" y="1245514"/>
                <a:chExt cx="2864682" cy="1165829"/>
              </a:xfrm>
            </p:grpSpPr>
            <p:grpSp>
              <p:nvGrpSpPr>
                <p:cNvPr id="51" name="组合 50"/>
                <p:cNvGrpSpPr/>
                <p:nvPr/>
              </p:nvGrpSpPr>
              <p:grpSpPr>
                <a:xfrm>
                  <a:off x="491215" y="1245514"/>
                  <a:ext cx="2864682" cy="1165829"/>
                  <a:chOff x="491215" y="1245514"/>
                  <a:chExt cx="2864682" cy="1165829"/>
                </a:xfrm>
              </p:grpSpPr>
              <p:grpSp>
                <p:nvGrpSpPr>
                  <p:cNvPr id="55" name="组合 54"/>
                  <p:cNvGrpSpPr/>
                  <p:nvPr/>
                </p:nvGrpSpPr>
                <p:grpSpPr>
                  <a:xfrm>
                    <a:off x="546766" y="1245514"/>
                    <a:ext cx="2440539" cy="368480"/>
                    <a:chOff x="479037" y="1245733"/>
                    <a:chExt cx="2440539" cy="368480"/>
                  </a:xfrm>
                </p:grpSpPr>
                <p:sp>
                  <p:nvSpPr>
                    <p:cNvPr id="57" name="矩形: 圆角 56"/>
                    <p:cNvSpPr/>
                    <p:nvPr/>
                  </p:nvSpPr>
                  <p:spPr>
                    <a:xfrm>
                      <a:off x="479037" y="1245733"/>
                      <a:ext cx="2161293" cy="368480"/>
                    </a:xfrm>
                    <a:prstGeom prst="roundRect">
                      <a:avLst>
                        <a:gd name="adj" fmla="val 50000"/>
                      </a:avLst>
                    </a:prstGeom>
                    <a:gradFill>
                      <a:gsLst>
                        <a:gs pos="17000">
                          <a:schemeClr val="accent1"/>
                        </a:gs>
                        <a:gs pos="100000">
                          <a:schemeClr val="accent1">
                            <a:lumMod val="60000"/>
                            <a:lumOff val="40000"/>
                          </a:schemeClr>
                        </a:gs>
                      </a:gsLst>
                      <a:lin ang="16200000" scaled="1"/>
                    </a:gra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CN" altLang="en-US">
                        <a:cs typeface="OPPOSans R" panose="00020600040101010101" pitchFamily="18" charset="-122"/>
                      </a:endParaRPr>
                    </a:p>
                  </p:txBody>
                </p:sp>
                <p:sp>
                  <p:nvSpPr>
                    <p:cNvPr id="58" name="文本框 57"/>
                    <p:cNvSpPr txBox="1"/>
                    <p:nvPr/>
                  </p:nvSpPr>
                  <p:spPr>
                    <a:xfrm>
                      <a:off x="898228" y="1272120"/>
                      <a:ext cx="2021348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lang="zh-CN" altLang="en-US" sz="1600" b="1" i="0" u="none" strike="noStrike" dirty="0">
                          <a:solidFill>
                            <a:schemeClr val="bg2"/>
                          </a:solidFill>
                          <a:effectLst/>
                          <a:latin typeface="OPPOSans M" panose="00020600040101010101" pitchFamily="18" charset="-122"/>
                          <a:ea typeface="OPPOSans M" panose="00020600040101010101" pitchFamily="18" charset="-122"/>
                          <a:cs typeface="OPPOSans M" panose="00020600040101010101" pitchFamily="18" charset="-122"/>
                        </a:rPr>
                        <a:t>团队协效率低</a:t>
                      </a:r>
                      <a:endParaRPr lang="zh-CN" altLang="en-US" sz="1600" b="1" i="0" u="none" strike="noStrike" dirty="0">
                        <a:solidFill>
                          <a:schemeClr val="bg2"/>
                        </a:solidFill>
                        <a:effectLst/>
                        <a:latin typeface="OPPOSans M" panose="00020600040101010101" pitchFamily="18" charset="-122"/>
                        <a:ea typeface="OPPOSans M" panose="00020600040101010101" pitchFamily="18" charset="-122"/>
                        <a:cs typeface="OPPOSans M" panose="00020600040101010101" pitchFamily="18" charset="-122"/>
                      </a:endParaRPr>
                    </a:p>
                  </p:txBody>
                </p:sp>
              </p:grpSp>
              <p:sp>
                <p:nvSpPr>
                  <p:cNvPr id="56" name="文本框 55"/>
                  <p:cNvSpPr txBox="1"/>
                  <p:nvPr/>
                </p:nvSpPr>
                <p:spPr>
                  <a:xfrm>
                    <a:off x="491215" y="1664920"/>
                    <a:ext cx="2864682" cy="746423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just">
                      <a:lnSpc>
                        <a:spcPct val="120000"/>
                      </a:lnSpc>
                    </a:pPr>
                    <a:r>
                      <a:rPr lang="zh-CN" altLang="en-US" sz="1200" dirty="0">
                        <a:effectLst/>
                        <a:latin typeface="OPPOSans R" panose="00020600040101010101" pitchFamily="18" charset="-122"/>
                        <a:ea typeface="OPPOSans R" panose="00020600040101010101" pitchFamily="18" charset="-122"/>
                        <a:cs typeface="OPPOSans R" panose="00020600040101010101" pitchFamily="18" charset="-122"/>
                      </a:rPr>
                      <a:t>跨部门沟通不畅、信息传递渠道不畅致使决策滞后，如跨团队协作意愿薄弱等问题</a:t>
                    </a:r>
                    <a:endParaRPr lang="zh-CN" altLang="en-US" sz="1200" dirty="0">
                      <a:effectLst/>
                      <a:latin typeface="OPPOSans R" panose="00020600040101010101" pitchFamily="18" charset="-122"/>
                      <a:ea typeface="OPPOSans R" panose="00020600040101010101" pitchFamily="18" charset="-122"/>
                      <a:cs typeface="OPPOSans R" panose="00020600040101010101" pitchFamily="18" charset="-122"/>
                    </a:endParaRPr>
                  </a:p>
                </p:txBody>
              </p:sp>
            </p:grpSp>
            <p:grpSp>
              <p:nvGrpSpPr>
                <p:cNvPr id="52" name="组合 51"/>
                <p:cNvGrpSpPr/>
                <p:nvPr/>
              </p:nvGrpSpPr>
              <p:grpSpPr>
                <a:xfrm>
                  <a:off x="682001" y="1326467"/>
                  <a:ext cx="218661" cy="218661"/>
                  <a:chOff x="674531" y="1320423"/>
                  <a:chExt cx="218661" cy="218661"/>
                </a:xfrm>
              </p:grpSpPr>
              <p:sp>
                <p:nvSpPr>
                  <p:cNvPr id="53" name="椭圆 52"/>
                  <p:cNvSpPr/>
                  <p:nvPr/>
                </p:nvSpPr>
                <p:spPr>
                  <a:xfrm>
                    <a:off x="674531" y="1320423"/>
                    <a:ext cx="218661" cy="218661"/>
                  </a:xfrm>
                  <a:prstGeom prst="ellipse">
                    <a:avLst/>
                  </a:prstGeom>
                  <a:solidFill>
                    <a:schemeClr val="bg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1" lang="zh-CN" alt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PPOSans R" panose="00020600040101010101" pitchFamily="18" charset="-122"/>
                      <a:ea typeface="OPPOSans R" panose="00020600040101010101" pitchFamily="18" charset="-122"/>
                      <a:cs typeface="OPPOSans R" panose="00020600040101010101" pitchFamily="18" charset="-122"/>
                    </a:endParaRPr>
                  </a:p>
                </p:txBody>
              </p:sp>
              <p:sp>
                <p:nvSpPr>
                  <p:cNvPr id="54" name="矩形 2"/>
                  <p:cNvSpPr/>
                  <p:nvPr/>
                </p:nvSpPr>
                <p:spPr>
                  <a:xfrm rot="2700000">
                    <a:off x="758961" y="1363904"/>
                    <a:ext cx="57271" cy="98140"/>
                  </a:xfrm>
                  <a:custGeom>
                    <a:avLst/>
                    <a:gdLst>
                      <a:gd name="connsiteX0" fmla="*/ 0 w 415436"/>
                      <a:gd name="connsiteY0" fmla="*/ 0 h 415436"/>
                      <a:gd name="connsiteX1" fmla="*/ 415436 w 415436"/>
                      <a:gd name="connsiteY1" fmla="*/ 0 h 415436"/>
                      <a:gd name="connsiteX2" fmla="*/ 415436 w 415436"/>
                      <a:gd name="connsiteY2" fmla="*/ 415436 h 415436"/>
                      <a:gd name="connsiteX3" fmla="*/ 0 w 415436"/>
                      <a:gd name="connsiteY3" fmla="*/ 415436 h 415436"/>
                      <a:gd name="connsiteX4" fmla="*/ 0 w 415436"/>
                      <a:gd name="connsiteY4" fmla="*/ 0 h 415436"/>
                      <a:gd name="connsiteX0-1" fmla="*/ 0 w 415436"/>
                      <a:gd name="connsiteY0-2" fmla="*/ 415436 h 415436"/>
                      <a:gd name="connsiteX1-3" fmla="*/ 415436 w 415436"/>
                      <a:gd name="connsiteY1-4" fmla="*/ 0 h 415436"/>
                      <a:gd name="connsiteX2-5" fmla="*/ 415436 w 415436"/>
                      <a:gd name="connsiteY2-6" fmla="*/ 415436 h 415436"/>
                      <a:gd name="connsiteX3-7" fmla="*/ 0 w 415436"/>
                      <a:gd name="connsiteY3-8" fmla="*/ 415436 h 415436"/>
                      <a:gd name="connsiteX0-9" fmla="*/ 0 w 218174"/>
                      <a:gd name="connsiteY0-10" fmla="*/ 415436 h 415436"/>
                      <a:gd name="connsiteX1-11" fmla="*/ 218174 w 218174"/>
                      <a:gd name="connsiteY1-12" fmla="*/ 0 h 415436"/>
                      <a:gd name="connsiteX2-13" fmla="*/ 218174 w 218174"/>
                      <a:gd name="connsiteY2-14" fmla="*/ 415436 h 415436"/>
                      <a:gd name="connsiteX3-15" fmla="*/ 0 w 218174"/>
                      <a:gd name="connsiteY3-16" fmla="*/ 415436 h 415436"/>
                      <a:gd name="connsiteX0-17" fmla="*/ 0 w 218174"/>
                      <a:gd name="connsiteY0-18" fmla="*/ 415436 h 415436"/>
                      <a:gd name="connsiteX1-19" fmla="*/ 118424 w 218174"/>
                      <a:gd name="connsiteY1-20" fmla="*/ 208567 h 415436"/>
                      <a:gd name="connsiteX2-21" fmla="*/ 218174 w 218174"/>
                      <a:gd name="connsiteY2-22" fmla="*/ 0 h 415436"/>
                      <a:gd name="connsiteX3-23" fmla="*/ 218174 w 218174"/>
                      <a:gd name="connsiteY3-24" fmla="*/ 415436 h 415436"/>
                      <a:gd name="connsiteX4-25" fmla="*/ 0 w 218174"/>
                      <a:gd name="connsiteY4-26" fmla="*/ 415436 h 415436"/>
                      <a:gd name="connsiteX0-27" fmla="*/ 27697 w 245871"/>
                      <a:gd name="connsiteY0-28" fmla="*/ 415436 h 415436"/>
                      <a:gd name="connsiteX1-29" fmla="*/ 0 w 245871"/>
                      <a:gd name="connsiteY1-30" fmla="*/ 120895 h 415436"/>
                      <a:gd name="connsiteX2-31" fmla="*/ 245871 w 245871"/>
                      <a:gd name="connsiteY2-32" fmla="*/ 0 h 415436"/>
                      <a:gd name="connsiteX3-33" fmla="*/ 245871 w 245871"/>
                      <a:gd name="connsiteY3-34" fmla="*/ 415436 h 415436"/>
                      <a:gd name="connsiteX4-35" fmla="*/ 27697 w 245871"/>
                      <a:gd name="connsiteY4-36" fmla="*/ 415436 h 415436"/>
                      <a:gd name="connsiteX0-37" fmla="*/ 0 w 245871"/>
                      <a:gd name="connsiteY0-38" fmla="*/ 120895 h 415436"/>
                      <a:gd name="connsiteX1-39" fmla="*/ 245871 w 245871"/>
                      <a:gd name="connsiteY1-40" fmla="*/ 0 h 415436"/>
                      <a:gd name="connsiteX2-41" fmla="*/ 245871 w 245871"/>
                      <a:gd name="connsiteY2-42" fmla="*/ 415436 h 415436"/>
                      <a:gd name="connsiteX3-43" fmla="*/ 27697 w 245871"/>
                      <a:gd name="connsiteY3-44" fmla="*/ 415436 h 415436"/>
                      <a:gd name="connsiteX4-45" fmla="*/ 91440 w 245871"/>
                      <a:gd name="connsiteY4-46" fmla="*/ 212335 h 415436"/>
                      <a:gd name="connsiteX0-47" fmla="*/ 0 w 245871"/>
                      <a:gd name="connsiteY0-48" fmla="*/ 120895 h 415436"/>
                      <a:gd name="connsiteX1-49" fmla="*/ 245871 w 245871"/>
                      <a:gd name="connsiteY1-50" fmla="*/ 0 h 415436"/>
                      <a:gd name="connsiteX2-51" fmla="*/ 245871 w 245871"/>
                      <a:gd name="connsiteY2-52" fmla="*/ 415436 h 415436"/>
                      <a:gd name="connsiteX3-53" fmla="*/ 27697 w 245871"/>
                      <a:gd name="connsiteY3-54" fmla="*/ 415436 h 415436"/>
                      <a:gd name="connsiteX0-55" fmla="*/ 218174 w 218174"/>
                      <a:gd name="connsiteY0-56" fmla="*/ 0 h 415436"/>
                      <a:gd name="connsiteX1-57" fmla="*/ 218174 w 218174"/>
                      <a:gd name="connsiteY1-58" fmla="*/ 415436 h 415436"/>
                      <a:gd name="connsiteX2-59" fmla="*/ 0 w 218174"/>
                      <a:gd name="connsiteY2-60" fmla="*/ 415436 h 415436"/>
                    </a:gdLst>
                    <a:ahLst/>
                    <a:cxnLst>
                      <a:cxn ang="0">
                        <a:pos x="connsiteX0-1" y="connsiteY0-2"/>
                      </a:cxn>
                      <a:cxn ang="0">
                        <a:pos x="connsiteX1-3" y="connsiteY1-4"/>
                      </a:cxn>
                      <a:cxn ang="0">
                        <a:pos x="connsiteX2-5" y="connsiteY2-6"/>
                      </a:cxn>
                    </a:cxnLst>
                    <a:rect l="l" t="t" r="r" b="b"/>
                    <a:pathLst>
                      <a:path w="218174" h="415436">
                        <a:moveTo>
                          <a:pt x="218174" y="0"/>
                        </a:moveTo>
                        <a:lnTo>
                          <a:pt x="218174" y="415436"/>
                        </a:lnTo>
                        <a:lnTo>
                          <a:pt x="0" y="415436"/>
                        </a:lnTo>
                      </a:path>
                    </a:pathLst>
                  </a:custGeom>
                  <a:noFill/>
                  <a:ln w="38100" cap="rnd">
                    <a:solidFill>
                      <a:schemeClr val="accent1"/>
                    </a:solidFill>
                    <a:round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1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PPOSans R" panose="00020600040101010101" pitchFamily="18" charset="-122"/>
                      <a:ea typeface="OPPOSans R" panose="00020600040101010101" pitchFamily="18" charset="-122"/>
                      <a:cs typeface="OPPOSans R" panose="00020600040101010101" pitchFamily="18" charset="-122"/>
                    </a:endParaRPr>
                  </a:p>
                </p:txBody>
              </p:sp>
            </p:grpSp>
          </p:grpSp>
          <p:grpSp>
            <p:nvGrpSpPr>
              <p:cNvPr id="42" name="组合 41"/>
              <p:cNvGrpSpPr/>
              <p:nvPr/>
            </p:nvGrpSpPr>
            <p:grpSpPr>
              <a:xfrm>
                <a:off x="441494" y="5284320"/>
                <a:ext cx="2864682" cy="1165829"/>
                <a:chOff x="491215" y="1245514"/>
                <a:chExt cx="2864682" cy="1165829"/>
              </a:xfrm>
            </p:grpSpPr>
            <p:grpSp>
              <p:nvGrpSpPr>
                <p:cNvPr id="43" name="组合 42"/>
                <p:cNvGrpSpPr/>
                <p:nvPr/>
              </p:nvGrpSpPr>
              <p:grpSpPr>
                <a:xfrm>
                  <a:off x="491215" y="1245514"/>
                  <a:ext cx="2864682" cy="1165829"/>
                  <a:chOff x="491215" y="1245514"/>
                  <a:chExt cx="2864682" cy="1165829"/>
                </a:xfrm>
              </p:grpSpPr>
              <p:grpSp>
                <p:nvGrpSpPr>
                  <p:cNvPr id="47" name="组合 46"/>
                  <p:cNvGrpSpPr/>
                  <p:nvPr/>
                </p:nvGrpSpPr>
                <p:grpSpPr>
                  <a:xfrm>
                    <a:off x="546766" y="1245514"/>
                    <a:ext cx="2440539" cy="368480"/>
                    <a:chOff x="479037" y="1245733"/>
                    <a:chExt cx="2440539" cy="368480"/>
                  </a:xfrm>
                </p:grpSpPr>
                <p:sp>
                  <p:nvSpPr>
                    <p:cNvPr id="49" name="矩形: 圆角 48"/>
                    <p:cNvSpPr/>
                    <p:nvPr/>
                  </p:nvSpPr>
                  <p:spPr>
                    <a:xfrm>
                      <a:off x="479037" y="1245733"/>
                      <a:ext cx="2161293" cy="368480"/>
                    </a:xfrm>
                    <a:prstGeom prst="roundRect">
                      <a:avLst>
                        <a:gd name="adj" fmla="val 50000"/>
                      </a:avLst>
                    </a:prstGeom>
                    <a:gradFill>
                      <a:gsLst>
                        <a:gs pos="17000">
                          <a:schemeClr val="accent1"/>
                        </a:gs>
                        <a:gs pos="100000">
                          <a:schemeClr val="accent1">
                            <a:lumMod val="60000"/>
                            <a:lumOff val="40000"/>
                          </a:schemeClr>
                        </a:gs>
                      </a:gsLst>
                      <a:lin ang="16200000" scaled="1"/>
                    </a:gra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CN" altLang="en-US">
                        <a:cs typeface="OPPOSans R" panose="00020600040101010101" pitchFamily="18" charset="-122"/>
                      </a:endParaRPr>
                    </a:p>
                  </p:txBody>
                </p:sp>
                <p:sp>
                  <p:nvSpPr>
                    <p:cNvPr id="50" name="文本框 49"/>
                    <p:cNvSpPr txBox="1"/>
                    <p:nvPr/>
                  </p:nvSpPr>
                  <p:spPr>
                    <a:xfrm>
                      <a:off x="898228" y="1272120"/>
                      <a:ext cx="2021348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lang="zh-CN" altLang="en-US" sz="1600" b="1" i="0" u="none" strike="noStrike" dirty="0">
                          <a:solidFill>
                            <a:schemeClr val="bg2"/>
                          </a:solidFill>
                          <a:effectLst/>
                          <a:latin typeface="OPPOSans M" panose="00020600040101010101" pitchFamily="18" charset="-122"/>
                          <a:ea typeface="OPPOSans M" panose="00020600040101010101" pitchFamily="18" charset="-122"/>
                          <a:cs typeface="OPPOSans M" panose="00020600040101010101" pitchFamily="18" charset="-122"/>
                        </a:rPr>
                        <a:t>创新意识薄弱</a:t>
                      </a:r>
                      <a:endParaRPr lang="zh-CN" altLang="en-US" sz="1600" b="1" i="0" u="none" strike="noStrike" dirty="0">
                        <a:solidFill>
                          <a:schemeClr val="bg2"/>
                        </a:solidFill>
                        <a:effectLst/>
                        <a:latin typeface="OPPOSans M" panose="00020600040101010101" pitchFamily="18" charset="-122"/>
                        <a:ea typeface="OPPOSans M" panose="00020600040101010101" pitchFamily="18" charset="-122"/>
                        <a:cs typeface="OPPOSans M" panose="00020600040101010101" pitchFamily="18" charset="-122"/>
                      </a:endParaRPr>
                    </a:p>
                  </p:txBody>
                </p:sp>
              </p:grpSp>
              <p:sp>
                <p:nvSpPr>
                  <p:cNvPr id="48" name="文本框 47"/>
                  <p:cNvSpPr txBox="1"/>
                  <p:nvPr/>
                </p:nvSpPr>
                <p:spPr>
                  <a:xfrm>
                    <a:off x="491215" y="1664920"/>
                    <a:ext cx="2864682" cy="746423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just">
                      <a:lnSpc>
                        <a:spcPct val="120000"/>
                      </a:lnSpc>
                    </a:pPr>
                    <a:r>
                      <a:rPr lang="zh-CN" altLang="en-US" sz="1200" dirty="0">
                        <a:effectLst/>
                        <a:latin typeface="OPPOSans R" panose="00020600040101010101" pitchFamily="18" charset="-122"/>
                        <a:ea typeface="OPPOSans R" panose="00020600040101010101" pitchFamily="18" charset="-122"/>
                        <a:cs typeface="OPPOSans R" panose="00020600040101010101" pitchFamily="18" charset="-122"/>
                      </a:rPr>
                      <a:t>依赖传统模式、对新技术接受度低、缺乏突破性成果</a:t>
                    </a:r>
                    <a:r>
                      <a:rPr lang="zh-CN" altLang="en-US" sz="1200" dirty="0">
                        <a:latin typeface="OPPOSans R" panose="00020600040101010101" pitchFamily="18" charset="-122"/>
                        <a:ea typeface="OPPOSans R" panose="00020600040101010101" pitchFamily="18" charset="-122"/>
                        <a:cs typeface="OPPOSans R" panose="00020600040101010101" pitchFamily="18" charset="-122"/>
                      </a:rPr>
                      <a:t>，</a:t>
                    </a:r>
                    <a:r>
                      <a:rPr lang="zh-CN" altLang="en-US" sz="1200" dirty="0">
                        <a:effectLst/>
                        <a:latin typeface="OPPOSans R" panose="00020600040101010101" pitchFamily="18" charset="-122"/>
                        <a:ea typeface="OPPOSans R" panose="00020600040101010101" pitchFamily="18" charset="-122"/>
                        <a:cs typeface="OPPOSans R" panose="00020600040101010101" pitchFamily="18" charset="-122"/>
                      </a:rPr>
                      <a:t>如 “营销意识欠佳”“开拓创新意识差”</a:t>
                    </a:r>
                    <a:endParaRPr lang="zh-CN" altLang="en-US" sz="1200" dirty="0">
                      <a:effectLst/>
                      <a:latin typeface="OPPOSans R" panose="00020600040101010101" pitchFamily="18" charset="-122"/>
                      <a:ea typeface="OPPOSans R" panose="00020600040101010101" pitchFamily="18" charset="-122"/>
                      <a:cs typeface="OPPOSans R" panose="00020600040101010101" pitchFamily="18" charset="-122"/>
                    </a:endParaRPr>
                  </a:p>
                </p:txBody>
              </p:sp>
            </p:grpSp>
            <p:grpSp>
              <p:nvGrpSpPr>
                <p:cNvPr id="44" name="组合 43"/>
                <p:cNvGrpSpPr/>
                <p:nvPr/>
              </p:nvGrpSpPr>
              <p:grpSpPr>
                <a:xfrm>
                  <a:off x="682001" y="1326467"/>
                  <a:ext cx="218661" cy="218661"/>
                  <a:chOff x="674531" y="1320423"/>
                  <a:chExt cx="218661" cy="218661"/>
                </a:xfrm>
              </p:grpSpPr>
              <p:sp>
                <p:nvSpPr>
                  <p:cNvPr id="45" name="椭圆 44"/>
                  <p:cNvSpPr/>
                  <p:nvPr/>
                </p:nvSpPr>
                <p:spPr>
                  <a:xfrm>
                    <a:off x="674531" y="1320423"/>
                    <a:ext cx="218661" cy="218661"/>
                  </a:xfrm>
                  <a:prstGeom prst="ellipse">
                    <a:avLst/>
                  </a:prstGeom>
                  <a:solidFill>
                    <a:schemeClr val="bg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1" lang="zh-CN" alt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PPOSans R" panose="00020600040101010101" pitchFamily="18" charset="-122"/>
                      <a:ea typeface="OPPOSans R" panose="00020600040101010101" pitchFamily="18" charset="-122"/>
                      <a:cs typeface="OPPOSans R" panose="00020600040101010101" pitchFamily="18" charset="-122"/>
                    </a:endParaRPr>
                  </a:p>
                </p:txBody>
              </p:sp>
              <p:sp>
                <p:nvSpPr>
                  <p:cNvPr id="46" name="矩形 2"/>
                  <p:cNvSpPr/>
                  <p:nvPr/>
                </p:nvSpPr>
                <p:spPr>
                  <a:xfrm rot="2700000">
                    <a:off x="758961" y="1363904"/>
                    <a:ext cx="57271" cy="98140"/>
                  </a:xfrm>
                  <a:custGeom>
                    <a:avLst/>
                    <a:gdLst>
                      <a:gd name="connsiteX0" fmla="*/ 0 w 415436"/>
                      <a:gd name="connsiteY0" fmla="*/ 0 h 415436"/>
                      <a:gd name="connsiteX1" fmla="*/ 415436 w 415436"/>
                      <a:gd name="connsiteY1" fmla="*/ 0 h 415436"/>
                      <a:gd name="connsiteX2" fmla="*/ 415436 w 415436"/>
                      <a:gd name="connsiteY2" fmla="*/ 415436 h 415436"/>
                      <a:gd name="connsiteX3" fmla="*/ 0 w 415436"/>
                      <a:gd name="connsiteY3" fmla="*/ 415436 h 415436"/>
                      <a:gd name="connsiteX4" fmla="*/ 0 w 415436"/>
                      <a:gd name="connsiteY4" fmla="*/ 0 h 415436"/>
                      <a:gd name="connsiteX0-1" fmla="*/ 0 w 415436"/>
                      <a:gd name="connsiteY0-2" fmla="*/ 415436 h 415436"/>
                      <a:gd name="connsiteX1-3" fmla="*/ 415436 w 415436"/>
                      <a:gd name="connsiteY1-4" fmla="*/ 0 h 415436"/>
                      <a:gd name="connsiteX2-5" fmla="*/ 415436 w 415436"/>
                      <a:gd name="connsiteY2-6" fmla="*/ 415436 h 415436"/>
                      <a:gd name="connsiteX3-7" fmla="*/ 0 w 415436"/>
                      <a:gd name="connsiteY3-8" fmla="*/ 415436 h 415436"/>
                      <a:gd name="connsiteX0-9" fmla="*/ 0 w 218174"/>
                      <a:gd name="connsiteY0-10" fmla="*/ 415436 h 415436"/>
                      <a:gd name="connsiteX1-11" fmla="*/ 218174 w 218174"/>
                      <a:gd name="connsiteY1-12" fmla="*/ 0 h 415436"/>
                      <a:gd name="connsiteX2-13" fmla="*/ 218174 w 218174"/>
                      <a:gd name="connsiteY2-14" fmla="*/ 415436 h 415436"/>
                      <a:gd name="connsiteX3-15" fmla="*/ 0 w 218174"/>
                      <a:gd name="connsiteY3-16" fmla="*/ 415436 h 415436"/>
                      <a:gd name="connsiteX0-17" fmla="*/ 0 w 218174"/>
                      <a:gd name="connsiteY0-18" fmla="*/ 415436 h 415436"/>
                      <a:gd name="connsiteX1-19" fmla="*/ 118424 w 218174"/>
                      <a:gd name="connsiteY1-20" fmla="*/ 208567 h 415436"/>
                      <a:gd name="connsiteX2-21" fmla="*/ 218174 w 218174"/>
                      <a:gd name="connsiteY2-22" fmla="*/ 0 h 415436"/>
                      <a:gd name="connsiteX3-23" fmla="*/ 218174 w 218174"/>
                      <a:gd name="connsiteY3-24" fmla="*/ 415436 h 415436"/>
                      <a:gd name="connsiteX4-25" fmla="*/ 0 w 218174"/>
                      <a:gd name="connsiteY4-26" fmla="*/ 415436 h 415436"/>
                      <a:gd name="connsiteX0-27" fmla="*/ 27697 w 245871"/>
                      <a:gd name="connsiteY0-28" fmla="*/ 415436 h 415436"/>
                      <a:gd name="connsiteX1-29" fmla="*/ 0 w 245871"/>
                      <a:gd name="connsiteY1-30" fmla="*/ 120895 h 415436"/>
                      <a:gd name="connsiteX2-31" fmla="*/ 245871 w 245871"/>
                      <a:gd name="connsiteY2-32" fmla="*/ 0 h 415436"/>
                      <a:gd name="connsiteX3-33" fmla="*/ 245871 w 245871"/>
                      <a:gd name="connsiteY3-34" fmla="*/ 415436 h 415436"/>
                      <a:gd name="connsiteX4-35" fmla="*/ 27697 w 245871"/>
                      <a:gd name="connsiteY4-36" fmla="*/ 415436 h 415436"/>
                      <a:gd name="connsiteX0-37" fmla="*/ 0 w 245871"/>
                      <a:gd name="connsiteY0-38" fmla="*/ 120895 h 415436"/>
                      <a:gd name="connsiteX1-39" fmla="*/ 245871 w 245871"/>
                      <a:gd name="connsiteY1-40" fmla="*/ 0 h 415436"/>
                      <a:gd name="connsiteX2-41" fmla="*/ 245871 w 245871"/>
                      <a:gd name="connsiteY2-42" fmla="*/ 415436 h 415436"/>
                      <a:gd name="connsiteX3-43" fmla="*/ 27697 w 245871"/>
                      <a:gd name="connsiteY3-44" fmla="*/ 415436 h 415436"/>
                      <a:gd name="connsiteX4-45" fmla="*/ 91440 w 245871"/>
                      <a:gd name="connsiteY4-46" fmla="*/ 212335 h 415436"/>
                      <a:gd name="connsiteX0-47" fmla="*/ 0 w 245871"/>
                      <a:gd name="connsiteY0-48" fmla="*/ 120895 h 415436"/>
                      <a:gd name="connsiteX1-49" fmla="*/ 245871 w 245871"/>
                      <a:gd name="connsiteY1-50" fmla="*/ 0 h 415436"/>
                      <a:gd name="connsiteX2-51" fmla="*/ 245871 w 245871"/>
                      <a:gd name="connsiteY2-52" fmla="*/ 415436 h 415436"/>
                      <a:gd name="connsiteX3-53" fmla="*/ 27697 w 245871"/>
                      <a:gd name="connsiteY3-54" fmla="*/ 415436 h 415436"/>
                      <a:gd name="connsiteX0-55" fmla="*/ 218174 w 218174"/>
                      <a:gd name="connsiteY0-56" fmla="*/ 0 h 415436"/>
                      <a:gd name="connsiteX1-57" fmla="*/ 218174 w 218174"/>
                      <a:gd name="connsiteY1-58" fmla="*/ 415436 h 415436"/>
                      <a:gd name="connsiteX2-59" fmla="*/ 0 w 218174"/>
                      <a:gd name="connsiteY2-60" fmla="*/ 415436 h 415436"/>
                    </a:gdLst>
                    <a:ahLst/>
                    <a:cxnLst>
                      <a:cxn ang="0">
                        <a:pos x="connsiteX0-1" y="connsiteY0-2"/>
                      </a:cxn>
                      <a:cxn ang="0">
                        <a:pos x="connsiteX1-3" y="connsiteY1-4"/>
                      </a:cxn>
                      <a:cxn ang="0">
                        <a:pos x="connsiteX2-5" y="connsiteY2-6"/>
                      </a:cxn>
                    </a:cxnLst>
                    <a:rect l="l" t="t" r="r" b="b"/>
                    <a:pathLst>
                      <a:path w="218174" h="415436">
                        <a:moveTo>
                          <a:pt x="218174" y="0"/>
                        </a:moveTo>
                        <a:lnTo>
                          <a:pt x="218174" y="415436"/>
                        </a:lnTo>
                        <a:lnTo>
                          <a:pt x="0" y="415436"/>
                        </a:lnTo>
                      </a:path>
                    </a:pathLst>
                  </a:custGeom>
                  <a:noFill/>
                  <a:ln w="38100" cap="rnd">
                    <a:solidFill>
                      <a:schemeClr val="accent1"/>
                    </a:solidFill>
                    <a:round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1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PPOSans R" panose="00020600040101010101" pitchFamily="18" charset="-122"/>
                      <a:ea typeface="OPPOSans R" panose="00020600040101010101" pitchFamily="18" charset="-122"/>
                      <a:cs typeface="OPPOSans R" panose="00020600040101010101" pitchFamily="18" charset="-122"/>
                    </a:endParaRPr>
                  </a:p>
                </p:txBody>
              </p:sp>
            </p:grpSp>
          </p:grpSp>
        </p:grpSp>
        <p:grpSp>
          <p:nvGrpSpPr>
            <p:cNvPr id="6" name="组合 5"/>
            <p:cNvGrpSpPr/>
            <p:nvPr/>
          </p:nvGrpSpPr>
          <p:grpSpPr>
            <a:xfrm flipH="1">
              <a:off x="8662848" y="1245514"/>
              <a:ext cx="2864682" cy="5204635"/>
              <a:chOff x="8662848" y="1245514"/>
              <a:chExt cx="2864682" cy="5204635"/>
            </a:xfrm>
          </p:grpSpPr>
          <p:sp>
            <p:nvSpPr>
              <p:cNvPr id="7" name="文本框 6"/>
              <p:cNvSpPr txBox="1"/>
              <p:nvPr/>
            </p:nvSpPr>
            <p:spPr>
              <a:xfrm flipH="1">
                <a:off x="8662848" y="1664920"/>
                <a:ext cx="2864682" cy="7464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>
                  <a:lnSpc>
                    <a:spcPct val="120000"/>
                  </a:lnSpc>
                </a:pPr>
                <a:r>
                  <a:rPr lang="zh-CN" altLang="en-US" sz="1200" dirty="0">
                    <a:effectLst/>
                    <a:latin typeface="OPPOSans R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</a:rPr>
                  <a:t>制定系统化学习计划，定期参加专业培训，建立知识共享机制，向优秀同事请教经验</a:t>
                </a:r>
                <a:endParaRPr lang="zh-CN" altLang="en-US" sz="1200" dirty="0">
                  <a:effectLst/>
                  <a:latin typeface="OPPOSans R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</a:endParaRPr>
              </a:p>
            </p:txBody>
          </p:sp>
          <p:grpSp>
            <p:nvGrpSpPr>
              <p:cNvPr id="8" name="组合 7"/>
              <p:cNvGrpSpPr/>
              <p:nvPr/>
            </p:nvGrpSpPr>
            <p:grpSpPr>
              <a:xfrm>
                <a:off x="8718399" y="1245514"/>
                <a:ext cx="2510479" cy="368480"/>
                <a:chOff x="8718399" y="1245514"/>
                <a:chExt cx="2510479" cy="368480"/>
              </a:xfrm>
            </p:grpSpPr>
            <p:grpSp>
              <p:nvGrpSpPr>
                <p:cNvPr id="33" name="组合 32"/>
                <p:cNvGrpSpPr/>
                <p:nvPr/>
              </p:nvGrpSpPr>
              <p:grpSpPr>
                <a:xfrm>
                  <a:off x="8718399" y="1245514"/>
                  <a:ext cx="2510479" cy="368480"/>
                  <a:chOff x="479037" y="1245733"/>
                  <a:chExt cx="2510479" cy="368480"/>
                </a:xfrm>
              </p:grpSpPr>
              <p:sp>
                <p:nvSpPr>
                  <p:cNvPr id="37" name="矩形: 圆角 36"/>
                  <p:cNvSpPr/>
                  <p:nvPr/>
                </p:nvSpPr>
                <p:spPr>
                  <a:xfrm>
                    <a:off x="479037" y="1245733"/>
                    <a:ext cx="2161293" cy="368480"/>
                  </a:xfrm>
                  <a:prstGeom prst="roundRect">
                    <a:avLst>
                      <a:gd name="adj" fmla="val 50000"/>
                    </a:avLst>
                  </a:prstGeom>
                  <a:gradFill>
                    <a:gsLst>
                      <a:gs pos="17000">
                        <a:schemeClr val="accent3"/>
                      </a:gs>
                      <a:gs pos="100000">
                        <a:schemeClr val="accent3">
                          <a:lumMod val="60000"/>
                          <a:lumOff val="40000"/>
                        </a:schemeClr>
                      </a:gs>
                    </a:gsLst>
                    <a:lin ang="16200000" scaled="1"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>
                      <a:cs typeface="OPPOSans R" panose="00020600040101010101" pitchFamily="18" charset="-122"/>
                    </a:endParaRPr>
                  </a:p>
                </p:txBody>
              </p:sp>
              <p:sp>
                <p:nvSpPr>
                  <p:cNvPr id="38" name="文本框 37"/>
                  <p:cNvSpPr txBox="1"/>
                  <p:nvPr/>
                </p:nvSpPr>
                <p:spPr>
                  <a:xfrm flipH="1">
                    <a:off x="968168" y="1272120"/>
                    <a:ext cx="2021348" cy="33855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r"/>
                    <a:r>
                      <a:rPr lang="zh-CN" altLang="en-US" sz="1600" b="1" i="0" u="none" strike="noStrike" dirty="0">
                        <a:solidFill>
                          <a:schemeClr val="bg2"/>
                        </a:solidFill>
                        <a:effectLst/>
                        <a:latin typeface="OPPOSans M" panose="00020600040101010101" pitchFamily="18" charset="-122"/>
                        <a:ea typeface="OPPOSans M" panose="00020600040101010101" pitchFamily="18" charset="-122"/>
                        <a:cs typeface="OPPOSans M" panose="00020600040101010101" pitchFamily="18" charset="-122"/>
                      </a:rPr>
                      <a:t>能力体系优化</a:t>
                    </a:r>
                    <a:endParaRPr lang="zh-CN" altLang="en-US" sz="1600" b="1" i="0" u="none" strike="noStrike" dirty="0">
                      <a:solidFill>
                        <a:schemeClr val="bg2"/>
                      </a:solidFill>
                      <a:effectLst/>
                      <a:latin typeface="OPPOSans M" panose="00020600040101010101" pitchFamily="18" charset="-122"/>
                      <a:ea typeface="OPPOSans M" panose="00020600040101010101" pitchFamily="18" charset="-122"/>
                      <a:cs typeface="OPPOSans M" panose="00020600040101010101" pitchFamily="18" charset="-122"/>
                    </a:endParaRPr>
                  </a:p>
                </p:txBody>
              </p:sp>
            </p:grpSp>
            <p:grpSp>
              <p:nvGrpSpPr>
                <p:cNvPr id="34" name="组合 33"/>
                <p:cNvGrpSpPr/>
                <p:nvPr/>
              </p:nvGrpSpPr>
              <p:grpSpPr>
                <a:xfrm>
                  <a:off x="8853634" y="1326467"/>
                  <a:ext cx="218661" cy="218661"/>
                  <a:chOff x="674531" y="1320423"/>
                  <a:chExt cx="218661" cy="218661"/>
                </a:xfrm>
              </p:grpSpPr>
              <p:sp>
                <p:nvSpPr>
                  <p:cNvPr id="35" name="椭圆 34"/>
                  <p:cNvSpPr/>
                  <p:nvPr/>
                </p:nvSpPr>
                <p:spPr>
                  <a:xfrm>
                    <a:off x="674531" y="1320423"/>
                    <a:ext cx="218661" cy="218661"/>
                  </a:xfrm>
                  <a:prstGeom prst="ellipse">
                    <a:avLst/>
                  </a:prstGeom>
                  <a:solidFill>
                    <a:schemeClr val="bg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1" lang="zh-CN" alt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PPOSans R" panose="00020600040101010101" pitchFamily="18" charset="-122"/>
                      <a:ea typeface="OPPOSans R" panose="00020600040101010101" pitchFamily="18" charset="-122"/>
                      <a:cs typeface="OPPOSans R" panose="00020600040101010101" pitchFamily="18" charset="-122"/>
                    </a:endParaRPr>
                  </a:p>
                </p:txBody>
              </p:sp>
              <p:sp>
                <p:nvSpPr>
                  <p:cNvPr id="36" name="矩形 2"/>
                  <p:cNvSpPr/>
                  <p:nvPr/>
                </p:nvSpPr>
                <p:spPr>
                  <a:xfrm rot="18900000" flipH="1">
                    <a:off x="758961" y="1363904"/>
                    <a:ext cx="57271" cy="98140"/>
                  </a:xfrm>
                  <a:custGeom>
                    <a:avLst/>
                    <a:gdLst>
                      <a:gd name="connsiteX0" fmla="*/ 0 w 415436"/>
                      <a:gd name="connsiteY0" fmla="*/ 0 h 415436"/>
                      <a:gd name="connsiteX1" fmla="*/ 415436 w 415436"/>
                      <a:gd name="connsiteY1" fmla="*/ 0 h 415436"/>
                      <a:gd name="connsiteX2" fmla="*/ 415436 w 415436"/>
                      <a:gd name="connsiteY2" fmla="*/ 415436 h 415436"/>
                      <a:gd name="connsiteX3" fmla="*/ 0 w 415436"/>
                      <a:gd name="connsiteY3" fmla="*/ 415436 h 415436"/>
                      <a:gd name="connsiteX4" fmla="*/ 0 w 415436"/>
                      <a:gd name="connsiteY4" fmla="*/ 0 h 415436"/>
                      <a:gd name="connsiteX0-1" fmla="*/ 0 w 415436"/>
                      <a:gd name="connsiteY0-2" fmla="*/ 415436 h 415436"/>
                      <a:gd name="connsiteX1-3" fmla="*/ 415436 w 415436"/>
                      <a:gd name="connsiteY1-4" fmla="*/ 0 h 415436"/>
                      <a:gd name="connsiteX2-5" fmla="*/ 415436 w 415436"/>
                      <a:gd name="connsiteY2-6" fmla="*/ 415436 h 415436"/>
                      <a:gd name="connsiteX3-7" fmla="*/ 0 w 415436"/>
                      <a:gd name="connsiteY3-8" fmla="*/ 415436 h 415436"/>
                      <a:gd name="connsiteX0-9" fmla="*/ 0 w 218174"/>
                      <a:gd name="connsiteY0-10" fmla="*/ 415436 h 415436"/>
                      <a:gd name="connsiteX1-11" fmla="*/ 218174 w 218174"/>
                      <a:gd name="connsiteY1-12" fmla="*/ 0 h 415436"/>
                      <a:gd name="connsiteX2-13" fmla="*/ 218174 w 218174"/>
                      <a:gd name="connsiteY2-14" fmla="*/ 415436 h 415436"/>
                      <a:gd name="connsiteX3-15" fmla="*/ 0 w 218174"/>
                      <a:gd name="connsiteY3-16" fmla="*/ 415436 h 415436"/>
                      <a:gd name="connsiteX0-17" fmla="*/ 0 w 218174"/>
                      <a:gd name="connsiteY0-18" fmla="*/ 415436 h 415436"/>
                      <a:gd name="connsiteX1-19" fmla="*/ 118424 w 218174"/>
                      <a:gd name="connsiteY1-20" fmla="*/ 208567 h 415436"/>
                      <a:gd name="connsiteX2-21" fmla="*/ 218174 w 218174"/>
                      <a:gd name="connsiteY2-22" fmla="*/ 0 h 415436"/>
                      <a:gd name="connsiteX3-23" fmla="*/ 218174 w 218174"/>
                      <a:gd name="connsiteY3-24" fmla="*/ 415436 h 415436"/>
                      <a:gd name="connsiteX4-25" fmla="*/ 0 w 218174"/>
                      <a:gd name="connsiteY4-26" fmla="*/ 415436 h 415436"/>
                      <a:gd name="connsiteX0-27" fmla="*/ 27697 w 245871"/>
                      <a:gd name="connsiteY0-28" fmla="*/ 415436 h 415436"/>
                      <a:gd name="connsiteX1-29" fmla="*/ 0 w 245871"/>
                      <a:gd name="connsiteY1-30" fmla="*/ 120895 h 415436"/>
                      <a:gd name="connsiteX2-31" fmla="*/ 245871 w 245871"/>
                      <a:gd name="connsiteY2-32" fmla="*/ 0 h 415436"/>
                      <a:gd name="connsiteX3-33" fmla="*/ 245871 w 245871"/>
                      <a:gd name="connsiteY3-34" fmla="*/ 415436 h 415436"/>
                      <a:gd name="connsiteX4-35" fmla="*/ 27697 w 245871"/>
                      <a:gd name="connsiteY4-36" fmla="*/ 415436 h 415436"/>
                      <a:gd name="connsiteX0-37" fmla="*/ 0 w 245871"/>
                      <a:gd name="connsiteY0-38" fmla="*/ 120895 h 415436"/>
                      <a:gd name="connsiteX1-39" fmla="*/ 245871 w 245871"/>
                      <a:gd name="connsiteY1-40" fmla="*/ 0 h 415436"/>
                      <a:gd name="connsiteX2-41" fmla="*/ 245871 w 245871"/>
                      <a:gd name="connsiteY2-42" fmla="*/ 415436 h 415436"/>
                      <a:gd name="connsiteX3-43" fmla="*/ 27697 w 245871"/>
                      <a:gd name="connsiteY3-44" fmla="*/ 415436 h 415436"/>
                      <a:gd name="connsiteX4-45" fmla="*/ 91440 w 245871"/>
                      <a:gd name="connsiteY4-46" fmla="*/ 212335 h 415436"/>
                      <a:gd name="connsiteX0-47" fmla="*/ 0 w 245871"/>
                      <a:gd name="connsiteY0-48" fmla="*/ 120895 h 415436"/>
                      <a:gd name="connsiteX1-49" fmla="*/ 245871 w 245871"/>
                      <a:gd name="connsiteY1-50" fmla="*/ 0 h 415436"/>
                      <a:gd name="connsiteX2-51" fmla="*/ 245871 w 245871"/>
                      <a:gd name="connsiteY2-52" fmla="*/ 415436 h 415436"/>
                      <a:gd name="connsiteX3-53" fmla="*/ 27697 w 245871"/>
                      <a:gd name="connsiteY3-54" fmla="*/ 415436 h 415436"/>
                      <a:gd name="connsiteX0-55" fmla="*/ 218174 w 218174"/>
                      <a:gd name="connsiteY0-56" fmla="*/ 0 h 415436"/>
                      <a:gd name="connsiteX1-57" fmla="*/ 218174 w 218174"/>
                      <a:gd name="connsiteY1-58" fmla="*/ 415436 h 415436"/>
                      <a:gd name="connsiteX2-59" fmla="*/ 0 w 218174"/>
                      <a:gd name="connsiteY2-60" fmla="*/ 415436 h 415436"/>
                    </a:gdLst>
                    <a:ahLst/>
                    <a:cxnLst>
                      <a:cxn ang="0">
                        <a:pos x="connsiteX0-1" y="connsiteY0-2"/>
                      </a:cxn>
                      <a:cxn ang="0">
                        <a:pos x="connsiteX1-3" y="connsiteY1-4"/>
                      </a:cxn>
                      <a:cxn ang="0">
                        <a:pos x="connsiteX2-5" y="connsiteY2-6"/>
                      </a:cxn>
                    </a:cxnLst>
                    <a:rect l="l" t="t" r="r" b="b"/>
                    <a:pathLst>
                      <a:path w="218174" h="415436">
                        <a:moveTo>
                          <a:pt x="218174" y="0"/>
                        </a:moveTo>
                        <a:lnTo>
                          <a:pt x="218174" y="415436"/>
                        </a:lnTo>
                        <a:lnTo>
                          <a:pt x="0" y="415436"/>
                        </a:lnTo>
                      </a:path>
                    </a:pathLst>
                  </a:custGeom>
                  <a:noFill/>
                  <a:ln w="38100" cap="rnd">
                    <a:solidFill>
                      <a:schemeClr val="accent3"/>
                    </a:solidFill>
                    <a:round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1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PPOSans R" panose="00020600040101010101" pitchFamily="18" charset="-122"/>
                      <a:ea typeface="OPPOSans R" panose="00020600040101010101" pitchFamily="18" charset="-122"/>
                      <a:cs typeface="OPPOSans R" panose="00020600040101010101" pitchFamily="18" charset="-122"/>
                    </a:endParaRPr>
                  </a:p>
                </p:txBody>
              </p:sp>
            </p:grpSp>
          </p:grpSp>
          <p:sp>
            <p:nvSpPr>
              <p:cNvPr id="9" name="文本框 8"/>
              <p:cNvSpPr txBox="1"/>
              <p:nvPr/>
            </p:nvSpPr>
            <p:spPr>
              <a:xfrm flipH="1">
                <a:off x="8662848" y="3008828"/>
                <a:ext cx="2864682" cy="7464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>
                  <a:lnSpc>
                    <a:spcPct val="120000"/>
                  </a:lnSpc>
                </a:pPr>
                <a:r>
                  <a:rPr lang="zh-CN" altLang="en-US" sz="1200" dirty="0">
                    <a:effectLst/>
                    <a:latin typeface="OPPOSans R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</a:rPr>
                  <a:t>优化流程管理，引入</a:t>
                </a:r>
                <a:r>
                  <a:rPr lang="en-US" altLang="zh-CN" sz="1200" dirty="0">
                    <a:effectLst/>
                    <a:latin typeface="OPPOSans R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</a:rPr>
                  <a:t>PDCA</a:t>
                </a:r>
                <a:r>
                  <a:rPr lang="zh-CN" altLang="en-US" sz="1200" dirty="0">
                    <a:effectLst/>
                    <a:latin typeface="OPPOSans R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</a:rPr>
                  <a:t>循环（计划</a:t>
                </a:r>
                <a:r>
                  <a:rPr lang="en-US" altLang="zh-CN" sz="1200" dirty="0">
                    <a:effectLst/>
                    <a:latin typeface="OPPOSans R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</a:rPr>
                  <a:t>-</a:t>
                </a:r>
                <a:r>
                  <a:rPr lang="zh-CN" altLang="en-US" sz="1200" dirty="0">
                    <a:effectLst/>
                    <a:latin typeface="OPPOSans R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</a:rPr>
                  <a:t>执行</a:t>
                </a:r>
                <a:r>
                  <a:rPr lang="en-US" altLang="zh-CN" sz="1200" dirty="0">
                    <a:effectLst/>
                    <a:latin typeface="OPPOSans R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</a:rPr>
                  <a:t>-</a:t>
                </a:r>
                <a:r>
                  <a:rPr lang="zh-CN" altLang="en-US" sz="1200" dirty="0">
                    <a:effectLst/>
                    <a:latin typeface="OPPOSans R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</a:rPr>
                  <a:t>检查</a:t>
                </a:r>
                <a:r>
                  <a:rPr lang="en-US" altLang="zh-CN" sz="1200" dirty="0">
                    <a:effectLst/>
                    <a:latin typeface="OPPOSans R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</a:rPr>
                  <a:t>-</a:t>
                </a:r>
                <a:r>
                  <a:rPr lang="zh-CN" altLang="en-US" sz="1200" dirty="0">
                    <a:effectLst/>
                    <a:latin typeface="OPPOSans R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</a:rPr>
                  <a:t>改进），细化任务分解，强化数据化跟踪</a:t>
                </a:r>
                <a:endParaRPr lang="zh-CN" altLang="en-US" sz="1200" dirty="0">
                  <a:effectLst/>
                  <a:latin typeface="OPPOSans R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</a:endParaRPr>
              </a:p>
            </p:txBody>
          </p:sp>
          <p:grpSp>
            <p:nvGrpSpPr>
              <p:cNvPr id="10" name="组合 9"/>
              <p:cNvGrpSpPr/>
              <p:nvPr/>
            </p:nvGrpSpPr>
            <p:grpSpPr>
              <a:xfrm>
                <a:off x="8718399" y="2589422"/>
                <a:ext cx="2399748" cy="368480"/>
                <a:chOff x="8718399" y="2589422"/>
                <a:chExt cx="2399748" cy="368480"/>
              </a:xfrm>
            </p:grpSpPr>
            <p:grpSp>
              <p:nvGrpSpPr>
                <p:cNvPr id="27" name="组合 26"/>
                <p:cNvGrpSpPr/>
                <p:nvPr/>
              </p:nvGrpSpPr>
              <p:grpSpPr>
                <a:xfrm>
                  <a:off x="8718399" y="2589422"/>
                  <a:ext cx="2399748" cy="368480"/>
                  <a:chOff x="479037" y="1245733"/>
                  <a:chExt cx="2399748" cy="368480"/>
                </a:xfrm>
              </p:grpSpPr>
              <p:sp>
                <p:nvSpPr>
                  <p:cNvPr id="31" name="矩形: 圆角 30"/>
                  <p:cNvSpPr/>
                  <p:nvPr/>
                </p:nvSpPr>
                <p:spPr>
                  <a:xfrm>
                    <a:off x="479037" y="1245733"/>
                    <a:ext cx="2161293" cy="368480"/>
                  </a:xfrm>
                  <a:prstGeom prst="roundRect">
                    <a:avLst>
                      <a:gd name="adj" fmla="val 50000"/>
                    </a:avLst>
                  </a:prstGeom>
                  <a:gradFill>
                    <a:gsLst>
                      <a:gs pos="17000">
                        <a:schemeClr val="accent3"/>
                      </a:gs>
                      <a:gs pos="100000">
                        <a:schemeClr val="accent3">
                          <a:lumMod val="60000"/>
                          <a:lumOff val="40000"/>
                        </a:schemeClr>
                      </a:gs>
                    </a:gsLst>
                    <a:lin ang="16200000" scaled="1"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>
                      <a:cs typeface="OPPOSans R" panose="00020600040101010101" pitchFamily="18" charset="-122"/>
                    </a:endParaRPr>
                  </a:p>
                </p:txBody>
              </p:sp>
              <p:sp>
                <p:nvSpPr>
                  <p:cNvPr id="32" name="文本框 31"/>
                  <p:cNvSpPr txBox="1"/>
                  <p:nvPr/>
                </p:nvSpPr>
                <p:spPr>
                  <a:xfrm flipH="1">
                    <a:off x="968168" y="1272120"/>
                    <a:ext cx="1910617" cy="33855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r"/>
                    <a:r>
                      <a:rPr lang="zh-CN" altLang="en-US" sz="1600" b="1" i="0" u="none" strike="noStrike" dirty="0">
                        <a:solidFill>
                          <a:schemeClr val="bg2"/>
                        </a:solidFill>
                        <a:effectLst/>
                        <a:latin typeface="OPPOSans M" panose="00020600040101010101" pitchFamily="18" charset="-122"/>
                        <a:ea typeface="OPPOSans M" panose="00020600040101010101" pitchFamily="18" charset="-122"/>
                        <a:cs typeface="OPPOSans M" panose="00020600040101010101" pitchFamily="18" charset="-122"/>
                      </a:rPr>
                      <a:t>流程闭环管理</a:t>
                    </a:r>
                    <a:endParaRPr lang="zh-CN" altLang="en-US" sz="1600" b="1" i="0" u="none" strike="noStrike" dirty="0">
                      <a:solidFill>
                        <a:schemeClr val="bg2"/>
                      </a:solidFill>
                      <a:effectLst/>
                      <a:latin typeface="OPPOSans M" panose="00020600040101010101" pitchFamily="18" charset="-122"/>
                      <a:ea typeface="OPPOSans M" panose="00020600040101010101" pitchFamily="18" charset="-122"/>
                      <a:cs typeface="OPPOSans M" panose="00020600040101010101" pitchFamily="18" charset="-122"/>
                    </a:endParaRPr>
                  </a:p>
                </p:txBody>
              </p:sp>
            </p:grpSp>
            <p:grpSp>
              <p:nvGrpSpPr>
                <p:cNvPr id="28" name="组合 27"/>
                <p:cNvGrpSpPr/>
                <p:nvPr/>
              </p:nvGrpSpPr>
              <p:grpSpPr>
                <a:xfrm>
                  <a:off x="8853634" y="2670375"/>
                  <a:ext cx="218661" cy="218661"/>
                  <a:chOff x="674531" y="1320423"/>
                  <a:chExt cx="218661" cy="218661"/>
                </a:xfrm>
              </p:grpSpPr>
              <p:sp>
                <p:nvSpPr>
                  <p:cNvPr id="29" name="椭圆 28"/>
                  <p:cNvSpPr/>
                  <p:nvPr/>
                </p:nvSpPr>
                <p:spPr>
                  <a:xfrm>
                    <a:off x="674531" y="1320423"/>
                    <a:ext cx="218661" cy="218661"/>
                  </a:xfrm>
                  <a:prstGeom prst="ellipse">
                    <a:avLst/>
                  </a:prstGeom>
                  <a:solidFill>
                    <a:schemeClr val="bg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1" lang="zh-CN" alt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PPOSans R" panose="00020600040101010101" pitchFamily="18" charset="-122"/>
                      <a:ea typeface="OPPOSans R" panose="00020600040101010101" pitchFamily="18" charset="-122"/>
                      <a:cs typeface="OPPOSans R" panose="00020600040101010101" pitchFamily="18" charset="-122"/>
                    </a:endParaRPr>
                  </a:p>
                </p:txBody>
              </p:sp>
              <p:sp>
                <p:nvSpPr>
                  <p:cNvPr id="30" name="矩形 2"/>
                  <p:cNvSpPr/>
                  <p:nvPr/>
                </p:nvSpPr>
                <p:spPr>
                  <a:xfrm rot="18900000" flipH="1">
                    <a:off x="758961" y="1363904"/>
                    <a:ext cx="57271" cy="98140"/>
                  </a:xfrm>
                  <a:custGeom>
                    <a:avLst/>
                    <a:gdLst>
                      <a:gd name="connsiteX0" fmla="*/ 0 w 415436"/>
                      <a:gd name="connsiteY0" fmla="*/ 0 h 415436"/>
                      <a:gd name="connsiteX1" fmla="*/ 415436 w 415436"/>
                      <a:gd name="connsiteY1" fmla="*/ 0 h 415436"/>
                      <a:gd name="connsiteX2" fmla="*/ 415436 w 415436"/>
                      <a:gd name="connsiteY2" fmla="*/ 415436 h 415436"/>
                      <a:gd name="connsiteX3" fmla="*/ 0 w 415436"/>
                      <a:gd name="connsiteY3" fmla="*/ 415436 h 415436"/>
                      <a:gd name="connsiteX4" fmla="*/ 0 w 415436"/>
                      <a:gd name="connsiteY4" fmla="*/ 0 h 415436"/>
                      <a:gd name="connsiteX0-1" fmla="*/ 0 w 415436"/>
                      <a:gd name="connsiteY0-2" fmla="*/ 415436 h 415436"/>
                      <a:gd name="connsiteX1-3" fmla="*/ 415436 w 415436"/>
                      <a:gd name="connsiteY1-4" fmla="*/ 0 h 415436"/>
                      <a:gd name="connsiteX2-5" fmla="*/ 415436 w 415436"/>
                      <a:gd name="connsiteY2-6" fmla="*/ 415436 h 415436"/>
                      <a:gd name="connsiteX3-7" fmla="*/ 0 w 415436"/>
                      <a:gd name="connsiteY3-8" fmla="*/ 415436 h 415436"/>
                      <a:gd name="connsiteX0-9" fmla="*/ 0 w 218174"/>
                      <a:gd name="connsiteY0-10" fmla="*/ 415436 h 415436"/>
                      <a:gd name="connsiteX1-11" fmla="*/ 218174 w 218174"/>
                      <a:gd name="connsiteY1-12" fmla="*/ 0 h 415436"/>
                      <a:gd name="connsiteX2-13" fmla="*/ 218174 w 218174"/>
                      <a:gd name="connsiteY2-14" fmla="*/ 415436 h 415436"/>
                      <a:gd name="connsiteX3-15" fmla="*/ 0 w 218174"/>
                      <a:gd name="connsiteY3-16" fmla="*/ 415436 h 415436"/>
                      <a:gd name="connsiteX0-17" fmla="*/ 0 w 218174"/>
                      <a:gd name="connsiteY0-18" fmla="*/ 415436 h 415436"/>
                      <a:gd name="connsiteX1-19" fmla="*/ 118424 w 218174"/>
                      <a:gd name="connsiteY1-20" fmla="*/ 208567 h 415436"/>
                      <a:gd name="connsiteX2-21" fmla="*/ 218174 w 218174"/>
                      <a:gd name="connsiteY2-22" fmla="*/ 0 h 415436"/>
                      <a:gd name="connsiteX3-23" fmla="*/ 218174 w 218174"/>
                      <a:gd name="connsiteY3-24" fmla="*/ 415436 h 415436"/>
                      <a:gd name="connsiteX4-25" fmla="*/ 0 w 218174"/>
                      <a:gd name="connsiteY4-26" fmla="*/ 415436 h 415436"/>
                      <a:gd name="connsiteX0-27" fmla="*/ 27697 w 245871"/>
                      <a:gd name="connsiteY0-28" fmla="*/ 415436 h 415436"/>
                      <a:gd name="connsiteX1-29" fmla="*/ 0 w 245871"/>
                      <a:gd name="connsiteY1-30" fmla="*/ 120895 h 415436"/>
                      <a:gd name="connsiteX2-31" fmla="*/ 245871 w 245871"/>
                      <a:gd name="connsiteY2-32" fmla="*/ 0 h 415436"/>
                      <a:gd name="connsiteX3-33" fmla="*/ 245871 w 245871"/>
                      <a:gd name="connsiteY3-34" fmla="*/ 415436 h 415436"/>
                      <a:gd name="connsiteX4-35" fmla="*/ 27697 w 245871"/>
                      <a:gd name="connsiteY4-36" fmla="*/ 415436 h 415436"/>
                      <a:gd name="connsiteX0-37" fmla="*/ 0 w 245871"/>
                      <a:gd name="connsiteY0-38" fmla="*/ 120895 h 415436"/>
                      <a:gd name="connsiteX1-39" fmla="*/ 245871 w 245871"/>
                      <a:gd name="connsiteY1-40" fmla="*/ 0 h 415436"/>
                      <a:gd name="connsiteX2-41" fmla="*/ 245871 w 245871"/>
                      <a:gd name="connsiteY2-42" fmla="*/ 415436 h 415436"/>
                      <a:gd name="connsiteX3-43" fmla="*/ 27697 w 245871"/>
                      <a:gd name="connsiteY3-44" fmla="*/ 415436 h 415436"/>
                      <a:gd name="connsiteX4-45" fmla="*/ 91440 w 245871"/>
                      <a:gd name="connsiteY4-46" fmla="*/ 212335 h 415436"/>
                      <a:gd name="connsiteX0-47" fmla="*/ 0 w 245871"/>
                      <a:gd name="connsiteY0-48" fmla="*/ 120895 h 415436"/>
                      <a:gd name="connsiteX1-49" fmla="*/ 245871 w 245871"/>
                      <a:gd name="connsiteY1-50" fmla="*/ 0 h 415436"/>
                      <a:gd name="connsiteX2-51" fmla="*/ 245871 w 245871"/>
                      <a:gd name="connsiteY2-52" fmla="*/ 415436 h 415436"/>
                      <a:gd name="connsiteX3-53" fmla="*/ 27697 w 245871"/>
                      <a:gd name="connsiteY3-54" fmla="*/ 415436 h 415436"/>
                      <a:gd name="connsiteX0-55" fmla="*/ 218174 w 218174"/>
                      <a:gd name="connsiteY0-56" fmla="*/ 0 h 415436"/>
                      <a:gd name="connsiteX1-57" fmla="*/ 218174 w 218174"/>
                      <a:gd name="connsiteY1-58" fmla="*/ 415436 h 415436"/>
                      <a:gd name="connsiteX2-59" fmla="*/ 0 w 218174"/>
                      <a:gd name="connsiteY2-60" fmla="*/ 415436 h 415436"/>
                    </a:gdLst>
                    <a:ahLst/>
                    <a:cxnLst>
                      <a:cxn ang="0">
                        <a:pos x="connsiteX0-1" y="connsiteY0-2"/>
                      </a:cxn>
                      <a:cxn ang="0">
                        <a:pos x="connsiteX1-3" y="connsiteY1-4"/>
                      </a:cxn>
                      <a:cxn ang="0">
                        <a:pos x="connsiteX2-5" y="connsiteY2-6"/>
                      </a:cxn>
                    </a:cxnLst>
                    <a:rect l="l" t="t" r="r" b="b"/>
                    <a:pathLst>
                      <a:path w="218174" h="415436">
                        <a:moveTo>
                          <a:pt x="218174" y="0"/>
                        </a:moveTo>
                        <a:lnTo>
                          <a:pt x="218174" y="415436"/>
                        </a:lnTo>
                        <a:lnTo>
                          <a:pt x="0" y="415436"/>
                        </a:lnTo>
                      </a:path>
                    </a:pathLst>
                  </a:custGeom>
                  <a:noFill/>
                  <a:ln w="38100" cap="rnd">
                    <a:solidFill>
                      <a:schemeClr val="accent3"/>
                    </a:solidFill>
                    <a:round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1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PPOSans R" panose="00020600040101010101" pitchFamily="18" charset="-122"/>
                      <a:ea typeface="OPPOSans R" panose="00020600040101010101" pitchFamily="18" charset="-122"/>
                      <a:cs typeface="OPPOSans R" panose="00020600040101010101" pitchFamily="18" charset="-122"/>
                    </a:endParaRPr>
                  </a:p>
                </p:txBody>
              </p:sp>
            </p:grpSp>
          </p:grpSp>
          <p:sp>
            <p:nvSpPr>
              <p:cNvPr id="11" name="文本框 10"/>
              <p:cNvSpPr txBox="1"/>
              <p:nvPr/>
            </p:nvSpPr>
            <p:spPr>
              <a:xfrm flipH="1">
                <a:off x="8662848" y="4375805"/>
                <a:ext cx="2864682" cy="7464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>
                  <a:lnSpc>
                    <a:spcPct val="120000"/>
                  </a:lnSpc>
                </a:pPr>
                <a:r>
                  <a:rPr lang="zh-CN" altLang="en-US" sz="1200" dirty="0">
                    <a:effectLst/>
                    <a:latin typeface="OPPOSans R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</a:rPr>
                  <a:t>建立跨部门沟通机制，定期组织团队例会，明确分工与责任，通过激励措施提升协作积极性</a:t>
                </a:r>
                <a:endParaRPr lang="zh-CN" altLang="en-US" sz="1200" dirty="0">
                  <a:effectLst/>
                  <a:latin typeface="OPPOSans R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</a:endParaRPr>
              </a:p>
            </p:txBody>
          </p:sp>
          <p:grpSp>
            <p:nvGrpSpPr>
              <p:cNvPr id="12" name="组合 11"/>
              <p:cNvGrpSpPr/>
              <p:nvPr/>
            </p:nvGrpSpPr>
            <p:grpSpPr>
              <a:xfrm>
                <a:off x="8718399" y="3956399"/>
                <a:ext cx="2510479" cy="368480"/>
                <a:chOff x="8718399" y="3956399"/>
                <a:chExt cx="2510479" cy="368480"/>
              </a:xfrm>
            </p:grpSpPr>
            <p:grpSp>
              <p:nvGrpSpPr>
                <p:cNvPr id="21" name="组合 20"/>
                <p:cNvGrpSpPr/>
                <p:nvPr/>
              </p:nvGrpSpPr>
              <p:grpSpPr>
                <a:xfrm>
                  <a:off x="8718399" y="3956399"/>
                  <a:ext cx="2510479" cy="368480"/>
                  <a:chOff x="479037" y="1245733"/>
                  <a:chExt cx="2510479" cy="368480"/>
                </a:xfrm>
              </p:grpSpPr>
              <p:sp>
                <p:nvSpPr>
                  <p:cNvPr id="25" name="矩形: 圆角 24"/>
                  <p:cNvSpPr/>
                  <p:nvPr/>
                </p:nvSpPr>
                <p:spPr>
                  <a:xfrm>
                    <a:off x="479037" y="1245733"/>
                    <a:ext cx="2161293" cy="368480"/>
                  </a:xfrm>
                  <a:prstGeom prst="roundRect">
                    <a:avLst>
                      <a:gd name="adj" fmla="val 50000"/>
                    </a:avLst>
                  </a:prstGeom>
                  <a:gradFill>
                    <a:gsLst>
                      <a:gs pos="17000">
                        <a:schemeClr val="accent3"/>
                      </a:gs>
                      <a:gs pos="100000">
                        <a:schemeClr val="accent3">
                          <a:lumMod val="60000"/>
                          <a:lumOff val="40000"/>
                        </a:schemeClr>
                      </a:gs>
                    </a:gsLst>
                    <a:lin ang="16200000" scaled="1"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>
                      <a:cs typeface="OPPOSans R" panose="00020600040101010101" pitchFamily="18" charset="-122"/>
                    </a:endParaRPr>
                  </a:p>
                </p:txBody>
              </p:sp>
              <p:sp>
                <p:nvSpPr>
                  <p:cNvPr id="26" name="文本框 25"/>
                  <p:cNvSpPr txBox="1"/>
                  <p:nvPr/>
                </p:nvSpPr>
                <p:spPr>
                  <a:xfrm flipH="1">
                    <a:off x="968168" y="1272120"/>
                    <a:ext cx="2021348" cy="33855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r"/>
                    <a:r>
                      <a:rPr lang="zh-CN" altLang="en-US" sz="1600" b="1" i="0" u="none" strike="noStrike" dirty="0">
                        <a:solidFill>
                          <a:schemeClr val="bg2"/>
                        </a:solidFill>
                        <a:effectLst/>
                        <a:latin typeface="OPPOSans M" panose="00020600040101010101" pitchFamily="18" charset="-122"/>
                        <a:ea typeface="OPPOSans M" panose="00020600040101010101" pitchFamily="18" charset="-122"/>
                        <a:cs typeface="OPPOSans M" panose="00020600040101010101" pitchFamily="18" charset="-122"/>
                      </a:rPr>
                      <a:t>协作效能提升</a:t>
                    </a:r>
                    <a:endParaRPr lang="zh-CN" altLang="en-US" sz="1600" b="1" i="0" u="none" strike="noStrike" dirty="0">
                      <a:solidFill>
                        <a:schemeClr val="bg2"/>
                      </a:solidFill>
                      <a:effectLst/>
                      <a:latin typeface="OPPOSans M" panose="00020600040101010101" pitchFamily="18" charset="-122"/>
                      <a:ea typeface="OPPOSans M" panose="00020600040101010101" pitchFamily="18" charset="-122"/>
                      <a:cs typeface="OPPOSans M" panose="00020600040101010101" pitchFamily="18" charset="-122"/>
                    </a:endParaRPr>
                  </a:p>
                </p:txBody>
              </p:sp>
            </p:grpSp>
            <p:grpSp>
              <p:nvGrpSpPr>
                <p:cNvPr id="22" name="组合 21"/>
                <p:cNvGrpSpPr/>
                <p:nvPr/>
              </p:nvGrpSpPr>
              <p:grpSpPr>
                <a:xfrm>
                  <a:off x="8853634" y="4037352"/>
                  <a:ext cx="218661" cy="218661"/>
                  <a:chOff x="674531" y="1320423"/>
                  <a:chExt cx="218661" cy="218661"/>
                </a:xfrm>
              </p:grpSpPr>
              <p:sp>
                <p:nvSpPr>
                  <p:cNvPr id="23" name="椭圆 22"/>
                  <p:cNvSpPr/>
                  <p:nvPr/>
                </p:nvSpPr>
                <p:spPr>
                  <a:xfrm>
                    <a:off x="674531" y="1320423"/>
                    <a:ext cx="218661" cy="218661"/>
                  </a:xfrm>
                  <a:prstGeom prst="ellipse">
                    <a:avLst/>
                  </a:prstGeom>
                  <a:solidFill>
                    <a:schemeClr val="bg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1" lang="zh-CN" alt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PPOSans R" panose="00020600040101010101" pitchFamily="18" charset="-122"/>
                      <a:ea typeface="OPPOSans R" panose="00020600040101010101" pitchFamily="18" charset="-122"/>
                      <a:cs typeface="OPPOSans R" panose="00020600040101010101" pitchFamily="18" charset="-122"/>
                    </a:endParaRPr>
                  </a:p>
                </p:txBody>
              </p:sp>
              <p:sp>
                <p:nvSpPr>
                  <p:cNvPr id="24" name="矩形 2"/>
                  <p:cNvSpPr/>
                  <p:nvPr/>
                </p:nvSpPr>
                <p:spPr>
                  <a:xfrm rot="18900000" flipH="1">
                    <a:off x="758961" y="1363904"/>
                    <a:ext cx="57271" cy="98140"/>
                  </a:xfrm>
                  <a:custGeom>
                    <a:avLst/>
                    <a:gdLst>
                      <a:gd name="connsiteX0" fmla="*/ 0 w 415436"/>
                      <a:gd name="connsiteY0" fmla="*/ 0 h 415436"/>
                      <a:gd name="connsiteX1" fmla="*/ 415436 w 415436"/>
                      <a:gd name="connsiteY1" fmla="*/ 0 h 415436"/>
                      <a:gd name="connsiteX2" fmla="*/ 415436 w 415436"/>
                      <a:gd name="connsiteY2" fmla="*/ 415436 h 415436"/>
                      <a:gd name="connsiteX3" fmla="*/ 0 w 415436"/>
                      <a:gd name="connsiteY3" fmla="*/ 415436 h 415436"/>
                      <a:gd name="connsiteX4" fmla="*/ 0 w 415436"/>
                      <a:gd name="connsiteY4" fmla="*/ 0 h 415436"/>
                      <a:gd name="connsiteX0-1" fmla="*/ 0 w 415436"/>
                      <a:gd name="connsiteY0-2" fmla="*/ 415436 h 415436"/>
                      <a:gd name="connsiteX1-3" fmla="*/ 415436 w 415436"/>
                      <a:gd name="connsiteY1-4" fmla="*/ 0 h 415436"/>
                      <a:gd name="connsiteX2-5" fmla="*/ 415436 w 415436"/>
                      <a:gd name="connsiteY2-6" fmla="*/ 415436 h 415436"/>
                      <a:gd name="connsiteX3-7" fmla="*/ 0 w 415436"/>
                      <a:gd name="connsiteY3-8" fmla="*/ 415436 h 415436"/>
                      <a:gd name="connsiteX0-9" fmla="*/ 0 w 218174"/>
                      <a:gd name="connsiteY0-10" fmla="*/ 415436 h 415436"/>
                      <a:gd name="connsiteX1-11" fmla="*/ 218174 w 218174"/>
                      <a:gd name="connsiteY1-12" fmla="*/ 0 h 415436"/>
                      <a:gd name="connsiteX2-13" fmla="*/ 218174 w 218174"/>
                      <a:gd name="connsiteY2-14" fmla="*/ 415436 h 415436"/>
                      <a:gd name="connsiteX3-15" fmla="*/ 0 w 218174"/>
                      <a:gd name="connsiteY3-16" fmla="*/ 415436 h 415436"/>
                      <a:gd name="connsiteX0-17" fmla="*/ 0 w 218174"/>
                      <a:gd name="connsiteY0-18" fmla="*/ 415436 h 415436"/>
                      <a:gd name="connsiteX1-19" fmla="*/ 118424 w 218174"/>
                      <a:gd name="connsiteY1-20" fmla="*/ 208567 h 415436"/>
                      <a:gd name="connsiteX2-21" fmla="*/ 218174 w 218174"/>
                      <a:gd name="connsiteY2-22" fmla="*/ 0 h 415436"/>
                      <a:gd name="connsiteX3-23" fmla="*/ 218174 w 218174"/>
                      <a:gd name="connsiteY3-24" fmla="*/ 415436 h 415436"/>
                      <a:gd name="connsiteX4-25" fmla="*/ 0 w 218174"/>
                      <a:gd name="connsiteY4-26" fmla="*/ 415436 h 415436"/>
                      <a:gd name="connsiteX0-27" fmla="*/ 27697 w 245871"/>
                      <a:gd name="connsiteY0-28" fmla="*/ 415436 h 415436"/>
                      <a:gd name="connsiteX1-29" fmla="*/ 0 w 245871"/>
                      <a:gd name="connsiteY1-30" fmla="*/ 120895 h 415436"/>
                      <a:gd name="connsiteX2-31" fmla="*/ 245871 w 245871"/>
                      <a:gd name="connsiteY2-32" fmla="*/ 0 h 415436"/>
                      <a:gd name="connsiteX3-33" fmla="*/ 245871 w 245871"/>
                      <a:gd name="connsiteY3-34" fmla="*/ 415436 h 415436"/>
                      <a:gd name="connsiteX4-35" fmla="*/ 27697 w 245871"/>
                      <a:gd name="connsiteY4-36" fmla="*/ 415436 h 415436"/>
                      <a:gd name="connsiteX0-37" fmla="*/ 0 w 245871"/>
                      <a:gd name="connsiteY0-38" fmla="*/ 120895 h 415436"/>
                      <a:gd name="connsiteX1-39" fmla="*/ 245871 w 245871"/>
                      <a:gd name="connsiteY1-40" fmla="*/ 0 h 415436"/>
                      <a:gd name="connsiteX2-41" fmla="*/ 245871 w 245871"/>
                      <a:gd name="connsiteY2-42" fmla="*/ 415436 h 415436"/>
                      <a:gd name="connsiteX3-43" fmla="*/ 27697 w 245871"/>
                      <a:gd name="connsiteY3-44" fmla="*/ 415436 h 415436"/>
                      <a:gd name="connsiteX4-45" fmla="*/ 91440 w 245871"/>
                      <a:gd name="connsiteY4-46" fmla="*/ 212335 h 415436"/>
                      <a:gd name="connsiteX0-47" fmla="*/ 0 w 245871"/>
                      <a:gd name="connsiteY0-48" fmla="*/ 120895 h 415436"/>
                      <a:gd name="connsiteX1-49" fmla="*/ 245871 w 245871"/>
                      <a:gd name="connsiteY1-50" fmla="*/ 0 h 415436"/>
                      <a:gd name="connsiteX2-51" fmla="*/ 245871 w 245871"/>
                      <a:gd name="connsiteY2-52" fmla="*/ 415436 h 415436"/>
                      <a:gd name="connsiteX3-53" fmla="*/ 27697 w 245871"/>
                      <a:gd name="connsiteY3-54" fmla="*/ 415436 h 415436"/>
                      <a:gd name="connsiteX0-55" fmla="*/ 218174 w 218174"/>
                      <a:gd name="connsiteY0-56" fmla="*/ 0 h 415436"/>
                      <a:gd name="connsiteX1-57" fmla="*/ 218174 w 218174"/>
                      <a:gd name="connsiteY1-58" fmla="*/ 415436 h 415436"/>
                      <a:gd name="connsiteX2-59" fmla="*/ 0 w 218174"/>
                      <a:gd name="connsiteY2-60" fmla="*/ 415436 h 415436"/>
                    </a:gdLst>
                    <a:ahLst/>
                    <a:cxnLst>
                      <a:cxn ang="0">
                        <a:pos x="connsiteX0-1" y="connsiteY0-2"/>
                      </a:cxn>
                      <a:cxn ang="0">
                        <a:pos x="connsiteX1-3" y="connsiteY1-4"/>
                      </a:cxn>
                      <a:cxn ang="0">
                        <a:pos x="connsiteX2-5" y="connsiteY2-6"/>
                      </a:cxn>
                    </a:cxnLst>
                    <a:rect l="l" t="t" r="r" b="b"/>
                    <a:pathLst>
                      <a:path w="218174" h="415436">
                        <a:moveTo>
                          <a:pt x="218174" y="0"/>
                        </a:moveTo>
                        <a:lnTo>
                          <a:pt x="218174" y="415436"/>
                        </a:lnTo>
                        <a:lnTo>
                          <a:pt x="0" y="415436"/>
                        </a:lnTo>
                      </a:path>
                    </a:pathLst>
                  </a:custGeom>
                  <a:noFill/>
                  <a:ln w="38100" cap="rnd">
                    <a:solidFill>
                      <a:schemeClr val="accent3"/>
                    </a:solidFill>
                    <a:round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1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PPOSans R" panose="00020600040101010101" pitchFamily="18" charset="-122"/>
                      <a:ea typeface="OPPOSans R" panose="00020600040101010101" pitchFamily="18" charset="-122"/>
                      <a:cs typeface="OPPOSans R" panose="00020600040101010101" pitchFamily="18" charset="-122"/>
                    </a:endParaRPr>
                  </a:p>
                </p:txBody>
              </p:sp>
            </p:grpSp>
          </p:grpSp>
          <p:sp>
            <p:nvSpPr>
              <p:cNvPr id="13" name="文本框 12"/>
              <p:cNvSpPr txBox="1"/>
              <p:nvPr/>
            </p:nvSpPr>
            <p:spPr>
              <a:xfrm flipH="1">
                <a:off x="8662848" y="5703726"/>
                <a:ext cx="2864682" cy="7464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>
                  <a:lnSpc>
                    <a:spcPct val="120000"/>
                  </a:lnSpc>
                </a:pPr>
                <a:r>
                  <a:rPr lang="zh-CN" altLang="en-US" sz="1200" dirty="0">
                    <a:effectLst/>
                    <a:latin typeface="OPPOSans R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</a:rPr>
                  <a:t>设立创新提案奖励机制，鼓励尝试新工具</a:t>
                </a:r>
                <a:r>
                  <a:rPr lang="en-US" altLang="zh-CN" sz="1200" dirty="0">
                    <a:effectLst/>
                    <a:latin typeface="OPPOSans R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</a:rPr>
                  <a:t>/</a:t>
                </a:r>
                <a:r>
                  <a:rPr lang="zh-CN" altLang="en-US" sz="1200" dirty="0">
                    <a:effectLst/>
                    <a:latin typeface="OPPOSans R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</a:rPr>
                  <a:t>模式，定期复盘案例，将创新成果纳入绩效考</a:t>
                </a:r>
                <a:endParaRPr lang="zh-CN" altLang="en-US" sz="1200" dirty="0">
                  <a:effectLst/>
                  <a:latin typeface="OPPOSans R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</a:endParaRPr>
              </a:p>
            </p:txBody>
          </p:sp>
          <p:grpSp>
            <p:nvGrpSpPr>
              <p:cNvPr id="14" name="组合 13"/>
              <p:cNvGrpSpPr/>
              <p:nvPr/>
            </p:nvGrpSpPr>
            <p:grpSpPr>
              <a:xfrm>
                <a:off x="8718399" y="5284320"/>
                <a:ext cx="2510479" cy="368480"/>
                <a:chOff x="8718399" y="5284320"/>
                <a:chExt cx="2510479" cy="368480"/>
              </a:xfrm>
            </p:grpSpPr>
            <p:grpSp>
              <p:nvGrpSpPr>
                <p:cNvPr id="15" name="组合 14"/>
                <p:cNvGrpSpPr/>
                <p:nvPr/>
              </p:nvGrpSpPr>
              <p:grpSpPr>
                <a:xfrm>
                  <a:off x="8718399" y="5284320"/>
                  <a:ext cx="2510479" cy="368480"/>
                  <a:chOff x="479037" y="1245733"/>
                  <a:chExt cx="2510479" cy="368480"/>
                </a:xfrm>
              </p:grpSpPr>
              <p:sp>
                <p:nvSpPr>
                  <p:cNvPr id="19" name="矩形: 圆角 18"/>
                  <p:cNvSpPr/>
                  <p:nvPr/>
                </p:nvSpPr>
                <p:spPr>
                  <a:xfrm>
                    <a:off x="479037" y="1245733"/>
                    <a:ext cx="2161293" cy="368480"/>
                  </a:xfrm>
                  <a:prstGeom prst="roundRect">
                    <a:avLst>
                      <a:gd name="adj" fmla="val 50000"/>
                    </a:avLst>
                  </a:prstGeom>
                  <a:gradFill>
                    <a:gsLst>
                      <a:gs pos="17000">
                        <a:schemeClr val="accent3"/>
                      </a:gs>
                      <a:gs pos="100000">
                        <a:schemeClr val="accent3">
                          <a:lumMod val="60000"/>
                          <a:lumOff val="40000"/>
                        </a:schemeClr>
                      </a:gs>
                    </a:gsLst>
                    <a:lin ang="16200000" scaled="1"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>
                      <a:cs typeface="OPPOSans R" panose="00020600040101010101" pitchFamily="18" charset="-122"/>
                    </a:endParaRPr>
                  </a:p>
                </p:txBody>
              </p:sp>
              <p:sp>
                <p:nvSpPr>
                  <p:cNvPr id="20" name="文本框 19"/>
                  <p:cNvSpPr txBox="1"/>
                  <p:nvPr/>
                </p:nvSpPr>
                <p:spPr>
                  <a:xfrm flipH="1">
                    <a:off x="968168" y="1272120"/>
                    <a:ext cx="2021348" cy="33855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r"/>
                    <a:r>
                      <a:rPr lang="zh-CN" altLang="en-US" sz="1600" b="1" i="0" u="none" strike="noStrike" dirty="0">
                        <a:solidFill>
                          <a:schemeClr val="bg2"/>
                        </a:solidFill>
                        <a:effectLst/>
                        <a:latin typeface="OPPOSans M" panose="00020600040101010101" pitchFamily="18" charset="-122"/>
                        <a:ea typeface="OPPOSans M" panose="00020600040101010101" pitchFamily="18" charset="-122"/>
                        <a:cs typeface="OPPOSans M" panose="00020600040101010101" pitchFamily="18" charset="-122"/>
                      </a:rPr>
                      <a:t>创新驱动赋能</a:t>
                    </a:r>
                    <a:endParaRPr lang="zh-CN" altLang="en-US" sz="1600" b="1" i="0" u="none" strike="noStrike" dirty="0">
                      <a:solidFill>
                        <a:schemeClr val="bg2"/>
                      </a:solidFill>
                      <a:effectLst/>
                      <a:latin typeface="OPPOSans M" panose="00020600040101010101" pitchFamily="18" charset="-122"/>
                      <a:ea typeface="OPPOSans M" panose="00020600040101010101" pitchFamily="18" charset="-122"/>
                      <a:cs typeface="OPPOSans M" panose="00020600040101010101" pitchFamily="18" charset="-122"/>
                    </a:endParaRPr>
                  </a:p>
                </p:txBody>
              </p:sp>
            </p:grpSp>
            <p:grpSp>
              <p:nvGrpSpPr>
                <p:cNvPr id="16" name="组合 15"/>
                <p:cNvGrpSpPr/>
                <p:nvPr/>
              </p:nvGrpSpPr>
              <p:grpSpPr>
                <a:xfrm>
                  <a:off x="8853634" y="5365273"/>
                  <a:ext cx="218661" cy="218661"/>
                  <a:chOff x="674531" y="1320423"/>
                  <a:chExt cx="218661" cy="218661"/>
                </a:xfrm>
              </p:grpSpPr>
              <p:sp>
                <p:nvSpPr>
                  <p:cNvPr id="17" name="椭圆 16"/>
                  <p:cNvSpPr/>
                  <p:nvPr/>
                </p:nvSpPr>
                <p:spPr>
                  <a:xfrm>
                    <a:off x="674531" y="1320423"/>
                    <a:ext cx="218661" cy="218661"/>
                  </a:xfrm>
                  <a:prstGeom prst="ellipse">
                    <a:avLst/>
                  </a:prstGeom>
                  <a:solidFill>
                    <a:schemeClr val="bg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1" lang="zh-CN" alt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PPOSans R" panose="00020600040101010101" pitchFamily="18" charset="-122"/>
                      <a:ea typeface="OPPOSans R" panose="00020600040101010101" pitchFamily="18" charset="-122"/>
                      <a:cs typeface="OPPOSans R" panose="00020600040101010101" pitchFamily="18" charset="-122"/>
                    </a:endParaRPr>
                  </a:p>
                </p:txBody>
              </p:sp>
              <p:sp>
                <p:nvSpPr>
                  <p:cNvPr id="18" name="矩形 2"/>
                  <p:cNvSpPr/>
                  <p:nvPr/>
                </p:nvSpPr>
                <p:spPr>
                  <a:xfrm rot="18900000" flipH="1">
                    <a:off x="758961" y="1363904"/>
                    <a:ext cx="57271" cy="98140"/>
                  </a:xfrm>
                  <a:custGeom>
                    <a:avLst/>
                    <a:gdLst>
                      <a:gd name="connsiteX0" fmla="*/ 0 w 415436"/>
                      <a:gd name="connsiteY0" fmla="*/ 0 h 415436"/>
                      <a:gd name="connsiteX1" fmla="*/ 415436 w 415436"/>
                      <a:gd name="connsiteY1" fmla="*/ 0 h 415436"/>
                      <a:gd name="connsiteX2" fmla="*/ 415436 w 415436"/>
                      <a:gd name="connsiteY2" fmla="*/ 415436 h 415436"/>
                      <a:gd name="connsiteX3" fmla="*/ 0 w 415436"/>
                      <a:gd name="connsiteY3" fmla="*/ 415436 h 415436"/>
                      <a:gd name="connsiteX4" fmla="*/ 0 w 415436"/>
                      <a:gd name="connsiteY4" fmla="*/ 0 h 415436"/>
                      <a:gd name="connsiteX0-1" fmla="*/ 0 w 415436"/>
                      <a:gd name="connsiteY0-2" fmla="*/ 415436 h 415436"/>
                      <a:gd name="connsiteX1-3" fmla="*/ 415436 w 415436"/>
                      <a:gd name="connsiteY1-4" fmla="*/ 0 h 415436"/>
                      <a:gd name="connsiteX2-5" fmla="*/ 415436 w 415436"/>
                      <a:gd name="connsiteY2-6" fmla="*/ 415436 h 415436"/>
                      <a:gd name="connsiteX3-7" fmla="*/ 0 w 415436"/>
                      <a:gd name="connsiteY3-8" fmla="*/ 415436 h 415436"/>
                      <a:gd name="connsiteX0-9" fmla="*/ 0 w 218174"/>
                      <a:gd name="connsiteY0-10" fmla="*/ 415436 h 415436"/>
                      <a:gd name="connsiteX1-11" fmla="*/ 218174 w 218174"/>
                      <a:gd name="connsiteY1-12" fmla="*/ 0 h 415436"/>
                      <a:gd name="connsiteX2-13" fmla="*/ 218174 w 218174"/>
                      <a:gd name="connsiteY2-14" fmla="*/ 415436 h 415436"/>
                      <a:gd name="connsiteX3-15" fmla="*/ 0 w 218174"/>
                      <a:gd name="connsiteY3-16" fmla="*/ 415436 h 415436"/>
                      <a:gd name="connsiteX0-17" fmla="*/ 0 w 218174"/>
                      <a:gd name="connsiteY0-18" fmla="*/ 415436 h 415436"/>
                      <a:gd name="connsiteX1-19" fmla="*/ 118424 w 218174"/>
                      <a:gd name="connsiteY1-20" fmla="*/ 208567 h 415436"/>
                      <a:gd name="connsiteX2-21" fmla="*/ 218174 w 218174"/>
                      <a:gd name="connsiteY2-22" fmla="*/ 0 h 415436"/>
                      <a:gd name="connsiteX3-23" fmla="*/ 218174 w 218174"/>
                      <a:gd name="connsiteY3-24" fmla="*/ 415436 h 415436"/>
                      <a:gd name="connsiteX4-25" fmla="*/ 0 w 218174"/>
                      <a:gd name="connsiteY4-26" fmla="*/ 415436 h 415436"/>
                      <a:gd name="connsiteX0-27" fmla="*/ 27697 w 245871"/>
                      <a:gd name="connsiteY0-28" fmla="*/ 415436 h 415436"/>
                      <a:gd name="connsiteX1-29" fmla="*/ 0 w 245871"/>
                      <a:gd name="connsiteY1-30" fmla="*/ 120895 h 415436"/>
                      <a:gd name="connsiteX2-31" fmla="*/ 245871 w 245871"/>
                      <a:gd name="connsiteY2-32" fmla="*/ 0 h 415436"/>
                      <a:gd name="connsiteX3-33" fmla="*/ 245871 w 245871"/>
                      <a:gd name="connsiteY3-34" fmla="*/ 415436 h 415436"/>
                      <a:gd name="connsiteX4-35" fmla="*/ 27697 w 245871"/>
                      <a:gd name="connsiteY4-36" fmla="*/ 415436 h 415436"/>
                      <a:gd name="connsiteX0-37" fmla="*/ 0 w 245871"/>
                      <a:gd name="connsiteY0-38" fmla="*/ 120895 h 415436"/>
                      <a:gd name="connsiteX1-39" fmla="*/ 245871 w 245871"/>
                      <a:gd name="connsiteY1-40" fmla="*/ 0 h 415436"/>
                      <a:gd name="connsiteX2-41" fmla="*/ 245871 w 245871"/>
                      <a:gd name="connsiteY2-42" fmla="*/ 415436 h 415436"/>
                      <a:gd name="connsiteX3-43" fmla="*/ 27697 w 245871"/>
                      <a:gd name="connsiteY3-44" fmla="*/ 415436 h 415436"/>
                      <a:gd name="connsiteX4-45" fmla="*/ 91440 w 245871"/>
                      <a:gd name="connsiteY4-46" fmla="*/ 212335 h 415436"/>
                      <a:gd name="connsiteX0-47" fmla="*/ 0 w 245871"/>
                      <a:gd name="connsiteY0-48" fmla="*/ 120895 h 415436"/>
                      <a:gd name="connsiteX1-49" fmla="*/ 245871 w 245871"/>
                      <a:gd name="connsiteY1-50" fmla="*/ 0 h 415436"/>
                      <a:gd name="connsiteX2-51" fmla="*/ 245871 w 245871"/>
                      <a:gd name="connsiteY2-52" fmla="*/ 415436 h 415436"/>
                      <a:gd name="connsiteX3-53" fmla="*/ 27697 w 245871"/>
                      <a:gd name="connsiteY3-54" fmla="*/ 415436 h 415436"/>
                      <a:gd name="connsiteX0-55" fmla="*/ 218174 w 218174"/>
                      <a:gd name="connsiteY0-56" fmla="*/ 0 h 415436"/>
                      <a:gd name="connsiteX1-57" fmla="*/ 218174 w 218174"/>
                      <a:gd name="connsiteY1-58" fmla="*/ 415436 h 415436"/>
                      <a:gd name="connsiteX2-59" fmla="*/ 0 w 218174"/>
                      <a:gd name="connsiteY2-60" fmla="*/ 415436 h 415436"/>
                    </a:gdLst>
                    <a:ahLst/>
                    <a:cxnLst>
                      <a:cxn ang="0">
                        <a:pos x="connsiteX0-1" y="connsiteY0-2"/>
                      </a:cxn>
                      <a:cxn ang="0">
                        <a:pos x="connsiteX1-3" y="connsiteY1-4"/>
                      </a:cxn>
                      <a:cxn ang="0">
                        <a:pos x="connsiteX2-5" y="connsiteY2-6"/>
                      </a:cxn>
                    </a:cxnLst>
                    <a:rect l="l" t="t" r="r" b="b"/>
                    <a:pathLst>
                      <a:path w="218174" h="415436">
                        <a:moveTo>
                          <a:pt x="218174" y="0"/>
                        </a:moveTo>
                        <a:lnTo>
                          <a:pt x="218174" y="415436"/>
                        </a:lnTo>
                        <a:lnTo>
                          <a:pt x="0" y="415436"/>
                        </a:lnTo>
                      </a:path>
                    </a:pathLst>
                  </a:custGeom>
                  <a:noFill/>
                  <a:ln w="38100" cap="rnd">
                    <a:solidFill>
                      <a:schemeClr val="accent3"/>
                    </a:solidFill>
                    <a:round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1" lang="zh-CN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OPPOSans R" panose="00020600040101010101" pitchFamily="18" charset="-122"/>
                      <a:ea typeface="OPPOSans R" panose="00020600040101010101" pitchFamily="18" charset="-122"/>
                      <a:cs typeface="OPPOSans R" panose="00020600040101010101" pitchFamily="18" charset="-122"/>
                    </a:endParaRPr>
                  </a:p>
                </p:txBody>
              </p:sp>
            </p:grpSp>
          </p:grpSp>
        </p:grpSp>
      </p:grpSp>
      <p:grpSp>
        <p:nvGrpSpPr>
          <p:cNvPr id="75" name="组合 74"/>
          <p:cNvGrpSpPr/>
          <p:nvPr/>
        </p:nvGrpSpPr>
        <p:grpSpPr>
          <a:xfrm>
            <a:off x="3080536" y="1530659"/>
            <a:ext cx="5523511" cy="4612389"/>
            <a:chOff x="3080536" y="1530659"/>
            <a:chExt cx="5523511" cy="4612389"/>
          </a:xfrm>
        </p:grpSpPr>
        <p:grpSp>
          <p:nvGrpSpPr>
            <p:cNvPr id="76" name="组合 75"/>
            <p:cNvGrpSpPr/>
            <p:nvPr/>
          </p:nvGrpSpPr>
          <p:grpSpPr>
            <a:xfrm>
              <a:off x="3856801" y="1530659"/>
              <a:ext cx="3648840" cy="4612389"/>
              <a:chOff x="3856801" y="1530659"/>
              <a:chExt cx="3648840" cy="4612389"/>
            </a:xfrm>
          </p:grpSpPr>
          <p:grpSp>
            <p:nvGrpSpPr>
              <p:cNvPr id="81" name="组合 80"/>
              <p:cNvGrpSpPr/>
              <p:nvPr/>
            </p:nvGrpSpPr>
            <p:grpSpPr>
              <a:xfrm>
                <a:off x="3856801" y="1530659"/>
                <a:ext cx="2317345" cy="4612389"/>
                <a:chOff x="3894508" y="1368237"/>
                <a:chExt cx="2317345" cy="4331752"/>
              </a:xfrm>
            </p:grpSpPr>
            <p:sp>
              <p:nvSpPr>
                <p:cNvPr id="85" name="任意形状 6"/>
                <p:cNvSpPr/>
                <p:nvPr/>
              </p:nvSpPr>
              <p:spPr>
                <a:xfrm rot="5400000">
                  <a:off x="2310453" y="2952292"/>
                  <a:ext cx="4331752" cy="1163642"/>
                </a:xfrm>
                <a:custGeom>
                  <a:avLst/>
                  <a:gdLst>
                    <a:gd name="connsiteX0" fmla="*/ 3079 w 4622178"/>
                    <a:gd name="connsiteY0" fmla="*/ 0 h 1163642"/>
                    <a:gd name="connsiteX1" fmla="*/ 11932 w 4622178"/>
                    <a:gd name="connsiteY1" fmla="*/ 86006 h 1163642"/>
                    <a:gd name="connsiteX2" fmla="*/ 2311089 w 4622178"/>
                    <a:gd name="connsiteY2" fmla="*/ 1103820 h 1163642"/>
                    <a:gd name="connsiteX3" fmla="*/ 4610246 w 4622178"/>
                    <a:gd name="connsiteY3" fmla="*/ 86006 h 1163642"/>
                    <a:gd name="connsiteX4" fmla="*/ 4619099 w 4622178"/>
                    <a:gd name="connsiteY4" fmla="*/ 0 h 1163642"/>
                    <a:gd name="connsiteX5" fmla="*/ 4622178 w 4622178"/>
                    <a:gd name="connsiteY5" fmla="*/ 29911 h 1163642"/>
                    <a:gd name="connsiteX6" fmla="*/ 2311089 w 4622178"/>
                    <a:gd name="connsiteY6" fmla="*/ 1163642 h 1163642"/>
                    <a:gd name="connsiteX7" fmla="*/ 0 w 4622178"/>
                    <a:gd name="connsiteY7" fmla="*/ 29911 h 1163642"/>
                    <a:gd name="connsiteX8" fmla="*/ 3079 w 4622178"/>
                    <a:gd name="connsiteY8" fmla="*/ 0 h 11636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622178" h="1163642">
                      <a:moveTo>
                        <a:pt x="3079" y="0"/>
                      </a:moveTo>
                      <a:lnTo>
                        <a:pt x="11932" y="86006"/>
                      </a:lnTo>
                      <a:cubicBezTo>
                        <a:pt x="130283" y="657697"/>
                        <a:pt x="1114484" y="1103820"/>
                        <a:pt x="2311089" y="1103820"/>
                      </a:cubicBezTo>
                      <a:cubicBezTo>
                        <a:pt x="3507695" y="1103820"/>
                        <a:pt x="4491895" y="657697"/>
                        <a:pt x="4610246" y="86006"/>
                      </a:cubicBezTo>
                      <a:lnTo>
                        <a:pt x="4619099" y="0"/>
                      </a:lnTo>
                      <a:lnTo>
                        <a:pt x="4622178" y="29911"/>
                      </a:lnTo>
                      <a:cubicBezTo>
                        <a:pt x="4622178" y="656053"/>
                        <a:pt x="3587468" y="1163642"/>
                        <a:pt x="2311089" y="1163642"/>
                      </a:cubicBezTo>
                      <a:cubicBezTo>
                        <a:pt x="1034710" y="1163642"/>
                        <a:pt x="0" y="656053"/>
                        <a:pt x="0" y="29911"/>
                      </a:cubicBezTo>
                      <a:lnTo>
                        <a:pt x="3079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accent1">
                        <a:alpha val="19838"/>
                      </a:schemeClr>
                    </a:gs>
                    <a:gs pos="100000">
                      <a:schemeClr val="accent1">
                        <a:alpha val="19834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</a:endParaRPr>
                </a:p>
              </p:txBody>
            </p:sp>
            <p:sp>
              <p:nvSpPr>
                <p:cNvPr id="86" name="任意形状 7"/>
                <p:cNvSpPr/>
                <p:nvPr/>
              </p:nvSpPr>
              <p:spPr>
                <a:xfrm rot="5400000">
                  <a:off x="2912246" y="2400382"/>
                  <a:ext cx="4331752" cy="2267462"/>
                </a:xfrm>
                <a:custGeom>
                  <a:avLst/>
                  <a:gdLst>
                    <a:gd name="connsiteX0" fmla="*/ 2311089 w 4622178"/>
                    <a:gd name="connsiteY0" fmla="*/ 0 h 2267462"/>
                    <a:gd name="connsiteX1" fmla="*/ 4622178 w 4622178"/>
                    <a:gd name="connsiteY1" fmla="*/ 1133731 h 2267462"/>
                    <a:gd name="connsiteX2" fmla="*/ 2311089 w 4622178"/>
                    <a:gd name="connsiteY2" fmla="*/ 2267462 h 2267462"/>
                    <a:gd name="connsiteX3" fmla="*/ 0 w 4622178"/>
                    <a:gd name="connsiteY3" fmla="*/ 1133731 h 2267462"/>
                    <a:gd name="connsiteX4" fmla="*/ 2311089 w 4622178"/>
                    <a:gd name="connsiteY4" fmla="*/ 0 h 2267462"/>
                    <a:gd name="connsiteX5" fmla="*/ 2311089 w 4622178"/>
                    <a:gd name="connsiteY5" fmla="*/ 815947 h 2267462"/>
                    <a:gd name="connsiteX6" fmla="*/ 1132045 w 4622178"/>
                    <a:gd name="connsiteY6" fmla="*/ 1133731 h 2267462"/>
                    <a:gd name="connsiteX7" fmla="*/ 2311089 w 4622178"/>
                    <a:gd name="connsiteY7" fmla="*/ 1451515 h 2267462"/>
                    <a:gd name="connsiteX8" fmla="*/ 3490133 w 4622178"/>
                    <a:gd name="connsiteY8" fmla="*/ 1133731 h 2267462"/>
                    <a:gd name="connsiteX9" fmla="*/ 2311089 w 4622178"/>
                    <a:gd name="connsiteY9" fmla="*/ 815947 h 2267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4622178" h="2267462">
                      <a:moveTo>
                        <a:pt x="2311089" y="0"/>
                      </a:moveTo>
                      <a:cubicBezTo>
                        <a:pt x="3587468" y="0"/>
                        <a:pt x="4622178" y="507589"/>
                        <a:pt x="4622178" y="1133731"/>
                      </a:cubicBezTo>
                      <a:cubicBezTo>
                        <a:pt x="4622178" y="1759873"/>
                        <a:pt x="3587468" y="2267462"/>
                        <a:pt x="2311089" y="2267462"/>
                      </a:cubicBezTo>
                      <a:cubicBezTo>
                        <a:pt x="1034710" y="2267462"/>
                        <a:pt x="0" y="1759873"/>
                        <a:pt x="0" y="1133731"/>
                      </a:cubicBezTo>
                      <a:cubicBezTo>
                        <a:pt x="0" y="507589"/>
                        <a:pt x="1034710" y="0"/>
                        <a:pt x="2311089" y="0"/>
                      </a:cubicBezTo>
                      <a:close/>
                      <a:moveTo>
                        <a:pt x="2311089" y="815947"/>
                      </a:moveTo>
                      <a:cubicBezTo>
                        <a:pt x="1659921" y="815947"/>
                        <a:pt x="1132045" y="958224"/>
                        <a:pt x="1132045" y="1133731"/>
                      </a:cubicBezTo>
                      <a:cubicBezTo>
                        <a:pt x="1132045" y="1309238"/>
                        <a:pt x="1659921" y="1451515"/>
                        <a:pt x="2311089" y="1451515"/>
                      </a:cubicBezTo>
                      <a:cubicBezTo>
                        <a:pt x="2962257" y="1451515"/>
                        <a:pt x="3490133" y="1309238"/>
                        <a:pt x="3490133" y="1133731"/>
                      </a:cubicBezTo>
                      <a:cubicBezTo>
                        <a:pt x="3490133" y="958224"/>
                        <a:pt x="2962257" y="815947"/>
                        <a:pt x="2311089" y="81594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64000">
                      <a:schemeClr val="accent1"/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108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</a:endParaRPr>
                </a:p>
              </p:txBody>
            </p:sp>
          </p:grpSp>
          <p:grpSp>
            <p:nvGrpSpPr>
              <p:cNvPr id="82" name="组合 81"/>
              <p:cNvGrpSpPr/>
              <p:nvPr/>
            </p:nvGrpSpPr>
            <p:grpSpPr>
              <a:xfrm>
                <a:off x="5187410" y="1530659"/>
                <a:ext cx="2318231" cy="4612389"/>
                <a:chOff x="5225117" y="1368237"/>
                <a:chExt cx="2318231" cy="4331752"/>
              </a:xfrm>
            </p:grpSpPr>
            <p:sp>
              <p:nvSpPr>
                <p:cNvPr id="83" name="任意形状 8"/>
                <p:cNvSpPr/>
                <p:nvPr/>
              </p:nvSpPr>
              <p:spPr>
                <a:xfrm rot="5400000">
                  <a:off x="3641062" y="2952292"/>
                  <a:ext cx="4331752" cy="1163642"/>
                </a:xfrm>
                <a:custGeom>
                  <a:avLst/>
                  <a:gdLst>
                    <a:gd name="connsiteX0" fmla="*/ 3079 w 4622178"/>
                    <a:gd name="connsiteY0" fmla="*/ 0 h 1163642"/>
                    <a:gd name="connsiteX1" fmla="*/ 11932 w 4622178"/>
                    <a:gd name="connsiteY1" fmla="*/ 86006 h 1163642"/>
                    <a:gd name="connsiteX2" fmla="*/ 2311089 w 4622178"/>
                    <a:gd name="connsiteY2" fmla="*/ 1103820 h 1163642"/>
                    <a:gd name="connsiteX3" fmla="*/ 4610246 w 4622178"/>
                    <a:gd name="connsiteY3" fmla="*/ 86006 h 1163642"/>
                    <a:gd name="connsiteX4" fmla="*/ 4619099 w 4622178"/>
                    <a:gd name="connsiteY4" fmla="*/ 0 h 1163642"/>
                    <a:gd name="connsiteX5" fmla="*/ 4622178 w 4622178"/>
                    <a:gd name="connsiteY5" fmla="*/ 29911 h 1163642"/>
                    <a:gd name="connsiteX6" fmla="*/ 2311089 w 4622178"/>
                    <a:gd name="connsiteY6" fmla="*/ 1163642 h 1163642"/>
                    <a:gd name="connsiteX7" fmla="*/ 0 w 4622178"/>
                    <a:gd name="connsiteY7" fmla="*/ 29911 h 1163642"/>
                    <a:gd name="connsiteX8" fmla="*/ 3079 w 4622178"/>
                    <a:gd name="connsiteY8" fmla="*/ 0 h 11636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622178" h="1163642">
                      <a:moveTo>
                        <a:pt x="3079" y="0"/>
                      </a:moveTo>
                      <a:lnTo>
                        <a:pt x="11932" y="86006"/>
                      </a:lnTo>
                      <a:cubicBezTo>
                        <a:pt x="130283" y="657697"/>
                        <a:pt x="1114484" y="1103820"/>
                        <a:pt x="2311089" y="1103820"/>
                      </a:cubicBezTo>
                      <a:cubicBezTo>
                        <a:pt x="3507695" y="1103820"/>
                        <a:pt x="4491895" y="657697"/>
                        <a:pt x="4610246" y="86006"/>
                      </a:cubicBezTo>
                      <a:lnTo>
                        <a:pt x="4619099" y="0"/>
                      </a:lnTo>
                      <a:lnTo>
                        <a:pt x="4622178" y="29911"/>
                      </a:lnTo>
                      <a:cubicBezTo>
                        <a:pt x="4622178" y="656053"/>
                        <a:pt x="3587468" y="1163642"/>
                        <a:pt x="2311089" y="1163642"/>
                      </a:cubicBezTo>
                      <a:cubicBezTo>
                        <a:pt x="1034710" y="1163642"/>
                        <a:pt x="0" y="656053"/>
                        <a:pt x="0" y="29911"/>
                      </a:cubicBezTo>
                      <a:lnTo>
                        <a:pt x="3079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accent3">
                        <a:lumMod val="20000"/>
                        <a:lumOff val="80000"/>
                      </a:schemeClr>
                    </a:gs>
                    <a:gs pos="100000">
                      <a:schemeClr val="accent3">
                        <a:lumMod val="20000"/>
                        <a:lumOff val="8000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</a:endParaRPr>
                </a:p>
              </p:txBody>
            </p:sp>
            <p:sp>
              <p:nvSpPr>
                <p:cNvPr id="84" name="任意形状 9"/>
                <p:cNvSpPr/>
                <p:nvPr/>
              </p:nvSpPr>
              <p:spPr>
                <a:xfrm rot="5400000">
                  <a:off x="4243741" y="2400382"/>
                  <a:ext cx="4331752" cy="2267462"/>
                </a:xfrm>
                <a:custGeom>
                  <a:avLst/>
                  <a:gdLst>
                    <a:gd name="connsiteX0" fmla="*/ 2311089 w 4622178"/>
                    <a:gd name="connsiteY0" fmla="*/ 0 h 2267462"/>
                    <a:gd name="connsiteX1" fmla="*/ 4622178 w 4622178"/>
                    <a:gd name="connsiteY1" fmla="*/ 1133731 h 2267462"/>
                    <a:gd name="connsiteX2" fmla="*/ 2311089 w 4622178"/>
                    <a:gd name="connsiteY2" fmla="*/ 2267462 h 2267462"/>
                    <a:gd name="connsiteX3" fmla="*/ 0 w 4622178"/>
                    <a:gd name="connsiteY3" fmla="*/ 1133731 h 2267462"/>
                    <a:gd name="connsiteX4" fmla="*/ 2311089 w 4622178"/>
                    <a:gd name="connsiteY4" fmla="*/ 0 h 2267462"/>
                    <a:gd name="connsiteX5" fmla="*/ 2311089 w 4622178"/>
                    <a:gd name="connsiteY5" fmla="*/ 815947 h 2267462"/>
                    <a:gd name="connsiteX6" fmla="*/ 1132045 w 4622178"/>
                    <a:gd name="connsiteY6" fmla="*/ 1133731 h 2267462"/>
                    <a:gd name="connsiteX7" fmla="*/ 2311089 w 4622178"/>
                    <a:gd name="connsiteY7" fmla="*/ 1451515 h 2267462"/>
                    <a:gd name="connsiteX8" fmla="*/ 3490133 w 4622178"/>
                    <a:gd name="connsiteY8" fmla="*/ 1133731 h 2267462"/>
                    <a:gd name="connsiteX9" fmla="*/ 2311089 w 4622178"/>
                    <a:gd name="connsiteY9" fmla="*/ 815947 h 2267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4622178" h="2267462">
                      <a:moveTo>
                        <a:pt x="2311089" y="0"/>
                      </a:moveTo>
                      <a:cubicBezTo>
                        <a:pt x="3587468" y="0"/>
                        <a:pt x="4622178" y="507589"/>
                        <a:pt x="4622178" y="1133731"/>
                      </a:cubicBezTo>
                      <a:cubicBezTo>
                        <a:pt x="4622178" y="1759873"/>
                        <a:pt x="3587468" y="2267462"/>
                        <a:pt x="2311089" y="2267462"/>
                      </a:cubicBezTo>
                      <a:cubicBezTo>
                        <a:pt x="1034710" y="2267462"/>
                        <a:pt x="0" y="1759873"/>
                        <a:pt x="0" y="1133731"/>
                      </a:cubicBezTo>
                      <a:cubicBezTo>
                        <a:pt x="0" y="507589"/>
                        <a:pt x="1034710" y="0"/>
                        <a:pt x="2311089" y="0"/>
                      </a:cubicBezTo>
                      <a:close/>
                      <a:moveTo>
                        <a:pt x="2311089" y="815947"/>
                      </a:moveTo>
                      <a:cubicBezTo>
                        <a:pt x="1659921" y="815947"/>
                        <a:pt x="1132045" y="958224"/>
                        <a:pt x="1132045" y="1133731"/>
                      </a:cubicBezTo>
                      <a:cubicBezTo>
                        <a:pt x="1132045" y="1309238"/>
                        <a:pt x="1659921" y="1451515"/>
                        <a:pt x="2311089" y="1451515"/>
                      </a:cubicBezTo>
                      <a:cubicBezTo>
                        <a:pt x="2962257" y="1451515"/>
                        <a:pt x="3490133" y="1309238"/>
                        <a:pt x="3490133" y="1133731"/>
                      </a:cubicBezTo>
                      <a:cubicBezTo>
                        <a:pt x="3490133" y="958224"/>
                        <a:pt x="2962257" y="815947"/>
                        <a:pt x="2311089" y="81594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3">
                        <a:alpha val="85000"/>
                      </a:schemeClr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108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OPPOSans R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</a:endParaRPr>
                </a:p>
              </p:txBody>
            </p:sp>
          </p:grpSp>
        </p:grpSp>
        <p:sp>
          <p:nvSpPr>
            <p:cNvPr id="77" name="任意多边形: 形状 76"/>
            <p:cNvSpPr/>
            <p:nvPr/>
          </p:nvSpPr>
          <p:spPr>
            <a:xfrm rot="5400000">
              <a:off x="4590760" y="931065"/>
              <a:ext cx="2503064" cy="5523511"/>
            </a:xfrm>
            <a:custGeom>
              <a:avLst/>
              <a:gdLst>
                <a:gd name="connsiteX0" fmla="*/ 0 w 1939105"/>
                <a:gd name="connsiteY0" fmla="*/ 742891 h 5110358"/>
                <a:gd name="connsiteX1" fmla="*/ 969553 w 1939105"/>
                <a:gd name="connsiteY1" fmla="*/ 0 h 5110358"/>
                <a:gd name="connsiteX2" fmla="*/ 1939105 w 1939105"/>
                <a:gd name="connsiteY2" fmla="*/ 742891 h 5110358"/>
                <a:gd name="connsiteX3" fmla="*/ 1572614 w 1939105"/>
                <a:gd name="connsiteY3" fmla="*/ 742891 h 5110358"/>
                <a:gd name="connsiteX4" fmla="*/ 1570879 w 1939105"/>
                <a:gd name="connsiteY4" fmla="*/ 756427 h 5110358"/>
                <a:gd name="connsiteX5" fmla="*/ 1464621 w 1939105"/>
                <a:gd name="connsiteY5" fmla="*/ 2958486 h 5110358"/>
                <a:gd name="connsiteX6" fmla="*/ 1547464 w 1939105"/>
                <a:gd name="connsiteY6" fmla="*/ 4939394 h 5110358"/>
                <a:gd name="connsiteX7" fmla="*/ 1565565 w 1939105"/>
                <a:gd name="connsiteY7" fmla="*/ 5110358 h 5110358"/>
                <a:gd name="connsiteX8" fmla="*/ 373540 w 1939105"/>
                <a:gd name="connsiteY8" fmla="*/ 5110358 h 5110358"/>
                <a:gd name="connsiteX9" fmla="*/ 391641 w 1939105"/>
                <a:gd name="connsiteY9" fmla="*/ 4939394 h 5110358"/>
                <a:gd name="connsiteX10" fmla="*/ 474483 w 1939105"/>
                <a:gd name="connsiteY10" fmla="*/ 2958486 h 5110358"/>
                <a:gd name="connsiteX11" fmla="*/ 368226 w 1939105"/>
                <a:gd name="connsiteY11" fmla="*/ 756427 h 5110358"/>
                <a:gd name="connsiteX12" fmla="*/ 366491 w 1939105"/>
                <a:gd name="connsiteY12" fmla="*/ 742891 h 5110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39105" h="5110358">
                  <a:moveTo>
                    <a:pt x="0" y="742891"/>
                  </a:moveTo>
                  <a:lnTo>
                    <a:pt x="969553" y="0"/>
                  </a:lnTo>
                  <a:lnTo>
                    <a:pt x="1939105" y="742891"/>
                  </a:lnTo>
                  <a:lnTo>
                    <a:pt x="1572614" y="742891"/>
                  </a:lnTo>
                  <a:lnTo>
                    <a:pt x="1570879" y="756427"/>
                  </a:lnTo>
                  <a:cubicBezTo>
                    <a:pt x="1505227" y="1319983"/>
                    <a:pt x="1464621" y="2098528"/>
                    <a:pt x="1464621" y="2958486"/>
                  </a:cubicBezTo>
                  <a:cubicBezTo>
                    <a:pt x="1464621" y="3710949"/>
                    <a:pt x="1495710" y="4401080"/>
                    <a:pt x="1547464" y="4939394"/>
                  </a:cubicBezTo>
                  <a:lnTo>
                    <a:pt x="1565565" y="5110358"/>
                  </a:lnTo>
                  <a:lnTo>
                    <a:pt x="373540" y="5110358"/>
                  </a:lnTo>
                  <a:lnTo>
                    <a:pt x="391641" y="4939394"/>
                  </a:lnTo>
                  <a:cubicBezTo>
                    <a:pt x="443395" y="4401080"/>
                    <a:pt x="474483" y="3710949"/>
                    <a:pt x="474483" y="2958486"/>
                  </a:cubicBezTo>
                  <a:cubicBezTo>
                    <a:pt x="474483" y="2098528"/>
                    <a:pt x="433877" y="1319983"/>
                    <a:pt x="368226" y="756427"/>
                  </a:cubicBezTo>
                  <a:lnTo>
                    <a:pt x="366491" y="742891"/>
                  </a:lnTo>
                  <a:close/>
                </a:path>
              </a:pathLst>
            </a:custGeom>
            <a:gradFill flip="none" rotWithShape="1">
              <a:gsLst>
                <a:gs pos="1800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>
                <a:cs typeface="OPPOSans R" panose="00020600040101010101" pitchFamily="18" charset="-122"/>
              </a:endParaRPr>
            </a:p>
          </p:txBody>
        </p:sp>
        <p:grpSp>
          <p:nvGrpSpPr>
            <p:cNvPr id="78" name="组合 77"/>
            <p:cNvGrpSpPr/>
            <p:nvPr/>
          </p:nvGrpSpPr>
          <p:grpSpPr>
            <a:xfrm>
              <a:off x="3894991" y="3436416"/>
              <a:ext cx="3616904" cy="566508"/>
              <a:chOff x="3902338" y="3423594"/>
              <a:chExt cx="3616904" cy="566508"/>
            </a:xfrm>
          </p:grpSpPr>
          <p:sp>
            <p:nvSpPr>
              <p:cNvPr id="79" name="文本框 78"/>
              <p:cNvSpPr txBox="1"/>
              <p:nvPr/>
            </p:nvSpPr>
            <p:spPr>
              <a:xfrm>
                <a:off x="3902338" y="3430910"/>
                <a:ext cx="844690" cy="559192"/>
              </a:xfrm>
              <a:prstGeom prst="rect">
                <a:avLst/>
              </a:prstGeom>
              <a:noFill/>
            </p:spPr>
            <p:txBody>
              <a:bodyPr vert="horz" wrap="square" lIns="0" tIns="0" rIns="0" bIns="0" rtlCol="0" anchor="ctr">
                <a:spAutoFit/>
              </a:bodyPr>
              <a:lstStyle>
                <a:defPPr>
                  <a:defRPr lang="zh-CN"/>
                </a:defPPr>
                <a:lvl1pPr>
                  <a:lnSpc>
                    <a:spcPct val="90000"/>
                  </a:lnSpc>
                  <a:spcBef>
                    <a:spcPct val="0"/>
                  </a:spcBef>
                  <a:buNone/>
                  <a:defRPr kumimoji="1" sz="2000">
                    <a:solidFill>
                      <a:schemeClr val="bg1"/>
                    </a:solidFill>
                    <a:latin typeface="OPPOSans R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</a:defRPr>
                </a:lvl1pPr>
              </a:lstStyle>
              <a:p>
                <a:pPr algn="ctr"/>
                <a:r>
                  <a:rPr lang="zh-CN" altLang="en-US" dirty="0">
                    <a:solidFill>
                      <a:schemeClr val="bg2"/>
                    </a:solidFill>
                    <a:latin typeface="OPPOSans M" panose="00020600040101010101" pitchFamily="18" charset="-122"/>
                    <a:ea typeface="OPPOSans M" panose="00020600040101010101" pitchFamily="18" charset="-122"/>
                    <a:cs typeface="OPPOSans M" panose="00020600040101010101" pitchFamily="18" charset="-122"/>
                  </a:rPr>
                  <a:t>问题</a:t>
                </a:r>
                <a:endParaRPr lang="en-US" altLang="zh-CN" dirty="0">
                  <a:solidFill>
                    <a:schemeClr val="bg2"/>
                  </a:solidFill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endParaRPr>
              </a:p>
              <a:p>
                <a:pPr algn="ctr"/>
                <a:r>
                  <a:rPr lang="zh-CN" altLang="en-US" dirty="0">
                    <a:solidFill>
                      <a:schemeClr val="bg2"/>
                    </a:solidFill>
                    <a:latin typeface="OPPOSans M" panose="00020600040101010101" pitchFamily="18" charset="-122"/>
                    <a:ea typeface="OPPOSans M" panose="00020600040101010101" pitchFamily="18" charset="-122"/>
                    <a:cs typeface="OPPOSans M" panose="00020600040101010101" pitchFamily="18" charset="-122"/>
                  </a:rPr>
                  <a:t>回顾</a:t>
                </a:r>
                <a:endParaRPr lang="zh-CN" altLang="en-US" dirty="0">
                  <a:solidFill>
                    <a:schemeClr val="bg2"/>
                  </a:solidFill>
                  <a:latin typeface="OPPOSans M" panose="00020600040101010101" pitchFamily="18" charset="-122"/>
                  <a:ea typeface="OPPOSans M" panose="00020600040101010101" pitchFamily="18" charset="-122"/>
                  <a:cs typeface="OPPOSans M" panose="00020600040101010101" pitchFamily="18" charset="-122"/>
                </a:endParaRPr>
              </a:p>
            </p:txBody>
          </p:sp>
          <p:sp>
            <p:nvSpPr>
              <p:cNvPr id="80" name="文本框 79"/>
              <p:cNvSpPr txBox="1"/>
              <p:nvPr/>
            </p:nvSpPr>
            <p:spPr>
              <a:xfrm>
                <a:off x="6674552" y="3423594"/>
                <a:ext cx="844690" cy="559192"/>
              </a:xfrm>
              <a:prstGeom prst="rect">
                <a:avLst/>
              </a:prstGeom>
              <a:noFill/>
            </p:spPr>
            <p:txBody>
              <a:bodyPr vert="horz" wrap="square" lIns="0" tIns="0" rIns="0" bIns="0" rtlCol="0" anchor="ctr">
                <a:spAutoFit/>
              </a:bodyPr>
              <a:lstStyle>
                <a:defPPr>
                  <a:defRPr lang="zh-CN"/>
                </a:defPPr>
                <a:lvl1pPr algn="ctr">
                  <a:lnSpc>
                    <a:spcPct val="90000"/>
                  </a:lnSpc>
                  <a:spcBef>
                    <a:spcPct val="0"/>
                  </a:spcBef>
                  <a:buNone/>
                  <a:defRPr kumimoji="1" sz="2000">
                    <a:solidFill>
                      <a:schemeClr val="bg2"/>
                    </a:solidFill>
                    <a:latin typeface="OPPOSans M" panose="00020600040101010101" pitchFamily="18" charset="-122"/>
                    <a:ea typeface="OPPOSans M" panose="00020600040101010101" pitchFamily="18" charset="-122"/>
                    <a:cs typeface="OPPOSans M" panose="00020600040101010101" pitchFamily="18" charset="-122"/>
                  </a:defRPr>
                </a:lvl1pPr>
              </a:lstStyle>
              <a:p>
                <a:r>
                  <a:rPr lang="zh-CN" altLang="en-US" dirty="0"/>
                  <a:t>解决</a:t>
                </a:r>
                <a:endParaRPr lang="en-US" altLang="zh-CN" dirty="0"/>
              </a:p>
              <a:p>
                <a:r>
                  <a:rPr lang="zh-CN" altLang="en-US" dirty="0"/>
                  <a:t>方案</a:t>
                </a:r>
                <a:endParaRPr lang="zh-CN" altLang="en-US" dirty="0"/>
              </a:p>
            </p:txBody>
          </p:sp>
        </p:grpSp>
      </p:grp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SHADOWSIZE" val="95"/>
  <p:tag name="ADJUSTMENTS" val="10.5244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深红蓝">
  <a:themeElements>
    <a:clrScheme name="自定义 18">
      <a:dk1>
        <a:srgbClr val="101010"/>
      </a:dk1>
      <a:lt1>
        <a:srgbClr val="313131"/>
      </a:lt1>
      <a:dk2>
        <a:srgbClr val="FFFFFF"/>
      </a:dk2>
      <a:lt2>
        <a:srgbClr val="F2F5F6"/>
      </a:lt2>
      <a:accent1>
        <a:srgbClr val="AD3929"/>
      </a:accent1>
      <a:accent2>
        <a:srgbClr val="5987C6"/>
      </a:accent2>
      <a:accent3>
        <a:srgbClr val="33609E"/>
      </a:accent3>
      <a:accent4>
        <a:srgbClr val="FFC000"/>
      </a:accent4>
      <a:accent5>
        <a:srgbClr val="0088EE"/>
      </a:accent5>
      <a:accent6>
        <a:srgbClr val="6F6F6F"/>
      </a:accent6>
      <a:hlink>
        <a:srgbClr val="9A9A9A"/>
      </a:hlink>
      <a:folHlink>
        <a:srgbClr val="BFBFBF"/>
      </a:folHlink>
    </a:clrScheme>
    <a:fontScheme name="Office">
      <a:majorFont>
        <a:latin typeface="OPPOSans R"/>
        <a:ea typeface=""/>
        <a:cs typeface=""/>
        <a:font script="Jpan" typeface="游ゴシック Light"/>
        <a:font script="Hang" typeface="맑은 고딕"/>
        <a:font script="Hans" typeface="OPPOSans R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OPPOSans R"/>
        <a:ea typeface=""/>
        <a:cs typeface=""/>
        <a:font script="Jpan" typeface="游ゴシック"/>
        <a:font script="Hang" typeface="맑은 고딕"/>
        <a:font script="Hans" typeface="OPPOSans R"/>
        <a:font script="Hant" typeface="新細明體"/>
        <a:font script="Arab" typeface="OPPOSans R"/>
        <a:font script="Hebr" typeface="OPPOSans R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OPPOSans R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2898</Words>
  <Application>WPS 演示</Application>
  <PresentationFormat>宽屏</PresentationFormat>
  <Paragraphs>419</Paragraphs>
  <Slides>10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2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OPPOSans R</vt:lpstr>
      <vt:lpstr>OPPOSans M</vt:lpstr>
      <vt:lpstr>OPPOSans H</vt:lpstr>
      <vt:lpstr>OPPOSans B</vt:lpstr>
      <vt:lpstr>阿里妈妈数黑体</vt:lpstr>
      <vt:lpstr>黑体</vt:lpstr>
      <vt:lpstr>OPPOSans R</vt:lpstr>
      <vt:lpstr>Segoe Print</vt:lpstr>
      <vt:lpstr>HONOR Sans Design Demibold</vt:lpstr>
      <vt:lpstr>阿里巴巴普惠体 B</vt:lpstr>
      <vt:lpstr>WPS</vt:lpstr>
      <vt:lpstr>深红蓝</vt:lpstr>
      <vt:lpstr>PowerPoint 演示文稿</vt:lpstr>
      <vt:lpstr>PowerPoint 演示文稿</vt:lpstr>
      <vt:lpstr>工作成果总结与规划</vt:lpstr>
      <vt:lpstr>工作进展与成果总结</vt:lpstr>
      <vt:lpstr>工作亮点/核心成果总结</vt:lpstr>
      <vt:lpstr>服务效率提升分析/成果展示</vt:lpstr>
      <vt:lpstr>工作回顾与情况分析</vt:lpstr>
      <vt:lpstr>存在工作问题与解决措施</vt:lpstr>
      <vt:lpstr>招聘漏斗分析/招聘完成情况</vt:lpstr>
      <vt:lpstr>工作不足改进/工作复盘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26583</cp:lastModifiedBy>
  <cp:revision>158</cp:revision>
  <dcterms:created xsi:type="dcterms:W3CDTF">2019-06-19T02:08:00Z</dcterms:created>
  <dcterms:modified xsi:type="dcterms:W3CDTF">2026-09-15T14:33:13Z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DC362BF730014F4D9C0A775E47DE0D53_11</vt:lpwstr>
  </property>
</Properties>
</file>