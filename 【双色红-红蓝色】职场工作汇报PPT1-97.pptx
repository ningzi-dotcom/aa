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6671180" r:id="rId3"/>
  </p:sldIdLst>
  <p:sldSz cx="12192000" cy="6858000"/>
  <p:notesSz cx="6858000" cy="9144000"/>
  <p:embeddedFontLst>
    <p:embeddedFont>
      <p:font typeface="OPPOSans R" panose="00020600040101010101" pitchFamily="18" charset="-122"/>
      <p:regular r:id="rId9"/>
    </p:embeddedFont>
    <p:embeddedFont>
      <p:font typeface="OPPOSans M" panose="00020600040101010101" pitchFamily="18" charset="-122"/>
      <p:regular r:id="rId10"/>
    </p:embeddedFont>
    <p:embeddedFont>
      <p:font typeface="OPPOSans H" panose="00020600040101010101" pitchFamily="18" charset="-122"/>
      <p:regular r:id="rId1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说明页" id="{ECD7F00E-FFB3-4C7A-B2F2-F119B6312E30}">
          <p14:sldIdLst>
            <p14:sldId id="166711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8" autoAdjust="0"/>
    <p:restoredTop sz="95625" autoAdjust="0"/>
  </p:normalViewPr>
  <p:slideViewPr>
    <p:cSldViewPr snapToGrid="0" showGuides="1">
      <p:cViewPr varScale="1">
        <p:scale>
          <a:sx n="85" d="100"/>
          <a:sy n="85" d="100"/>
        </p:scale>
        <p:origin x="45" y="84"/>
      </p:cViewPr>
      <p:guideLst>
        <p:guide orient="horz" pos="39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474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POSans M" panose="00020600040101010101" pitchFamily="18" charset="-122"/>
                <a:ea typeface="OPPOSans M" panose="00020600040101010101" pitchFamily="18" charset="-122"/>
              </a:rPr>
            </a:fld>
            <a:endParaRPr lang="zh-CN" altLang="en-US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POSans M" panose="00020600040101010101" pitchFamily="18" charset="-122"/>
                <a:ea typeface="OPPOSans M" panose="00020600040101010101" pitchFamily="18" charset="-122"/>
              </a:rPr>
            </a:fld>
            <a:endParaRPr lang="zh-CN" altLang="en-US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08BD63DB-6C25-46B9-9A71-23D27E4849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9CDAE282-E8C1-49C6-90EE-C0C20CAC7F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2321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1" y="0"/>
            <a:ext cx="12192000" cy="6862546"/>
          </a:xfrm>
          <a:prstGeom prst="rect">
            <a:avLst/>
          </a:prstGeom>
          <a:gradFill>
            <a:gsLst>
              <a:gs pos="0">
                <a:schemeClr val="accent1">
                  <a:lumMod val="3000"/>
                  <a:lumOff val="97000"/>
                </a:schemeClr>
              </a:gs>
              <a:gs pos="11000">
                <a:schemeClr val="bg2"/>
              </a:gs>
              <a:gs pos="89000">
                <a:schemeClr val="bg2"/>
              </a:gs>
              <a:gs pos="100000">
                <a:schemeClr val="accent1">
                  <a:lumMod val="3000"/>
                  <a:lumOff val="97000"/>
                </a:schemeClr>
              </a:gs>
              <a:gs pos="50000">
                <a:schemeClr val="accent1">
                  <a:lumMod val="6000"/>
                  <a:lumOff val="94000"/>
                </a:schemeClr>
              </a:gs>
            </a:gsLst>
            <a:lin ang="2700000" scaled="1"/>
          </a:gra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31110" y="331705"/>
            <a:ext cx="6510815" cy="395045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sz="2800" dirty="0">
                <a:solidFill>
                  <a:schemeClr val="bg1">
                    <a:lumMod val="90000"/>
                    <a:lumOff val="1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  <a:endParaRPr kumimoji="1" lang="zh-CN" altLang="en-US" dirty="0"/>
          </a:p>
        </p:txBody>
      </p:sp>
      <p:cxnSp>
        <p:nvCxnSpPr>
          <p:cNvPr id="8" name="直线连接符 7"/>
          <p:cNvCxnSpPr/>
          <p:nvPr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7"/>
          <p:cNvCxnSpPr/>
          <p:nvPr userDrawn="1"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4000">
                  <a:schemeClr val="accent1">
                    <a:lumMod val="60000"/>
                    <a:lumOff val="40000"/>
                    <a:alpha val="45000"/>
                  </a:schemeClr>
                </a:gs>
                <a:gs pos="83000">
                  <a:schemeClr val="accent1">
                    <a:lumMod val="60000"/>
                    <a:lumOff val="40000"/>
                    <a:alpha val="4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任意多边形: 形状 17"/>
          <p:cNvSpPr/>
          <p:nvPr userDrawn="1"/>
        </p:nvSpPr>
        <p:spPr>
          <a:xfrm>
            <a:off x="372391" y="331704"/>
            <a:ext cx="489620" cy="395046"/>
          </a:xfrm>
          <a:custGeom>
            <a:avLst/>
            <a:gdLst>
              <a:gd name="connsiteX0" fmla="*/ 120527 w 489620"/>
              <a:gd name="connsiteY0" fmla="*/ 0 h 395046"/>
              <a:gd name="connsiteX1" fmla="*/ 397605 w 489620"/>
              <a:gd name="connsiteY1" fmla="*/ 0 h 395046"/>
              <a:gd name="connsiteX2" fmla="*/ 489620 w 489620"/>
              <a:gd name="connsiteY2" fmla="*/ 197523 h 395046"/>
              <a:gd name="connsiteX3" fmla="*/ 397605 w 489620"/>
              <a:gd name="connsiteY3" fmla="*/ 395046 h 395046"/>
              <a:gd name="connsiteX4" fmla="*/ 120527 w 489620"/>
              <a:gd name="connsiteY4" fmla="*/ 395046 h 395046"/>
              <a:gd name="connsiteX5" fmla="*/ 0 w 489620"/>
              <a:gd name="connsiteY5" fmla="*/ 0 h 395046"/>
              <a:gd name="connsiteX6" fmla="*/ 85957 w 489620"/>
              <a:gd name="connsiteY6" fmla="*/ 0 h 395046"/>
              <a:gd name="connsiteX7" fmla="*/ 85957 w 489620"/>
              <a:gd name="connsiteY7" fmla="*/ 395046 h 395046"/>
              <a:gd name="connsiteX8" fmla="*/ 0 w 489620"/>
              <a:gd name="connsiteY8" fmla="*/ 395046 h 39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620" h="395046">
                <a:moveTo>
                  <a:pt x="120527" y="0"/>
                </a:moveTo>
                <a:lnTo>
                  <a:pt x="397605" y="0"/>
                </a:lnTo>
                <a:lnTo>
                  <a:pt x="489620" y="197523"/>
                </a:lnTo>
                <a:lnTo>
                  <a:pt x="397605" y="395046"/>
                </a:lnTo>
                <a:lnTo>
                  <a:pt x="120527" y="395046"/>
                </a:lnTo>
                <a:close/>
                <a:moveTo>
                  <a:pt x="0" y="0"/>
                </a:moveTo>
                <a:lnTo>
                  <a:pt x="85957" y="0"/>
                </a:lnTo>
                <a:lnTo>
                  <a:pt x="85957" y="395046"/>
                </a:lnTo>
                <a:lnTo>
                  <a:pt x="0" y="395046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7000">
                <a:schemeClr val="accent1"/>
              </a:gs>
            </a:gsLst>
            <a:lin ang="0" scaled="0"/>
          </a:gradFill>
          <a:ln w="12700">
            <a:gradFill>
              <a:gsLst>
                <a:gs pos="48000">
                  <a:srgbClr val="FFB590">
                    <a:alpha val="0"/>
                  </a:srgb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9241607" y="317912"/>
            <a:ext cx="2578002" cy="466280"/>
            <a:chOff x="8882065" y="317912"/>
            <a:chExt cx="2578002" cy="466280"/>
          </a:xfrm>
        </p:grpSpPr>
        <p:sp>
          <p:nvSpPr>
            <p:cNvPr id="15" name="文本框 14"/>
            <p:cNvSpPr txBox="1"/>
            <p:nvPr userDrawn="1"/>
          </p:nvSpPr>
          <p:spPr>
            <a:xfrm>
              <a:off x="8882065" y="455092"/>
              <a:ext cx="2179184" cy="3291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zh-CN"/>
              </a:defPPr>
              <a:lvl1pPr lvl="0" indent="0" algn="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>
                  <a:solidFill>
                    <a:schemeClr val="bg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r"/>
              <a:r>
                <a:rPr lang="en-US" altLang="zh-CN" sz="1600" dirty="0"/>
                <a:t>@</a:t>
              </a:r>
              <a:r>
                <a:rPr lang="zh-CN" altLang="en-US" sz="1600" dirty="0"/>
                <a:t>职场</a:t>
              </a:r>
              <a:r>
                <a:rPr lang="zh-CN" altLang="zh-CN" sz="1600" dirty="0"/>
                <a:t>小蓝云</a:t>
              </a:r>
              <a:endParaRPr lang="en-US" altLang="zh-CN" sz="1600" dirty="0"/>
            </a:p>
          </p:txBody>
        </p:sp>
        <p:pic>
          <p:nvPicPr>
            <p:cNvPr id="16" name="图片 15" descr="图标&#10;&#10;AI 生成的内容可能不正确。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3" t="18038" r="7453" b="42712"/>
            <a:stretch>
              <a:fillRect/>
            </a:stretch>
          </p:blipFill>
          <p:spPr>
            <a:xfrm>
              <a:off x="11037435" y="317912"/>
              <a:ext cx="422632" cy="42263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  <a:effectLst/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12321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42920" y="312291"/>
            <a:ext cx="6510815" cy="282193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sz="2000" dirty="0">
                <a:cs typeface="OPPOSans M" panose="00020600040101010101" pitchFamily="18" charset="-122"/>
              </a:defRPr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  <a:endParaRPr kumimoji="1" lang="zh-CN" altLang="en-US" dirty="0"/>
          </a:p>
        </p:txBody>
      </p:sp>
      <p:sp>
        <p:nvSpPr>
          <p:cNvPr id="30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42003" y="587654"/>
            <a:ext cx="2786955" cy="155235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None/>
              <a:defRPr kumimoji="1" lang="en-US" altLang="zh-CN" sz="1100" dirty="0"/>
            </a:lvl1pPr>
          </a:lstStyle>
          <a:p>
            <a:pPr marL="0" lvl="0">
              <a:spcBef>
                <a:spcPct val="0"/>
              </a:spcBef>
            </a:pPr>
            <a:r>
              <a:rPr lang="zh-CN" altLang="en-US" dirty="0"/>
              <a:t>在此输入内容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479038" y="331020"/>
            <a:ext cx="385832" cy="351332"/>
            <a:chOff x="457484" y="311393"/>
            <a:chExt cx="428940" cy="390586"/>
          </a:xfrm>
        </p:grpSpPr>
        <p:sp>
          <p:nvSpPr>
            <p:cNvPr id="6" name="等腰三角形 3"/>
            <p:cNvSpPr/>
            <p:nvPr/>
          </p:nvSpPr>
          <p:spPr>
            <a:xfrm>
              <a:off x="457484" y="374420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7" name="等腰三角形 3"/>
            <p:cNvSpPr/>
            <p:nvPr/>
          </p:nvSpPr>
          <p:spPr>
            <a:xfrm flipV="1">
              <a:off x="531125" y="311393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cxnSp>
        <p:nvCxnSpPr>
          <p:cNvPr id="8" name="直线连接符 7"/>
          <p:cNvCxnSpPr/>
          <p:nvPr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0376719" y="270628"/>
            <a:ext cx="1442889" cy="5572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defRPr>
            </a:lvl1pPr>
          </a:lstStyle>
          <a:p>
            <a:pPr lvl="0"/>
            <a:r>
              <a:rPr lang="en-US" altLang="zh-CN" dirty="0"/>
              <a:t>001</a:t>
            </a:r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79038" y="331020"/>
            <a:ext cx="385832" cy="351332"/>
            <a:chOff x="457484" y="311393"/>
            <a:chExt cx="428940" cy="390586"/>
          </a:xfrm>
        </p:grpSpPr>
        <p:sp>
          <p:nvSpPr>
            <p:cNvPr id="5" name="等腰三角形 3"/>
            <p:cNvSpPr/>
            <p:nvPr/>
          </p:nvSpPr>
          <p:spPr>
            <a:xfrm>
              <a:off x="457484" y="374420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" name="等腰三角形 3"/>
            <p:cNvSpPr/>
            <p:nvPr/>
          </p:nvSpPr>
          <p:spPr>
            <a:xfrm flipV="1">
              <a:off x="531125" y="311393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cxnSp>
        <p:nvCxnSpPr>
          <p:cNvPr id="10" name="直线连接符 7"/>
          <p:cNvCxnSpPr/>
          <p:nvPr userDrawn="1"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57580" y="1327101"/>
            <a:ext cx="9896220" cy="2539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0" lvl="0"/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1800" kern="1200" smtClean="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1452880" y="1021334"/>
            <a:ext cx="10383519" cy="1219200"/>
          </a:xfrm>
          <a:prstGeom prst="roundRect">
            <a:avLst>
              <a:gd name="adj" fmla="val 12370"/>
            </a:avLst>
          </a:prstGeom>
          <a:solidFill>
            <a:schemeClr val="bg2"/>
          </a:solidFill>
          <a:ln>
            <a:noFill/>
          </a:ln>
          <a:effectLst>
            <a:outerShdw blurRad="241300" sx="102000" sy="102000" algn="ctr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工作回顾与情况分析</a:t>
            </a:r>
            <a:endParaRPr lang="zh-CN" altLang="en-US" dirty="0"/>
          </a:p>
        </p:txBody>
      </p:sp>
      <p:grpSp>
        <p:nvGrpSpPr>
          <p:cNvPr id="259" name="组合 258"/>
          <p:cNvGrpSpPr/>
          <p:nvPr/>
        </p:nvGrpSpPr>
        <p:grpSpPr>
          <a:xfrm>
            <a:off x="448745" y="2427097"/>
            <a:ext cx="3503056" cy="4080255"/>
            <a:chOff x="448745" y="2427097"/>
            <a:chExt cx="3503056" cy="4080255"/>
          </a:xfrm>
        </p:grpSpPr>
        <p:grpSp>
          <p:nvGrpSpPr>
            <p:cNvPr id="370" name="组合 369"/>
            <p:cNvGrpSpPr/>
            <p:nvPr/>
          </p:nvGrpSpPr>
          <p:grpSpPr>
            <a:xfrm>
              <a:off x="448745" y="2427097"/>
              <a:ext cx="3503056" cy="4080255"/>
              <a:chOff x="448745" y="2427097"/>
              <a:chExt cx="3503056" cy="4080255"/>
            </a:xfrm>
          </p:grpSpPr>
          <p:grpSp>
            <p:nvGrpSpPr>
              <p:cNvPr id="394" name="组合 393"/>
              <p:cNvGrpSpPr/>
              <p:nvPr/>
            </p:nvGrpSpPr>
            <p:grpSpPr>
              <a:xfrm>
                <a:off x="448745" y="2427097"/>
                <a:ext cx="3503056" cy="4080255"/>
                <a:chOff x="448745" y="2357438"/>
                <a:chExt cx="3503056" cy="4080255"/>
              </a:xfrm>
            </p:grpSpPr>
            <p:sp>
              <p:nvSpPr>
                <p:cNvPr id="422" name="矩形: 圆角 421"/>
                <p:cNvSpPr/>
                <p:nvPr/>
              </p:nvSpPr>
              <p:spPr>
                <a:xfrm>
                  <a:off x="547688" y="2357438"/>
                  <a:ext cx="3404113" cy="4080255"/>
                </a:xfrm>
                <a:prstGeom prst="roundRect">
                  <a:avLst>
                    <a:gd name="adj" fmla="val 4902"/>
                  </a:avLst>
                </a:prstGeom>
                <a:gradFill>
                  <a:gsLst>
                    <a:gs pos="3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>
                  <a:outerShdw blurRad="635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23" name="任意多边形: 形状 422"/>
                <p:cNvSpPr/>
                <p:nvPr/>
              </p:nvSpPr>
              <p:spPr>
                <a:xfrm>
                  <a:off x="448745" y="2473652"/>
                  <a:ext cx="3503056" cy="3964041"/>
                </a:xfrm>
                <a:custGeom>
                  <a:avLst/>
                  <a:gdLst>
                    <a:gd name="connsiteX0" fmla="*/ 101269 w 3503056"/>
                    <a:gd name="connsiteY0" fmla="*/ 0 h 3964041"/>
                    <a:gd name="connsiteX1" fmla="*/ 1964586 w 3503056"/>
                    <a:gd name="connsiteY1" fmla="*/ 0 h 3964041"/>
                    <a:gd name="connsiteX2" fmla="*/ 2004004 w 3503056"/>
                    <a:gd name="connsiteY2" fmla="*/ 7958 h 3964041"/>
                    <a:gd name="connsiteX3" fmla="*/ 2009126 w 3503056"/>
                    <a:gd name="connsiteY3" fmla="*/ 11412 h 3964041"/>
                    <a:gd name="connsiteX4" fmla="*/ 2011709 w 3503056"/>
                    <a:gd name="connsiteY4" fmla="*/ 11952 h 3964041"/>
                    <a:gd name="connsiteX5" fmla="*/ 2069949 w 3503056"/>
                    <a:gd name="connsiteY5" fmla="*/ 49000 h 3964041"/>
                    <a:gd name="connsiteX6" fmla="*/ 2103887 w 3503056"/>
                    <a:gd name="connsiteY6" fmla="*/ 102824 h 3964041"/>
                    <a:gd name="connsiteX7" fmla="*/ 2108036 w 3503056"/>
                    <a:gd name="connsiteY7" fmla="*/ 109404 h 3964041"/>
                    <a:gd name="connsiteX8" fmla="*/ 2179247 w 3503056"/>
                    <a:gd name="connsiteY8" fmla="*/ 311403 h 3964041"/>
                    <a:gd name="connsiteX9" fmla="*/ 2207466 w 3503056"/>
                    <a:gd name="connsiteY9" fmla="*/ 358679 h 3964041"/>
                    <a:gd name="connsiteX10" fmla="*/ 2256902 w 3503056"/>
                    <a:gd name="connsiteY10" fmla="*/ 395382 h 3964041"/>
                    <a:gd name="connsiteX11" fmla="*/ 2315135 w 3503056"/>
                    <a:gd name="connsiteY11" fmla="*/ 410518 h 3964041"/>
                    <a:gd name="connsiteX12" fmla="*/ 2319003 w 3503056"/>
                    <a:gd name="connsiteY12" fmla="*/ 410518 h 3964041"/>
                    <a:gd name="connsiteX13" fmla="*/ 3331335 w 3503056"/>
                    <a:gd name="connsiteY13" fmla="*/ 410518 h 3964041"/>
                    <a:gd name="connsiteX14" fmla="*/ 3503054 w 3503056"/>
                    <a:gd name="connsiteY14" fmla="*/ 582238 h 3964041"/>
                    <a:gd name="connsiteX15" fmla="*/ 3503054 w 3503056"/>
                    <a:gd name="connsiteY15" fmla="*/ 1587808 h 3964041"/>
                    <a:gd name="connsiteX16" fmla="*/ 3503055 w 3503056"/>
                    <a:gd name="connsiteY16" fmla="*/ 1587808 h 3964041"/>
                    <a:gd name="connsiteX17" fmla="*/ 3503056 w 3503056"/>
                    <a:gd name="connsiteY17" fmla="*/ 3792321 h 3964041"/>
                    <a:gd name="connsiteX18" fmla="*/ 3331335 w 3503056"/>
                    <a:gd name="connsiteY18" fmla="*/ 3964040 h 3964041"/>
                    <a:gd name="connsiteX19" fmla="*/ 1964592 w 3503056"/>
                    <a:gd name="connsiteY19" fmla="*/ 3964040 h 3964041"/>
                    <a:gd name="connsiteX20" fmla="*/ 1964587 w 3503056"/>
                    <a:gd name="connsiteY20" fmla="*/ 3964041 h 3964041"/>
                    <a:gd name="connsiteX21" fmla="*/ 101269 w 3503056"/>
                    <a:gd name="connsiteY21" fmla="*/ 3964041 h 3964041"/>
                    <a:gd name="connsiteX22" fmla="*/ 2 w 3503056"/>
                    <a:gd name="connsiteY22" fmla="*/ 3862773 h 3964041"/>
                    <a:gd name="connsiteX23" fmla="*/ 1 w 3503056"/>
                    <a:gd name="connsiteY23" fmla="*/ 1587809 h 3964041"/>
                    <a:gd name="connsiteX24" fmla="*/ 0 w 3503056"/>
                    <a:gd name="connsiteY24" fmla="*/ 1587809 h 3964041"/>
                    <a:gd name="connsiteX25" fmla="*/ 0 w 3503056"/>
                    <a:gd name="connsiteY25" fmla="*/ 101268 h 3964041"/>
                    <a:gd name="connsiteX26" fmla="*/ 101269 w 3503056"/>
                    <a:gd name="connsiteY26" fmla="*/ 0 h 3964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03056" h="3964041">
                      <a:moveTo>
                        <a:pt x="101269" y="0"/>
                      </a:moveTo>
                      <a:lnTo>
                        <a:pt x="1964586" y="0"/>
                      </a:lnTo>
                      <a:cubicBezTo>
                        <a:pt x="1978568" y="0"/>
                        <a:pt x="1991888" y="2834"/>
                        <a:pt x="2004004" y="7958"/>
                      </a:cubicBezTo>
                      <a:lnTo>
                        <a:pt x="2009126" y="11412"/>
                      </a:lnTo>
                      <a:lnTo>
                        <a:pt x="2011709" y="11952"/>
                      </a:lnTo>
                      <a:cubicBezTo>
                        <a:pt x="2033439" y="19910"/>
                        <a:pt x="2053373" y="32508"/>
                        <a:pt x="2069949" y="49000"/>
                      </a:cubicBezTo>
                      <a:lnTo>
                        <a:pt x="2103887" y="102824"/>
                      </a:lnTo>
                      <a:lnTo>
                        <a:pt x="2108036" y="109404"/>
                      </a:lnTo>
                      <a:lnTo>
                        <a:pt x="2179247" y="311403"/>
                      </a:lnTo>
                      <a:lnTo>
                        <a:pt x="2207466" y="358679"/>
                      </a:lnTo>
                      <a:cubicBezTo>
                        <a:pt x="2221520" y="374099"/>
                        <a:pt x="2238365" y="386509"/>
                        <a:pt x="2256902" y="395382"/>
                      </a:cubicBezTo>
                      <a:lnTo>
                        <a:pt x="2315135" y="410518"/>
                      </a:lnTo>
                      <a:lnTo>
                        <a:pt x="2319003" y="410518"/>
                      </a:lnTo>
                      <a:lnTo>
                        <a:pt x="3331335" y="410518"/>
                      </a:lnTo>
                      <a:cubicBezTo>
                        <a:pt x="3426172" y="410518"/>
                        <a:pt x="3503054" y="487401"/>
                        <a:pt x="3503054" y="582238"/>
                      </a:cubicBezTo>
                      <a:lnTo>
                        <a:pt x="3503054" y="1587808"/>
                      </a:lnTo>
                      <a:lnTo>
                        <a:pt x="3503055" y="1587808"/>
                      </a:lnTo>
                      <a:lnTo>
                        <a:pt x="3503056" y="3792321"/>
                      </a:lnTo>
                      <a:cubicBezTo>
                        <a:pt x="3503056" y="3887158"/>
                        <a:pt x="3426174" y="3964040"/>
                        <a:pt x="3331335" y="3964040"/>
                      </a:cubicBezTo>
                      <a:lnTo>
                        <a:pt x="1964592" y="3964040"/>
                      </a:lnTo>
                      <a:lnTo>
                        <a:pt x="1964587" y="3964041"/>
                      </a:lnTo>
                      <a:lnTo>
                        <a:pt x="101269" y="3964041"/>
                      </a:lnTo>
                      <a:cubicBezTo>
                        <a:pt x="45340" y="3964041"/>
                        <a:pt x="2" y="3918702"/>
                        <a:pt x="2" y="3862773"/>
                      </a:cubicBezTo>
                      <a:lnTo>
                        <a:pt x="1" y="1587809"/>
                      </a:lnTo>
                      <a:lnTo>
                        <a:pt x="0" y="1587809"/>
                      </a:lnTo>
                      <a:lnTo>
                        <a:pt x="0" y="101268"/>
                      </a:lnTo>
                      <a:cubicBezTo>
                        <a:pt x="0" y="45339"/>
                        <a:pt x="45339" y="0"/>
                        <a:pt x="101269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2413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395" name="标题 1"/>
              <p:cNvSpPr txBox="1"/>
              <p:nvPr/>
            </p:nvSpPr>
            <p:spPr>
              <a:xfrm>
                <a:off x="735076" y="2666329"/>
                <a:ext cx="1843888" cy="28219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>
                  <a:buClr>
                    <a:schemeClr val="accent1"/>
                  </a:buClr>
                </a:pPr>
                <a:r>
                  <a:rPr lang="zh-CN" altLang="en-US" sz="2000" dirty="0">
                    <a:gradFill flip="none" rotWithShape="1">
                      <a:gsLst>
                        <a:gs pos="11000">
                          <a:schemeClr val="accent1"/>
                        </a:gs>
                        <a:gs pos="92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</a:rPr>
                  <a:t>核心工作成果</a:t>
                </a:r>
                <a:endParaRPr lang="zh-CN" altLang="en-US" sz="2000" dirty="0">
                  <a:gradFill flip="none" rotWithShape="1">
                    <a:gsLst>
                      <a:gs pos="11000">
                        <a:schemeClr val="accent1"/>
                      </a:gs>
                      <a:gs pos="92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</a:endParaRPr>
              </a:p>
            </p:txBody>
          </p:sp>
          <p:grpSp>
            <p:nvGrpSpPr>
              <p:cNvPr id="396" name="组合 395"/>
              <p:cNvGrpSpPr/>
              <p:nvPr/>
            </p:nvGrpSpPr>
            <p:grpSpPr>
              <a:xfrm>
                <a:off x="745331" y="2979103"/>
                <a:ext cx="1767325" cy="45719"/>
                <a:chOff x="745331" y="2979103"/>
                <a:chExt cx="1767325" cy="45719"/>
              </a:xfrm>
            </p:grpSpPr>
            <p:grpSp>
              <p:nvGrpSpPr>
                <p:cNvPr id="398" name="组合 397"/>
                <p:cNvGrpSpPr/>
                <p:nvPr/>
              </p:nvGrpSpPr>
              <p:grpSpPr>
                <a:xfrm>
                  <a:off x="1215987" y="2979103"/>
                  <a:ext cx="1296669" cy="45719"/>
                  <a:chOff x="1217178" y="2950528"/>
                  <a:chExt cx="1296669" cy="45719"/>
                </a:xfrm>
                <a:solidFill>
                  <a:schemeClr val="accent1">
                    <a:lumMod val="60000"/>
                    <a:lumOff val="40000"/>
                  </a:schemeClr>
                </a:solidFill>
              </p:grpSpPr>
              <p:sp>
                <p:nvSpPr>
                  <p:cNvPr id="400" name="平行四边形 399"/>
                  <p:cNvSpPr/>
                  <p:nvPr/>
                </p:nvSpPr>
                <p:spPr>
                  <a:xfrm>
                    <a:off x="121717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1" name="平行四边形 400"/>
                  <p:cNvSpPr/>
                  <p:nvPr/>
                </p:nvSpPr>
                <p:spPr>
                  <a:xfrm>
                    <a:off x="127674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2" name="平行四边形 401"/>
                  <p:cNvSpPr/>
                  <p:nvPr/>
                </p:nvSpPr>
                <p:spPr>
                  <a:xfrm>
                    <a:off x="133631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3" name="平行四边形 402"/>
                  <p:cNvSpPr/>
                  <p:nvPr/>
                </p:nvSpPr>
                <p:spPr>
                  <a:xfrm>
                    <a:off x="139588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4" name="平行四边形 403"/>
                  <p:cNvSpPr/>
                  <p:nvPr/>
                </p:nvSpPr>
                <p:spPr>
                  <a:xfrm>
                    <a:off x="145545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5" name="平行四边形 404"/>
                  <p:cNvSpPr/>
                  <p:nvPr/>
                </p:nvSpPr>
                <p:spPr>
                  <a:xfrm>
                    <a:off x="151502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6" name="平行四边形 405"/>
                  <p:cNvSpPr/>
                  <p:nvPr/>
                </p:nvSpPr>
                <p:spPr>
                  <a:xfrm>
                    <a:off x="157459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7" name="平行四边形 406"/>
                  <p:cNvSpPr/>
                  <p:nvPr/>
                </p:nvSpPr>
                <p:spPr>
                  <a:xfrm>
                    <a:off x="163416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8" name="平行四边形 407"/>
                  <p:cNvSpPr/>
                  <p:nvPr/>
                </p:nvSpPr>
                <p:spPr>
                  <a:xfrm>
                    <a:off x="169373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9" name="平行四边形 408"/>
                  <p:cNvSpPr/>
                  <p:nvPr/>
                </p:nvSpPr>
                <p:spPr>
                  <a:xfrm>
                    <a:off x="175329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0" name="平行四边形 409"/>
                  <p:cNvSpPr/>
                  <p:nvPr/>
                </p:nvSpPr>
                <p:spPr>
                  <a:xfrm>
                    <a:off x="181286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1" name="平行四边形 410"/>
                  <p:cNvSpPr/>
                  <p:nvPr/>
                </p:nvSpPr>
                <p:spPr>
                  <a:xfrm>
                    <a:off x="187243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2" name="平行四边形 411"/>
                  <p:cNvSpPr/>
                  <p:nvPr/>
                </p:nvSpPr>
                <p:spPr>
                  <a:xfrm>
                    <a:off x="193200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3" name="平行四边形 412"/>
                  <p:cNvSpPr/>
                  <p:nvPr/>
                </p:nvSpPr>
                <p:spPr>
                  <a:xfrm>
                    <a:off x="199157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4" name="平行四边形 413"/>
                  <p:cNvSpPr/>
                  <p:nvPr/>
                </p:nvSpPr>
                <p:spPr>
                  <a:xfrm>
                    <a:off x="205114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5" name="平行四边形 414"/>
                  <p:cNvSpPr/>
                  <p:nvPr/>
                </p:nvSpPr>
                <p:spPr>
                  <a:xfrm>
                    <a:off x="211071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6" name="平行四边形 415"/>
                  <p:cNvSpPr/>
                  <p:nvPr/>
                </p:nvSpPr>
                <p:spPr>
                  <a:xfrm>
                    <a:off x="217028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7" name="平行四边形 416"/>
                  <p:cNvSpPr/>
                  <p:nvPr/>
                </p:nvSpPr>
                <p:spPr>
                  <a:xfrm>
                    <a:off x="222985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8" name="平行四边形 417"/>
                  <p:cNvSpPr/>
                  <p:nvPr/>
                </p:nvSpPr>
                <p:spPr>
                  <a:xfrm>
                    <a:off x="228942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9" name="平行四边形 418"/>
                  <p:cNvSpPr/>
                  <p:nvPr/>
                </p:nvSpPr>
                <p:spPr>
                  <a:xfrm>
                    <a:off x="234899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0" name="平行四边形 419"/>
                  <p:cNvSpPr/>
                  <p:nvPr/>
                </p:nvSpPr>
                <p:spPr>
                  <a:xfrm>
                    <a:off x="240855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1" name="平行四边形 420"/>
                  <p:cNvSpPr/>
                  <p:nvPr/>
                </p:nvSpPr>
                <p:spPr>
                  <a:xfrm>
                    <a:off x="246812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399" name="直接连接符 398"/>
                <p:cNvCxnSpPr/>
                <p:nvPr/>
              </p:nvCxnSpPr>
              <p:spPr>
                <a:xfrm flipH="1">
                  <a:off x="745331" y="3002756"/>
                  <a:ext cx="454819" cy="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7" name="标题 1"/>
              <p:cNvSpPr txBox="1"/>
              <p:nvPr/>
            </p:nvSpPr>
            <p:spPr>
              <a:xfrm>
                <a:off x="2865985" y="2494002"/>
                <a:ext cx="691070" cy="50796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 algn="r">
                  <a:buClr>
                    <a:schemeClr val="accent1"/>
                  </a:buClr>
                </a:pPr>
                <a:r>
                  <a:rPr lang="en-US" altLang="zh-CN" sz="3600" dirty="0">
                    <a:gradFill flip="none" rotWithShape="1">
                      <a:gsLst>
                        <a:gs pos="68000">
                          <a:srgbClr val="FFFFFF">
                            <a:alpha val="53000"/>
                          </a:srgbClr>
                        </a:gs>
                        <a:gs pos="42000">
                          <a:schemeClr val="bg2"/>
                        </a:gs>
                        <a:gs pos="85000">
                          <a:schemeClr val="bg2">
                            <a:alpha val="0"/>
                          </a:schemeClr>
                        </a:gs>
                      </a:gsLst>
                      <a:lin ang="5400000" scaled="1"/>
                      <a:tileRect/>
                    </a:gradFill>
                  </a:rPr>
                  <a:t>01</a:t>
                </a:r>
                <a:endParaRPr lang="zh-CN" altLang="en-US" sz="3600" dirty="0">
                  <a:gradFill flip="none" rotWithShape="1">
                    <a:gsLst>
                      <a:gs pos="68000">
                        <a:srgbClr val="FFFFFF">
                          <a:alpha val="53000"/>
                        </a:srgbClr>
                      </a:gs>
                      <a:gs pos="42000">
                        <a:schemeClr val="bg2"/>
                      </a:gs>
                      <a:gs pos="85000">
                        <a:schemeClr val="bg2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endParaRPr>
              </a:p>
            </p:txBody>
          </p:sp>
        </p:grpSp>
        <p:sp>
          <p:nvSpPr>
            <p:cNvPr id="371" name="文本框 370"/>
            <p:cNvSpPr txBox="1"/>
            <p:nvPr/>
          </p:nvSpPr>
          <p:spPr>
            <a:xfrm>
              <a:off x="562838" y="3112646"/>
              <a:ext cx="3184807" cy="9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b="0" kern="0">
                  <a:solidFill>
                    <a:srgbClr val="11111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defRPr>
              </a:lvl1pPr>
            </a:lstStyle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111111">
                      <a:alpha val="61000"/>
                    </a:srgbClr>
                  </a:solidFill>
                </a:rPr>
                <a:t>全年牵头完成部门核心业务项目推进，统筹协调跨岗位协作事项，稳步达成各项量化考核指标；有效提升整体工作运转效率，超额完成年初既定基础任务目标。</a:t>
              </a:r>
              <a:endParaRPr lang="zh-CN" altLang="en-US" sz="1200" dirty="0">
                <a:solidFill>
                  <a:srgbClr val="111111">
                    <a:alpha val="61000"/>
                  </a:srgbClr>
                </a:solidFill>
              </a:endParaRPr>
            </a:p>
          </p:txBody>
        </p:sp>
        <p:grpSp>
          <p:nvGrpSpPr>
            <p:cNvPr id="372" name="组合 371"/>
            <p:cNvGrpSpPr/>
            <p:nvPr/>
          </p:nvGrpSpPr>
          <p:grpSpPr>
            <a:xfrm>
              <a:off x="641201" y="4703008"/>
              <a:ext cx="3055781" cy="1617781"/>
              <a:chOff x="641201" y="4703008"/>
              <a:chExt cx="3055781" cy="1617781"/>
            </a:xfrm>
          </p:grpSpPr>
          <p:sp>
            <p:nvSpPr>
              <p:cNvPr id="382" name="矩形: 圆角 381"/>
              <p:cNvSpPr/>
              <p:nvPr/>
            </p:nvSpPr>
            <p:spPr>
              <a:xfrm>
                <a:off x="641201" y="4703008"/>
                <a:ext cx="3055781" cy="1617781"/>
              </a:xfrm>
              <a:prstGeom prst="roundRect">
                <a:avLst>
                  <a:gd name="adj" fmla="val 3549"/>
                </a:avLst>
              </a:prstGeom>
              <a:solidFill>
                <a:schemeClr val="bg2"/>
              </a:solidFill>
              <a:ln>
                <a:noFill/>
              </a:ln>
              <a:effectLst>
                <a:innerShdw blurRad="342900">
                  <a:schemeClr val="accent1">
                    <a:lumMod val="20000"/>
                    <a:lumOff val="80000"/>
                    <a:alpha val="29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grpSp>
            <p:nvGrpSpPr>
              <p:cNvPr id="383" name="组合 382"/>
              <p:cNvGrpSpPr/>
              <p:nvPr/>
            </p:nvGrpSpPr>
            <p:grpSpPr>
              <a:xfrm>
                <a:off x="792422" y="4796644"/>
                <a:ext cx="2844777" cy="1304302"/>
                <a:chOff x="827355" y="4742894"/>
                <a:chExt cx="2844777" cy="1304302"/>
              </a:xfrm>
            </p:grpSpPr>
            <p:grpSp>
              <p:nvGrpSpPr>
                <p:cNvPr id="384" name="组合 383"/>
                <p:cNvGrpSpPr/>
                <p:nvPr/>
              </p:nvGrpSpPr>
              <p:grpSpPr>
                <a:xfrm>
                  <a:off x="827355" y="4742894"/>
                  <a:ext cx="2844777" cy="746423"/>
                  <a:chOff x="834118" y="4752419"/>
                  <a:chExt cx="2844777" cy="746423"/>
                </a:xfrm>
              </p:grpSpPr>
              <p:sp>
                <p:nvSpPr>
                  <p:cNvPr id="390" name="7 CuadroTexto"/>
                  <p:cNvSpPr txBox="1"/>
                  <p:nvPr/>
                </p:nvSpPr>
                <p:spPr>
                  <a:xfrm>
                    <a:off x="1181559" y="4752419"/>
                    <a:ext cx="2497336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主导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6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项常规业务专项落地，按时完成交付无延期，核心数据同比提升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18%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91" name="组合 390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92" name="椭圆 391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93" name="图形 392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85" name="组合 384"/>
                <p:cNvGrpSpPr/>
                <p:nvPr/>
              </p:nvGrpSpPr>
              <p:grpSpPr>
                <a:xfrm>
                  <a:off x="827355" y="5522372"/>
                  <a:ext cx="2844777" cy="524824"/>
                  <a:chOff x="834118" y="4878625"/>
                  <a:chExt cx="2844777" cy="524824"/>
                </a:xfrm>
              </p:grpSpPr>
              <p:sp>
                <p:nvSpPr>
                  <p:cNvPr id="386" name="7 CuadroTexto"/>
                  <p:cNvSpPr txBox="1"/>
                  <p:nvPr/>
                </p:nvSpPr>
                <p:spPr>
                  <a:xfrm>
                    <a:off x="1181559" y="4878625"/>
                    <a:ext cx="2497336" cy="5248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梳理岗位冗余环节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11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处，制定标准化操作模板，减少重复工作量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87" name="组合 386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88" name="椭圆 387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89" name="图形 388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373" name="组合 372"/>
            <p:cNvGrpSpPr/>
            <p:nvPr/>
          </p:nvGrpSpPr>
          <p:grpSpPr>
            <a:xfrm>
              <a:off x="637472" y="4133874"/>
              <a:ext cx="3055781" cy="457820"/>
              <a:chOff x="637472" y="4172709"/>
              <a:chExt cx="3055781" cy="457820"/>
            </a:xfrm>
          </p:grpSpPr>
          <p:grpSp>
            <p:nvGrpSpPr>
              <p:cNvPr id="374" name="组合 373"/>
              <p:cNvGrpSpPr/>
              <p:nvPr/>
            </p:nvGrpSpPr>
            <p:grpSpPr>
              <a:xfrm>
                <a:off x="637472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79" name="矩形: 圆角 378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0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lang="zh-CN" altLang="en-US" sz="2800" kern="1200" dirty="0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  <a:buClr>
                      <a:schemeClr val="accent1"/>
                    </a:buClr>
                  </a:pPr>
                  <a:r>
                    <a:rPr lang="zh-CN" altLang="en-US" sz="1200" dirty="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业务指标</a:t>
                  </a:r>
                  <a:endParaRPr lang="en-US" altLang="zh-CN" sz="1200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  <a:p>
                  <a:pPr algn="ctr">
                    <a:lnSpc>
                      <a:spcPct val="100000"/>
                    </a:lnSpc>
                    <a:buClr>
                      <a:schemeClr val="accent1"/>
                    </a:buClr>
                  </a:pPr>
                  <a:r>
                    <a:rPr lang="zh-CN" altLang="en-US" sz="1200" dirty="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超额达成</a:t>
                  </a:r>
                  <a:endParaRPr lang="zh-CN" altLang="en-US" sz="1200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pic>
              <p:nvPicPr>
                <p:cNvPr id="381" name="图形 380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  <p:grpSp>
            <p:nvGrpSpPr>
              <p:cNvPr id="375" name="组合 374"/>
              <p:cNvGrpSpPr/>
              <p:nvPr/>
            </p:nvGrpSpPr>
            <p:grpSpPr>
              <a:xfrm>
                <a:off x="2198449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76" name="矩形: 圆角 375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77" name="标题 1"/>
                <p:cNvSpPr txBox="1"/>
                <p:nvPr/>
              </p:nvSpPr>
              <p:spPr>
                <a:xfrm>
                  <a:off x="1054901" y="4234468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工作流程</a:t>
                  </a:r>
                  <a:endParaRPr lang="en-US" altLang="zh-CN" dirty="0"/>
                </a:p>
                <a:p>
                  <a:r>
                    <a:rPr lang="zh-CN" altLang="en-US" dirty="0"/>
                    <a:t>优化提效</a:t>
                  </a:r>
                  <a:endParaRPr lang="zh-CN" altLang="en-US" dirty="0"/>
                </a:p>
              </p:txBody>
            </p:sp>
            <p:pic>
              <p:nvPicPr>
                <p:cNvPr id="378" name="图形 377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" name="组合 2"/>
          <p:cNvGrpSpPr/>
          <p:nvPr/>
        </p:nvGrpSpPr>
        <p:grpSpPr>
          <a:xfrm>
            <a:off x="4391044" y="2427097"/>
            <a:ext cx="3503056" cy="4080255"/>
            <a:chOff x="4391044" y="2427097"/>
            <a:chExt cx="3503056" cy="4080255"/>
          </a:xfrm>
        </p:grpSpPr>
        <p:grpSp>
          <p:nvGrpSpPr>
            <p:cNvPr id="340" name="组合 339"/>
            <p:cNvGrpSpPr/>
            <p:nvPr/>
          </p:nvGrpSpPr>
          <p:grpSpPr>
            <a:xfrm>
              <a:off x="4391044" y="2427097"/>
              <a:ext cx="3503056" cy="4080255"/>
              <a:chOff x="448745" y="2357438"/>
              <a:chExt cx="3503056" cy="4080255"/>
            </a:xfrm>
          </p:grpSpPr>
          <p:sp>
            <p:nvSpPr>
              <p:cNvPr id="368" name="矩形: 圆角 367"/>
              <p:cNvSpPr/>
              <p:nvPr/>
            </p:nvSpPr>
            <p:spPr>
              <a:xfrm>
                <a:off x="547688" y="2357438"/>
                <a:ext cx="3404113" cy="4080255"/>
              </a:xfrm>
              <a:prstGeom prst="roundRect">
                <a:avLst>
                  <a:gd name="adj" fmla="val 4902"/>
                </a:avLst>
              </a:prstGeom>
              <a:gradFill>
                <a:gsLst>
                  <a:gs pos="31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</a:gradFill>
              <a:ln>
                <a:noFill/>
              </a:ln>
              <a:effectLst>
                <a:outerShdw blurRad="63500" sx="102000" sy="102000" algn="ctr" rotWithShape="0">
                  <a:schemeClr val="accent3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9" name="任意多边形: 形状 368"/>
              <p:cNvSpPr/>
              <p:nvPr/>
            </p:nvSpPr>
            <p:spPr>
              <a:xfrm>
                <a:off x="448745" y="2473652"/>
                <a:ext cx="3503056" cy="3964041"/>
              </a:xfrm>
              <a:custGeom>
                <a:avLst/>
                <a:gdLst>
                  <a:gd name="connsiteX0" fmla="*/ 101269 w 3503056"/>
                  <a:gd name="connsiteY0" fmla="*/ 0 h 3964041"/>
                  <a:gd name="connsiteX1" fmla="*/ 1964586 w 3503056"/>
                  <a:gd name="connsiteY1" fmla="*/ 0 h 3964041"/>
                  <a:gd name="connsiteX2" fmla="*/ 2004004 w 3503056"/>
                  <a:gd name="connsiteY2" fmla="*/ 7958 h 3964041"/>
                  <a:gd name="connsiteX3" fmla="*/ 2009126 w 3503056"/>
                  <a:gd name="connsiteY3" fmla="*/ 11412 h 3964041"/>
                  <a:gd name="connsiteX4" fmla="*/ 2011709 w 3503056"/>
                  <a:gd name="connsiteY4" fmla="*/ 11952 h 3964041"/>
                  <a:gd name="connsiteX5" fmla="*/ 2069949 w 3503056"/>
                  <a:gd name="connsiteY5" fmla="*/ 49000 h 3964041"/>
                  <a:gd name="connsiteX6" fmla="*/ 2103887 w 3503056"/>
                  <a:gd name="connsiteY6" fmla="*/ 102824 h 3964041"/>
                  <a:gd name="connsiteX7" fmla="*/ 2108036 w 3503056"/>
                  <a:gd name="connsiteY7" fmla="*/ 109404 h 3964041"/>
                  <a:gd name="connsiteX8" fmla="*/ 2179247 w 3503056"/>
                  <a:gd name="connsiteY8" fmla="*/ 311403 h 3964041"/>
                  <a:gd name="connsiteX9" fmla="*/ 2207466 w 3503056"/>
                  <a:gd name="connsiteY9" fmla="*/ 358679 h 3964041"/>
                  <a:gd name="connsiteX10" fmla="*/ 2256902 w 3503056"/>
                  <a:gd name="connsiteY10" fmla="*/ 395382 h 3964041"/>
                  <a:gd name="connsiteX11" fmla="*/ 2315135 w 3503056"/>
                  <a:gd name="connsiteY11" fmla="*/ 410518 h 3964041"/>
                  <a:gd name="connsiteX12" fmla="*/ 2319003 w 3503056"/>
                  <a:gd name="connsiteY12" fmla="*/ 410518 h 3964041"/>
                  <a:gd name="connsiteX13" fmla="*/ 3331335 w 3503056"/>
                  <a:gd name="connsiteY13" fmla="*/ 410518 h 3964041"/>
                  <a:gd name="connsiteX14" fmla="*/ 3503054 w 3503056"/>
                  <a:gd name="connsiteY14" fmla="*/ 582238 h 3964041"/>
                  <a:gd name="connsiteX15" fmla="*/ 3503054 w 3503056"/>
                  <a:gd name="connsiteY15" fmla="*/ 1587808 h 3964041"/>
                  <a:gd name="connsiteX16" fmla="*/ 3503055 w 3503056"/>
                  <a:gd name="connsiteY16" fmla="*/ 1587808 h 3964041"/>
                  <a:gd name="connsiteX17" fmla="*/ 3503056 w 3503056"/>
                  <a:gd name="connsiteY17" fmla="*/ 3792321 h 3964041"/>
                  <a:gd name="connsiteX18" fmla="*/ 3331335 w 3503056"/>
                  <a:gd name="connsiteY18" fmla="*/ 3964040 h 3964041"/>
                  <a:gd name="connsiteX19" fmla="*/ 1964592 w 3503056"/>
                  <a:gd name="connsiteY19" fmla="*/ 3964040 h 3964041"/>
                  <a:gd name="connsiteX20" fmla="*/ 1964587 w 3503056"/>
                  <a:gd name="connsiteY20" fmla="*/ 3964041 h 3964041"/>
                  <a:gd name="connsiteX21" fmla="*/ 101269 w 3503056"/>
                  <a:gd name="connsiteY21" fmla="*/ 3964041 h 3964041"/>
                  <a:gd name="connsiteX22" fmla="*/ 2 w 3503056"/>
                  <a:gd name="connsiteY22" fmla="*/ 3862773 h 3964041"/>
                  <a:gd name="connsiteX23" fmla="*/ 1 w 3503056"/>
                  <a:gd name="connsiteY23" fmla="*/ 1587809 h 3964041"/>
                  <a:gd name="connsiteX24" fmla="*/ 0 w 3503056"/>
                  <a:gd name="connsiteY24" fmla="*/ 1587809 h 3964041"/>
                  <a:gd name="connsiteX25" fmla="*/ 0 w 3503056"/>
                  <a:gd name="connsiteY25" fmla="*/ 101268 h 3964041"/>
                  <a:gd name="connsiteX26" fmla="*/ 101269 w 3503056"/>
                  <a:gd name="connsiteY26" fmla="*/ 0 h 3964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503056" h="3964041">
                    <a:moveTo>
                      <a:pt x="101269" y="0"/>
                    </a:moveTo>
                    <a:lnTo>
                      <a:pt x="1964586" y="0"/>
                    </a:lnTo>
                    <a:cubicBezTo>
                      <a:pt x="1978568" y="0"/>
                      <a:pt x="1991888" y="2834"/>
                      <a:pt x="2004004" y="7958"/>
                    </a:cubicBezTo>
                    <a:lnTo>
                      <a:pt x="2009126" y="11412"/>
                    </a:lnTo>
                    <a:lnTo>
                      <a:pt x="2011709" y="11952"/>
                    </a:lnTo>
                    <a:cubicBezTo>
                      <a:pt x="2033439" y="19910"/>
                      <a:pt x="2053373" y="32508"/>
                      <a:pt x="2069949" y="49000"/>
                    </a:cubicBezTo>
                    <a:lnTo>
                      <a:pt x="2103887" y="102824"/>
                    </a:lnTo>
                    <a:lnTo>
                      <a:pt x="2108036" y="109404"/>
                    </a:lnTo>
                    <a:lnTo>
                      <a:pt x="2179247" y="311403"/>
                    </a:lnTo>
                    <a:lnTo>
                      <a:pt x="2207466" y="358679"/>
                    </a:lnTo>
                    <a:cubicBezTo>
                      <a:pt x="2221520" y="374099"/>
                      <a:pt x="2238365" y="386509"/>
                      <a:pt x="2256902" y="395382"/>
                    </a:cubicBezTo>
                    <a:lnTo>
                      <a:pt x="2315135" y="410518"/>
                    </a:lnTo>
                    <a:lnTo>
                      <a:pt x="2319003" y="410518"/>
                    </a:lnTo>
                    <a:lnTo>
                      <a:pt x="3331335" y="410518"/>
                    </a:lnTo>
                    <a:cubicBezTo>
                      <a:pt x="3426172" y="410518"/>
                      <a:pt x="3503054" y="487401"/>
                      <a:pt x="3503054" y="582238"/>
                    </a:cubicBezTo>
                    <a:lnTo>
                      <a:pt x="3503054" y="1587808"/>
                    </a:lnTo>
                    <a:lnTo>
                      <a:pt x="3503055" y="1587808"/>
                    </a:lnTo>
                    <a:lnTo>
                      <a:pt x="3503056" y="3792321"/>
                    </a:lnTo>
                    <a:cubicBezTo>
                      <a:pt x="3503056" y="3887158"/>
                      <a:pt x="3426174" y="3964040"/>
                      <a:pt x="3331335" y="3964040"/>
                    </a:cubicBezTo>
                    <a:lnTo>
                      <a:pt x="1964592" y="3964040"/>
                    </a:lnTo>
                    <a:lnTo>
                      <a:pt x="1964587" y="3964041"/>
                    </a:lnTo>
                    <a:lnTo>
                      <a:pt x="101269" y="3964041"/>
                    </a:lnTo>
                    <a:cubicBezTo>
                      <a:pt x="45340" y="3964041"/>
                      <a:pt x="2" y="3918702"/>
                      <a:pt x="2" y="3862773"/>
                    </a:cubicBezTo>
                    <a:lnTo>
                      <a:pt x="1" y="1587809"/>
                    </a:lnTo>
                    <a:lnTo>
                      <a:pt x="0" y="1587809"/>
                    </a:lnTo>
                    <a:lnTo>
                      <a:pt x="0" y="101268"/>
                    </a:lnTo>
                    <a:cubicBezTo>
                      <a:pt x="0" y="45339"/>
                      <a:pt x="45339" y="0"/>
                      <a:pt x="10126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241300" sx="102000" sy="102000" algn="ctr" rotWithShape="0">
                  <a:schemeClr val="accent3">
                    <a:lumMod val="60000"/>
                    <a:lumOff val="4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341" name="标题 1"/>
            <p:cNvSpPr txBox="1"/>
            <p:nvPr/>
          </p:nvSpPr>
          <p:spPr>
            <a:xfrm>
              <a:off x="4677375" y="2666329"/>
              <a:ext cx="1843888" cy="28219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lang="zh-CN" altLang="en-US" sz="2800" kern="1200" dirty="0">
                  <a:solidFill>
                    <a:schemeClr val="bg1">
                      <a:lumMod val="90000"/>
                      <a:lumOff val="1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>
                <a:buClr>
                  <a:schemeClr val="accent1"/>
                </a:buClr>
              </a:pPr>
              <a:r>
                <a:rPr lang="zh-CN" altLang="en-US" sz="2000" dirty="0">
                  <a:gradFill flip="none" rotWithShape="1">
                    <a:gsLst>
                      <a:gs pos="11000">
                        <a:schemeClr val="accent3"/>
                      </a:gs>
                      <a:gs pos="92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</a:rPr>
                <a:t>能力成长突破</a:t>
              </a:r>
              <a:endParaRPr lang="zh-CN" altLang="en-US" sz="2000" dirty="0">
                <a:gradFill flip="none" rotWithShape="1">
                  <a:gsLst>
                    <a:gs pos="11000">
                      <a:schemeClr val="accent3"/>
                    </a:gs>
                    <a:gs pos="92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</a:endParaRPr>
            </a:p>
          </p:txBody>
        </p:sp>
        <p:grpSp>
          <p:nvGrpSpPr>
            <p:cNvPr id="344" name="组合 343"/>
            <p:cNvGrpSpPr/>
            <p:nvPr/>
          </p:nvGrpSpPr>
          <p:grpSpPr>
            <a:xfrm>
              <a:off x="5158286" y="2979103"/>
              <a:ext cx="1296669" cy="45719"/>
              <a:chOff x="1217178" y="2950528"/>
              <a:chExt cx="1296669" cy="45719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346" name="平行四边形 345"/>
              <p:cNvSpPr/>
              <p:nvPr/>
            </p:nvSpPr>
            <p:spPr>
              <a:xfrm>
                <a:off x="121717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7" name="平行四边形 346"/>
              <p:cNvSpPr/>
              <p:nvPr/>
            </p:nvSpPr>
            <p:spPr>
              <a:xfrm>
                <a:off x="1276747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平行四边形 347"/>
              <p:cNvSpPr/>
              <p:nvPr/>
            </p:nvSpPr>
            <p:spPr>
              <a:xfrm>
                <a:off x="1336316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平行四边形 348"/>
              <p:cNvSpPr/>
              <p:nvPr/>
            </p:nvSpPr>
            <p:spPr>
              <a:xfrm>
                <a:off x="1395885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平行四边形 349"/>
              <p:cNvSpPr/>
              <p:nvPr/>
            </p:nvSpPr>
            <p:spPr>
              <a:xfrm>
                <a:off x="1455454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平行四边形 350"/>
              <p:cNvSpPr/>
              <p:nvPr/>
            </p:nvSpPr>
            <p:spPr>
              <a:xfrm>
                <a:off x="1515023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平行四边形 351"/>
              <p:cNvSpPr/>
              <p:nvPr/>
            </p:nvSpPr>
            <p:spPr>
              <a:xfrm>
                <a:off x="1574592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平行四边形 352"/>
              <p:cNvSpPr/>
              <p:nvPr/>
            </p:nvSpPr>
            <p:spPr>
              <a:xfrm>
                <a:off x="1634161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平行四边形 353"/>
              <p:cNvSpPr/>
              <p:nvPr/>
            </p:nvSpPr>
            <p:spPr>
              <a:xfrm>
                <a:off x="1693730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平行四边形 354"/>
              <p:cNvSpPr/>
              <p:nvPr/>
            </p:nvSpPr>
            <p:spPr>
              <a:xfrm>
                <a:off x="1753299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平行四边形 355"/>
              <p:cNvSpPr/>
              <p:nvPr/>
            </p:nvSpPr>
            <p:spPr>
              <a:xfrm>
                <a:off x="181286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7" name="平行四边形 356"/>
              <p:cNvSpPr/>
              <p:nvPr/>
            </p:nvSpPr>
            <p:spPr>
              <a:xfrm>
                <a:off x="187243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8" name="平行四边形 357"/>
              <p:cNvSpPr/>
              <p:nvPr/>
            </p:nvSpPr>
            <p:spPr>
              <a:xfrm>
                <a:off x="1932007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9" name="平行四边形 358"/>
              <p:cNvSpPr/>
              <p:nvPr/>
            </p:nvSpPr>
            <p:spPr>
              <a:xfrm>
                <a:off x="1991576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0" name="平行四边形 359"/>
              <p:cNvSpPr/>
              <p:nvPr/>
            </p:nvSpPr>
            <p:spPr>
              <a:xfrm>
                <a:off x="2051145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平行四边形 360"/>
              <p:cNvSpPr/>
              <p:nvPr/>
            </p:nvSpPr>
            <p:spPr>
              <a:xfrm>
                <a:off x="2110714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平行四边形 361"/>
              <p:cNvSpPr/>
              <p:nvPr/>
            </p:nvSpPr>
            <p:spPr>
              <a:xfrm>
                <a:off x="2170283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平行四边形 362"/>
              <p:cNvSpPr/>
              <p:nvPr/>
            </p:nvSpPr>
            <p:spPr>
              <a:xfrm>
                <a:off x="2229852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平行四边形 363"/>
              <p:cNvSpPr/>
              <p:nvPr/>
            </p:nvSpPr>
            <p:spPr>
              <a:xfrm>
                <a:off x="2289421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平行四边形 364"/>
              <p:cNvSpPr/>
              <p:nvPr/>
            </p:nvSpPr>
            <p:spPr>
              <a:xfrm>
                <a:off x="2348990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平行四边形 365"/>
              <p:cNvSpPr/>
              <p:nvPr/>
            </p:nvSpPr>
            <p:spPr>
              <a:xfrm>
                <a:off x="2408559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平行四边形 366"/>
              <p:cNvSpPr/>
              <p:nvPr/>
            </p:nvSpPr>
            <p:spPr>
              <a:xfrm>
                <a:off x="246812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5" name="直接连接符 344"/>
            <p:cNvCxnSpPr/>
            <p:nvPr/>
          </p:nvCxnSpPr>
          <p:spPr>
            <a:xfrm flipH="1">
              <a:off x="4687630" y="3002756"/>
              <a:ext cx="454819" cy="0"/>
            </a:xfrm>
            <a:prstGeom prst="line">
              <a:avLst/>
            </a:prstGeom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标题 1"/>
            <p:cNvSpPr txBox="1"/>
            <p:nvPr/>
          </p:nvSpPr>
          <p:spPr>
            <a:xfrm>
              <a:off x="6808284" y="2494002"/>
              <a:ext cx="691070" cy="5079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lang="zh-CN" altLang="en-US" sz="2800" kern="1200" dirty="0">
                  <a:solidFill>
                    <a:schemeClr val="bg1">
                      <a:lumMod val="90000"/>
                      <a:lumOff val="1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algn="r">
                <a:buClr>
                  <a:schemeClr val="accent1"/>
                </a:buClr>
              </a:pPr>
              <a:r>
                <a:rPr lang="en-US" altLang="zh-CN" sz="3600" dirty="0">
                  <a:gradFill flip="none" rotWithShape="1">
                    <a:gsLst>
                      <a:gs pos="68000">
                        <a:srgbClr val="FFFFFF">
                          <a:alpha val="53000"/>
                        </a:srgbClr>
                      </a:gs>
                      <a:gs pos="42000">
                        <a:schemeClr val="bg2"/>
                      </a:gs>
                      <a:gs pos="85000">
                        <a:schemeClr val="bg2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  <a:endParaRPr lang="zh-CN" altLang="en-US" sz="3600" dirty="0">
                <a:gradFill flip="none" rotWithShape="1">
                  <a:gsLst>
                    <a:gs pos="68000">
                      <a:srgbClr val="FFFFFF">
                        <a:alpha val="53000"/>
                      </a:srgbClr>
                    </a:gs>
                    <a:gs pos="42000">
                      <a:schemeClr val="bg2"/>
                    </a:gs>
                    <a:gs pos="85000">
                      <a:schemeClr val="bg2">
                        <a:alpha val="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4505137" y="3112646"/>
              <a:ext cx="3184807" cy="9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b="0" kern="0">
                  <a:solidFill>
                    <a:srgbClr val="11111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defRPr>
              </a:lvl1pPr>
            </a:lstStyle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111111">
                      <a:alpha val="61000"/>
                    </a:srgbClr>
                  </a:solidFill>
                </a:rPr>
                <a:t>深耕岗位专业知识学习，主动参与内部培训、行业分享交流会，补齐管理、统筹类能力短板；问题处置方面积累成熟实操经验，综合履职能力显著提升。</a:t>
              </a:r>
              <a:endParaRPr lang="zh-CN" altLang="en-US" sz="1200" dirty="0">
                <a:solidFill>
                  <a:srgbClr val="111111">
                    <a:alpha val="61000"/>
                  </a:srgbClr>
                </a:solidFill>
              </a:endParaRPr>
            </a:p>
          </p:txBody>
        </p:sp>
        <p:grpSp>
          <p:nvGrpSpPr>
            <p:cNvPr id="318" name="组合 317"/>
            <p:cNvGrpSpPr/>
            <p:nvPr/>
          </p:nvGrpSpPr>
          <p:grpSpPr>
            <a:xfrm>
              <a:off x="4583500" y="4703008"/>
              <a:ext cx="3055781" cy="1617781"/>
              <a:chOff x="641201" y="4703008"/>
              <a:chExt cx="3055781" cy="1617781"/>
            </a:xfrm>
          </p:grpSpPr>
          <p:sp>
            <p:nvSpPr>
              <p:cNvPr id="328" name="矩形: 圆角 327"/>
              <p:cNvSpPr/>
              <p:nvPr/>
            </p:nvSpPr>
            <p:spPr>
              <a:xfrm>
                <a:off x="641201" y="4703008"/>
                <a:ext cx="3055781" cy="1617781"/>
              </a:xfrm>
              <a:prstGeom prst="roundRect">
                <a:avLst>
                  <a:gd name="adj" fmla="val 3549"/>
                </a:avLst>
              </a:prstGeom>
              <a:solidFill>
                <a:schemeClr val="bg2"/>
              </a:solidFill>
              <a:ln>
                <a:noFill/>
              </a:ln>
              <a:effectLst>
                <a:innerShdw blurRad="342900">
                  <a:schemeClr val="accent1">
                    <a:lumMod val="20000"/>
                    <a:lumOff val="80000"/>
                    <a:alpha val="29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grpSp>
            <p:nvGrpSpPr>
              <p:cNvPr id="329" name="组合 328"/>
              <p:cNvGrpSpPr/>
              <p:nvPr/>
            </p:nvGrpSpPr>
            <p:grpSpPr>
              <a:xfrm>
                <a:off x="792422" y="4796644"/>
                <a:ext cx="2844777" cy="1304302"/>
                <a:chOff x="827355" y="4742894"/>
                <a:chExt cx="2844777" cy="1304302"/>
              </a:xfrm>
            </p:grpSpPr>
            <p:grpSp>
              <p:nvGrpSpPr>
                <p:cNvPr id="330" name="组合 329"/>
                <p:cNvGrpSpPr/>
                <p:nvPr/>
              </p:nvGrpSpPr>
              <p:grpSpPr>
                <a:xfrm>
                  <a:off x="827355" y="4742894"/>
                  <a:ext cx="2844777" cy="746423"/>
                  <a:chOff x="834118" y="4752419"/>
                  <a:chExt cx="2844777" cy="746423"/>
                </a:xfrm>
              </p:grpSpPr>
              <p:sp>
                <p:nvSpPr>
                  <p:cNvPr id="336" name="7 CuadroTexto"/>
                  <p:cNvSpPr txBox="1"/>
                  <p:nvPr/>
                </p:nvSpPr>
                <p:spPr>
                  <a:xfrm>
                    <a:off x="1181559" y="4752419"/>
                    <a:ext cx="2497336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完成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12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场专业课程学习，考取岗位相关技能证书，吃透业务全流程逻辑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37" name="组合 336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38" name="椭圆 337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39" name="图形 338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31" name="组合 330"/>
                <p:cNvGrpSpPr/>
                <p:nvPr/>
              </p:nvGrpSpPr>
              <p:grpSpPr>
                <a:xfrm>
                  <a:off x="827355" y="5522372"/>
                  <a:ext cx="2844777" cy="524824"/>
                  <a:chOff x="834118" y="4878625"/>
                  <a:chExt cx="2844777" cy="524824"/>
                </a:xfrm>
              </p:grpSpPr>
              <p:sp>
                <p:nvSpPr>
                  <p:cNvPr id="332" name="7 CuadroTexto"/>
                  <p:cNvSpPr txBox="1"/>
                  <p:nvPr/>
                </p:nvSpPr>
                <p:spPr>
                  <a:xfrm>
                    <a:off x="1181559" y="4878625"/>
                    <a:ext cx="2497336" cy="5248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对接多方协作主体，妥善处理突发问题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7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起，保障项目平稳推进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33" name="组合 332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34" name="椭圆 333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35" name="图形 334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319" name="组合 318"/>
            <p:cNvGrpSpPr/>
            <p:nvPr/>
          </p:nvGrpSpPr>
          <p:grpSpPr>
            <a:xfrm>
              <a:off x="4579771" y="4133874"/>
              <a:ext cx="3055781" cy="457820"/>
              <a:chOff x="637472" y="4172709"/>
              <a:chExt cx="3055781" cy="457820"/>
            </a:xfrm>
          </p:grpSpPr>
          <p:grpSp>
            <p:nvGrpSpPr>
              <p:cNvPr id="320" name="组合 319"/>
              <p:cNvGrpSpPr/>
              <p:nvPr/>
            </p:nvGrpSpPr>
            <p:grpSpPr>
              <a:xfrm>
                <a:off x="637472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25" name="矩形: 圆角 324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26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专业技能</a:t>
                  </a:r>
                  <a:endParaRPr lang="en-US" altLang="zh-CN" dirty="0"/>
                </a:p>
                <a:p>
                  <a:r>
                    <a:rPr lang="zh-CN" altLang="en-US" dirty="0"/>
                    <a:t>持续精进</a:t>
                  </a:r>
                  <a:endParaRPr lang="zh-CN" altLang="en-US" dirty="0"/>
                </a:p>
              </p:txBody>
            </p:sp>
            <p:pic>
              <p:nvPicPr>
                <p:cNvPr id="327" name="图形 326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  <p:grpSp>
            <p:nvGrpSpPr>
              <p:cNvPr id="321" name="组合 320"/>
              <p:cNvGrpSpPr/>
              <p:nvPr/>
            </p:nvGrpSpPr>
            <p:grpSpPr>
              <a:xfrm>
                <a:off x="2198449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22" name="矩形: 圆角 321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23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统筹沟通</a:t>
                  </a:r>
                  <a:endParaRPr lang="en-US" altLang="zh-CN" dirty="0"/>
                </a:p>
                <a:p>
                  <a:r>
                    <a:rPr lang="zh-CN" altLang="en-US" dirty="0"/>
                    <a:t>经验积累</a:t>
                  </a:r>
                  <a:endParaRPr lang="zh-CN" altLang="en-US" dirty="0"/>
                </a:p>
              </p:txBody>
            </p:sp>
            <p:pic>
              <p:nvPicPr>
                <p:cNvPr id="324" name="图形 323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61" name="组合 260"/>
          <p:cNvGrpSpPr/>
          <p:nvPr/>
        </p:nvGrpSpPr>
        <p:grpSpPr>
          <a:xfrm>
            <a:off x="8333344" y="2427097"/>
            <a:ext cx="3503056" cy="4080255"/>
            <a:chOff x="448745" y="2427097"/>
            <a:chExt cx="3503056" cy="4080255"/>
          </a:xfrm>
        </p:grpSpPr>
        <p:grpSp>
          <p:nvGrpSpPr>
            <p:cNvPr id="262" name="组合 261"/>
            <p:cNvGrpSpPr/>
            <p:nvPr/>
          </p:nvGrpSpPr>
          <p:grpSpPr>
            <a:xfrm>
              <a:off x="448745" y="2427097"/>
              <a:ext cx="3503056" cy="4080255"/>
              <a:chOff x="448745" y="2427097"/>
              <a:chExt cx="3503056" cy="4080255"/>
            </a:xfrm>
          </p:grpSpPr>
          <p:grpSp>
            <p:nvGrpSpPr>
              <p:cNvPr id="286" name="组合 285"/>
              <p:cNvGrpSpPr/>
              <p:nvPr/>
            </p:nvGrpSpPr>
            <p:grpSpPr>
              <a:xfrm>
                <a:off x="448745" y="2427097"/>
                <a:ext cx="3503056" cy="4080255"/>
                <a:chOff x="448745" y="2357438"/>
                <a:chExt cx="3503056" cy="4080255"/>
              </a:xfrm>
            </p:grpSpPr>
            <p:sp>
              <p:nvSpPr>
                <p:cNvPr id="314" name="矩形: 圆角 313"/>
                <p:cNvSpPr/>
                <p:nvPr/>
              </p:nvSpPr>
              <p:spPr>
                <a:xfrm>
                  <a:off x="547688" y="2357438"/>
                  <a:ext cx="3404113" cy="4080255"/>
                </a:xfrm>
                <a:prstGeom prst="roundRect">
                  <a:avLst>
                    <a:gd name="adj" fmla="val 4902"/>
                  </a:avLst>
                </a:prstGeom>
                <a:gradFill>
                  <a:gsLst>
                    <a:gs pos="3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>
                  <a:outerShdw blurRad="635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15" name="任意多边形: 形状 314"/>
                <p:cNvSpPr/>
                <p:nvPr/>
              </p:nvSpPr>
              <p:spPr>
                <a:xfrm>
                  <a:off x="448745" y="2473652"/>
                  <a:ext cx="3503056" cy="3964041"/>
                </a:xfrm>
                <a:custGeom>
                  <a:avLst/>
                  <a:gdLst>
                    <a:gd name="connsiteX0" fmla="*/ 101269 w 3503056"/>
                    <a:gd name="connsiteY0" fmla="*/ 0 h 3964041"/>
                    <a:gd name="connsiteX1" fmla="*/ 1964586 w 3503056"/>
                    <a:gd name="connsiteY1" fmla="*/ 0 h 3964041"/>
                    <a:gd name="connsiteX2" fmla="*/ 2004004 w 3503056"/>
                    <a:gd name="connsiteY2" fmla="*/ 7958 h 3964041"/>
                    <a:gd name="connsiteX3" fmla="*/ 2009126 w 3503056"/>
                    <a:gd name="connsiteY3" fmla="*/ 11412 h 3964041"/>
                    <a:gd name="connsiteX4" fmla="*/ 2011709 w 3503056"/>
                    <a:gd name="connsiteY4" fmla="*/ 11952 h 3964041"/>
                    <a:gd name="connsiteX5" fmla="*/ 2069949 w 3503056"/>
                    <a:gd name="connsiteY5" fmla="*/ 49000 h 3964041"/>
                    <a:gd name="connsiteX6" fmla="*/ 2103887 w 3503056"/>
                    <a:gd name="connsiteY6" fmla="*/ 102824 h 3964041"/>
                    <a:gd name="connsiteX7" fmla="*/ 2108036 w 3503056"/>
                    <a:gd name="connsiteY7" fmla="*/ 109404 h 3964041"/>
                    <a:gd name="connsiteX8" fmla="*/ 2179247 w 3503056"/>
                    <a:gd name="connsiteY8" fmla="*/ 311403 h 3964041"/>
                    <a:gd name="connsiteX9" fmla="*/ 2207466 w 3503056"/>
                    <a:gd name="connsiteY9" fmla="*/ 358679 h 3964041"/>
                    <a:gd name="connsiteX10" fmla="*/ 2256902 w 3503056"/>
                    <a:gd name="connsiteY10" fmla="*/ 395382 h 3964041"/>
                    <a:gd name="connsiteX11" fmla="*/ 2315135 w 3503056"/>
                    <a:gd name="connsiteY11" fmla="*/ 410518 h 3964041"/>
                    <a:gd name="connsiteX12" fmla="*/ 2319003 w 3503056"/>
                    <a:gd name="connsiteY12" fmla="*/ 410518 h 3964041"/>
                    <a:gd name="connsiteX13" fmla="*/ 3331335 w 3503056"/>
                    <a:gd name="connsiteY13" fmla="*/ 410518 h 3964041"/>
                    <a:gd name="connsiteX14" fmla="*/ 3503054 w 3503056"/>
                    <a:gd name="connsiteY14" fmla="*/ 582238 h 3964041"/>
                    <a:gd name="connsiteX15" fmla="*/ 3503054 w 3503056"/>
                    <a:gd name="connsiteY15" fmla="*/ 1587808 h 3964041"/>
                    <a:gd name="connsiteX16" fmla="*/ 3503055 w 3503056"/>
                    <a:gd name="connsiteY16" fmla="*/ 1587808 h 3964041"/>
                    <a:gd name="connsiteX17" fmla="*/ 3503056 w 3503056"/>
                    <a:gd name="connsiteY17" fmla="*/ 3792321 h 3964041"/>
                    <a:gd name="connsiteX18" fmla="*/ 3331335 w 3503056"/>
                    <a:gd name="connsiteY18" fmla="*/ 3964040 h 3964041"/>
                    <a:gd name="connsiteX19" fmla="*/ 1964592 w 3503056"/>
                    <a:gd name="connsiteY19" fmla="*/ 3964040 h 3964041"/>
                    <a:gd name="connsiteX20" fmla="*/ 1964587 w 3503056"/>
                    <a:gd name="connsiteY20" fmla="*/ 3964041 h 3964041"/>
                    <a:gd name="connsiteX21" fmla="*/ 101269 w 3503056"/>
                    <a:gd name="connsiteY21" fmla="*/ 3964041 h 3964041"/>
                    <a:gd name="connsiteX22" fmla="*/ 2 w 3503056"/>
                    <a:gd name="connsiteY22" fmla="*/ 3862773 h 3964041"/>
                    <a:gd name="connsiteX23" fmla="*/ 1 w 3503056"/>
                    <a:gd name="connsiteY23" fmla="*/ 1587809 h 3964041"/>
                    <a:gd name="connsiteX24" fmla="*/ 0 w 3503056"/>
                    <a:gd name="connsiteY24" fmla="*/ 1587809 h 3964041"/>
                    <a:gd name="connsiteX25" fmla="*/ 0 w 3503056"/>
                    <a:gd name="connsiteY25" fmla="*/ 101268 h 3964041"/>
                    <a:gd name="connsiteX26" fmla="*/ 101269 w 3503056"/>
                    <a:gd name="connsiteY26" fmla="*/ 0 h 3964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03056" h="3964041">
                      <a:moveTo>
                        <a:pt x="101269" y="0"/>
                      </a:moveTo>
                      <a:lnTo>
                        <a:pt x="1964586" y="0"/>
                      </a:lnTo>
                      <a:cubicBezTo>
                        <a:pt x="1978568" y="0"/>
                        <a:pt x="1991888" y="2834"/>
                        <a:pt x="2004004" y="7958"/>
                      </a:cubicBezTo>
                      <a:lnTo>
                        <a:pt x="2009126" y="11412"/>
                      </a:lnTo>
                      <a:lnTo>
                        <a:pt x="2011709" y="11952"/>
                      </a:lnTo>
                      <a:cubicBezTo>
                        <a:pt x="2033439" y="19910"/>
                        <a:pt x="2053373" y="32508"/>
                        <a:pt x="2069949" y="49000"/>
                      </a:cubicBezTo>
                      <a:lnTo>
                        <a:pt x="2103887" y="102824"/>
                      </a:lnTo>
                      <a:lnTo>
                        <a:pt x="2108036" y="109404"/>
                      </a:lnTo>
                      <a:lnTo>
                        <a:pt x="2179247" y="311403"/>
                      </a:lnTo>
                      <a:lnTo>
                        <a:pt x="2207466" y="358679"/>
                      </a:lnTo>
                      <a:cubicBezTo>
                        <a:pt x="2221520" y="374099"/>
                        <a:pt x="2238365" y="386509"/>
                        <a:pt x="2256902" y="395382"/>
                      </a:cubicBezTo>
                      <a:lnTo>
                        <a:pt x="2315135" y="410518"/>
                      </a:lnTo>
                      <a:lnTo>
                        <a:pt x="2319003" y="410518"/>
                      </a:lnTo>
                      <a:lnTo>
                        <a:pt x="3331335" y="410518"/>
                      </a:lnTo>
                      <a:cubicBezTo>
                        <a:pt x="3426172" y="410518"/>
                        <a:pt x="3503054" y="487401"/>
                        <a:pt x="3503054" y="582238"/>
                      </a:cubicBezTo>
                      <a:lnTo>
                        <a:pt x="3503054" y="1587808"/>
                      </a:lnTo>
                      <a:lnTo>
                        <a:pt x="3503055" y="1587808"/>
                      </a:lnTo>
                      <a:lnTo>
                        <a:pt x="3503056" y="3792321"/>
                      </a:lnTo>
                      <a:cubicBezTo>
                        <a:pt x="3503056" y="3887158"/>
                        <a:pt x="3426174" y="3964040"/>
                        <a:pt x="3331335" y="3964040"/>
                      </a:cubicBezTo>
                      <a:lnTo>
                        <a:pt x="1964592" y="3964040"/>
                      </a:lnTo>
                      <a:lnTo>
                        <a:pt x="1964587" y="3964041"/>
                      </a:lnTo>
                      <a:lnTo>
                        <a:pt x="101269" y="3964041"/>
                      </a:lnTo>
                      <a:cubicBezTo>
                        <a:pt x="45340" y="3964041"/>
                        <a:pt x="2" y="3918702"/>
                        <a:pt x="2" y="3862773"/>
                      </a:cubicBezTo>
                      <a:lnTo>
                        <a:pt x="1" y="1587809"/>
                      </a:lnTo>
                      <a:lnTo>
                        <a:pt x="0" y="1587809"/>
                      </a:lnTo>
                      <a:lnTo>
                        <a:pt x="0" y="101268"/>
                      </a:lnTo>
                      <a:cubicBezTo>
                        <a:pt x="0" y="45339"/>
                        <a:pt x="45339" y="0"/>
                        <a:pt x="101269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2413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287" name="标题 1"/>
              <p:cNvSpPr txBox="1"/>
              <p:nvPr/>
            </p:nvSpPr>
            <p:spPr>
              <a:xfrm>
                <a:off x="735076" y="2666329"/>
                <a:ext cx="1843888" cy="28219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>
                  <a:buClr>
                    <a:schemeClr val="accent1"/>
                  </a:buClr>
                </a:pPr>
                <a:r>
                  <a:rPr lang="zh-CN" altLang="en-US" sz="2000" dirty="0">
                    <a:gradFill flip="none" rotWithShape="1">
                      <a:gsLst>
                        <a:gs pos="11000">
                          <a:schemeClr val="accent1"/>
                        </a:gs>
                        <a:gs pos="92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</a:rPr>
                  <a:t>不足改进规划</a:t>
                </a:r>
                <a:endParaRPr lang="zh-CN" altLang="en-US" sz="2000" dirty="0">
                  <a:gradFill flip="none" rotWithShape="1">
                    <a:gsLst>
                      <a:gs pos="11000">
                        <a:schemeClr val="accent1"/>
                      </a:gs>
                      <a:gs pos="92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</a:endParaRPr>
              </a:p>
            </p:txBody>
          </p:sp>
          <p:grpSp>
            <p:nvGrpSpPr>
              <p:cNvPr id="288" name="组合 287"/>
              <p:cNvGrpSpPr/>
              <p:nvPr/>
            </p:nvGrpSpPr>
            <p:grpSpPr>
              <a:xfrm>
                <a:off x="745331" y="2979103"/>
                <a:ext cx="1767325" cy="45719"/>
                <a:chOff x="745331" y="2979103"/>
                <a:chExt cx="1767325" cy="45719"/>
              </a:xfrm>
            </p:grpSpPr>
            <p:grpSp>
              <p:nvGrpSpPr>
                <p:cNvPr id="290" name="组合 289"/>
                <p:cNvGrpSpPr/>
                <p:nvPr/>
              </p:nvGrpSpPr>
              <p:grpSpPr>
                <a:xfrm>
                  <a:off x="1215987" y="2979103"/>
                  <a:ext cx="1296669" cy="45719"/>
                  <a:chOff x="1217178" y="2950528"/>
                  <a:chExt cx="1296669" cy="45719"/>
                </a:xfrm>
                <a:solidFill>
                  <a:schemeClr val="accent1">
                    <a:lumMod val="60000"/>
                    <a:lumOff val="40000"/>
                  </a:schemeClr>
                </a:solidFill>
              </p:grpSpPr>
              <p:sp>
                <p:nvSpPr>
                  <p:cNvPr id="292" name="平行四边形 291"/>
                  <p:cNvSpPr/>
                  <p:nvPr/>
                </p:nvSpPr>
                <p:spPr>
                  <a:xfrm>
                    <a:off x="121717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3" name="平行四边形 292"/>
                  <p:cNvSpPr/>
                  <p:nvPr/>
                </p:nvSpPr>
                <p:spPr>
                  <a:xfrm>
                    <a:off x="127674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4" name="平行四边形 293"/>
                  <p:cNvSpPr/>
                  <p:nvPr/>
                </p:nvSpPr>
                <p:spPr>
                  <a:xfrm>
                    <a:off x="133631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5" name="平行四边形 294"/>
                  <p:cNvSpPr/>
                  <p:nvPr/>
                </p:nvSpPr>
                <p:spPr>
                  <a:xfrm>
                    <a:off x="139588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6" name="平行四边形 295"/>
                  <p:cNvSpPr/>
                  <p:nvPr/>
                </p:nvSpPr>
                <p:spPr>
                  <a:xfrm>
                    <a:off x="145545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7" name="平行四边形 296"/>
                  <p:cNvSpPr/>
                  <p:nvPr/>
                </p:nvSpPr>
                <p:spPr>
                  <a:xfrm>
                    <a:off x="151502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8" name="平行四边形 297"/>
                  <p:cNvSpPr/>
                  <p:nvPr/>
                </p:nvSpPr>
                <p:spPr>
                  <a:xfrm>
                    <a:off x="157459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9" name="平行四边形 298"/>
                  <p:cNvSpPr/>
                  <p:nvPr/>
                </p:nvSpPr>
                <p:spPr>
                  <a:xfrm>
                    <a:off x="163416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0" name="平行四边形 299"/>
                  <p:cNvSpPr/>
                  <p:nvPr/>
                </p:nvSpPr>
                <p:spPr>
                  <a:xfrm>
                    <a:off x="169373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1" name="平行四边形 300"/>
                  <p:cNvSpPr/>
                  <p:nvPr/>
                </p:nvSpPr>
                <p:spPr>
                  <a:xfrm>
                    <a:off x="175329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2" name="平行四边形 301"/>
                  <p:cNvSpPr/>
                  <p:nvPr/>
                </p:nvSpPr>
                <p:spPr>
                  <a:xfrm>
                    <a:off x="181286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3" name="平行四边形 302"/>
                  <p:cNvSpPr/>
                  <p:nvPr/>
                </p:nvSpPr>
                <p:spPr>
                  <a:xfrm>
                    <a:off x="187243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4" name="平行四边形 303"/>
                  <p:cNvSpPr/>
                  <p:nvPr/>
                </p:nvSpPr>
                <p:spPr>
                  <a:xfrm>
                    <a:off x="193200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5" name="平行四边形 304"/>
                  <p:cNvSpPr/>
                  <p:nvPr/>
                </p:nvSpPr>
                <p:spPr>
                  <a:xfrm>
                    <a:off x="199157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6" name="平行四边形 305"/>
                  <p:cNvSpPr/>
                  <p:nvPr/>
                </p:nvSpPr>
                <p:spPr>
                  <a:xfrm>
                    <a:off x="205114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7" name="平行四边形 306"/>
                  <p:cNvSpPr/>
                  <p:nvPr/>
                </p:nvSpPr>
                <p:spPr>
                  <a:xfrm>
                    <a:off x="211071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8" name="平行四边形 307"/>
                  <p:cNvSpPr/>
                  <p:nvPr/>
                </p:nvSpPr>
                <p:spPr>
                  <a:xfrm>
                    <a:off x="217028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9" name="平行四边形 308"/>
                  <p:cNvSpPr/>
                  <p:nvPr/>
                </p:nvSpPr>
                <p:spPr>
                  <a:xfrm>
                    <a:off x="222985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0" name="平行四边形 309"/>
                  <p:cNvSpPr/>
                  <p:nvPr/>
                </p:nvSpPr>
                <p:spPr>
                  <a:xfrm>
                    <a:off x="228942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1" name="平行四边形 310"/>
                  <p:cNvSpPr/>
                  <p:nvPr/>
                </p:nvSpPr>
                <p:spPr>
                  <a:xfrm>
                    <a:off x="234899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2" name="平行四边形 311"/>
                  <p:cNvSpPr/>
                  <p:nvPr/>
                </p:nvSpPr>
                <p:spPr>
                  <a:xfrm>
                    <a:off x="240855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3" name="平行四边形 312"/>
                  <p:cNvSpPr/>
                  <p:nvPr/>
                </p:nvSpPr>
                <p:spPr>
                  <a:xfrm>
                    <a:off x="246812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291" name="直接连接符 290"/>
                <p:cNvCxnSpPr/>
                <p:nvPr/>
              </p:nvCxnSpPr>
              <p:spPr>
                <a:xfrm flipH="1">
                  <a:off x="745331" y="3002756"/>
                  <a:ext cx="454819" cy="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9" name="标题 1"/>
              <p:cNvSpPr txBox="1"/>
              <p:nvPr/>
            </p:nvSpPr>
            <p:spPr>
              <a:xfrm>
                <a:off x="2865985" y="2494002"/>
                <a:ext cx="691070" cy="50796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 algn="r">
                  <a:buClr>
                    <a:schemeClr val="accent1"/>
                  </a:buClr>
                </a:pPr>
                <a:r>
                  <a:rPr lang="en-US" altLang="zh-CN" sz="3600" dirty="0">
                    <a:gradFill flip="none" rotWithShape="1">
                      <a:gsLst>
                        <a:gs pos="68000">
                          <a:srgbClr val="FFFFFF">
                            <a:alpha val="53000"/>
                          </a:srgbClr>
                        </a:gs>
                        <a:gs pos="42000">
                          <a:schemeClr val="bg2"/>
                        </a:gs>
                        <a:gs pos="85000">
                          <a:schemeClr val="bg2">
                            <a:alpha val="0"/>
                          </a:schemeClr>
                        </a:gs>
                      </a:gsLst>
                      <a:lin ang="5400000" scaled="1"/>
                      <a:tileRect/>
                    </a:gradFill>
                  </a:rPr>
                  <a:t>03</a:t>
                </a:r>
                <a:endParaRPr lang="zh-CN" altLang="en-US" sz="3600" dirty="0">
                  <a:gradFill flip="none" rotWithShape="1">
                    <a:gsLst>
                      <a:gs pos="68000">
                        <a:srgbClr val="FFFFFF">
                          <a:alpha val="53000"/>
                        </a:srgbClr>
                      </a:gs>
                      <a:gs pos="42000">
                        <a:schemeClr val="bg2"/>
                      </a:gs>
                      <a:gs pos="85000">
                        <a:schemeClr val="bg2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endParaRPr>
              </a:p>
            </p:txBody>
          </p:sp>
        </p:grpSp>
        <p:sp>
          <p:nvSpPr>
            <p:cNvPr id="263" name="文本框 262"/>
            <p:cNvSpPr txBox="1"/>
            <p:nvPr/>
          </p:nvSpPr>
          <p:spPr>
            <a:xfrm>
              <a:off x="562838" y="3112646"/>
              <a:ext cx="3184807" cy="9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b="0" kern="0">
                  <a:solidFill>
                    <a:srgbClr val="11111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defRPr>
              </a:lvl1pPr>
            </a:lstStyle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111111">
                      <a:alpha val="61000"/>
                    </a:srgbClr>
                  </a:solidFill>
                </a:rPr>
                <a:t>复盘全年工作，自身仍存在统筹规划前瞻性不足、复杂项目细节把控不到位等问题；主动复盘三个维度调整工作方式，补齐短板、夯实工作基础。</a:t>
              </a:r>
              <a:endParaRPr lang="zh-CN" altLang="en-US" sz="1200" dirty="0">
                <a:solidFill>
                  <a:srgbClr val="111111">
                    <a:alpha val="61000"/>
                  </a:srgbClr>
                </a:solidFill>
              </a:endParaRPr>
            </a:p>
          </p:txBody>
        </p:sp>
        <p:grpSp>
          <p:nvGrpSpPr>
            <p:cNvPr id="264" name="组合 263"/>
            <p:cNvGrpSpPr/>
            <p:nvPr/>
          </p:nvGrpSpPr>
          <p:grpSpPr>
            <a:xfrm>
              <a:off x="641201" y="4703008"/>
              <a:ext cx="3055781" cy="1617781"/>
              <a:chOff x="641201" y="4703008"/>
              <a:chExt cx="3055781" cy="1617781"/>
            </a:xfrm>
          </p:grpSpPr>
          <p:sp>
            <p:nvSpPr>
              <p:cNvPr id="274" name="矩形: 圆角 273"/>
              <p:cNvSpPr/>
              <p:nvPr/>
            </p:nvSpPr>
            <p:spPr>
              <a:xfrm>
                <a:off x="641201" y="4703008"/>
                <a:ext cx="3055781" cy="1617781"/>
              </a:xfrm>
              <a:prstGeom prst="roundRect">
                <a:avLst>
                  <a:gd name="adj" fmla="val 3549"/>
                </a:avLst>
              </a:prstGeom>
              <a:solidFill>
                <a:schemeClr val="bg2"/>
              </a:solidFill>
              <a:ln>
                <a:noFill/>
              </a:ln>
              <a:effectLst>
                <a:innerShdw blurRad="342900">
                  <a:schemeClr val="accent1">
                    <a:lumMod val="20000"/>
                    <a:lumOff val="80000"/>
                    <a:alpha val="29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grpSp>
            <p:nvGrpSpPr>
              <p:cNvPr id="275" name="组合 274"/>
              <p:cNvGrpSpPr/>
              <p:nvPr/>
            </p:nvGrpSpPr>
            <p:grpSpPr>
              <a:xfrm>
                <a:off x="792422" y="4796644"/>
                <a:ext cx="2844777" cy="1304302"/>
                <a:chOff x="827355" y="4742894"/>
                <a:chExt cx="2844777" cy="1304302"/>
              </a:xfrm>
            </p:grpSpPr>
            <p:grpSp>
              <p:nvGrpSpPr>
                <p:cNvPr id="276" name="组合 275"/>
                <p:cNvGrpSpPr/>
                <p:nvPr/>
              </p:nvGrpSpPr>
              <p:grpSpPr>
                <a:xfrm>
                  <a:off x="827355" y="4742894"/>
                  <a:ext cx="2844777" cy="746423"/>
                  <a:chOff x="834118" y="4752419"/>
                  <a:chExt cx="2844777" cy="746423"/>
                </a:xfrm>
              </p:grpSpPr>
              <p:sp>
                <p:nvSpPr>
                  <p:cNvPr id="282" name="7 CuadroTexto"/>
                  <p:cNvSpPr txBox="1"/>
                  <p:nvPr/>
                </p:nvSpPr>
                <p:spPr>
                  <a:xfrm>
                    <a:off x="1181559" y="4752419"/>
                    <a:ext cx="2497336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建立月度工作前置规划清单，提前预判项目风险，规避临时手忙脚乱情况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283" name="组合 282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284" name="椭圆 283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285" name="图形 284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77" name="组合 276"/>
                <p:cNvGrpSpPr/>
                <p:nvPr/>
              </p:nvGrpSpPr>
              <p:grpSpPr>
                <a:xfrm>
                  <a:off x="827355" y="5522372"/>
                  <a:ext cx="2844777" cy="524824"/>
                  <a:chOff x="834118" y="4878625"/>
                  <a:chExt cx="2844777" cy="524824"/>
                </a:xfrm>
              </p:grpSpPr>
              <p:sp>
                <p:nvSpPr>
                  <p:cNvPr id="278" name="7 CuadroTexto"/>
                  <p:cNvSpPr txBox="1"/>
                  <p:nvPr/>
                </p:nvSpPr>
                <p:spPr>
                  <a:xfrm>
                    <a:off x="1181559" y="4878625"/>
                    <a:ext cx="2497336" cy="5248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完善工作复盘机制，每周梳理疏漏问题，形成改进台账持续优化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279" name="组合 278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280" name="椭圆 279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281" name="图形 280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265" name="组合 264"/>
            <p:cNvGrpSpPr/>
            <p:nvPr/>
          </p:nvGrpSpPr>
          <p:grpSpPr>
            <a:xfrm>
              <a:off x="637472" y="4133874"/>
              <a:ext cx="3055781" cy="457820"/>
              <a:chOff x="637472" y="4172709"/>
              <a:chExt cx="3055781" cy="457820"/>
            </a:xfrm>
          </p:grpSpPr>
          <p:grpSp>
            <p:nvGrpSpPr>
              <p:cNvPr id="266" name="组合 265"/>
              <p:cNvGrpSpPr/>
              <p:nvPr/>
            </p:nvGrpSpPr>
            <p:grpSpPr>
              <a:xfrm>
                <a:off x="637472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271" name="矩形: 圆角 270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72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梳理现存</a:t>
                  </a:r>
                  <a:endParaRPr lang="en-US" altLang="zh-CN" dirty="0"/>
                </a:p>
                <a:p>
                  <a:r>
                    <a:rPr lang="zh-CN" altLang="en-US" dirty="0"/>
                    <a:t>工作短板</a:t>
                  </a:r>
                  <a:endParaRPr lang="zh-CN" altLang="en-US" dirty="0"/>
                </a:p>
              </p:txBody>
            </p:sp>
            <p:pic>
              <p:nvPicPr>
                <p:cNvPr id="273" name="图形 272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  <p:grpSp>
            <p:nvGrpSpPr>
              <p:cNvPr id="267" name="组合 266"/>
              <p:cNvGrpSpPr/>
              <p:nvPr/>
            </p:nvGrpSpPr>
            <p:grpSpPr>
              <a:xfrm>
                <a:off x="2198449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268" name="矩形: 圆角 267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9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制定全年</a:t>
                  </a:r>
                  <a:endParaRPr lang="en-US" altLang="zh-CN" dirty="0"/>
                </a:p>
                <a:p>
                  <a:r>
                    <a:rPr lang="zh-CN" altLang="en-US" dirty="0"/>
                    <a:t>改进方案</a:t>
                  </a:r>
                  <a:endParaRPr lang="zh-CN" altLang="en-US" dirty="0"/>
                </a:p>
              </p:txBody>
            </p:sp>
            <p:pic>
              <p:nvPicPr>
                <p:cNvPr id="270" name="图形 269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" name="矩形: 圆角 3"/>
          <p:cNvSpPr/>
          <p:nvPr/>
        </p:nvSpPr>
        <p:spPr>
          <a:xfrm>
            <a:off x="448745" y="1022880"/>
            <a:ext cx="2240372" cy="1219200"/>
          </a:xfrm>
          <a:prstGeom prst="roundRect">
            <a:avLst>
              <a:gd name="adj" fmla="val 12370"/>
            </a:avLst>
          </a:prstGeom>
          <a:gradFill>
            <a:gsLst>
              <a:gs pos="11000">
                <a:schemeClr val="accent1"/>
              </a:gs>
              <a:gs pos="92000">
                <a:schemeClr val="accent1">
                  <a:lumMod val="60000"/>
                  <a:lumOff val="40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1657020" y="1201213"/>
            <a:ext cx="1048766" cy="8947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800" kern="1200" dirty="0">
                <a:solidFill>
                  <a:schemeClr val="bg1">
                    <a:lumMod val="90000"/>
                    <a:lumOff val="1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3200" dirty="0">
                <a:solidFill>
                  <a:schemeClr val="bg2"/>
                </a:solidFill>
              </a:rPr>
              <a:t>工作概述</a:t>
            </a:r>
            <a:endParaRPr lang="zh-CN" altLang="en-US" sz="3200" dirty="0">
              <a:solidFill>
                <a:schemeClr val="bg2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b="15345"/>
          <a:stretch>
            <a:fillRect/>
          </a:stretch>
        </p:blipFill>
        <p:spPr>
          <a:xfrm>
            <a:off x="448745" y="1022880"/>
            <a:ext cx="1060450" cy="1196975"/>
          </a:xfrm>
          <a:custGeom>
            <a:avLst/>
            <a:gdLst>
              <a:gd name="connsiteX0" fmla="*/ 150815 w 1060450"/>
              <a:gd name="connsiteY0" fmla="*/ 0 h 1196975"/>
              <a:gd name="connsiteX1" fmla="*/ 1060450 w 1060450"/>
              <a:gd name="connsiteY1" fmla="*/ 0 h 1196975"/>
              <a:gd name="connsiteX2" fmla="*/ 1060450 w 1060450"/>
              <a:gd name="connsiteY2" fmla="*/ 1196975 h 1196975"/>
              <a:gd name="connsiteX3" fmla="*/ 76725 w 1060450"/>
              <a:gd name="connsiteY3" fmla="*/ 1196975 h 1196975"/>
              <a:gd name="connsiteX4" fmla="*/ 44173 w 1060450"/>
              <a:gd name="connsiteY4" fmla="*/ 1175028 h 1196975"/>
              <a:gd name="connsiteX5" fmla="*/ 0 w 1060450"/>
              <a:gd name="connsiteY5" fmla="*/ 1068385 h 1196975"/>
              <a:gd name="connsiteX6" fmla="*/ 0 w 1060450"/>
              <a:gd name="connsiteY6" fmla="*/ 150815 h 1196975"/>
              <a:gd name="connsiteX7" fmla="*/ 150815 w 1060450"/>
              <a:gd name="connsiteY7" fmla="*/ 0 h 119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0450" h="1196975">
                <a:moveTo>
                  <a:pt x="150815" y="0"/>
                </a:moveTo>
                <a:lnTo>
                  <a:pt x="1060450" y="0"/>
                </a:lnTo>
                <a:lnTo>
                  <a:pt x="1060450" y="1196975"/>
                </a:lnTo>
                <a:lnTo>
                  <a:pt x="76725" y="1196975"/>
                </a:lnTo>
                <a:lnTo>
                  <a:pt x="44173" y="1175028"/>
                </a:lnTo>
                <a:cubicBezTo>
                  <a:pt x="16881" y="1147735"/>
                  <a:pt x="0" y="1110032"/>
                  <a:pt x="0" y="1068385"/>
                </a:cubicBezTo>
                <a:lnTo>
                  <a:pt x="0" y="150815"/>
                </a:lnTo>
                <a:cubicBezTo>
                  <a:pt x="0" y="67522"/>
                  <a:pt x="67522" y="0"/>
                  <a:pt x="150815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2935187" y="1220898"/>
            <a:ext cx="4319236" cy="85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b="0" kern="0">
                <a:solidFill>
                  <a:srgbClr val="111111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111111">
                    <a:alpha val="61000"/>
                  </a:srgbClr>
                </a:solidFill>
              </a:rPr>
              <a:t>本阶段严格落实各项业务指标，按时办结日常任务，主动梳理流程短板优化办事效率，保质保量达成阶段既定工作目标，保障板块业务平稳推进。</a:t>
            </a:r>
            <a:endParaRPr lang="zh-CN" altLang="en-US" sz="1400" dirty="0">
              <a:solidFill>
                <a:srgbClr val="111111">
                  <a:alpha val="61000"/>
                </a:srgbClr>
              </a:solidFill>
            </a:endParaRPr>
          </a:p>
        </p:txBody>
      </p:sp>
      <p:grpSp>
        <p:nvGrpSpPr>
          <p:cNvPr id="567" name="组合 566"/>
          <p:cNvGrpSpPr/>
          <p:nvPr/>
        </p:nvGrpSpPr>
        <p:grpSpPr>
          <a:xfrm>
            <a:off x="7439147" y="1372456"/>
            <a:ext cx="4212528" cy="589828"/>
            <a:chOff x="3055680" y="3312191"/>
            <a:chExt cx="3918580" cy="548670"/>
          </a:xfrm>
        </p:grpSpPr>
        <p:grpSp>
          <p:nvGrpSpPr>
            <p:cNvPr id="13" name="组合 12"/>
            <p:cNvGrpSpPr/>
            <p:nvPr/>
          </p:nvGrpSpPr>
          <p:grpSpPr>
            <a:xfrm>
              <a:off x="3055680" y="3312191"/>
              <a:ext cx="1782893" cy="548670"/>
              <a:chOff x="2973130" y="3242268"/>
              <a:chExt cx="1782893" cy="548670"/>
            </a:xfrm>
          </p:grpSpPr>
          <p:grpSp>
            <p:nvGrpSpPr>
              <p:cNvPr id="518" name="组合 517"/>
              <p:cNvGrpSpPr/>
              <p:nvPr/>
            </p:nvGrpSpPr>
            <p:grpSpPr>
              <a:xfrm>
                <a:off x="2973130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545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6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7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8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9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0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1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2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3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4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5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6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7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8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9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0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1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2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3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4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5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6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519" name="组合 518"/>
              <p:cNvGrpSpPr/>
              <p:nvPr/>
            </p:nvGrpSpPr>
            <p:grpSpPr>
              <a:xfrm flipH="1">
                <a:off x="4483274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523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4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5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6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7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8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9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0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1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2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3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4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5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6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7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8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9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0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1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2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3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4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520" name="组合 519"/>
              <p:cNvGrpSpPr/>
              <p:nvPr/>
            </p:nvGrpSpPr>
            <p:grpSpPr>
              <a:xfrm>
                <a:off x="3085717" y="3273189"/>
                <a:ext cx="1504985" cy="506148"/>
                <a:chOff x="2912661" y="4333600"/>
                <a:chExt cx="1504985" cy="506148"/>
              </a:xfrm>
            </p:grpSpPr>
            <p:sp>
              <p:nvSpPr>
                <p:cNvPr id="521" name="文本框 520"/>
                <p:cNvSpPr txBox="1"/>
                <p:nvPr/>
              </p:nvSpPr>
              <p:spPr>
                <a:xfrm>
                  <a:off x="3141131" y="4333600"/>
                  <a:ext cx="1065213" cy="338619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en-US" altLang="zh-CN" sz="2400" dirty="0"/>
                    <a:t>12 </a:t>
                  </a:r>
                  <a:r>
                    <a:rPr lang="zh-CN" altLang="en-US" sz="1800" dirty="0"/>
                    <a:t>项</a:t>
                  </a:r>
                  <a:endParaRPr lang="zh-CN" altLang="en-US" sz="1800" dirty="0"/>
                </a:p>
              </p:txBody>
            </p:sp>
            <p:sp>
              <p:nvSpPr>
                <p:cNvPr id="522" name="文本框 521"/>
                <p:cNvSpPr txBox="1"/>
                <p:nvPr/>
              </p:nvSpPr>
              <p:spPr>
                <a:xfrm>
                  <a:off x="2912661" y="4642258"/>
                  <a:ext cx="1504985" cy="197490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攻坚重点项目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5191367" y="3312191"/>
              <a:ext cx="1782893" cy="548670"/>
              <a:chOff x="2973130" y="3242268"/>
              <a:chExt cx="1782893" cy="548670"/>
            </a:xfrm>
          </p:grpSpPr>
          <p:grpSp>
            <p:nvGrpSpPr>
              <p:cNvPr id="469" name="组合 468"/>
              <p:cNvGrpSpPr/>
              <p:nvPr/>
            </p:nvGrpSpPr>
            <p:grpSpPr>
              <a:xfrm>
                <a:off x="2973130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496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7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8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9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0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1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2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3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4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5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6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7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8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9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0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1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2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3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4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5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6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7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470" name="组合 469"/>
              <p:cNvGrpSpPr/>
              <p:nvPr/>
            </p:nvGrpSpPr>
            <p:grpSpPr>
              <a:xfrm flipH="1">
                <a:off x="4483274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474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5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6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7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8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9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0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1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2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3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4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5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6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7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8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9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0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1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2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3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4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5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471" name="组合 470"/>
              <p:cNvGrpSpPr/>
              <p:nvPr/>
            </p:nvGrpSpPr>
            <p:grpSpPr>
              <a:xfrm>
                <a:off x="3085717" y="3273189"/>
                <a:ext cx="1504985" cy="506148"/>
                <a:chOff x="2912661" y="4333600"/>
                <a:chExt cx="1504985" cy="506148"/>
              </a:xfrm>
            </p:grpSpPr>
            <p:sp>
              <p:nvSpPr>
                <p:cNvPr id="472" name="文本框 471"/>
                <p:cNvSpPr txBox="1"/>
                <p:nvPr/>
              </p:nvSpPr>
              <p:spPr>
                <a:xfrm>
                  <a:off x="3141131" y="4333600"/>
                  <a:ext cx="1065213" cy="338619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en-US" altLang="zh-CN" sz="2400" dirty="0"/>
                    <a:t>80 </a:t>
                  </a:r>
                  <a:r>
                    <a:rPr lang="zh-CN" altLang="en-US" sz="1800" dirty="0"/>
                    <a:t>家</a:t>
                  </a:r>
                  <a:endParaRPr lang="zh-CN" altLang="en-US" sz="1800" dirty="0"/>
                </a:p>
              </p:txBody>
            </p:sp>
            <p:sp>
              <p:nvSpPr>
                <p:cNvPr id="473" name="文本框 472"/>
                <p:cNvSpPr txBox="1"/>
                <p:nvPr/>
              </p:nvSpPr>
              <p:spPr>
                <a:xfrm>
                  <a:off x="2912661" y="4642258"/>
                  <a:ext cx="1504985" cy="197490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深耕核心客户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深红蓝">
  <a:themeElements>
    <a:clrScheme name="自定义 18">
      <a:dk1>
        <a:srgbClr val="101010"/>
      </a:dk1>
      <a:lt1>
        <a:srgbClr val="313131"/>
      </a:lt1>
      <a:dk2>
        <a:srgbClr val="FFFFFF"/>
      </a:dk2>
      <a:lt2>
        <a:srgbClr val="F2F5F6"/>
      </a:lt2>
      <a:accent1>
        <a:srgbClr val="AD3929"/>
      </a:accent1>
      <a:accent2>
        <a:srgbClr val="5987C6"/>
      </a:accent2>
      <a:accent3>
        <a:srgbClr val="33609E"/>
      </a:accent3>
      <a:accent4>
        <a:srgbClr val="FFC000"/>
      </a:accent4>
      <a:accent5>
        <a:srgbClr val="0088EE"/>
      </a:accent5>
      <a:accent6>
        <a:srgbClr val="6F6F6F"/>
      </a:accent6>
      <a:hlink>
        <a:srgbClr val="9A9A9A"/>
      </a:hlink>
      <a:folHlink>
        <a:srgbClr val="BFBFBF"/>
      </a:folHlink>
    </a:clrScheme>
    <a:fontScheme name="Office">
      <a:majorFont>
        <a:latin typeface="OPPOSans R"/>
        <a:ea typeface=""/>
        <a:cs typeface=""/>
        <a:font script="Jpan" typeface="游ゴシック Light"/>
        <a:font script="Hang" typeface="맑은 고딕"/>
        <a:font script="Hans" typeface="OPPOSans 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R"/>
        <a:ea typeface=""/>
        <a:cs typeface=""/>
        <a:font script="Jpan" typeface="游ゴシック"/>
        <a:font script="Hang" typeface="맑은 고딕"/>
        <a:font script="Hans" typeface="OPPOSans R"/>
        <a:font script="Hant" typeface="新細明體"/>
        <a:font script="Arab" typeface="OPPOSans R"/>
        <a:font script="Hebr" typeface="OPPOSans 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M"/>
        <a:ea typeface=""/>
        <a:cs typeface=""/>
        <a:font script="Jpan" typeface="游ゴシック"/>
        <a:font script="Hang" typeface="맑은 고딕"/>
        <a:font script="Hans" typeface="OPPOSans 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OPPOSans 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M"/>
        <a:ea typeface=""/>
        <a:cs typeface=""/>
        <a:font script="Jpan" typeface="ＭＳ Ｐゴシック"/>
        <a:font script="Hang" typeface="맑은 고딕"/>
        <a:font script="Hans" typeface="OPPOSans 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WPS 演示</Application>
  <PresentationFormat>宽屏</PresentationFormat>
  <Paragraphs>62</Paragraphs>
  <Slides>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OPPOSans R</vt:lpstr>
      <vt:lpstr>OPPOSans M</vt:lpstr>
      <vt:lpstr>OPPOSans H</vt:lpstr>
      <vt:lpstr>微软雅黑</vt:lpstr>
      <vt:lpstr>Arial Unicode MS</vt:lpstr>
      <vt:lpstr>阿里妈妈数黑体</vt:lpstr>
      <vt:lpstr>黑体</vt:lpstr>
      <vt:lpstr>深红蓝</vt:lpstr>
      <vt:lpstr>工作回顾与情况分析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地瓜</dc:creator>
  <cp:lastModifiedBy>26583</cp:lastModifiedBy>
  <cp:revision>199</cp:revision>
  <dcterms:created xsi:type="dcterms:W3CDTF">2023-08-09T12:44:00Z</dcterms:created>
  <dcterms:modified xsi:type="dcterms:W3CDTF">2026-09-15T13:18:11Z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90A85A9450364313B00863AC1943752C_13</vt:lpwstr>
  </property>
</Properties>
</file>